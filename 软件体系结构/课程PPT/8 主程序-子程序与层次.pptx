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334" r:id="rId3"/>
    <p:sldId id="336" r:id="rId4"/>
    <p:sldId id="337" r:id="rId5"/>
    <p:sldId id="338" r:id="rId6"/>
    <p:sldId id="339" r:id="rId7"/>
    <p:sldId id="340" r:id="rId8"/>
    <p:sldId id="341" r:id="rId9"/>
    <p:sldId id="342" r:id="rId10"/>
    <p:sldId id="343" r:id="rId11"/>
    <p:sldId id="344" r:id="rId12"/>
    <p:sldId id="345" r:id="rId13"/>
    <p:sldId id="346" r:id="rId14"/>
    <p:sldId id="352" r:id="rId15"/>
    <p:sldId id="353" r:id="rId16"/>
    <p:sldId id="350" r:id="rId17"/>
    <p:sldId id="351" r:id="rId18"/>
    <p:sldId id="347" r:id="rId19"/>
    <p:sldId id="348" r:id="rId20"/>
    <p:sldId id="349" r:id="rId21"/>
    <p:sldId id="354" r:id="rId22"/>
  </p:sldIdLst>
  <p:sldSz cx="9144000" cy="6858000" type="screen4x3"/>
  <p:notesSz cx="6858000" cy="9144000"/>
  <p:custDataLst>
    <p:tags r:id="rId28"/>
  </p:custDataLst>
  <p:kinsoku lang="zh-CN" invalStChars="!),.:;?]}、。—ˇ¨〃々～‖…’”〕〉》」』〗】∶！＂＇），．：；？］｀｜｝·" invalEndChars="([{‘“〔〈《「『〖【（［｛．·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00"/>
    <a:srgbClr val="FF3399"/>
    <a:srgbClr val="3333FF"/>
    <a:srgbClr val="0033CC"/>
    <a:srgbClr val="0000CC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37" autoAdjust="0"/>
    <p:restoredTop sz="92674" autoAdjust="0"/>
  </p:normalViewPr>
  <p:slideViewPr>
    <p:cSldViewPr showGuides="1">
      <p:cViewPr varScale="1">
        <p:scale>
          <a:sx n="105" d="100"/>
          <a:sy n="105" d="100"/>
        </p:scale>
        <p:origin x="1458" y="6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gs" Target="tags/tag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  <a:endParaRPr lang="en-US" altLang="zh-CN" noProof="0"/>
          </a:p>
          <a:p>
            <a:pPr lvl="1"/>
            <a:r>
              <a:rPr lang="en-US" altLang="zh-CN" noProof="0"/>
              <a:t>Second level</a:t>
            </a:r>
            <a:endParaRPr lang="en-US" altLang="zh-CN" noProof="0"/>
          </a:p>
          <a:p>
            <a:pPr lvl="2"/>
            <a:r>
              <a:rPr lang="en-US" altLang="zh-CN" noProof="0"/>
              <a:t>Third level</a:t>
            </a:r>
            <a:endParaRPr lang="en-US" altLang="zh-CN" noProof="0"/>
          </a:p>
          <a:p>
            <a:pPr lvl="3"/>
            <a:r>
              <a:rPr lang="en-US" altLang="zh-CN" noProof="0"/>
              <a:t>Fourth level</a:t>
            </a:r>
            <a:endParaRPr lang="en-US" altLang="zh-CN" noProof="0"/>
          </a:p>
          <a:p>
            <a:pPr lvl="4"/>
            <a:r>
              <a:rPr lang="en-US" altLang="zh-CN" noProof="0"/>
              <a:t>Fifth level</a:t>
            </a:r>
            <a:endParaRPr lang="en-US" altLang="zh-CN" noProof="0"/>
          </a:p>
        </p:txBody>
      </p:sp>
      <p:sp>
        <p:nvSpPr>
          <p:cNvPr id="4099" name="Rectangle 3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149350" y="692150"/>
            <a:ext cx="4559300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说它是面向对象也成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单击以编辑母版副标题样式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A04A70-9EA4-4EF4-9241-66FFDAED7C9C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85D2A4-45B3-4C61-B106-B39DF6C7025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wipe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未标题-2 - 副本 (3)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1113" y="7938"/>
            <a:ext cx="9166226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直接连接符 4"/>
          <p:cNvSpPr>
            <a:spLocks noChangeShapeType="1"/>
          </p:cNvSpPr>
          <p:nvPr/>
        </p:nvSpPr>
        <p:spPr bwMode="auto">
          <a:xfrm>
            <a:off x="501650" y="908050"/>
            <a:ext cx="864235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直接连接符 14"/>
          <p:cNvSpPr>
            <a:spLocks noChangeShapeType="1"/>
          </p:cNvSpPr>
          <p:nvPr/>
        </p:nvSpPr>
        <p:spPr bwMode="auto">
          <a:xfrm>
            <a:off x="6307138" y="1066800"/>
            <a:ext cx="2836862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7" name="Picture 19" descr="C:\Users\Administrator\Desktop\2校徽、中英文字体及标准色的组合.png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6386513" y="188913"/>
            <a:ext cx="26003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未标题-2 - 副本 (3)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66225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直接连接符 10"/>
          <p:cNvCxnSpPr>
            <a:cxnSpLocks noChangeShapeType="1"/>
          </p:cNvCxnSpPr>
          <p:nvPr/>
        </p:nvCxnSpPr>
        <p:spPr bwMode="auto">
          <a:xfrm>
            <a:off x="501650" y="908050"/>
            <a:ext cx="864235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直接连接符 14"/>
          <p:cNvCxnSpPr>
            <a:cxnSpLocks noChangeShapeType="1"/>
          </p:cNvCxnSpPr>
          <p:nvPr/>
        </p:nvCxnSpPr>
        <p:spPr bwMode="auto">
          <a:xfrm>
            <a:off x="6307138" y="1066800"/>
            <a:ext cx="2836862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1" name="Picture 19" descr="C:\Users\Administrator\Desktop\2校徽、中英文字体及标准色的组合.png"/>
          <p:cNvPicPr>
            <a:picLocks noChangeAspect="1" noChangeArrowheads="1"/>
          </p:cNvPicPr>
          <p:nvPr/>
        </p:nvPicPr>
        <p:blipFill>
          <a:blip r:embed="rId4" cstate="screen"/>
          <a:srcRect/>
          <a:stretch>
            <a:fillRect/>
          </a:stretch>
        </p:blipFill>
        <p:spPr bwMode="auto">
          <a:xfrm>
            <a:off x="7127875" y="247650"/>
            <a:ext cx="1927225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1650" y="0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2A1F17-4248-4866-8EE5-EC6FA886BE0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wipe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1D221A-3EA7-4855-91B3-E0CBF36C1867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D2A30B-39F9-4937-954E-B173BCF1303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wipe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未标题-2 - 副本 (3)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1113" y="7938"/>
            <a:ext cx="9166226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直接连接符 4"/>
          <p:cNvSpPr>
            <a:spLocks noChangeShapeType="1"/>
          </p:cNvSpPr>
          <p:nvPr/>
        </p:nvSpPr>
        <p:spPr bwMode="auto">
          <a:xfrm>
            <a:off x="501650" y="908050"/>
            <a:ext cx="864235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直接连接符 14"/>
          <p:cNvSpPr>
            <a:spLocks noChangeShapeType="1"/>
          </p:cNvSpPr>
          <p:nvPr/>
        </p:nvSpPr>
        <p:spPr bwMode="auto">
          <a:xfrm>
            <a:off x="6307138" y="1066800"/>
            <a:ext cx="2836862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8" name="Picture 19" descr="C:\Users\Administrator\Desktop\2校徽、中英文字体及标准色的组合.png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6386513" y="188913"/>
            <a:ext cx="26003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1D221A-3EA7-4855-91B3-E0CBF36C1867}" type="datetime1">
              <a:rPr lang="zh-CN" altLang="en-US" smtClean="0"/>
            </a:fld>
            <a:endParaRPr lang="en-US" altLang="zh-CN"/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 eaLnBrk="1" hangingPunct="1">
              <a:buFontTx/>
              <a:buNone/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F55BFC-F128-4273-9AC9-1C9B552DC49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wipe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未标题-2 - 副本 (3)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1113" y="7938"/>
            <a:ext cx="9166226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直接连接符 4"/>
          <p:cNvSpPr>
            <a:spLocks noChangeShapeType="1"/>
          </p:cNvSpPr>
          <p:nvPr/>
        </p:nvSpPr>
        <p:spPr bwMode="auto">
          <a:xfrm>
            <a:off x="501650" y="908050"/>
            <a:ext cx="864235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直接连接符 14"/>
          <p:cNvSpPr>
            <a:spLocks noChangeShapeType="1"/>
          </p:cNvSpPr>
          <p:nvPr/>
        </p:nvSpPr>
        <p:spPr bwMode="auto">
          <a:xfrm>
            <a:off x="6307138" y="1066800"/>
            <a:ext cx="2836862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0" name="Picture 19" descr="C:\Users\Administrator\Desktop\2校徽、中英文字体及标准色的组合.png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6386513" y="188913"/>
            <a:ext cx="26003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1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1D221A-3EA7-4855-91B3-E0CBF36C1867}" type="datetime1">
              <a:rPr lang="zh-CN" altLang="en-US" smtClean="0"/>
            </a:fld>
            <a:endParaRPr lang="en-US" altLang="zh-CN"/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 eaLnBrk="1" hangingPunct="1">
              <a:buFontTx/>
              <a:buNone/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2A4F97-AA7A-4D08-8DDD-A725FEB0AA5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wipe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1D221A-3EA7-4855-91B3-E0CBF36C1867}" type="datetime1">
              <a:rPr lang="zh-CN" altLang="en-US" smtClean="0"/>
            </a:fld>
            <a:endParaRPr lang="en-US" altLang="zh-CN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A95CD7-3FAC-4A45-A559-C0F96C21221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wipe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未标题-2 - 副本 (3)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1113" y="7938"/>
            <a:ext cx="9166226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直接连接符 4"/>
          <p:cNvSpPr>
            <a:spLocks noChangeShapeType="1"/>
          </p:cNvSpPr>
          <p:nvPr/>
        </p:nvSpPr>
        <p:spPr bwMode="auto">
          <a:xfrm>
            <a:off x="501650" y="908050"/>
            <a:ext cx="864235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" name="直接连接符 14"/>
          <p:cNvSpPr>
            <a:spLocks noChangeShapeType="1"/>
          </p:cNvSpPr>
          <p:nvPr/>
        </p:nvSpPr>
        <p:spPr bwMode="auto">
          <a:xfrm>
            <a:off x="6307138" y="1066800"/>
            <a:ext cx="2836862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5" name="Picture 19" descr="C:\Users\Administrator\Desktop\2校徽、中英文字体及标准色的组合.png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6386513" y="188913"/>
            <a:ext cx="26003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1D221A-3EA7-4855-91B3-E0CBF36C1867}" type="datetime1">
              <a:rPr lang="zh-CN" altLang="en-US" smtClean="0"/>
            </a:fld>
            <a:endParaRPr lang="en-US" altLang="zh-CN"/>
          </a:p>
        </p:txBody>
      </p:sp>
      <p:sp>
        <p:nvSpPr>
          <p:cNvPr id="7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 eaLnBrk="1" hangingPunct="1">
              <a:buFontTx/>
              <a:buNone/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5F3393-C375-4FEF-BEA9-79F3BCD37BD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wipe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未标题-2 - 副本 (3)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1113" y="7938"/>
            <a:ext cx="9166226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直接连接符 4"/>
          <p:cNvSpPr>
            <a:spLocks noChangeShapeType="1"/>
          </p:cNvSpPr>
          <p:nvPr/>
        </p:nvSpPr>
        <p:spPr bwMode="auto">
          <a:xfrm>
            <a:off x="501650" y="908050"/>
            <a:ext cx="864235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直接连接符 14"/>
          <p:cNvSpPr>
            <a:spLocks noChangeShapeType="1"/>
          </p:cNvSpPr>
          <p:nvPr/>
        </p:nvSpPr>
        <p:spPr bwMode="auto">
          <a:xfrm>
            <a:off x="6307138" y="1066800"/>
            <a:ext cx="2836862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8" name="Picture 19" descr="C:\Users\Administrator\Desktop\2校徽、中英文字体及标准色的组合.png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6386513" y="188913"/>
            <a:ext cx="26003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1D221A-3EA7-4855-91B3-E0CBF36C1867}" type="datetime1">
              <a:rPr lang="zh-CN" altLang="en-US" smtClean="0"/>
            </a:fld>
            <a:endParaRPr lang="en-US" altLang="zh-CN"/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 eaLnBrk="1" hangingPunct="1">
              <a:buFontTx/>
              <a:buNone/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C42B35-9992-4C00-BBD8-37C172B0233F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wipe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未标题-2 - 副本 (3)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1113" y="7938"/>
            <a:ext cx="9166226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直接连接符 4"/>
          <p:cNvSpPr>
            <a:spLocks noChangeShapeType="1"/>
          </p:cNvSpPr>
          <p:nvPr/>
        </p:nvSpPr>
        <p:spPr bwMode="auto">
          <a:xfrm>
            <a:off x="501650" y="908050"/>
            <a:ext cx="864235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直接连接符 14"/>
          <p:cNvSpPr>
            <a:spLocks noChangeShapeType="1"/>
          </p:cNvSpPr>
          <p:nvPr/>
        </p:nvSpPr>
        <p:spPr bwMode="auto">
          <a:xfrm>
            <a:off x="6307138" y="1066800"/>
            <a:ext cx="2836862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7" name="Picture 19" descr="C:\Users\Administrator\Desktop\2校徽、中英文字体及标准色的组合.png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6386513" y="188913"/>
            <a:ext cx="26003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1D221A-3EA7-4855-91B3-E0CBF36C1867}" type="datetime1">
              <a:rPr lang="zh-CN" altLang="en-US" smtClean="0"/>
            </a:fld>
            <a:endParaRPr lang="en-US" altLang="zh-CN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 eaLnBrk="1" hangingPunct="1">
              <a:buFontTx/>
              <a:buNone/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797F-10CB-4AE4-8A22-5BCAB20488D6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wipe dir="u"/>
  </p:transition>
  <p:hf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未标题-2 - 副本 (3)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1113" y="7938"/>
            <a:ext cx="9166226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直接连接符 4"/>
          <p:cNvSpPr>
            <a:spLocks noChangeShapeType="1"/>
          </p:cNvSpPr>
          <p:nvPr/>
        </p:nvSpPr>
        <p:spPr bwMode="auto">
          <a:xfrm>
            <a:off x="501650" y="908050"/>
            <a:ext cx="864235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直接连接符 14"/>
          <p:cNvSpPr>
            <a:spLocks noChangeShapeType="1"/>
          </p:cNvSpPr>
          <p:nvPr/>
        </p:nvSpPr>
        <p:spPr bwMode="auto">
          <a:xfrm>
            <a:off x="6307138" y="1066800"/>
            <a:ext cx="2836862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6" name="Picture 19" descr="C:\Users\Administrator\Desktop\2校徽、中英文字体及标准色的组合.png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6386513" y="188913"/>
            <a:ext cx="26003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628650" y="365125"/>
            <a:ext cx="7886700" cy="5811838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1D221A-3EA7-4855-91B3-E0CBF36C1867}" type="datetime1">
              <a:rPr lang="zh-CN" altLang="en-US" smtClean="0"/>
            </a:fld>
            <a:endParaRPr lang="en-US" altLang="zh-CN"/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 eaLnBrk="1" hangingPunct="1">
              <a:buFontTx/>
              <a:buNone/>
              <a:defRPr/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63437C-8882-4C09-AA58-0C88AAFB844F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wipe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 showMasterSp="0">
  <p:cSld name="标题，文本与内容"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00066">
                <a:alpha val="100000"/>
              </a:srgbClr>
            </a:gs>
            <a:gs pos="100000">
              <a:srgbClr val="0A128C">
                <a:alpha val="100000"/>
              </a:srgbClr>
            </a:gs>
            <a:gs pos="100000">
              <a:srgbClr val="181CC7">
                <a:alpha val="100000"/>
              </a:srgbClr>
            </a:gs>
            <a:gs pos="100000">
              <a:srgbClr val="7005D4">
                <a:alpha val="100000"/>
              </a:srgbClr>
            </a:gs>
            <a:gs pos="100000">
              <a:srgbClr val="8C3D91">
                <a:alpha val="100000"/>
              </a:srgbClr>
            </a:gs>
          </a:gsLst>
          <a:lin ang="162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>
              <a:defRPr/>
            </a:pPr>
            <a:fld id="{7C1D221A-3EA7-4855-91B3-E0CBF36C1867}" type="datetime1">
              <a:rPr lang="zh-CN" altLang="en-US" smtClean="0"/>
            </a:fld>
            <a:endParaRPr lang="en-US" altLang="zh-CN"/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>
              <a:defRPr/>
            </a:pPr>
            <a:fld id="{6163797F-10CB-4AE4-8A22-5BCAB20488D6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wipe dir="u"/>
  </p:transition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501650" y="119063"/>
            <a:ext cx="6257925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C1D221A-3EA7-4855-91B3-E0CBF36C1867}" type="datetime1">
              <a:rPr lang="zh-CN" altLang="en-US" smtClean="0"/>
            </a:fld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163797F-10CB-4AE4-8A22-5BCAB20488D6}" type="slidenum">
              <a:rPr lang="en-US" altLang="zh-CN" smtClean="0"/>
            </a:fld>
            <a:endParaRPr lang="en-US" altLang="zh-CN"/>
          </a:p>
        </p:txBody>
      </p:sp>
      <p:pic>
        <p:nvPicPr>
          <p:cNvPr id="1030" name="Picture 2" descr="未标题-2 - 副本 (3)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-11113" y="7938"/>
            <a:ext cx="9166226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31" name="直接连接符 4"/>
          <p:cNvCxnSpPr>
            <a:cxnSpLocks noChangeShapeType="1"/>
          </p:cNvCxnSpPr>
          <p:nvPr/>
        </p:nvCxnSpPr>
        <p:spPr bwMode="auto">
          <a:xfrm>
            <a:off x="501650" y="908050"/>
            <a:ext cx="864235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32" name="直接连接符 14"/>
          <p:cNvCxnSpPr>
            <a:cxnSpLocks noChangeShapeType="1"/>
          </p:cNvCxnSpPr>
          <p:nvPr/>
        </p:nvCxnSpPr>
        <p:spPr bwMode="auto">
          <a:xfrm>
            <a:off x="6307138" y="1066800"/>
            <a:ext cx="2836862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033" name="Picture 19" descr="C:\Users\Administrator\Desktop\2校徽、中英文字体及标准色的组合.png"/>
          <p:cNvPicPr>
            <a:picLocks noChangeAspect="1" noChangeArrowheads="1"/>
          </p:cNvPicPr>
          <p:nvPr/>
        </p:nvPicPr>
        <p:blipFill>
          <a:blip r:embed="rId13" cstate="screen"/>
          <a:srcRect/>
          <a:stretch>
            <a:fillRect/>
          </a:stretch>
        </p:blipFill>
        <p:spPr bwMode="auto">
          <a:xfrm>
            <a:off x="6386513" y="188913"/>
            <a:ext cx="26003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ipe dir="u"/>
  </p:transition>
  <p:hf sldNum="0" hdr="0" ftr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e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emf"/><Relationship Id="rId1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emf"/><Relationship Id="rId1" Type="http://schemas.openxmlformats.org/officeDocument/2006/relationships/oleObject" Target="../embeddings/oleObject3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emf"/><Relationship Id="rId1" Type="http://schemas.openxmlformats.org/officeDocument/2006/relationships/oleObject" Target="../embeddings/oleObject4.bin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emf"/><Relationship Id="rId1" Type="http://schemas.openxmlformats.org/officeDocument/2006/relationships/oleObject" Target="../embeddings/oleObject5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143000" y="983903"/>
            <a:ext cx="6858000" cy="2387600"/>
          </a:xfrm>
        </p:spPr>
        <p:txBody>
          <a:bodyPr lIns="90488" tIns="44450" rIns="90488" bIns="44450"/>
          <a:lstStyle/>
          <a:p>
            <a:pPr algn="ctr" eaLnBrk="1" hangingPunct="1"/>
            <a:r>
              <a:rPr lang="zh-CN" altLang="en-US" sz="5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软件体系结构</a:t>
            </a:r>
            <a:br>
              <a:rPr lang="zh-CN" altLang="en-US" sz="5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endParaRPr lang="zh-CN" altLang="en-US" sz="54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099" name="Rectangle 4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  </a:t>
            </a:r>
            <a:endParaRPr lang="zh-CN" alt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395536" y="3140968"/>
            <a:ext cx="852805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algn="ctr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4000" dirty="0">
                <a:ea typeface="黑体" panose="02010609060101010101" pitchFamily="49" charset="-122"/>
              </a:rPr>
              <a:t>第</a:t>
            </a:r>
            <a:r>
              <a:rPr lang="en-US" altLang="zh-CN" sz="4000" dirty="0">
                <a:ea typeface="黑体" panose="02010609060101010101" pitchFamily="49" charset="-122"/>
              </a:rPr>
              <a:t>8</a:t>
            </a:r>
            <a:r>
              <a:rPr lang="zh-CN" altLang="en-US" sz="4000" dirty="0">
                <a:ea typeface="黑体" panose="02010609060101010101" pitchFamily="49" charset="-122"/>
              </a:rPr>
              <a:t>章 主程序</a:t>
            </a:r>
            <a:r>
              <a:rPr lang="en-US" altLang="zh-CN" sz="4000" dirty="0">
                <a:ea typeface="黑体" panose="02010609060101010101" pitchFamily="49" charset="-122"/>
              </a:rPr>
              <a:t>-</a:t>
            </a:r>
            <a:r>
              <a:rPr lang="zh-CN" altLang="en-US" sz="4000" dirty="0">
                <a:ea typeface="黑体" panose="02010609060101010101" pitchFamily="49" charset="-122"/>
              </a:rPr>
              <a:t>子程序与层次风格</a:t>
            </a:r>
            <a:endParaRPr lang="en-US" altLang="zh-CN" sz="4000" dirty="0">
              <a:ea typeface="黑体" panose="02010609060101010101" pitchFamily="49" charset="-122"/>
            </a:endParaRPr>
          </a:p>
          <a:p>
            <a:endParaRPr lang="en-US" altLang="zh-CN" sz="4000" dirty="0">
              <a:ea typeface="黑体" panose="02010609060101010101" pitchFamily="49" charset="-122"/>
            </a:endParaRPr>
          </a:p>
          <a:p>
            <a:r>
              <a:rPr lang="zh-CN" altLang="en-US" sz="2800" dirty="0">
                <a:ea typeface="黑体" panose="02010609060101010101" pitchFamily="49" charset="-122"/>
              </a:rPr>
              <a:t>赵庆玲</a:t>
            </a:r>
            <a:endParaRPr lang="en-US" altLang="zh-CN" sz="2800" dirty="0">
              <a:ea typeface="黑体" panose="02010609060101010101" pitchFamily="49" charset="-122"/>
            </a:endParaRPr>
          </a:p>
          <a:p>
            <a:r>
              <a:rPr lang="zh-CN" altLang="en-US" sz="2800" dirty="0">
                <a:ea typeface="黑体" panose="02010609060101010101" pitchFamily="49" charset="-122"/>
              </a:rPr>
              <a:t>南京理工大学计算机科学与工程学院</a:t>
            </a:r>
            <a:endParaRPr lang="en-US" altLang="zh-CN" sz="2800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3050" y="2300287"/>
            <a:ext cx="6057900" cy="2257425"/>
          </a:xfrm>
          <a:prstGeom prst="rect">
            <a:avLst/>
          </a:prstGeom>
        </p:spPr>
      </p:pic>
    </p:spTree>
  </p:cSld>
  <p:clrMapOvr>
    <a:masterClrMapping/>
  </p:clrMapOvr>
  <p:transition>
    <p:wipe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主程序</a:t>
            </a:r>
            <a:r>
              <a:rPr lang="en-US" altLang="zh-CN" dirty="0"/>
              <a:t>/</a:t>
            </a:r>
            <a:r>
              <a:rPr lang="zh-CN" altLang="en-US" dirty="0"/>
              <a:t>子程序风格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20</a:t>
            </a:r>
            <a:r>
              <a:rPr lang="zh-CN" altLang="en-US" dirty="0"/>
              <a:t>世纪</a:t>
            </a:r>
            <a:r>
              <a:rPr lang="en-US" altLang="zh-CN" dirty="0"/>
              <a:t>70</a:t>
            </a:r>
            <a:r>
              <a:rPr lang="zh-CN" altLang="en-US" dirty="0"/>
              <a:t>年代，随结构化程序设计方式出现而出现</a:t>
            </a:r>
            <a:endParaRPr lang="en-US" altLang="zh-CN" dirty="0"/>
          </a:p>
          <a:p>
            <a:r>
              <a:rPr lang="zh-CN" altLang="en-US" dirty="0"/>
              <a:t>该架构风格从功能的观点设计系统，通过逐步分解和逐步细化得到系统架构。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  <p:transition>
    <p:wipe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主程序</a:t>
            </a:r>
            <a:r>
              <a:rPr lang="en-US" altLang="zh-CN" dirty="0"/>
              <a:t>/</a:t>
            </a:r>
            <a:r>
              <a:rPr lang="zh-CN" altLang="en-US" dirty="0"/>
              <a:t>子程序风格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556792"/>
            <a:ext cx="7886700" cy="4620171"/>
          </a:xfrm>
        </p:spPr>
        <p:txBody>
          <a:bodyPr/>
          <a:lstStyle/>
          <a:p>
            <a:r>
              <a:rPr lang="zh-CN" altLang="en-US" dirty="0"/>
              <a:t>其中，组件为主程序和子程序，连接件为调用</a:t>
            </a:r>
            <a:r>
              <a:rPr lang="en-US" altLang="zh-CN" dirty="0"/>
              <a:t>-</a:t>
            </a:r>
            <a:r>
              <a:rPr lang="zh-CN" altLang="en-US" dirty="0"/>
              <a:t>返回机制，拓扑结构为层次化结构。</a:t>
            </a:r>
            <a:endParaRPr lang="zh-CN" altLang="zh-CN" dirty="0"/>
          </a:p>
          <a:p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501650" y="3210698"/>
          <a:ext cx="8353587" cy="31849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" name="Visio" r:id="rId1" imgW="8077200" imgH="3111500" progId="Visio.Drawing.11">
                  <p:embed/>
                </p:oleObj>
              </mc:Choice>
              <mc:Fallback>
                <p:oleObj name="Visio" r:id="rId1" imgW="8077200" imgH="3111500" progId="Visio.Drawing.11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50" y="3210698"/>
                        <a:ext cx="8353587" cy="318491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主程序</a:t>
            </a:r>
            <a:r>
              <a:rPr lang="en-US" altLang="zh-CN" dirty="0"/>
              <a:t>/</a:t>
            </a:r>
            <a:r>
              <a:rPr lang="zh-CN" altLang="en-US" dirty="0"/>
              <a:t>子程序风格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25563"/>
            <a:ext cx="7886700" cy="4851400"/>
          </a:xfrm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优点</a:t>
            </a:r>
            <a:endParaRPr lang="zh-CN" altLang="en-US" dirty="0">
              <a:latin typeface="Arial" panose="020B0604020202020204" pitchFamily="34" charset="0"/>
            </a:endParaRPr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）具有很高的数据访问效率，因为计算共享同一个存储区。</a:t>
            </a:r>
            <a:endParaRPr lang="en-US" altLang="zh-CN" dirty="0"/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）不同的计算功能被划分在不同的模块中。</a:t>
            </a:r>
            <a:endParaRPr lang="en-US" altLang="zh-CN" dirty="0"/>
          </a:p>
          <a:p>
            <a:r>
              <a:rPr lang="zh-CN" altLang="en-US" dirty="0"/>
              <a:t>缺点：该方案在处理变更的能力上有许多严重的缺陷：</a:t>
            </a:r>
            <a:endParaRPr lang="en-US" altLang="zh-CN" dirty="0"/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）对数据存储格式的变化将会影响几乎所有的模块。</a:t>
            </a:r>
            <a:endParaRPr lang="en-US" altLang="zh-CN" dirty="0"/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）对处理流程的改变与系统功能的增强也很难适应，依赖于控制模块内部的调用次序。</a:t>
            </a:r>
            <a:endParaRPr lang="en-US" altLang="zh-CN" dirty="0"/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）这种分解方案难以支持有效的复用。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  <p:transition>
    <p:wipe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KWIC</a:t>
            </a:r>
            <a:r>
              <a:rPr lang="zh-CN" altLang="en-US" dirty="0"/>
              <a:t>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496" y="1412776"/>
            <a:ext cx="8928992" cy="4764187"/>
          </a:xfrm>
        </p:spPr>
        <p:txBody>
          <a:bodyPr/>
          <a:lstStyle/>
          <a:p>
            <a:r>
              <a:rPr lang="en-US" altLang="zh-CN" dirty="0"/>
              <a:t>KWIC(Key Word In Context)</a:t>
            </a:r>
            <a:r>
              <a:rPr lang="zh-CN" altLang="en-US" dirty="0"/>
              <a:t>，</a:t>
            </a:r>
            <a:r>
              <a:rPr lang="en-US" altLang="zh-CN" dirty="0" err="1"/>
              <a:t>Parnas</a:t>
            </a:r>
            <a:r>
              <a:rPr lang="en-US" altLang="zh-CN" dirty="0"/>
              <a:t> (1972)</a:t>
            </a:r>
            <a:endParaRPr lang="en-US" altLang="zh-CN" dirty="0"/>
          </a:p>
          <a:p>
            <a:r>
              <a:rPr lang="en-US" altLang="zh-CN" i="1" dirty="0"/>
              <a:t>  </a:t>
            </a:r>
            <a:r>
              <a:rPr lang="en-US" altLang="zh-CN" dirty="0"/>
              <a:t>    KWIC</a:t>
            </a:r>
            <a:r>
              <a:rPr lang="zh-CN" altLang="en-US" dirty="0"/>
              <a:t>索引系统接受一些行，每行有若干字，每个字由若干字符组成；每行都可以循环移位，亦即重复地把第一个字删除，然后接到行末； </a:t>
            </a:r>
            <a:r>
              <a:rPr lang="en-US" altLang="zh-CN" dirty="0"/>
              <a:t>KWIC</a:t>
            </a:r>
            <a:r>
              <a:rPr lang="zh-CN" altLang="en-US" dirty="0"/>
              <a:t>把所有行的各种移位情况按照字母表顺序输出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3648" y="3573016"/>
            <a:ext cx="6841492" cy="3239435"/>
          </a:xfrm>
          <a:prstGeom prst="rect">
            <a:avLst/>
          </a:prstGeom>
        </p:spPr>
      </p:pic>
    </p:spTree>
  </p:cSld>
  <p:clrMapOvr>
    <a:masterClrMapping/>
  </p:clrMapOvr>
  <p:transition>
    <p:wipe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785786" y="3143248"/>
          <a:ext cx="7661313" cy="33655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6" name="" r:id="rId1" imgW="8534400" imgH="3759200" progId="Visio.Drawing.11">
                  <p:embed/>
                </p:oleObj>
              </mc:Choice>
              <mc:Fallback>
                <p:oleObj name="" r:id="rId1" imgW="8534400" imgH="3759200" progId="Visio.Drawing.11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786" y="3143248"/>
                        <a:ext cx="7661313" cy="33655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层次化风格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基本思想</a:t>
            </a:r>
            <a:endParaRPr lang="zh-CN" altLang="en-US" dirty="0">
              <a:latin typeface="Arial" panose="020B0604020202020204" pitchFamily="34" charset="0"/>
            </a:endParaRPr>
          </a:p>
          <a:p>
            <a:pPr lvl="1"/>
            <a:r>
              <a:rPr lang="zh-CN" altLang="en-US" dirty="0"/>
              <a:t>在分层系统（</a:t>
            </a:r>
            <a:r>
              <a:rPr lang="en-US" altLang="zh-CN" dirty="0"/>
              <a:t>Layered System</a:t>
            </a:r>
            <a:r>
              <a:rPr lang="zh-CN" altLang="en-US" dirty="0"/>
              <a:t>）中，系统被组织成若干个层次，每个层次由一系列组件组成；层次之间存在接口，通过接口形成</a:t>
            </a:r>
            <a:r>
              <a:rPr lang="en-US" altLang="zh-CN" dirty="0"/>
              <a:t>call/return</a:t>
            </a:r>
            <a:r>
              <a:rPr lang="zh-CN" altLang="en-US" dirty="0"/>
              <a:t>的关系</a:t>
            </a:r>
            <a:r>
              <a:rPr lang="en-US" altLang="zh-CN" dirty="0"/>
              <a:t>——</a:t>
            </a:r>
            <a:r>
              <a:rPr lang="zh-CN" altLang="en-US" dirty="0"/>
              <a:t>下层组件向上层组件提供服务，上层组件被看作是下层组件的客户端。</a:t>
            </a:r>
            <a:endParaRPr lang="en-US" altLang="zh-CN" dirty="0"/>
          </a:p>
          <a:p>
            <a:r>
              <a:rPr lang="zh-CN" altLang="en-US" dirty="0"/>
              <a:t>层次化早已经成为一种复杂系统设计的普遍性原则。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  <p:transition>
    <p:wipe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无处不在的层次结构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>
            <a:off x="2301081" y="2276872"/>
            <a:ext cx="4035425" cy="4035425"/>
          </a:xfrm>
          <a:custGeom>
            <a:avLst/>
            <a:gdLst>
              <a:gd name="G0" fmla="+- 8174 0 0"/>
              <a:gd name="G1" fmla="+- 21600 0 8174"/>
              <a:gd name="G2" fmla="+- 21600 0 8174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8174" y="10800"/>
                </a:moveTo>
                <a:cubicBezTo>
                  <a:pt x="8174" y="12250"/>
                  <a:pt x="9350" y="13426"/>
                  <a:pt x="10800" y="13426"/>
                </a:cubicBezTo>
                <a:cubicBezTo>
                  <a:pt x="12250" y="13426"/>
                  <a:pt x="13426" y="12250"/>
                  <a:pt x="13426" y="10800"/>
                </a:cubicBezTo>
                <a:cubicBezTo>
                  <a:pt x="13426" y="9350"/>
                  <a:pt x="12250" y="8174"/>
                  <a:pt x="10800" y="8174"/>
                </a:cubicBezTo>
                <a:cubicBezTo>
                  <a:pt x="9350" y="8174"/>
                  <a:pt x="8174" y="9350"/>
                  <a:pt x="8174" y="10800"/>
                </a:cubicBezTo>
                <a:close/>
              </a:path>
            </a:pathLst>
          </a:custGeom>
          <a:solidFill>
            <a:schemeClr val="accent1"/>
          </a:solidFill>
          <a:ln w="127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zh-CN" altLang="en-US" sz="2800" b="1" dirty="0"/>
              <a:t>          硬件</a:t>
            </a:r>
            <a:endParaRPr lang="zh-CN" altLang="en-US" sz="2800" b="1" dirty="0"/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7308850" y="2492375"/>
            <a:ext cx="1295400" cy="253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8000">
                <a:ea typeface="华文琥珀" panose="02010800040101010101" pitchFamily="2" charset="-122"/>
              </a:rPr>
              <a:t>用户</a:t>
            </a:r>
            <a:endParaRPr lang="zh-CN" altLang="en-US" sz="8000">
              <a:ea typeface="华文琥珀" panose="02010800040101010101" pitchFamily="2" charset="-122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3776663" y="2909888"/>
            <a:ext cx="15875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b="1" dirty="0"/>
              <a:t>软件</a:t>
            </a:r>
            <a:endParaRPr lang="zh-CN" altLang="en-US" sz="4000" b="1" dirty="0"/>
          </a:p>
        </p:txBody>
      </p:sp>
    </p:spTree>
  </p:cSld>
  <p:clrMapOvr>
    <a:masterClrMapping/>
  </p:clrMapOvr>
  <p:transition>
    <p:wipe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AutoShape 4"/>
          <p:cNvSpPr>
            <a:spLocks noChangeArrowheads="1"/>
          </p:cNvSpPr>
          <p:nvPr/>
        </p:nvSpPr>
        <p:spPr bwMode="auto">
          <a:xfrm>
            <a:off x="2552700" y="2382838"/>
            <a:ext cx="4035425" cy="4035425"/>
          </a:xfrm>
          <a:custGeom>
            <a:avLst/>
            <a:gdLst>
              <a:gd name="G0" fmla="+- 8174 0 0"/>
              <a:gd name="G1" fmla="+- 21600 0 8174"/>
              <a:gd name="G2" fmla="+- 21600 0 8174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8174" y="10800"/>
                </a:moveTo>
                <a:cubicBezTo>
                  <a:pt x="8174" y="12250"/>
                  <a:pt x="9350" y="13426"/>
                  <a:pt x="10800" y="13426"/>
                </a:cubicBezTo>
                <a:cubicBezTo>
                  <a:pt x="12250" y="13426"/>
                  <a:pt x="13426" y="12250"/>
                  <a:pt x="13426" y="10800"/>
                </a:cubicBezTo>
                <a:cubicBezTo>
                  <a:pt x="13426" y="9350"/>
                  <a:pt x="12250" y="8174"/>
                  <a:pt x="10800" y="8174"/>
                </a:cubicBezTo>
                <a:cubicBezTo>
                  <a:pt x="9350" y="8174"/>
                  <a:pt x="8174" y="9350"/>
                  <a:pt x="8174" y="10800"/>
                </a:cubicBezTo>
                <a:close/>
              </a:path>
            </a:pathLst>
          </a:custGeom>
          <a:solidFill>
            <a:srgbClr val="3366FF"/>
          </a:solidFill>
          <a:ln w="127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zh-CN" altLang="en-US" sz="2800" b="1" dirty="0"/>
              <a:t>          硬件</a:t>
            </a:r>
            <a:endParaRPr lang="zh-CN" altLang="en-US" sz="2800" b="1" dirty="0"/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7308850" y="2492375"/>
            <a:ext cx="1295400" cy="253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8000">
                <a:ea typeface="华文琥珀" panose="02010800040101010101" pitchFamily="2" charset="-122"/>
              </a:rPr>
              <a:t>用户</a:t>
            </a:r>
            <a:endParaRPr lang="zh-CN" altLang="en-US" sz="8000">
              <a:ea typeface="华文琥珀" panose="02010800040101010101" pitchFamily="2" charset="-122"/>
            </a:endParaRPr>
          </a:p>
        </p:txBody>
      </p:sp>
      <p:sp>
        <p:nvSpPr>
          <p:cNvPr id="11" name="AutoShape 8"/>
          <p:cNvSpPr>
            <a:spLocks noChangeArrowheads="1"/>
          </p:cNvSpPr>
          <p:nvPr/>
        </p:nvSpPr>
        <p:spPr bwMode="auto">
          <a:xfrm>
            <a:off x="3276600" y="3100388"/>
            <a:ext cx="2590800" cy="2590800"/>
          </a:xfrm>
          <a:custGeom>
            <a:avLst/>
            <a:gdLst>
              <a:gd name="G0" fmla="+- 6671 0 0"/>
              <a:gd name="G1" fmla="+- 21600 0 6671"/>
              <a:gd name="G2" fmla="+- 21600 0 6671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6671" y="10800"/>
                </a:moveTo>
                <a:cubicBezTo>
                  <a:pt x="6671" y="13080"/>
                  <a:pt x="8520" y="14929"/>
                  <a:pt x="10800" y="14929"/>
                </a:cubicBezTo>
                <a:cubicBezTo>
                  <a:pt x="13080" y="14929"/>
                  <a:pt x="14929" y="13080"/>
                  <a:pt x="14929" y="10800"/>
                </a:cubicBezTo>
                <a:cubicBezTo>
                  <a:pt x="14929" y="8520"/>
                  <a:pt x="13080" y="6671"/>
                  <a:pt x="10800" y="6671"/>
                </a:cubicBezTo>
                <a:cubicBezTo>
                  <a:pt x="8520" y="6671"/>
                  <a:pt x="6671" y="8520"/>
                  <a:pt x="6671" y="10800"/>
                </a:cubicBezTo>
                <a:close/>
              </a:path>
            </a:pathLst>
          </a:custGeom>
          <a:solidFill>
            <a:schemeClr val="accent1"/>
          </a:solidFill>
          <a:ln w="127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778250" y="3213100"/>
            <a:ext cx="15875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/>
              <a:t>OS</a:t>
            </a:r>
            <a:endParaRPr lang="en-US" altLang="zh-CN" sz="3200" b="1"/>
          </a:p>
        </p:txBody>
      </p: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3778250" y="2492375"/>
            <a:ext cx="15875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/>
              <a:t>应用</a:t>
            </a:r>
            <a:endParaRPr lang="zh-CN" altLang="en-US" sz="3200" b="1"/>
          </a:p>
        </p:txBody>
      </p:sp>
    </p:spTree>
  </p:cSld>
  <p:clrMapOvr>
    <a:masterClrMapping/>
  </p:clrMapOvr>
  <p:transition>
    <p:wipe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>
            <a:off x="2552700" y="2382838"/>
            <a:ext cx="4035425" cy="4035425"/>
          </a:xfrm>
          <a:custGeom>
            <a:avLst/>
            <a:gdLst>
              <a:gd name="G0" fmla="+- 8174 0 0"/>
              <a:gd name="G1" fmla="+- 21600 0 8174"/>
              <a:gd name="G2" fmla="+- 21600 0 8174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8174" y="10800"/>
                </a:moveTo>
                <a:cubicBezTo>
                  <a:pt x="8174" y="12250"/>
                  <a:pt x="9350" y="13426"/>
                  <a:pt x="10800" y="13426"/>
                </a:cubicBezTo>
                <a:cubicBezTo>
                  <a:pt x="12250" y="13426"/>
                  <a:pt x="13426" y="12250"/>
                  <a:pt x="13426" y="10800"/>
                </a:cubicBezTo>
                <a:cubicBezTo>
                  <a:pt x="13426" y="9350"/>
                  <a:pt x="12250" y="8174"/>
                  <a:pt x="10800" y="8174"/>
                </a:cubicBezTo>
                <a:cubicBezTo>
                  <a:pt x="9350" y="8174"/>
                  <a:pt x="8174" y="9350"/>
                  <a:pt x="8174" y="10800"/>
                </a:cubicBezTo>
                <a:close/>
              </a:path>
            </a:pathLst>
          </a:custGeom>
          <a:solidFill>
            <a:srgbClr val="3366FF"/>
          </a:solidFill>
          <a:ln w="127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zh-CN" altLang="en-US" sz="2800" b="1" dirty="0"/>
              <a:t>         硬件</a:t>
            </a:r>
            <a:endParaRPr lang="zh-CN" altLang="en-US" sz="2800" b="1" dirty="0"/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7308850" y="2492375"/>
            <a:ext cx="1295400" cy="253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8000">
                <a:ea typeface="华文琥珀" panose="02010800040101010101" pitchFamily="2" charset="-122"/>
              </a:rPr>
              <a:t>用户</a:t>
            </a:r>
            <a:endParaRPr lang="zh-CN" altLang="en-US" sz="8000">
              <a:ea typeface="华文琥珀" panose="02010800040101010101" pitchFamily="2" charset="-122"/>
            </a:endParaRPr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3276600" y="3100388"/>
            <a:ext cx="2590800" cy="2590800"/>
          </a:xfrm>
          <a:custGeom>
            <a:avLst/>
            <a:gdLst>
              <a:gd name="G0" fmla="+- 6671 0 0"/>
              <a:gd name="G1" fmla="+- 21600 0 6671"/>
              <a:gd name="G2" fmla="+- 21600 0 6671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6671" y="10800"/>
                </a:moveTo>
                <a:cubicBezTo>
                  <a:pt x="6671" y="13080"/>
                  <a:pt x="8520" y="14929"/>
                  <a:pt x="10800" y="14929"/>
                </a:cubicBezTo>
                <a:cubicBezTo>
                  <a:pt x="13080" y="14929"/>
                  <a:pt x="14929" y="13080"/>
                  <a:pt x="14929" y="10800"/>
                </a:cubicBezTo>
                <a:cubicBezTo>
                  <a:pt x="14929" y="8520"/>
                  <a:pt x="13080" y="6671"/>
                  <a:pt x="10800" y="6671"/>
                </a:cubicBezTo>
                <a:cubicBezTo>
                  <a:pt x="8520" y="6671"/>
                  <a:pt x="6671" y="8520"/>
                  <a:pt x="6671" y="10800"/>
                </a:cubicBezTo>
                <a:close/>
              </a:path>
            </a:pathLst>
          </a:custGeom>
          <a:solidFill>
            <a:schemeClr val="accent1"/>
          </a:solidFill>
          <a:ln w="1270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3778250" y="3213100"/>
            <a:ext cx="15875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/>
              <a:t>OS</a:t>
            </a:r>
            <a:endParaRPr lang="en-US" altLang="zh-CN" sz="3200" b="1"/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3778250" y="2492375"/>
            <a:ext cx="15875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/>
              <a:t>应用</a:t>
            </a:r>
            <a:endParaRPr lang="zh-CN" altLang="en-US" sz="3200" b="1"/>
          </a:p>
        </p:txBody>
      </p:sp>
      <p:sp>
        <p:nvSpPr>
          <p:cNvPr id="9" name="AutoShape 9"/>
          <p:cNvSpPr>
            <a:spLocks noChangeArrowheads="1"/>
          </p:cNvSpPr>
          <p:nvPr/>
        </p:nvSpPr>
        <p:spPr bwMode="auto">
          <a:xfrm>
            <a:off x="2555875" y="2365375"/>
            <a:ext cx="4032250" cy="4032250"/>
          </a:xfrm>
          <a:custGeom>
            <a:avLst/>
            <a:gdLst>
              <a:gd name="G0" fmla="+- 6869 0 0"/>
              <a:gd name="G1" fmla="+- -10986124 0 0"/>
              <a:gd name="G2" fmla="+- 0 0 -10986124"/>
              <a:gd name="T0" fmla="*/ 0 256 1"/>
              <a:gd name="T1" fmla="*/ 180 256 1"/>
              <a:gd name="G3" fmla="+- -10986124 T0 T1"/>
              <a:gd name="T2" fmla="*/ 0 256 1"/>
              <a:gd name="T3" fmla="*/ 90 256 1"/>
              <a:gd name="G4" fmla="+- -10986124 T2 T3"/>
              <a:gd name="G5" fmla="*/ G4 2 1"/>
              <a:gd name="T4" fmla="*/ 90 256 1"/>
              <a:gd name="T5" fmla="*/ 0 256 1"/>
              <a:gd name="G6" fmla="+- -10986124 T4 T5"/>
              <a:gd name="G7" fmla="*/ G6 2 1"/>
              <a:gd name="G8" fmla="abs -10986124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6869"/>
              <a:gd name="G18" fmla="*/ 6869 1 2"/>
              <a:gd name="G19" fmla="+- G18 5400 0"/>
              <a:gd name="G20" fmla="cos G19 -10986124"/>
              <a:gd name="G21" fmla="sin G19 -10986124"/>
              <a:gd name="G22" fmla="+- G20 10800 0"/>
              <a:gd name="G23" fmla="+- G21 10800 0"/>
              <a:gd name="G24" fmla="+- 10800 0 G20"/>
              <a:gd name="G25" fmla="+- 6869 10800 0"/>
              <a:gd name="G26" fmla="?: G9 G17 G25"/>
              <a:gd name="G27" fmla="?: G9 0 21600"/>
              <a:gd name="G28" fmla="cos 10800 -10986124"/>
              <a:gd name="G29" fmla="sin 10800 -10986124"/>
              <a:gd name="G30" fmla="sin 6869 -10986124"/>
              <a:gd name="G31" fmla="+- G28 10800 0"/>
              <a:gd name="G32" fmla="+- G29 10800 0"/>
              <a:gd name="G33" fmla="+- G30 10800 0"/>
              <a:gd name="G34" fmla="?: G4 0 G31"/>
              <a:gd name="G35" fmla="?: -10986124 G34 0"/>
              <a:gd name="G36" fmla="?: G6 G35 G31"/>
              <a:gd name="G37" fmla="+- 21600 0 G36"/>
              <a:gd name="G38" fmla="?: G4 0 G33"/>
              <a:gd name="G39" fmla="?: -10986124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2169 w 21600"/>
              <a:gd name="T15" fmla="*/ 8908 h 21600"/>
              <a:gd name="T16" fmla="*/ 10800 w 21600"/>
              <a:gd name="T17" fmla="*/ 3931 h 21600"/>
              <a:gd name="T18" fmla="*/ 19431 w 21600"/>
              <a:gd name="T19" fmla="*/ 890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4090" y="9329"/>
                </a:moveTo>
                <a:cubicBezTo>
                  <a:pt x="4781" y="6177"/>
                  <a:pt x="7573" y="3931"/>
                  <a:pt x="10800" y="3931"/>
                </a:cubicBezTo>
                <a:cubicBezTo>
                  <a:pt x="14026" y="3931"/>
                  <a:pt x="16818" y="6177"/>
                  <a:pt x="17509" y="9329"/>
                </a:cubicBezTo>
                <a:lnTo>
                  <a:pt x="21349" y="8487"/>
                </a:lnTo>
                <a:cubicBezTo>
                  <a:pt x="20263" y="3531"/>
                  <a:pt x="15873" y="0"/>
                  <a:pt x="10799" y="0"/>
                </a:cubicBezTo>
                <a:cubicBezTo>
                  <a:pt x="5726" y="0"/>
                  <a:pt x="1336" y="3531"/>
                  <a:pt x="250" y="8487"/>
                </a:cubicBezTo>
                <a:close/>
              </a:path>
            </a:pathLst>
          </a:custGeom>
          <a:solidFill>
            <a:srgbClr val="FF3399"/>
          </a:solidFill>
          <a:ln w="127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3778250" y="5734050"/>
            <a:ext cx="15875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/>
              <a:t>应用</a:t>
            </a:r>
            <a:endParaRPr lang="zh-CN" altLang="en-US" sz="3200" b="1"/>
          </a:p>
        </p:txBody>
      </p:sp>
      <p:sp>
        <p:nvSpPr>
          <p:cNvPr id="11" name="AutoShape 11"/>
          <p:cNvSpPr>
            <a:spLocks noChangeArrowheads="1"/>
          </p:cNvSpPr>
          <p:nvPr/>
        </p:nvSpPr>
        <p:spPr bwMode="auto">
          <a:xfrm>
            <a:off x="2555875" y="2365375"/>
            <a:ext cx="4032250" cy="4032250"/>
          </a:xfrm>
          <a:custGeom>
            <a:avLst/>
            <a:gdLst>
              <a:gd name="G0" fmla="+- 8774 0 0"/>
              <a:gd name="G1" fmla="+- -11023296 0 0"/>
              <a:gd name="G2" fmla="+- 0 0 -11023296"/>
              <a:gd name="T0" fmla="*/ 0 256 1"/>
              <a:gd name="T1" fmla="*/ 180 256 1"/>
              <a:gd name="G3" fmla="+- -11023296 T0 T1"/>
              <a:gd name="T2" fmla="*/ 0 256 1"/>
              <a:gd name="T3" fmla="*/ 90 256 1"/>
              <a:gd name="G4" fmla="+- -11023296 T2 T3"/>
              <a:gd name="G5" fmla="*/ G4 2 1"/>
              <a:gd name="T4" fmla="*/ 90 256 1"/>
              <a:gd name="T5" fmla="*/ 0 256 1"/>
              <a:gd name="G6" fmla="+- -11023296 T4 T5"/>
              <a:gd name="G7" fmla="*/ G6 2 1"/>
              <a:gd name="G8" fmla="abs -11023296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8774"/>
              <a:gd name="G18" fmla="*/ 8774 1 2"/>
              <a:gd name="G19" fmla="+- G18 5400 0"/>
              <a:gd name="G20" fmla="cos G19 -11023296"/>
              <a:gd name="G21" fmla="sin G19 -11023296"/>
              <a:gd name="G22" fmla="+- G20 10800 0"/>
              <a:gd name="G23" fmla="+- G21 10800 0"/>
              <a:gd name="G24" fmla="+- 10800 0 G20"/>
              <a:gd name="G25" fmla="+- 8774 10800 0"/>
              <a:gd name="G26" fmla="?: G9 G17 G25"/>
              <a:gd name="G27" fmla="?: G9 0 21600"/>
              <a:gd name="G28" fmla="cos 10800 -11023296"/>
              <a:gd name="G29" fmla="sin 10800 -11023296"/>
              <a:gd name="G30" fmla="sin 8774 -11023296"/>
              <a:gd name="G31" fmla="+- G28 10800 0"/>
              <a:gd name="G32" fmla="+- G29 10800 0"/>
              <a:gd name="G33" fmla="+- G30 10800 0"/>
              <a:gd name="G34" fmla="?: G4 0 G31"/>
              <a:gd name="G35" fmla="?: -11023296 G34 0"/>
              <a:gd name="G36" fmla="?: G6 G35 G31"/>
              <a:gd name="G37" fmla="+- 21600 0 G36"/>
              <a:gd name="G38" fmla="?: G4 0 G33"/>
              <a:gd name="G39" fmla="?: -11023296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219 w 21600"/>
              <a:gd name="T15" fmla="*/ 8798 h 21600"/>
              <a:gd name="T16" fmla="*/ 10800 w 21600"/>
              <a:gd name="T17" fmla="*/ 2026 h 21600"/>
              <a:gd name="T18" fmla="*/ 20381 w 21600"/>
              <a:gd name="T19" fmla="*/ 879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2211" y="9006"/>
                </a:moveTo>
                <a:cubicBezTo>
                  <a:pt x="3060" y="4939"/>
                  <a:pt x="6645" y="2026"/>
                  <a:pt x="10800" y="2026"/>
                </a:cubicBezTo>
                <a:cubicBezTo>
                  <a:pt x="14954" y="2026"/>
                  <a:pt x="18539" y="4939"/>
                  <a:pt x="19388" y="9006"/>
                </a:cubicBezTo>
                <a:lnTo>
                  <a:pt x="21371" y="8591"/>
                </a:lnTo>
                <a:cubicBezTo>
                  <a:pt x="20326" y="3586"/>
                  <a:pt x="15913" y="0"/>
                  <a:pt x="10799" y="0"/>
                </a:cubicBezTo>
                <a:cubicBezTo>
                  <a:pt x="5686" y="0"/>
                  <a:pt x="1273" y="3586"/>
                  <a:pt x="228" y="8591"/>
                </a:cubicBezTo>
                <a:close/>
              </a:path>
            </a:pathLst>
          </a:custGeom>
          <a:solidFill>
            <a:srgbClr val="3366FF"/>
          </a:solidFill>
          <a:ln w="127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AutoShape 12"/>
          <p:cNvSpPr/>
          <p:nvPr/>
        </p:nvSpPr>
        <p:spPr bwMode="auto">
          <a:xfrm>
            <a:off x="719138" y="3378200"/>
            <a:ext cx="1220787" cy="833438"/>
          </a:xfrm>
          <a:prstGeom prst="callout1">
            <a:avLst>
              <a:gd name="adj1" fmla="val 13713"/>
              <a:gd name="adj2" fmla="val 106241"/>
              <a:gd name="adj3" fmla="val -37144"/>
              <a:gd name="adj4" fmla="val 280236"/>
            </a:avLst>
          </a:prstGeom>
          <a:noFill/>
          <a:ln w="381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 sz="2800" b="1"/>
              <a:t>应用平台</a:t>
            </a:r>
            <a:endParaRPr lang="zh-CN" altLang="en-US" sz="2800" b="1"/>
          </a:p>
        </p:txBody>
      </p:sp>
    </p:spTree>
  </p:cSld>
  <p:clrMapOvr>
    <a:masterClrMapping/>
  </p:clrMapOvr>
  <p:transition>
    <p:wipe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4" name="Object 1"/>
          <p:cNvGraphicFramePr>
            <a:graphicFrameLocks noChangeAspect="1"/>
          </p:cNvGraphicFramePr>
          <p:nvPr/>
        </p:nvGraphicFramePr>
        <p:xfrm>
          <a:off x="1000100" y="1500174"/>
          <a:ext cx="6929486" cy="47880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Visio" r:id="rId1" imgW="7035800" imgH="4864100" progId="Visio.Drawing.11">
                  <p:embed/>
                </p:oleObj>
              </mc:Choice>
              <mc:Fallback>
                <p:oleObj name="Visio" r:id="rId1" imgW="7035800" imgH="486410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00" y="1500174"/>
                        <a:ext cx="6929486" cy="478808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OSI</a:t>
            </a:r>
            <a:r>
              <a:rPr lang="zh-CN" altLang="en-US" dirty="0"/>
              <a:t>参考模型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Picture 4" descr="osi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1641475"/>
            <a:ext cx="6769100" cy="443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wipe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TCP/IP</a:t>
            </a:r>
            <a:r>
              <a:rPr lang="zh-CN" altLang="en-US" dirty="0"/>
              <a:t>分层通信协议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118380" y="1825625"/>
          <a:ext cx="6653240" cy="44291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name="" r:id="rId1" imgW="6616700" imgH="4406900" progId="Visio.Drawing.11">
                  <p:embed/>
                </p:oleObj>
              </mc:Choice>
              <mc:Fallback>
                <p:oleObj name="" r:id="rId1" imgW="6616700" imgH="4406900" progId="Visio.Drawing.11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8380" y="1825625"/>
                        <a:ext cx="6653240" cy="44291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层次化风格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每层为上一层提供服务，使用下一层的服务，只能见到与自己邻接的层</a:t>
            </a:r>
            <a:endParaRPr lang="zh-CN" altLang="en-US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适当时候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zh-CN" altLang="en-US" dirty="0">
                <a:solidFill>
                  <a:srgbClr val="FF0000"/>
                </a:solidFill>
              </a:rPr>
              <a:t>必不得已的时候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r>
              <a:rPr lang="zh-CN" altLang="en-US" dirty="0">
                <a:solidFill>
                  <a:srgbClr val="FF0000"/>
                </a:solidFill>
              </a:rPr>
              <a:t>，可以允许一定的越层操作</a:t>
            </a:r>
            <a:endParaRPr lang="zh-CN" altLang="en-US" dirty="0">
              <a:solidFill>
                <a:srgbClr val="FF0000"/>
              </a:solidFill>
            </a:endParaRPr>
          </a:p>
          <a:p>
            <a:r>
              <a:rPr lang="zh-CN" altLang="en-US" dirty="0"/>
              <a:t>大的问题分解为若干个渐进的小问题，逐步解决，隐藏了很多复杂度</a:t>
            </a:r>
            <a:endParaRPr lang="zh-CN" altLang="en-US" dirty="0"/>
          </a:p>
          <a:p>
            <a:r>
              <a:rPr lang="zh-CN" altLang="en-US" dirty="0"/>
              <a:t>修改一层，最多影响两层，而通常只能影响上层。接口稳固，则谁都不影响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  <p:transition>
    <p:wipe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层次化风格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上层必须知道下层的身份，不能调整层次之间的顺序</a:t>
            </a:r>
            <a:endParaRPr lang="zh-CN" altLang="en-US" dirty="0"/>
          </a:p>
          <a:p>
            <a:r>
              <a:rPr lang="zh-CN" altLang="en-US" dirty="0"/>
              <a:t>层层相调，影响性能</a:t>
            </a:r>
            <a:endParaRPr lang="zh-CN" altLang="en-US" dirty="0"/>
          </a:p>
          <a:p>
            <a:pPr>
              <a:buFont typeface="Wingdings" panose="05000000000000000000" pitchFamily="2" charset="2"/>
              <a:buNone/>
            </a:pP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  <p:transition>
    <p:wipe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层次化风格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优点</a:t>
            </a:r>
            <a:r>
              <a:rPr lang="en-US" altLang="zh-CN" dirty="0"/>
              <a:t>:</a:t>
            </a:r>
            <a:endParaRPr lang="en-US" altLang="zh-CN" dirty="0"/>
          </a:p>
          <a:p>
            <a:pPr lvl="1"/>
            <a:r>
              <a:rPr lang="zh-CN" altLang="en-US" dirty="0"/>
              <a:t>支持基于抽象程度递增的系统设计，使设计者可以把一个复杂系统按递增的步骤进行分解</a:t>
            </a:r>
            <a:endParaRPr lang="zh-CN" altLang="en-US" dirty="0"/>
          </a:p>
          <a:p>
            <a:pPr lvl="1"/>
            <a:r>
              <a:rPr lang="zh-CN" altLang="en-US" dirty="0"/>
              <a:t>支持功能增强，因为每一层至多和相邻的上下层交互，因此功能的改变最多影响相邻的上下层。</a:t>
            </a:r>
            <a:endParaRPr lang="zh-CN" altLang="en-US" dirty="0"/>
          </a:p>
          <a:p>
            <a:pPr lvl="1"/>
            <a:r>
              <a:rPr lang="zh-CN" altLang="en-US" dirty="0"/>
              <a:t>支持重用。只要提供的服务接口定义不变，同一层的不同实现可以交换使用。这样就可以定义一组标准的接口，而允许各种不同的实现方法。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  <p:transition>
    <p:wipe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层次化风格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缺点</a:t>
            </a:r>
            <a:endParaRPr lang="zh-CN" altLang="en-US" dirty="0">
              <a:latin typeface="Arial" panose="020B0604020202020204" pitchFamily="34" charset="0"/>
            </a:endParaRPr>
          </a:p>
          <a:p>
            <a:pPr lvl="1"/>
            <a:r>
              <a:rPr lang="zh-CN" altLang="en-US" dirty="0"/>
              <a:t>并不是每个系统都可以很容易的划分为分层的模式，甚至即使一个系统的逻辑结构是层次化，出于对系统性能的考虑，系统设计师不得不把一些低级或高级的功能综合起来。</a:t>
            </a:r>
            <a:endParaRPr lang="zh-CN" altLang="en-US" dirty="0"/>
          </a:p>
          <a:p>
            <a:pPr lvl="1"/>
            <a:r>
              <a:rPr lang="zh-CN" altLang="en-US" dirty="0"/>
              <a:t>很难找到一个合适的、正确的层次抽象方法。</a:t>
            </a:r>
            <a:endParaRPr lang="zh-CN" altLang="en-US" dirty="0"/>
          </a:p>
          <a:p>
            <a:pPr lvl="2"/>
            <a:r>
              <a:rPr lang="zh-CN" altLang="zh-CN" dirty="0"/>
              <a:t>例如，实际的通信协议体就很难映射到</a:t>
            </a:r>
            <a:r>
              <a:rPr lang="en-US" altLang="zh-CN" dirty="0"/>
              <a:t>OSI</a:t>
            </a:r>
            <a:r>
              <a:rPr lang="zh-CN" altLang="zh-CN" dirty="0"/>
              <a:t>框架中，因为其中许多协议跨多个层。</a:t>
            </a:r>
            <a:endParaRPr lang="zh-CN" altLang="zh-CN" dirty="0"/>
          </a:p>
          <a:p>
            <a:endParaRPr lang="zh-CN" altLang="en-US" dirty="0"/>
          </a:p>
        </p:txBody>
      </p:sp>
    </p:spTree>
  </p:cSld>
  <p:clrMapOvr>
    <a:masterClrMapping/>
  </p:clrMapOvr>
  <p:transition>
    <p:wipe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Java</a:t>
            </a:r>
            <a:r>
              <a:rPr lang="zh-CN" altLang="en-US" dirty="0"/>
              <a:t>的</a:t>
            </a:r>
            <a:r>
              <a:rPr lang="en-US" altLang="zh-CN" dirty="0"/>
              <a:t>I/O</a:t>
            </a:r>
            <a:endParaRPr lang="zh-CN" alt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683568" y="1628800"/>
            <a:ext cx="8229600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层次风格，还是管道风格？</a:t>
            </a:r>
            <a:endParaRPr lang="zh-CN" altLang="en-US" dirty="0"/>
          </a:p>
          <a:p>
            <a:pPr>
              <a:buFont typeface="Wingdings" panose="05000000000000000000" pitchFamily="2" charset="2"/>
              <a:buNone/>
            </a:pPr>
            <a:endParaRPr lang="zh-CN" altLang="en-US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 err="1">
                <a:solidFill>
                  <a:srgbClr val="FF3300"/>
                </a:solidFill>
                <a:latin typeface="Courier New" panose="02070309020205020404" pitchFamily="49" charset="0"/>
              </a:rPr>
              <a:t>DataOutputStream</a:t>
            </a:r>
            <a:r>
              <a:rPr lang="en-US" altLang="zh-CN" sz="2400" dirty="0">
                <a:latin typeface="Courier New" panose="02070309020205020404" pitchFamily="49" charset="0"/>
              </a:rPr>
              <a:t> out </a:t>
            </a:r>
            <a:r>
              <a:rPr lang="en-US" altLang="zh-CN" sz="2400" dirty="0">
                <a:solidFill>
                  <a:srgbClr val="FF3399"/>
                </a:solidFill>
                <a:latin typeface="Courier New" panose="02070309020205020404" pitchFamily="49" charset="0"/>
              </a:rPr>
              <a:t>=</a:t>
            </a:r>
            <a:endParaRPr lang="en-US" altLang="zh-CN" sz="2400" dirty="0">
              <a:solidFill>
                <a:srgbClr val="FF3399"/>
              </a:solidFill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urier New" panose="02070309020205020404" pitchFamily="49" charset="0"/>
              </a:rPr>
              <a:t>	new </a:t>
            </a:r>
            <a:r>
              <a:rPr lang="en-US" altLang="zh-CN" sz="2400" dirty="0" err="1">
                <a:solidFill>
                  <a:srgbClr val="FF3300"/>
                </a:solidFill>
                <a:latin typeface="Courier New" panose="02070309020205020404" pitchFamily="49" charset="0"/>
              </a:rPr>
              <a:t>DataOutputStream</a:t>
            </a:r>
            <a:r>
              <a:rPr lang="en-US" altLang="zh-CN" sz="2400" dirty="0">
                <a:solidFill>
                  <a:srgbClr val="FF3399"/>
                </a:solidFill>
                <a:latin typeface="Courier New" panose="02070309020205020404" pitchFamily="49" charset="0"/>
              </a:rPr>
              <a:t>(</a:t>
            </a:r>
            <a:endParaRPr lang="en-US" altLang="zh-CN" sz="2400" dirty="0">
              <a:solidFill>
                <a:srgbClr val="FF3399"/>
              </a:solidFill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urier New" panose="02070309020205020404" pitchFamily="49" charset="0"/>
              </a:rPr>
              <a:t>		new </a:t>
            </a:r>
            <a:r>
              <a:rPr lang="en-US" altLang="zh-CN" sz="2400" dirty="0" err="1">
                <a:solidFill>
                  <a:srgbClr val="FF3300"/>
                </a:solidFill>
                <a:latin typeface="Courier New" panose="02070309020205020404" pitchFamily="49" charset="0"/>
              </a:rPr>
              <a:t>BufferedOutputStream</a:t>
            </a:r>
            <a:r>
              <a:rPr lang="en-US" altLang="zh-CN" sz="2400" dirty="0">
                <a:solidFill>
                  <a:srgbClr val="FF3399"/>
                </a:solidFill>
                <a:latin typeface="Courier New" panose="02070309020205020404" pitchFamily="49" charset="0"/>
              </a:rPr>
              <a:t>(</a:t>
            </a:r>
            <a:endParaRPr lang="en-US" altLang="zh-CN" sz="2400" dirty="0">
              <a:solidFill>
                <a:srgbClr val="FF3399"/>
              </a:solidFill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urier New" panose="02070309020205020404" pitchFamily="49" charset="0"/>
              </a:rPr>
              <a:t>			new </a:t>
            </a:r>
            <a:r>
              <a:rPr lang="en-US" altLang="zh-CN" sz="2400" dirty="0" err="1">
                <a:solidFill>
                  <a:srgbClr val="FF3300"/>
                </a:solidFill>
                <a:latin typeface="Courier New" panose="02070309020205020404" pitchFamily="49" charset="0"/>
              </a:rPr>
              <a:t>FileOutputStream</a:t>
            </a:r>
            <a:r>
              <a:rPr lang="en-US" altLang="zh-CN" sz="2400" dirty="0">
                <a:solidFill>
                  <a:srgbClr val="FF3399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2400" dirty="0">
                <a:solidFill>
                  <a:schemeClr val="accent1"/>
                </a:solidFill>
                <a:latin typeface="Courier New" panose="02070309020205020404" pitchFamily="49" charset="0"/>
              </a:rPr>
              <a:t>“Data.txt”</a:t>
            </a:r>
            <a:r>
              <a:rPr lang="en-US" altLang="zh-CN" sz="2400" dirty="0">
                <a:solidFill>
                  <a:srgbClr val="FF3399"/>
                </a:solidFill>
                <a:latin typeface="Courier New" panose="02070309020205020404" pitchFamily="49" charset="0"/>
              </a:rPr>
              <a:t>)));</a:t>
            </a:r>
            <a:endParaRPr lang="en-US" altLang="zh-CN" sz="2400" dirty="0">
              <a:solidFill>
                <a:srgbClr val="FF3399"/>
              </a:solidFill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 err="1">
                <a:latin typeface="Courier New" panose="02070309020205020404" pitchFamily="49" charset="0"/>
              </a:rPr>
              <a:t>out</a:t>
            </a:r>
            <a:r>
              <a:rPr lang="en-US" altLang="zh-CN" sz="2400" dirty="0" err="1">
                <a:solidFill>
                  <a:srgbClr val="FF3399"/>
                </a:solidFill>
                <a:latin typeface="Courier New" panose="02070309020205020404" pitchFamily="49" charset="0"/>
              </a:rPr>
              <a:t>.</a:t>
            </a:r>
            <a:r>
              <a:rPr lang="en-US" altLang="zh-CN" sz="2400" dirty="0" err="1">
                <a:solidFill>
                  <a:srgbClr val="FF3300"/>
                </a:solidFill>
                <a:latin typeface="Courier New" panose="02070309020205020404" pitchFamily="49" charset="0"/>
              </a:rPr>
              <a:t>writeChars</a:t>
            </a:r>
            <a:r>
              <a:rPr lang="en-US" altLang="zh-CN" sz="2400" dirty="0">
                <a:solidFill>
                  <a:srgbClr val="FF3399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2400" dirty="0">
                <a:solidFill>
                  <a:schemeClr val="accent1"/>
                </a:solidFill>
                <a:latin typeface="Courier New" panose="02070309020205020404" pitchFamily="49" charset="0"/>
              </a:rPr>
              <a:t>“</a:t>
            </a:r>
            <a:r>
              <a:rPr lang="zh-CN" altLang="en-US" sz="2400" dirty="0">
                <a:solidFill>
                  <a:schemeClr val="accent1"/>
                </a:solidFill>
                <a:latin typeface="Courier New" panose="02070309020205020404" pitchFamily="49" charset="0"/>
              </a:rPr>
              <a:t>偶是层次风格的吗！”</a:t>
            </a:r>
            <a:r>
              <a:rPr lang="en-US" altLang="zh-CN" sz="2400" dirty="0">
                <a:solidFill>
                  <a:srgbClr val="FF3399"/>
                </a:solidFill>
                <a:latin typeface="Courier New" panose="02070309020205020404" pitchFamily="49" charset="0"/>
              </a:rPr>
              <a:t>);</a:t>
            </a:r>
            <a:endParaRPr lang="en-US" altLang="zh-CN" sz="2400" dirty="0">
              <a:solidFill>
                <a:srgbClr val="FF3399"/>
              </a:solidFill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ransition>
    <p:wipe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4" name="Object 10"/>
          <p:cNvGraphicFramePr>
            <a:graphicFrameLocks noChangeAspect="1"/>
          </p:cNvGraphicFramePr>
          <p:nvPr/>
        </p:nvGraphicFramePr>
        <p:xfrm>
          <a:off x="971550" y="2374900"/>
          <a:ext cx="7200900" cy="335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name="Visio" r:id="rId1" imgW="4391025" imgH="2057400" progId="Visio.Drawing.11">
                  <p:embed/>
                </p:oleObj>
              </mc:Choice>
              <mc:Fallback>
                <p:oleObj name="Visio" r:id="rId1" imgW="4391025" imgH="2057400" progId="Visio.Drawing.11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374900"/>
                        <a:ext cx="7200900" cy="335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66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Line 11"/>
          <p:cNvSpPr>
            <a:spLocks noChangeShapeType="1"/>
          </p:cNvSpPr>
          <p:nvPr/>
        </p:nvSpPr>
        <p:spPr bwMode="auto">
          <a:xfrm>
            <a:off x="2803525" y="5516563"/>
            <a:ext cx="6477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Line 12"/>
          <p:cNvSpPr>
            <a:spLocks noChangeShapeType="1"/>
          </p:cNvSpPr>
          <p:nvPr/>
        </p:nvSpPr>
        <p:spPr bwMode="auto">
          <a:xfrm>
            <a:off x="363538" y="5516563"/>
            <a:ext cx="6477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Line 13"/>
          <p:cNvSpPr>
            <a:spLocks noChangeShapeType="1"/>
          </p:cNvSpPr>
          <p:nvPr/>
        </p:nvSpPr>
        <p:spPr bwMode="auto">
          <a:xfrm>
            <a:off x="5683250" y="5516563"/>
            <a:ext cx="6477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Line 14"/>
          <p:cNvSpPr>
            <a:spLocks noChangeShapeType="1"/>
          </p:cNvSpPr>
          <p:nvPr/>
        </p:nvSpPr>
        <p:spPr bwMode="auto">
          <a:xfrm>
            <a:off x="8116888" y="5516563"/>
            <a:ext cx="6477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commondata" val="eyJoZGlkIjoiYzFhZGY0ZTViYWQyN2I0ZGJhNDk0OThkMjNkNmQ2MDY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6事件驱动</Template>
  <TotalTime>0</TotalTime>
  <Words>1299</Words>
  <Application>WPS 演示</Application>
  <PresentationFormat>全屏显示(4:3)</PresentationFormat>
  <Paragraphs>117</Paragraphs>
  <Slides>20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20</vt:i4>
      </vt:variant>
    </vt:vector>
  </HeadingPairs>
  <TitlesOfParts>
    <vt:vector size="37" baseType="lpstr">
      <vt:lpstr>Arial</vt:lpstr>
      <vt:lpstr>宋体</vt:lpstr>
      <vt:lpstr>Wingdings</vt:lpstr>
      <vt:lpstr>Calibri Light</vt:lpstr>
      <vt:lpstr>Times New Roman</vt:lpstr>
      <vt:lpstr>黑体</vt:lpstr>
      <vt:lpstr>华文琥珀</vt:lpstr>
      <vt:lpstr>Calibri</vt:lpstr>
      <vt:lpstr>微软雅黑</vt:lpstr>
      <vt:lpstr>Arial Unicode MS</vt:lpstr>
      <vt:lpstr>Courier New</vt:lpstr>
      <vt:lpstr>Office 主题</vt:lpstr>
      <vt:lpstr>Visio.Drawing.11</vt:lpstr>
      <vt:lpstr>Visio.Drawing.11</vt:lpstr>
      <vt:lpstr>Visio.Drawing.11</vt:lpstr>
      <vt:lpstr>Visio.Drawing.11</vt:lpstr>
      <vt:lpstr>Visio.Drawing.11</vt:lpstr>
      <vt:lpstr>软件体系结构 </vt:lpstr>
      <vt:lpstr>PowerPoint 演示文稿</vt:lpstr>
      <vt:lpstr>主程序/子程序风格</vt:lpstr>
      <vt:lpstr>主程序/子程序风格</vt:lpstr>
      <vt:lpstr>主程序/子程序风格</vt:lpstr>
      <vt:lpstr>KWIC问题</vt:lpstr>
      <vt:lpstr>PowerPoint 演示文稿</vt:lpstr>
      <vt:lpstr>层次化风格</vt:lpstr>
      <vt:lpstr>无处不在的层次结构</vt:lpstr>
      <vt:lpstr>PowerPoint 演示文稿</vt:lpstr>
      <vt:lpstr>PowerPoint 演示文稿</vt:lpstr>
      <vt:lpstr>PowerPoint 演示文稿</vt:lpstr>
      <vt:lpstr>OSI参考模型</vt:lpstr>
      <vt:lpstr>TCP/IP分层通信协议</vt:lpstr>
      <vt:lpstr>层次化风格</vt:lpstr>
      <vt:lpstr>层次化风格</vt:lpstr>
      <vt:lpstr>层次化风格</vt:lpstr>
      <vt:lpstr>层次化风格</vt:lpstr>
      <vt:lpstr>Java的I/O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事件驱动</dc:title>
  <dc:creator>zhao</dc:creator>
  <cp:lastModifiedBy>赵庆玲</cp:lastModifiedBy>
  <cp:revision>617</cp:revision>
  <dcterms:created xsi:type="dcterms:W3CDTF">2018-04-12T01:58:00Z</dcterms:created>
  <dcterms:modified xsi:type="dcterms:W3CDTF">2026-05-28T05:58:32Z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2052-12.1.0.18276</vt:lpwstr>
  </property>
  <property fmtid="{D5CDD505-2E9C-101B-9397-08002B2CF9AE}" pid="3" name="ICV">
    <vt:lpwstr>A014D192C0744EDBB883082D5CB52112_13</vt:lpwstr>
  </property>
</Properties>
</file>