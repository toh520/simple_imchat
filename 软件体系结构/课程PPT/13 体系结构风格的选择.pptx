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70"/>
  </p:handoutMasterIdLst>
  <p:sldIdLst>
    <p:sldId id="304" r:id="rId3"/>
    <p:sldId id="933" r:id="rId4"/>
    <p:sldId id="907" r:id="rId5"/>
    <p:sldId id="934" r:id="rId7"/>
    <p:sldId id="754" r:id="rId8"/>
    <p:sldId id="936" r:id="rId9"/>
    <p:sldId id="935" r:id="rId10"/>
    <p:sldId id="911" r:id="rId11"/>
    <p:sldId id="937" r:id="rId12"/>
    <p:sldId id="939" r:id="rId13"/>
    <p:sldId id="940" r:id="rId14"/>
    <p:sldId id="941" r:id="rId15"/>
    <p:sldId id="915" r:id="rId16"/>
    <p:sldId id="943" r:id="rId17"/>
    <p:sldId id="946" r:id="rId18"/>
    <p:sldId id="944" r:id="rId19"/>
    <p:sldId id="945" r:id="rId20"/>
    <p:sldId id="947" r:id="rId21"/>
    <p:sldId id="948" r:id="rId22"/>
    <p:sldId id="951" r:id="rId23"/>
    <p:sldId id="950" r:id="rId24"/>
    <p:sldId id="952" r:id="rId25"/>
    <p:sldId id="953" r:id="rId26"/>
    <p:sldId id="954" r:id="rId27"/>
    <p:sldId id="955" r:id="rId28"/>
    <p:sldId id="956" r:id="rId29"/>
    <p:sldId id="957" r:id="rId30"/>
    <p:sldId id="958" r:id="rId31"/>
    <p:sldId id="959" r:id="rId32"/>
    <p:sldId id="960" r:id="rId33"/>
    <p:sldId id="961" r:id="rId34"/>
    <p:sldId id="962" r:id="rId35"/>
    <p:sldId id="963" r:id="rId36"/>
    <p:sldId id="964" r:id="rId37"/>
    <p:sldId id="300" r:id="rId38"/>
    <p:sldId id="288" r:id="rId39"/>
    <p:sldId id="289" r:id="rId40"/>
    <p:sldId id="290" r:id="rId41"/>
    <p:sldId id="293" r:id="rId42"/>
    <p:sldId id="299" r:id="rId43"/>
    <p:sldId id="294" r:id="rId44"/>
    <p:sldId id="295" r:id="rId45"/>
    <p:sldId id="296" r:id="rId46"/>
    <p:sldId id="298" r:id="rId47"/>
    <p:sldId id="297" r:id="rId48"/>
    <p:sldId id="258" r:id="rId49"/>
    <p:sldId id="259" r:id="rId50"/>
    <p:sldId id="260" r:id="rId51"/>
    <p:sldId id="262" r:id="rId52"/>
    <p:sldId id="264" r:id="rId53"/>
    <p:sldId id="266" r:id="rId54"/>
    <p:sldId id="267" r:id="rId55"/>
    <p:sldId id="269" r:id="rId56"/>
    <p:sldId id="270" r:id="rId57"/>
    <p:sldId id="271" r:id="rId58"/>
    <p:sldId id="272" r:id="rId59"/>
    <p:sldId id="275" r:id="rId60"/>
    <p:sldId id="276" r:id="rId61"/>
    <p:sldId id="273" r:id="rId62"/>
    <p:sldId id="274" r:id="rId63"/>
    <p:sldId id="280" r:id="rId64"/>
    <p:sldId id="301" r:id="rId65"/>
    <p:sldId id="302" r:id="rId66"/>
    <p:sldId id="303" r:id="rId67"/>
    <p:sldId id="281" r:id="rId68"/>
    <p:sldId id="965" r:id="rId69"/>
  </p:sldIdLst>
  <p:sldSz cx="9144000" cy="6858000" type="screen4x3"/>
  <p:notesSz cx="6858000" cy="9144000"/>
  <p:custDataLst>
    <p:tags r:id="rId74"/>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996633"/>
    <a:srgbClr val="FFFF00"/>
    <a:srgbClr val="008000"/>
    <a:srgbClr val="FF3399"/>
    <a:srgbClr val="3333FF"/>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9" autoAdjust="0"/>
    <p:restoredTop sz="92659" autoAdjust="0"/>
  </p:normalViewPr>
  <p:slideViewPr>
    <p:cSldViewPr showGuides="1">
      <p:cViewPr varScale="1">
        <p:scale>
          <a:sx n="105" d="100"/>
          <a:sy n="105" d="100"/>
        </p:scale>
        <p:origin x="120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tags" Target="tags/tag1.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099"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F33FDF1D-42D2-437E-8404-412CDD718749}"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xfrm>
            <a:off x="917575" y="744538"/>
            <a:ext cx="4962525" cy="3722687"/>
          </a:xfrm>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ChangeArrowheads="1" noTextEdit="1"/>
          </p:cNvSpPr>
          <p:nvPr>
            <p:ph type="sldImg" idx="4294967295"/>
          </p:nvPr>
        </p:nvSpPr>
        <p:spPr>
          <a:xfrm>
            <a:off x="1150938" y="692150"/>
            <a:ext cx="4556125" cy="3416300"/>
          </a:xfrm>
        </p:spPr>
      </p:sp>
      <p:sp>
        <p:nvSpPr>
          <p:cNvPr id="22530" name="Rectangle 3"/>
          <p:cNvSpPr>
            <a:spLocks noGrp="1" noChangeArrowheads="1"/>
          </p:cNvSpPr>
          <p:nvPr>
            <p:ph type="body" idx="4294967295"/>
          </p:nvPr>
        </p:nvSpPr>
        <p:spPr>
          <a:extLs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t>增删组件，主动性没有做</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3ED9C8B5-EB7B-4FEA-A332-D0CBA283E2A8}"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047B18A9-A7B2-436D-9715-F121338552C2}" type="slidenum">
              <a:rPr lang="en-US" altLang="zh-CN" smtClean="0"/>
            </a:fld>
            <a:endParaRPr lang="en-US" altLang="zh-CN"/>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62C3491F-691D-4575-8AC2-E0C55FF2B629}" type="slidenum">
              <a:rPr lang="en-US" altLang="zh-CN" smtClean="0"/>
            </a:fld>
            <a:endParaRPr lang="en-US" altLang="zh-CN"/>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DCB17B38-C1D1-4670-BCF1-30296FC5A89E}" type="slidenum">
              <a:rPr lang="en-US" altLang="zh-CN" smtClean="0"/>
            </a:fld>
            <a:endParaRPr lang="en-US" altLang="zh-CN"/>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21A839C6-3BAA-4C66-A727-DADE2FFBFEAE}" type="slidenum">
              <a:rPr lang="en-US" altLang="zh-CN" smtClean="0"/>
            </a:fld>
            <a:endParaRPr lang="en-US" altLang="zh-CN"/>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891376F0-8DE9-461D-A699-EFDDCD9598EB}" type="slidenum">
              <a:rPr lang="en-US" altLang="zh-CN" smtClean="0"/>
            </a:fld>
            <a:endParaRPr lang="en-US" altLang="zh-CN"/>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A6C0D6E0-2CD9-4560-87CB-5532435AD155}" type="slidenum">
              <a:rPr lang="en-US" altLang="zh-CN" smtClean="0"/>
            </a:fld>
            <a:endParaRPr lang="en-US" altLang="zh-CN"/>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4ECB97C2-3E47-4CBF-90A1-5340A09C16FC}" type="slidenum">
              <a:rPr lang="en-US" altLang="zh-CN" smtClean="0"/>
            </a:fld>
            <a:endParaRPr lang="en-US" altLang="zh-CN"/>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6B8C7D90-FD96-409B-BD93-F501CD3C9185}" type="slidenum">
              <a:rPr lang="en-US" altLang="zh-CN" smtClean="0"/>
            </a:fld>
            <a:endParaRPr lang="en-US" altLang="zh-CN"/>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CB173229-7D95-46F8-A9A3-6A7FA4ABD241}" type="slidenum">
              <a:rPr lang="en-US" altLang="zh-CN" smtClean="0"/>
            </a:fld>
            <a:endParaRPr lang="en-US" altLang="zh-CN"/>
          </a:p>
        </p:txBody>
      </p:sp>
    </p:spTree>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CB173229-7D95-46F8-A9A3-6A7FA4ABD241}" type="slidenum">
              <a:rPr lang="en-US" altLang="zh-CN" smtClean="0"/>
            </a:fld>
            <a:endParaRPr lang="en-US" altLang="zh-CN"/>
          </a:p>
        </p:txBody>
      </p:sp>
    </p:spTree>
  </p:cSld>
  <p:clrMapOvr>
    <a:masterClrMapping/>
  </p:clrMapOvr>
  <p:transition>
    <p:wipe dir="u"/>
  </p:transition>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884238"/>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457200" y="1557338"/>
            <a:ext cx="4038600" cy="4608512"/>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hasCustomPrompt="1"/>
          </p:nvPr>
        </p:nvSpPr>
        <p:spPr>
          <a:xfrm>
            <a:off x="4648200" y="1557338"/>
            <a:ext cx="4038600" cy="4608512"/>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3"/>
          <p:cNvSpPr>
            <a:spLocks noGrp="1" noChangeArrowheads="1"/>
          </p:cNvSpPr>
          <p:nvPr>
            <p:ph type="sldNum" sz="quarter" idx="10"/>
          </p:nvPr>
        </p:nvSpPr>
        <p:spPr/>
        <p:txBody>
          <a:bodyPr/>
          <a:lstStyle>
            <a:lvl1pPr>
              <a:defRPr/>
            </a:lvl1pPr>
          </a:lstStyle>
          <a:p>
            <a:pPr>
              <a:defRPr/>
            </a:pPr>
            <a:fld id="{BF16A380-D57C-4B05-B2AD-FA7D3B89F628}" type="slidenum">
              <a:rPr lang="en-US" altLang="zh-CN"/>
            </a:fld>
            <a:endParaRPr lang="en-US" altLang="zh-CN"/>
          </a:p>
        </p:txBody>
      </p:sp>
      <p:sp>
        <p:nvSpPr>
          <p:cNvPr id="6" name="Rectangle 16"/>
          <p:cNvSpPr>
            <a:spLocks noGrp="1" noChangeArrowheads="1"/>
          </p:cNvSpPr>
          <p:nvPr>
            <p:ph type="dt" sz="half" idx="11"/>
          </p:nvPr>
        </p:nvSpPr>
        <p:spPr/>
        <p:txBody>
          <a:bodyPr/>
          <a:lstStyle>
            <a:lvl1pPr>
              <a:defRPr/>
            </a:lvl1pPr>
          </a:lstStyle>
          <a:p>
            <a:pPr>
              <a:defRPr/>
            </a:pPr>
            <a:fld id="{DE73D4E1-2CB8-41AE-807E-2DB423F18134}" type="datetime1">
              <a:rPr lang="zh-CN" altLang="en-US"/>
            </a:fld>
            <a:endParaRPr lang="en-US" altLang="zh-CN"/>
          </a:p>
        </p:txBody>
      </p:sp>
    </p:spTree>
  </p:cSld>
  <p:clrMapOvr>
    <a:masterClrMapping/>
  </p:clrMapOvr>
  <p:transition>
    <p:wipe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884238"/>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457200" y="1557338"/>
            <a:ext cx="8229600" cy="4608512"/>
          </a:xfrm>
        </p:spPr>
        <p:txBody>
          <a:bodyPr/>
          <a:lstStyle/>
          <a:p>
            <a:pPr lvl="0"/>
            <a:endParaRPr lang="zh-CN" altLang="en-US" noProof="0"/>
          </a:p>
        </p:txBody>
      </p:sp>
      <p:sp>
        <p:nvSpPr>
          <p:cNvPr id="4" name="Rectangle 3"/>
          <p:cNvSpPr>
            <a:spLocks noGrp="1" noChangeArrowheads="1"/>
          </p:cNvSpPr>
          <p:nvPr>
            <p:ph type="sldNum" sz="quarter" idx="10"/>
          </p:nvPr>
        </p:nvSpPr>
        <p:spPr/>
        <p:txBody>
          <a:bodyPr/>
          <a:lstStyle>
            <a:lvl1pPr>
              <a:defRPr/>
            </a:lvl1pPr>
          </a:lstStyle>
          <a:p>
            <a:pPr>
              <a:defRPr/>
            </a:pPr>
            <a:fld id="{9876AD65-CCC5-407E-A121-D43F43FF5042}" type="slidenum">
              <a:rPr lang="en-US" altLang="zh-CN"/>
            </a:fld>
            <a:endParaRPr lang="en-US" altLang="zh-CN"/>
          </a:p>
        </p:txBody>
      </p:sp>
      <p:sp>
        <p:nvSpPr>
          <p:cNvPr id="5" name="Rectangle 16"/>
          <p:cNvSpPr>
            <a:spLocks noGrp="1" noChangeArrowheads="1"/>
          </p:cNvSpPr>
          <p:nvPr>
            <p:ph type="dt" sz="half" idx="11"/>
          </p:nvPr>
        </p:nvSpPr>
        <p:spPr/>
        <p:txBody>
          <a:bodyPr/>
          <a:lstStyle>
            <a:lvl1pPr>
              <a:defRPr/>
            </a:lvl1pPr>
          </a:lstStyle>
          <a:p>
            <a:pPr>
              <a:defRPr/>
            </a:pPr>
            <a:fld id="{DE73D4E1-2CB8-41AE-807E-2DB423F18134}" type="datetime1">
              <a:rPr lang="zh-CN" altLang="en-US"/>
            </a:fld>
            <a:endParaRPr lang="en-US" altLang="zh-CN"/>
          </a:p>
        </p:txBody>
      </p:sp>
    </p:spTree>
  </p:cSld>
  <p:clrMapOvr>
    <a:masterClrMapping/>
  </p:clrMapOvr>
  <p:transition>
    <p:wipe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DE73D4E1-2CB8-41AE-807E-2DB423F18134}" type="datetime1">
              <a:rPr lang="zh-CN" altLang="en-US" smtClean="0"/>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CB173229-7D95-46F8-A9A3-6A7FA4ABD241}" type="slidenum">
              <a:rPr lang="en-US" altLang="zh-CN" smtClean="0"/>
            </a:fld>
            <a:endParaRPr lang="en-US" altLang="zh-CN"/>
          </a:p>
        </p:txBody>
      </p:sp>
      <p:pic>
        <p:nvPicPr>
          <p:cNvPr id="1030" name="Picture 2" descr="未标题-2 - 副本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5.e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7.emf"/><Relationship Id="rId1"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7.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4.wm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8.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9.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4.xml"/><Relationship Id="rId2" Type="http://schemas.openxmlformats.org/officeDocument/2006/relationships/image" Target="../media/image18.wmf"/><Relationship Id="rId1" Type="http://schemas.openxmlformats.org/officeDocument/2006/relationships/oleObject" Target="../embeddings/oleObject10.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520662"/>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13</a:t>
            </a:r>
            <a:r>
              <a:rPr lang="zh-CN" altLang="en-US" sz="4000" dirty="0">
                <a:ea typeface="黑体" panose="02010609060101010101" pitchFamily="49" charset="-122"/>
              </a:rPr>
              <a:t>章 </a:t>
            </a:r>
            <a:r>
              <a:rPr lang="zh-CN" altLang="en-US" sz="4000" dirty="0">
                <a:latin typeface="黑体" panose="02010609060101010101" pitchFamily="49" charset="-122"/>
                <a:ea typeface="黑体" panose="02010609060101010101" pitchFamily="49" charset="-122"/>
              </a:rPr>
              <a:t>体系结构选择与软件开发</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defRPr/>
            </a:pPr>
            <a:r>
              <a:rPr lang="zh-CN" altLang="en-US" dirty="0">
                <a:effectLst>
                  <a:outerShdw blurRad="38100" dist="38100" dir="2700000" algn="tl">
                    <a:srgbClr val="000000">
                      <a:alpha val="43137"/>
                    </a:srgbClr>
                  </a:outerShdw>
                </a:effectLst>
              </a:rPr>
              <a:t>体系结构驱动的软件开发简介（</a:t>
            </a:r>
            <a:r>
              <a:rPr lang="en-US" altLang="zh-CN" dirty="0">
                <a:effectLst>
                  <a:outerShdw blurRad="38100" dist="38100" dir="2700000" algn="tl">
                    <a:srgbClr val="000000">
                      <a:alpha val="43137"/>
                    </a:srgbClr>
                  </a:outerShdw>
                </a:effectLst>
              </a:rPr>
              <a:t>1</a:t>
            </a:r>
            <a:r>
              <a:rPr lang="zh-CN" altLang="en-US" dirty="0">
                <a:effectLst>
                  <a:outerShdw blurRad="38100" dist="38100" dir="2700000" algn="tl">
                    <a:srgbClr val="000000">
                      <a:alpha val="43137"/>
                    </a:srgbClr>
                  </a:outerShdw>
                </a:effectLst>
              </a:rPr>
              <a:t>）</a:t>
            </a:r>
            <a:endParaRPr lang="zh-CN" altLang="en-US" dirty="0">
              <a:effectLst>
                <a:outerShdw blurRad="38100" dist="38100" dir="2700000" algn="tl">
                  <a:srgbClr val="000000">
                    <a:alpha val="43137"/>
                  </a:srgbClr>
                </a:outerShdw>
              </a:effectLst>
            </a:endParaRPr>
          </a:p>
        </p:txBody>
      </p:sp>
      <p:sp>
        <p:nvSpPr>
          <p:cNvPr id="10243" name="内容占位符 2"/>
          <p:cNvSpPr>
            <a:spLocks noGrp="1"/>
          </p:cNvSpPr>
          <p:nvPr>
            <p:ph idx="1"/>
          </p:nvPr>
        </p:nvSpPr>
        <p:spPr/>
        <p:txBody>
          <a:bodyPr/>
          <a:lstStyle/>
          <a:p>
            <a:pPr algn="just" eaLnBrk="1" hangingPunct="1"/>
            <a:r>
              <a:rPr kumimoji="1" lang="zh-CN" altLang="en-US" dirty="0">
                <a:latin typeface="华文中宋" panose="02010600040101010101" pitchFamily="2" charset="-122"/>
                <a:ea typeface="楷体_GB2312"/>
                <a:cs typeface="楷体_GB2312"/>
              </a:rPr>
              <a:t>体系结构驱动的软件开发主要包括以下几个步骤</a:t>
            </a:r>
            <a:endParaRPr kumimoji="1" lang="en-US" altLang="zh-CN" dirty="0">
              <a:latin typeface="华文中宋" panose="02010600040101010101" pitchFamily="2" charset="-122"/>
              <a:ea typeface="楷体_GB2312"/>
              <a:cs typeface="楷体_GB2312"/>
            </a:endParaRPr>
          </a:p>
          <a:p>
            <a:pPr lvl="1" algn="just" eaLnBrk="1" hangingPunct="1"/>
            <a:r>
              <a:rPr kumimoji="1" lang="en-US" altLang="zh-CN" dirty="0">
                <a:latin typeface="华文中宋" panose="02010600040101010101" pitchFamily="2" charset="-122"/>
                <a:ea typeface="楷体_GB2312"/>
                <a:cs typeface="楷体_GB2312"/>
              </a:rPr>
              <a:t>1</a:t>
            </a:r>
            <a:r>
              <a:rPr kumimoji="1" lang="zh-CN" altLang="en-US" dirty="0">
                <a:latin typeface="华文中宋" panose="02010600040101010101" pitchFamily="2" charset="-122"/>
                <a:ea typeface="楷体_GB2312"/>
                <a:cs typeface="楷体_GB2312"/>
              </a:rPr>
              <a:t>）体系结构需求获取；</a:t>
            </a:r>
            <a:endParaRPr kumimoji="1" lang="en-US" altLang="zh-CN" dirty="0">
              <a:latin typeface="华文中宋" panose="02010600040101010101" pitchFamily="2" charset="-122"/>
              <a:ea typeface="楷体_GB2312"/>
              <a:cs typeface="楷体_GB2312"/>
            </a:endParaRPr>
          </a:p>
          <a:p>
            <a:pPr lvl="1" algn="just" eaLnBrk="1" hangingPunct="1"/>
            <a:r>
              <a:rPr kumimoji="1" lang="en-US" altLang="zh-CN" dirty="0">
                <a:latin typeface="华文中宋" panose="02010600040101010101" pitchFamily="2" charset="-122"/>
                <a:ea typeface="楷体_GB2312"/>
                <a:cs typeface="楷体_GB2312"/>
              </a:rPr>
              <a:t>2</a:t>
            </a:r>
            <a:r>
              <a:rPr kumimoji="1" lang="zh-CN" altLang="en-US" dirty="0">
                <a:latin typeface="华文中宋" panose="02010600040101010101" pitchFamily="2" charset="-122"/>
                <a:ea typeface="楷体_GB2312"/>
                <a:cs typeface="楷体_GB2312"/>
              </a:rPr>
              <a:t>）基本体系结构设计；</a:t>
            </a:r>
            <a:endParaRPr kumimoji="1" lang="en-US" altLang="zh-CN" dirty="0">
              <a:latin typeface="华文中宋" panose="02010600040101010101" pitchFamily="2" charset="-122"/>
              <a:ea typeface="楷体_GB2312"/>
              <a:cs typeface="楷体_GB2312"/>
            </a:endParaRPr>
          </a:p>
          <a:p>
            <a:pPr lvl="1" algn="just" eaLnBrk="1" hangingPunct="1"/>
            <a:r>
              <a:rPr kumimoji="1" lang="en-US" altLang="zh-CN" dirty="0">
                <a:latin typeface="华文中宋" panose="02010600040101010101" pitchFamily="2" charset="-122"/>
                <a:ea typeface="楷体_GB2312"/>
                <a:cs typeface="楷体_GB2312"/>
              </a:rPr>
              <a:t>3</a:t>
            </a:r>
            <a:r>
              <a:rPr kumimoji="1" lang="zh-CN" altLang="en-US" dirty="0">
                <a:latin typeface="华文中宋" panose="02010600040101010101" pitchFamily="2" charset="-122"/>
                <a:ea typeface="楷体_GB2312"/>
                <a:cs typeface="楷体_GB2312"/>
              </a:rPr>
              <a:t>）体系结构记录文档化；</a:t>
            </a:r>
            <a:endParaRPr kumimoji="1" lang="en-US" altLang="zh-CN" dirty="0">
              <a:latin typeface="华文中宋" panose="02010600040101010101" pitchFamily="2" charset="-122"/>
              <a:ea typeface="楷体_GB2312"/>
              <a:cs typeface="楷体_GB2312"/>
            </a:endParaRPr>
          </a:p>
          <a:p>
            <a:pPr lvl="1" algn="just" eaLnBrk="1" hangingPunct="1"/>
            <a:r>
              <a:rPr kumimoji="1" lang="en-US" altLang="zh-CN" dirty="0">
                <a:latin typeface="华文中宋" panose="02010600040101010101" pitchFamily="2" charset="-122"/>
                <a:ea typeface="楷体_GB2312"/>
                <a:cs typeface="楷体_GB2312"/>
              </a:rPr>
              <a:t>4</a:t>
            </a:r>
            <a:r>
              <a:rPr kumimoji="1" lang="zh-CN" altLang="en-US" dirty="0">
                <a:latin typeface="华文中宋" panose="02010600040101010101" pitchFamily="2" charset="-122"/>
                <a:ea typeface="楷体_GB2312"/>
                <a:cs typeface="楷体_GB2312"/>
              </a:rPr>
              <a:t>）体系结构评估；</a:t>
            </a:r>
            <a:endParaRPr kumimoji="1" lang="en-US" altLang="zh-CN" dirty="0">
              <a:latin typeface="华文中宋" panose="02010600040101010101" pitchFamily="2" charset="-122"/>
              <a:ea typeface="楷体_GB2312"/>
              <a:cs typeface="楷体_GB2312"/>
            </a:endParaRPr>
          </a:p>
          <a:p>
            <a:pPr lvl="1" algn="just" eaLnBrk="1" hangingPunct="1"/>
            <a:r>
              <a:rPr kumimoji="1" lang="en-US" altLang="zh-CN" dirty="0">
                <a:latin typeface="华文中宋" panose="02010600040101010101" pitchFamily="2" charset="-122"/>
                <a:ea typeface="楷体_GB2312"/>
                <a:cs typeface="楷体_GB2312"/>
              </a:rPr>
              <a:t>5</a:t>
            </a:r>
            <a:r>
              <a:rPr kumimoji="1" lang="zh-CN" altLang="en-US" dirty="0">
                <a:latin typeface="华文中宋" panose="02010600040101010101" pitchFamily="2" charset="-122"/>
                <a:ea typeface="楷体_GB2312"/>
                <a:cs typeface="楷体_GB2312"/>
              </a:rPr>
              <a:t>）体系结构实现；</a:t>
            </a:r>
            <a:endParaRPr kumimoji="1" lang="en-US" altLang="zh-CN" dirty="0">
              <a:latin typeface="华文中宋" panose="02010600040101010101" pitchFamily="2" charset="-122"/>
              <a:ea typeface="楷体_GB2312"/>
              <a:cs typeface="楷体_GB2312"/>
            </a:endParaRPr>
          </a:p>
          <a:p>
            <a:pPr lvl="1" algn="just" eaLnBrk="1" hangingPunct="1"/>
            <a:r>
              <a:rPr kumimoji="1" lang="en-US" altLang="zh-CN" dirty="0">
                <a:latin typeface="华文中宋" panose="02010600040101010101" pitchFamily="2" charset="-122"/>
                <a:ea typeface="楷体_GB2312"/>
                <a:cs typeface="楷体_GB2312"/>
              </a:rPr>
              <a:t>6</a:t>
            </a:r>
            <a:r>
              <a:rPr kumimoji="1" lang="zh-CN" altLang="en-US" dirty="0">
                <a:latin typeface="华文中宋" panose="02010600040101010101" pitchFamily="2" charset="-122"/>
                <a:ea typeface="楷体_GB2312"/>
                <a:cs typeface="楷体_GB2312"/>
              </a:rPr>
              <a:t>）体系结构维护。</a:t>
            </a:r>
            <a:endParaRPr kumimoji="1" lang="zh-CN" altLang="en-US" dirty="0">
              <a:latin typeface="华文中宋" panose="02010600040101010101" pitchFamily="2" charset="-122"/>
              <a:ea typeface="楷体_GB2312"/>
              <a:cs typeface="楷体_GB2312"/>
            </a:endParaRPr>
          </a:p>
        </p:txBody>
      </p:sp>
      <p:sp>
        <p:nvSpPr>
          <p:cNvPr id="1024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F16EBD09-AA97-4F91-85C7-4BAEA0858620}"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783B1B49-1AB3-4E90-BD97-503835B01A7F}" type="slidenum">
              <a:rPr lang="en-US" altLang="zh-CN">
                <a:solidFill>
                  <a:srgbClr val="B5A788"/>
                </a:solidFill>
              </a:rPr>
            </a:fld>
            <a:endParaRPr lang="en-US" altLang="zh-CN">
              <a:solidFill>
                <a:srgbClr val="B5A788"/>
              </a:solidFill>
            </a:endParaRPr>
          </a:p>
        </p:txBody>
      </p:sp>
      <p:sp>
        <p:nvSpPr>
          <p:cNvPr id="11267" name="Line 2"/>
          <p:cNvSpPr>
            <a:spLocks noChangeShapeType="1"/>
          </p:cNvSpPr>
          <p:nvPr/>
        </p:nvSpPr>
        <p:spPr bwMode="auto">
          <a:xfrm>
            <a:off x="76200" y="838200"/>
            <a:ext cx="8915400" cy="0"/>
          </a:xfrm>
          <a:prstGeom prst="line">
            <a:avLst/>
          </a:prstGeom>
          <a:noFill/>
          <a:ln w="285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68" name="Rectangle 4"/>
          <p:cNvSpPr>
            <a:spLocks noChangeArrowheads="1"/>
          </p:cNvSpPr>
          <p:nvPr/>
        </p:nvSpPr>
        <p:spPr bwMode="auto">
          <a:xfrm>
            <a:off x="2286000" y="1268413"/>
            <a:ext cx="4589463"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graphicFrame>
        <p:nvGraphicFramePr>
          <p:cNvPr id="11269" name="对象 4"/>
          <p:cNvGraphicFramePr>
            <a:graphicFrameLocks noChangeAspect="1"/>
          </p:cNvGraphicFramePr>
          <p:nvPr/>
        </p:nvGraphicFramePr>
        <p:xfrm>
          <a:off x="2195736" y="1152266"/>
          <a:ext cx="5143500" cy="5526088"/>
        </p:xfrm>
        <a:graphic>
          <a:graphicData uri="http://schemas.openxmlformats.org/presentationml/2006/ole">
            <mc:AlternateContent xmlns:mc="http://schemas.openxmlformats.org/markup-compatibility/2006">
              <mc:Choice xmlns:v="urn:schemas-microsoft-com:vml" Requires="v">
                <p:oleObj spid="_x0000_s36899" name="Visio" r:id="rId1" imgW="4876800" imgH="5232400" progId="Visio.Drawing.11">
                  <p:embed/>
                </p:oleObj>
              </mc:Choice>
              <mc:Fallback>
                <p:oleObj name="Visio" r:id="rId1" imgW="4876800" imgH="5232400" progId="Visio.Drawing.11">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152266"/>
                        <a:ext cx="5143500" cy="552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0" name="矩形 5"/>
          <p:cNvSpPr>
            <a:spLocks noChangeArrowheads="1"/>
          </p:cNvSpPr>
          <p:nvPr/>
        </p:nvSpPr>
        <p:spPr bwMode="auto">
          <a:xfrm>
            <a:off x="2985284" y="6472238"/>
            <a:ext cx="3416320" cy="3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eaLnBrk="1" hangingPunct="1">
              <a:lnSpc>
                <a:spcPct val="114000"/>
              </a:lnSpc>
              <a:spcAft>
                <a:spcPts val="900"/>
              </a:spcAft>
            </a:pPr>
            <a:r>
              <a:rPr lang="zh-CN" altLang="en-US" dirty="0">
                <a:latin typeface="Calibri" panose="020F0502020204030204" pitchFamily="34" charset="0"/>
                <a:cs typeface="Times New Roman" panose="02020603050405020304" pitchFamily="18" charset="0"/>
              </a:rPr>
              <a:t>体系结构</a:t>
            </a:r>
            <a:r>
              <a:rPr lang="zh-CN" altLang="zh-CN" dirty="0">
                <a:latin typeface="Calibri" panose="020F0502020204030204" pitchFamily="34" charset="0"/>
                <a:cs typeface="Times New Roman" panose="02020603050405020304" pitchFamily="18" charset="0"/>
              </a:rPr>
              <a:t>驱动的软件开发流程图</a:t>
            </a:r>
            <a:endParaRPr lang="zh-CN" altLang="zh-CN" dirty="0">
              <a:latin typeface="Calibri" panose="020F0502020204030204" pitchFamily="34" charset="0"/>
              <a:cs typeface="Times New Roman" panose="02020603050405020304" pitchFamily="18" charset="0"/>
            </a:endParaRPr>
          </a:p>
        </p:txBody>
      </p:sp>
      <p:sp>
        <p:nvSpPr>
          <p:cNvPr id="8" name="标题 1"/>
          <p:cNvSpPr>
            <a:spLocks noGrp="1"/>
          </p:cNvSpPr>
          <p:nvPr>
            <p:ph type="title"/>
          </p:nvPr>
        </p:nvSpPr>
        <p:spPr>
          <a:xfrm>
            <a:off x="467544" y="0"/>
            <a:ext cx="7499350" cy="1143000"/>
          </a:xfrm>
        </p:spPr>
        <p:txBody>
          <a:bodyPr>
            <a:normAutofit fontScale="90000"/>
          </a:bodyPr>
          <a:lstStyle/>
          <a:p>
            <a:pPr>
              <a:defRPr/>
            </a:pPr>
            <a:r>
              <a:rPr lang="zh-CN" altLang="en-US" dirty="0">
                <a:effectLst>
                  <a:outerShdw blurRad="38100" dist="38100" dir="2700000" algn="tl">
                    <a:srgbClr val="000000">
                      <a:alpha val="43137"/>
                    </a:srgbClr>
                  </a:outerShdw>
                </a:effectLst>
              </a:rPr>
              <a:t>体系结构驱动的软件开发简介（</a:t>
            </a:r>
            <a:r>
              <a:rPr lang="en-US" altLang="zh-CN" dirty="0">
                <a:effectLst>
                  <a:outerShdw blurRad="38100" dist="38100" dir="2700000" algn="tl">
                    <a:srgbClr val="000000">
                      <a:alpha val="43137"/>
                    </a:srgbClr>
                  </a:outerShdw>
                </a:effectLst>
              </a:rPr>
              <a:t>2</a:t>
            </a:r>
            <a:r>
              <a:rPr lang="zh-CN" altLang="en-US" dirty="0">
                <a:effectLst>
                  <a:outerShdw blurRad="38100" dist="38100" dir="2700000" algn="tl">
                    <a:srgbClr val="000000">
                      <a:alpha val="43137"/>
                    </a:srgbClr>
                  </a:outerShdw>
                </a:effectLst>
              </a:rPr>
              <a:t>）</a:t>
            </a:r>
            <a:endParaRPr lang="zh-CN" altLang="en-US" dirty="0">
              <a:effectLst>
                <a:outerShdw blurRad="38100" dist="38100" dir="2700000" algn="tl">
                  <a:srgbClr val="000000">
                    <a:alpha val="43137"/>
                  </a:srgbClr>
                </a:outerShdw>
              </a:effectLst>
            </a:endParaRPr>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kumimoji="1" lang="zh-CN" altLang="en-US" sz="4400" dirty="0">
                <a:effectLst>
                  <a:outerShdw blurRad="38100" dist="38100" dir="2700000" algn="tl">
                    <a:srgbClr val="000000">
                      <a:alpha val="43137"/>
                    </a:srgbClr>
                  </a:outerShdw>
                </a:effectLst>
                <a:latin typeface="+mj-ea"/>
              </a:rPr>
              <a:t>体系结构</a:t>
            </a:r>
            <a:r>
              <a:rPr kumimoji="1" lang="zh-CN" altLang="zh-CN" sz="4400" dirty="0">
                <a:effectLst>
                  <a:outerShdw blurRad="38100" dist="38100" dir="2700000" algn="tl">
                    <a:srgbClr val="000000">
                      <a:alpha val="43137"/>
                    </a:srgbClr>
                  </a:outerShdw>
                </a:effectLst>
                <a:latin typeface="+mj-ea"/>
              </a:rPr>
              <a:t>需求获取</a:t>
            </a:r>
            <a:r>
              <a:rPr kumimoji="1" lang="zh-CN" altLang="en-US" sz="4400" dirty="0">
                <a:effectLst>
                  <a:outerShdw blurRad="38100" dist="38100" dir="2700000" algn="tl">
                    <a:srgbClr val="000000">
                      <a:alpha val="43137"/>
                    </a:srgbClr>
                  </a:outerShdw>
                </a:effectLst>
                <a:latin typeface="+mj-ea"/>
              </a:rPr>
              <a:t>（</a:t>
            </a:r>
            <a:r>
              <a:rPr kumimoji="1" lang="en-US" altLang="zh-CN" sz="4400" dirty="0">
                <a:effectLst>
                  <a:outerShdw blurRad="38100" dist="38100" dir="2700000" algn="tl">
                    <a:srgbClr val="000000">
                      <a:alpha val="43137"/>
                    </a:srgbClr>
                  </a:outerShdw>
                </a:effectLst>
                <a:latin typeface="+mj-ea"/>
              </a:rPr>
              <a:t>1</a:t>
            </a:r>
            <a:r>
              <a:rPr kumimoji="1" lang="zh-CN" altLang="en-US" sz="4400" dirty="0">
                <a:effectLst>
                  <a:outerShdw blurRad="38100" dist="38100" dir="2700000" algn="tl">
                    <a:srgbClr val="000000">
                      <a:alpha val="43137"/>
                    </a:srgbClr>
                  </a:outerShdw>
                </a:effectLst>
                <a:latin typeface="+mj-ea"/>
              </a:rPr>
              <a:t>）</a:t>
            </a:r>
            <a:endParaRPr lang="zh-CN" altLang="en-US" dirty="0">
              <a:effectLst>
                <a:outerShdw blurRad="38100" dist="38100" dir="2700000" algn="tl">
                  <a:srgbClr val="000000">
                    <a:alpha val="43137"/>
                  </a:srgbClr>
                </a:outerShdw>
              </a:effectLst>
              <a:latin typeface="+mj-ea"/>
            </a:endParaRPr>
          </a:p>
        </p:txBody>
      </p:sp>
      <p:sp>
        <p:nvSpPr>
          <p:cNvPr id="12291" name="内容占位符 2"/>
          <p:cNvSpPr>
            <a:spLocks noGrp="1"/>
          </p:cNvSpPr>
          <p:nvPr>
            <p:ph idx="1"/>
          </p:nvPr>
        </p:nvSpPr>
        <p:spPr/>
        <p:txBody>
          <a:bodyPr/>
          <a:lstStyle/>
          <a:p>
            <a:r>
              <a:rPr kumimoji="1" lang="zh-CN" altLang="en-US" dirty="0">
                <a:latin typeface="华文中宋" panose="02010600040101010101" pitchFamily="2" charset="-122"/>
                <a:ea typeface="楷体_GB2312"/>
                <a:cs typeface="楷体_GB2312"/>
              </a:rPr>
              <a:t>体系结构相关需求的获取是从软件的用户群和软件的使用环境中提取的，同时如何抽取恰当的体系结构相关的需求信息，还与参与设计的体系结构师的经验密不可分。</a:t>
            </a:r>
            <a:endParaRPr kumimoji="1" lang="en-US" altLang="zh-CN" dirty="0">
              <a:latin typeface="华文中宋" panose="02010600040101010101" pitchFamily="2" charset="-122"/>
              <a:ea typeface="楷体_GB2312"/>
              <a:cs typeface="楷体_GB2312"/>
            </a:endParaRPr>
          </a:p>
          <a:p>
            <a:r>
              <a:rPr lang="zh-CN" altLang="en-US" dirty="0">
                <a:latin typeface="华文中宋" panose="02010600040101010101" pitchFamily="2" charset="-122"/>
              </a:rPr>
              <a:t>体系结构的需求与功能的需求是不同的。在设计体系结构的时候只需要讨论体系结构层次的需求，没有必要再深入到功能性需求。</a:t>
            </a:r>
            <a:endParaRPr lang="en-US" altLang="zh-CN" dirty="0">
              <a:latin typeface="华文中宋" panose="02010600040101010101" pitchFamily="2" charset="-122"/>
            </a:endParaRPr>
          </a:p>
          <a:p>
            <a:r>
              <a:rPr lang="zh-CN" altLang="en-US" dirty="0">
                <a:latin typeface="华文中宋" panose="02010600040101010101" pitchFamily="2" charset="-122"/>
              </a:rPr>
              <a:t>体系结构的需求源于：系统的质量目标、系统的业务目标、软件的利益相关者</a:t>
            </a:r>
            <a:endParaRPr kumimoji="1" lang="zh-CN" altLang="en-US" dirty="0">
              <a:latin typeface="华文中宋" panose="02010600040101010101" pitchFamily="2" charset="-122"/>
              <a:ea typeface="楷体_GB2312"/>
              <a:cs typeface="楷体_GB2312"/>
            </a:endParaRPr>
          </a:p>
          <a:p>
            <a:endParaRPr lang="zh-CN" altLang="en-US" dirty="0">
              <a:latin typeface="华文中宋" panose="02010600040101010101" pitchFamily="2" charset="-122"/>
            </a:endParaRPr>
          </a:p>
        </p:txBody>
      </p:sp>
      <p:sp>
        <p:nvSpPr>
          <p:cNvPr id="1229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E15C7E74-2532-4A21-8667-F618F41824BA}"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ED2F2D94-303C-47CF-800C-6CDB54C5AF75}" type="slidenum">
              <a:rPr lang="en-US" altLang="zh-CN">
                <a:solidFill>
                  <a:srgbClr val="B5A788"/>
                </a:solidFill>
              </a:rPr>
            </a:fld>
            <a:endParaRPr lang="en-US" altLang="zh-CN">
              <a:solidFill>
                <a:srgbClr val="B5A788"/>
              </a:solidFill>
            </a:endParaRPr>
          </a:p>
        </p:txBody>
      </p:sp>
      <p:graphicFrame>
        <p:nvGraphicFramePr>
          <p:cNvPr id="13315" name="对象 4"/>
          <p:cNvGraphicFramePr>
            <a:graphicFrameLocks noChangeAspect="1"/>
          </p:cNvGraphicFramePr>
          <p:nvPr/>
        </p:nvGraphicFramePr>
        <p:xfrm>
          <a:off x="1112838" y="2500313"/>
          <a:ext cx="7900987" cy="3429000"/>
        </p:xfrm>
        <a:graphic>
          <a:graphicData uri="http://schemas.openxmlformats.org/presentationml/2006/ole">
            <mc:AlternateContent xmlns:mc="http://schemas.openxmlformats.org/markup-compatibility/2006">
              <mc:Choice xmlns:v="urn:schemas-microsoft-com:vml" Requires="v">
                <p:oleObj spid="_x0000_s37923" name="Visio" r:id="rId1" imgW="4254500" imgH="1854200" progId="Visio.Drawing.11">
                  <p:embed/>
                </p:oleObj>
              </mc:Choice>
              <mc:Fallback>
                <p:oleObj name="Visio" r:id="rId1" imgW="4254500" imgH="1854200" progId="Visio.Drawing.11">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838" y="2500313"/>
                        <a:ext cx="79009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6" name="矩形 5"/>
          <p:cNvSpPr>
            <a:spLocks noChangeArrowheads="1"/>
          </p:cNvSpPr>
          <p:nvPr/>
        </p:nvSpPr>
        <p:spPr bwMode="auto">
          <a:xfrm>
            <a:off x="2991386" y="6472238"/>
            <a:ext cx="4288353"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eaLnBrk="1" hangingPunct="1">
              <a:lnSpc>
                <a:spcPct val="114000"/>
              </a:lnSpc>
              <a:spcAft>
                <a:spcPts val="900"/>
              </a:spcAft>
            </a:pPr>
            <a:r>
              <a:rPr lang="zh-CN" altLang="en-US" sz="2000" dirty="0">
                <a:latin typeface="Calibri" panose="020F0502020204030204" pitchFamily="34" charset="0"/>
                <a:cs typeface="Times New Roman" panose="02020603050405020304" pitchFamily="18" charset="0"/>
              </a:rPr>
              <a:t>体系结构</a:t>
            </a:r>
            <a:r>
              <a:rPr lang="zh-CN" altLang="zh-CN" sz="2000" dirty="0">
                <a:latin typeface="Calibri" panose="020F0502020204030204" pitchFamily="34" charset="0"/>
                <a:cs typeface="Times New Roman" panose="02020603050405020304" pitchFamily="18" charset="0"/>
              </a:rPr>
              <a:t>需求的获取阶段任务描述图</a:t>
            </a:r>
            <a:endParaRPr lang="zh-CN" altLang="zh-CN" sz="2000" dirty="0">
              <a:latin typeface="Calibri" panose="020F0502020204030204" pitchFamily="34" charset="0"/>
              <a:cs typeface="Times New Roman" panose="02020603050405020304" pitchFamily="18" charset="0"/>
            </a:endParaRPr>
          </a:p>
        </p:txBody>
      </p:sp>
      <p:sp>
        <p:nvSpPr>
          <p:cNvPr id="7" name="标题 1"/>
          <p:cNvSpPr txBox="1"/>
          <p:nvPr/>
        </p:nvSpPr>
        <p:spPr>
          <a:xfrm>
            <a:off x="467544" y="137866"/>
            <a:ext cx="7499350" cy="1143000"/>
          </a:xfrm>
          <a:prstGeom prst="rect">
            <a:avLst/>
          </a:prstGeom>
        </p:spPr>
        <p:txBody>
          <a:bodyPr>
            <a:normAutofit/>
          </a:bodyPr>
          <a:lstStyle/>
          <a:p>
            <a:pPr>
              <a:defRPr/>
            </a:pPr>
            <a:r>
              <a:rPr kumimoji="1" lang="zh-CN" altLang="en-US" sz="4400" dirty="0">
                <a:solidFill>
                  <a:schemeClr val="bg1"/>
                </a:solidFill>
                <a:effectLst>
                  <a:outerShdw blurRad="38100" dist="38100" dir="2700000" algn="tl">
                    <a:srgbClr val="000000">
                      <a:alpha val="43137"/>
                    </a:srgbClr>
                  </a:outerShdw>
                </a:effectLst>
                <a:latin typeface="+mj-ea"/>
                <a:ea typeface="+mj-ea"/>
                <a:cs typeface="+mj-cs"/>
              </a:rPr>
              <a:t>体系结构</a:t>
            </a:r>
            <a:r>
              <a:rPr kumimoji="1" lang="zh-CN" altLang="zh-CN" sz="4400" dirty="0">
                <a:solidFill>
                  <a:schemeClr val="bg1"/>
                </a:solidFill>
                <a:effectLst>
                  <a:outerShdw blurRad="38100" dist="38100" dir="2700000" algn="tl">
                    <a:srgbClr val="000000">
                      <a:alpha val="43137"/>
                    </a:srgbClr>
                  </a:outerShdw>
                </a:effectLst>
                <a:latin typeface="+mj-ea"/>
                <a:ea typeface="+mj-ea"/>
                <a:cs typeface="+mj-cs"/>
              </a:rPr>
              <a:t>需求获取</a:t>
            </a:r>
            <a:r>
              <a:rPr kumimoji="1" lang="zh-CN" altLang="en-US" sz="4400" dirty="0">
                <a:solidFill>
                  <a:schemeClr val="bg1"/>
                </a:solidFill>
                <a:effectLst>
                  <a:outerShdw blurRad="38100" dist="38100" dir="2700000" algn="tl">
                    <a:srgbClr val="000000">
                      <a:alpha val="43137"/>
                    </a:srgbClr>
                  </a:outerShdw>
                </a:effectLst>
                <a:latin typeface="+mj-ea"/>
                <a:ea typeface="+mj-ea"/>
                <a:cs typeface="+mj-cs"/>
              </a:rPr>
              <a:t>（</a:t>
            </a:r>
            <a:r>
              <a:rPr kumimoji="1" lang="en-US" altLang="zh-CN" sz="4400" dirty="0">
                <a:solidFill>
                  <a:schemeClr val="bg1"/>
                </a:solidFill>
                <a:effectLst>
                  <a:outerShdw blurRad="38100" dist="38100" dir="2700000" algn="tl">
                    <a:srgbClr val="000000">
                      <a:alpha val="43137"/>
                    </a:srgbClr>
                  </a:outerShdw>
                </a:effectLst>
                <a:latin typeface="+mj-ea"/>
                <a:ea typeface="+mj-ea"/>
                <a:cs typeface="+mj-cs"/>
              </a:rPr>
              <a:t>2</a:t>
            </a:r>
            <a:r>
              <a:rPr kumimoji="1" lang="zh-CN" altLang="en-US" sz="4400" dirty="0">
                <a:solidFill>
                  <a:schemeClr val="bg1"/>
                </a:solidFill>
                <a:effectLst>
                  <a:outerShdw blurRad="38100" dist="38100" dir="2700000" algn="tl">
                    <a:srgbClr val="000000">
                      <a:alpha val="43137"/>
                    </a:srgbClr>
                  </a:outerShdw>
                </a:effectLst>
                <a:latin typeface="+mj-ea"/>
                <a:ea typeface="+mj-ea"/>
                <a:cs typeface="+mj-cs"/>
              </a:rPr>
              <a:t>）</a:t>
            </a:r>
            <a:endParaRPr kumimoji="1" lang="zh-CN" altLang="en-US" sz="4400" dirty="0">
              <a:solidFill>
                <a:schemeClr val="bg1"/>
              </a:solidFill>
              <a:effectLst>
                <a:outerShdw blurRad="38100" dist="38100" dir="2700000" algn="tl">
                  <a:srgbClr val="000000">
                    <a:alpha val="43137"/>
                  </a:srgbClr>
                </a:outerShdw>
              </a:effectLst>
              <a:latin typeface="+mj-ea"/>
              <a:ea typeface="+mj-ea"/>
              <a:cs typeface="+mj-cs"/>
            </a:endParaRPr>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p:nvPr>
        </p:nvSpPr>
        <p:spPr>
          <a:xfrm>
            <a:off x="1000125" y="1447800"/>
            <a:ext cx="7934325" cy="4800600"/>
          </a:xfrm>
        </p:spPr>
        <p:txBody>
          <a:bodyPr/>
          <a:lstStyle/>
          <a:p>
            <a:r>
              <a:rPr lang="zh-CN" altLang="en-US" dirty="0"/>
              <a:t>通常体系结构的需求是十分抽象的，没有什么编程语言会提供实现体系结构需求的机制。</a:t>
            </a:r>
            <a:endParaRPr lang="en-US" altLang="zh-CN" dirty="0"/>
          </a:p>
          <a:p>
            <a:r>
              <a:rPr lang="zh-CN" altLang="en-US" dirty="0"/>
              <a:t>因此，进行体系结构需求描述的步骤通常为：</a:t>
            </a:r>
            <a:endParaRPr lang="en-US" altLang="zh-CN" dirty="0"/>
          </a:p>
          <a:p>
            <a:pPr lvl="1"/>
            <a:r>
              <a:rPr lang="zh-CN" altLang="en-US" dirty="0"/>
              <a:t>首先要将体系结构的需求通过一定的场景进行描述，接着通过一定的模型描述这些场景，获得体系结构需求的结构化描述。</a:t>
            </a:r>
            <a:endParaRPr lang="zh-CN" altLang="en-US" dirty="0"/>
          </a:p>
        </p:txBody>
      </p:sp>
      <p:sp>
        <p:nvSpPr>
          <p:cNvPr id="1433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46C308AD-8C24-44F4-956E-DB20E0E5FECE}" type="slidenum">
              <a:rPr lang="en-US" altLang="zh-CN">
                <a:solidFill>
                  <a:srgbClr val="B5A788"/>
                </a:solidFill>
              </a:rPr>
            </a:fld>
            <a:endParaRPr lang="en-US" altLang="zh-CN" dirty="0">
              <a:solidFill>
                <a:srgbClr val="B5A788"/>
              </a:solidFill>
            </a:endParaRPr>
          </a:p>
        </p:txBody>
      </p:sp>
      <p:sp>
        <p:nvSpPr>
          <p:cNvPr id="6" name="标题 1"/>
          <p:cNvSpPr txBox="1"/>
          <p:nvPr/>
        </p:nvSpPr>
        <p:spPr>
          <a:xfrm>
            <a:off x="539552" y="116632"/>
            <a:ext cx="7499350" cy="1143000"/>
          </a:xfrm>
          <a:prstGeom prst="rect">
            <a:avLst/>
          </a:prstGeom>
        </p:spPr>
        <p:txBody>
          <a:bodyPr>
            <a:normAutofit/>
          </a:bodyPr>
          <a:lstStyle/>
          <a:p>
            <a:pPr>
              <a:defRPr/>
            </a:pPr>
            <a:r>
              <a:rPr kumimoji="1" lang="zh-CN" altLang="en-US" sz="4400" dirty="0">
                <a:solidFill>
                  <a:schemeClr val="bg1"/>
                </a:solidFill>
                <a:effectLst>
                  <a:outerShdw blurRad="38100" dist="38100" dir="2700000" algn="tl">
                    <a:srgbClr val="000000">
                      <a:alpha val="43137"/>
                    </a:srgbClr>
                  </a:outerShdw>
                </a:effectLst>
                <a:latin typeface="+mj-ea"/>
                <a:ea typeface="+mj-ea"/>
                <a:cs typeface="+mj-cs"/>
              </a:rPr>
              <a:t>体系结构</a:t>
            </a:r>
            <a:r>
              <a:rPr kumimoji="1" lang="zh-CN" altLang="zh-CN" sz="4400" dirty="0">
                <a:solidFill>
                  <a:schemeClr val="bg1"/>
                </a:solidFill>
                <a:effectLst>
                  <a:outerShdw blurRad="38100" dist="38100" dir="2700000" algn="tl">
                    <a:srgbClr val="000000">
                      <a:alpha val="43137"/>
                    </a:srgbClr>
                  </a:outerShdw>
                </a:effectLst>
                <a:latin typeface="+mj-ea"/>
                <a:ea typeface="+mj-ea"/>
                <a:cs typeface="+mj-cs"/>
              </a:rPr>
              <a:t>需求获取</a:t>
            </a:r>
            <a:r>
              <a:rPr kumimoji="1" lang="zh-CN" altLang="en-US" sz="4400" dirty="0">
                <a:solidFill>
                  <a:schemeClr val="bg1"/>
                </a:solidFill>
                <a:effectLst>
                  <a:outerShdw blurRad="38100" dist="38100" dir="2700000" algn="tl">
                    <a:srgbClr val="000000">
                      <a:alpha val="43137"/>
                    </a:srgbClr>
                  </a:outerShdw>
                </a:effectLst>
                <a:latin typeface="+mj-ea"/>
                <a:ea typeface="+mj-ea"/>
                <a:cs typeface="+mj-cs"/>
              </a:rPr>
              <a:t>（</a:t>
            </a:r>
            <a:r>
              <a:rPr kumimoji="1" lang="en-US" altLang="zh-CN" sz="4400" dirty="0">
                <a:solidFill>
                  <a:schemeClr val="bg1"/>
                </a:solidFill>
                <a:effectLst>
                  <a:outerShdw blurRad="38100" dist="38100" dir="2700000" algn="tl">
                    <a:srgbClr val="000000">
                      <a:alpha val="43137"/>
                    </a:srgbClr>
                  </a:outerShdw>
                </a:effectLst>
                <a:latin typeface="+mj-ea"/>
                <a:ea typeface="+mj-ea"/>
                <a:cs typeface="+mj-cs"/>
              </a:rPr>
              <a:t>3</a:t>
            </a:r>
            <a:r>
              <a:rPr kumimoji="1" lang="zh-CN" altLang="en-US" sz="4400" dirty="0">
                <a:solidFill>
                  <a:schemeClr val="bg1"/>
                </a:solidFill>
                <a:effectLst>
                  <a:outerShdw blurRad="38100" dist="38100" dir="2700000" algn="tl">
                    <a:srgbClr val="000000">
                      <a:alpha val="43137"/>
                    </a:srgbClr>
                  </a:outerShdw>
                </a:effectLst>
                <a:latin typeface="+mj-ea"/>
                <a:ea typeface="+mj-ea"/>
                <a:cs typeface="+mj-cs"/>
              </a:rPr>
              <a:t>）</a:t>
            </a:r>
            <a:endParaRPr kumimoji="1" lang="zh-CN" altLang="en-US" sz="4400" dirty="0">
              <a:solidFill>
                <a:schemeClr val="bg1"/>
              </a:solidFill>
              <a:effectLst>
                <a:outerShdw blurRad="38100" dist="38100" dir="2700000" algn="tl">
                  <a:srgbClr val="000000">
                    <a:alpha val="43137"/>
                  </a:srgbClr>
                </a:outerShdw>
              </a:effectLst>
              <a:latin typeface="+mj-ea"/>
              <a:ea typeface="+mj-ea"/>
              <a:cs typeface="+mj-cs"/>
            </a:endParaRPr>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4868" y="0"/>
            <a:ext cx="8148637" cy="1143000"/>
          </a:xfrm>
        </p:spPr>
        <p:txBody>
          <a:bodyPr/>
          <a:lstStyle/>
          <a:p>
            <a:pPr>
              <a:defRPr/>
            </a:pPr>
            <a:r>
              <a:rPr kumimoji="1" lang="zh-CN" altLang="en-US" sz="4400" dirty="0">
                <a:effectLst>
                  <a:outerShdw blurRad="38100" dist="38100" dir="2700000" algn="tl">
                    <a:srgbClr val="000000">
                      <a:alpha val="43137"/>
                    </a:srgbClr>
                  </a:outerShdw>
                </a:effectLst>
                <a:latin typeface="+mj-ea"/>
              </a:rPr>
              <a:t>体系结构需求获取（</a:t>
            </a:r>
            <a:r>
              <a:rPr kumimoji="1" lang="en-US" altLang="zh-CN" sz="4400" dirty="0">
                <a:effectLst>
                  <a:outerShdw blurRad="38100" dist="38100" dir="2700000" algn="tl">
                    <a:srgbClr val="000000">
                      <a:alpha val="43137"/>
                    </a:srgbClr>
                  </a:outerShdw>
                </a:effectLst>
                <a:latin typeface="+mj-ea"/>
              </a:rPr>
              <a:t>4</a:t>
            </a:r>
            <a:r>
              <a:rPr kumimoji="1" lang="zh-CN" altLang="en-US" sz="4400" dirty="0">
                <a:effectLst>
                  <a:outerShdw blurRad="38100" dist="38100" dir="2700000" algn="tl">
                    <a:srgbClr val="000000">
                      <a:alpha val="43137"/>
                    </a:srgbClr>
                  </a:outerShdw>
                </a:effectLst>
                <a:latin typeface="+mj-ea"/>
              </a:rPr>
              <a:t>）</a:t>
            </a:r>
            <a:endParaRPr lang="zh-CN" altLang="en-US" dirty="0">
              <a:effectLst>
                <a:outerShdw blurRad="38100" dist="38100" dir="2700000" algn="tl">
                  <a:srgbClr val="000000">
                    <a:alpha val="43137"/>
                  </a:srgbClr>
                </a:outerShdw>
              </a:effectLst>
              <a:latin typeface="+mj-ea"/>
            </a:endParaRPr>
          </a:p>
        </p:txBody>
      </p:sp>
      <p:sp>
        <p:nvSpPr>
          <p:cNvPr id="15363" name="内容占位符 2"/>
          <p:cNvSpPr>
            <a:spLocks noGrp="1"/>
          </p:cNvSpPr>
          <p:nvPr>
            <p:ph idx="1"/>
          </p:nvPr>
        </p:nvSpPr>
        <p:spPr/>
        <p:txBody>
          <a:bodyPr/>
          <a:lstStyle/>
          <a:p>
            <a:r>
              <a:rPr lang="en-US" altLang="zh-CN" dirty="0"/>
              <a:t>1. </a:t>
            </a:r>
            <a:r>
              <a:rPr lang="zh-CN" altLang="en-US" dirty="0"/>
              <a:t>质量场景</a:t>
            </a:r>
            <a:endParaRPr lang="en-US" altLang="zh-CN" dirty="0"/>
          </a:p>
          <a:p>
            <a:pPr lvl="1"/>
            <a:r>
              <a:rPr lang="zh-CN" altLang="en-US" dirty="0"/>
              <a:t>体系结构需求要用质量场景进行描述。</a:t>
            </a:r>
            <a:endParaRPr lang="en-US" altLang="zh-CN" dirty="0"/>
          </a:p>
          <a:p>
            <a:pPr lvl="2"/>
            <a:r>
              <a:rPr lang="zh-CN" altLang="en-US" dirty="0"/>
              <a:t>抽象场景：根据软件的使用进行一定层面的分类（如：软件流水线方式、三层结构等），这些分类就会对相应软件提出一定的需求，此类需求即为体系结构需求的抽象场景。</a:t>
            </a:r>
            <a:endParaRPr lang="en-US" altLang="zh-CN" dirty="0"/>
          </a:p>
          <a:p>
            <a:pPr lvl="2"/>
            <a:r>
              <a:rPr lang="zh-CN" altLang="en-US" dirty="0"/>
              <a:t>例如：由</a:t>
            </a:r>
            <a:r>
              <a:rPr lang="en-US" altLang="zh-CN" dirty="0" err="1"/>
              <a:t>Yinzer</a:t>
            </a:r>
            <a:r>
              <a:rPr lang="zh-CN" altLang="en-US" dirty="0"/>
              <a:t>系统体系结构需求的质量场景描述（见下页），可以看出该描述可用于所有用到浏览器和客户端的软件系统的体系结构分析中。</a:t>
            </a:r>
            <a:endParaRPr lang="zh-CN" altLang="en-US" dirty="0"/>
          </a:p>
          <a:p>
            <a:pPr lvl="2"/>
            <a:endParaRPr lang="en-US" altLang="zh-CN" dirty="0"/>
          </a:p>
        </p:txBody>
      </p:sp>
      <p:sp>
        <p:nvSpPr>
          <p:cNvPr id="1536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DA0A7434-FC2E-48A7-BC56-CE18042F6CD4}"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2"/>
          <p:cNvSpPr>
            <a:spLocks noGrp="1" noChangeArrowheads="1"/>
          </p:cNvSpPr>
          <p:nvPr>
            <p:ph type="sldNum" sz="quarter" idx="12"/>
          </p:nvPr>
        </p:nvSpPr>
        <p:spPr bwMode="auto">
          <a:xfrm>
            <a:off x="8682038" y="5783263"/>
            <a:ext cx="4572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9BA2D3CF-C1F9-4A34-9302-1F80639EB1DB}" type="slidenum">
              <a:rPr lang="en-US" altLang="zh-CN">
                <a:solidFill>
                  <a:srgbClr val="B5A788"/>
                </a:solidFill>
              </a:rPr>
            </a:fld>
            <a:endParaRPr lang="en-US" altLang="zh-CN">
              <a:solidFill>
                <a:srgbClr val="B5A788"/>
              </a:solidFill>
            </a:endParaRPr>
          </a:p>
        </p:txBody>
      </p:sp>
      <p:graphicFrame>
        <p:nvGraphicFramePr>
          <p:cNvPr id="4" name="表格 3"/>
          <p:cNvGraphicFramePr>
            <a:graphicFrameLocks noGrp="1"/>
          </p:cNvGraphicFramePr>
          <p:nvPr/>
        </p:nvGraphicFramePr>
        <p:xfrm>
          <a:off x="1071563" y="2500313"/>
          <a:ext cx="7439025" cy="3563935"/>
        </p:xfrm>
        <a:graphic>
          <a:graphicData uri="http://schemas.openxmlformats.org/drawingml/2006/table">
            <a:tbl>
              <a:tblPr firstRow="1" firstCol="1" bandRow="1"/>
              <a:tblGrid>
                <a:gridCol w="1445555"/>
                <a:gridCol w="5993470"/>
              </a:tblGrid>
              <a:tr h="445492">
                <a:tc>
                  <a:txBody>
                    <a:bodyPr/>
                    <a:lstStyle/>
                    <a:p>
                      <a:pPr>
                        <a:lnSpc>
                          <a:spcPct val="114000"/>
                        </a:lnSpc>
                        <a:spcAft>
                          <a:spcPts val="0"/>
                        </a:spcAft>
                      </a:pP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源</a:t>
                      </a:r>
                      <a:endParaRPr lang="zh-CN" sz="2000" dirty="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4000"/>
                        </a:lnSpc>
                        <a:spcAft>
                          <a:spcPts val="0"/>
                        </a:spcAft>
                      </a:pPr>
                      <a:r>
                        <a:rPr lang="en-US" sz="2000">
                          <a:effectLst/>
                          <a:latin typeface="Times New Roman" panose="02020603050405020304" pitchFamily="18" charset="0"/>
                          <a:ea typeface="宋体" panose="02010600030101010101" pitchFamily="2" charset="-122"/>
                          <a:cs typeface="Times New Roman" panose="02020603050405020304" pitchFamily="18" charset="0"/>
                        </a:rPr>
                        <a:t>Yinzer</a:t>
                      </a:r>
                      <a:r>
                        <a:rPr lang="zh-CN" sz="2000">
                          <a:effectLst/>
                          <a:latin typeface="Times New Roman" panose="02020603050405020304" pitchFamily="18" charset="0"/>
                          <a:ea typeface="宋体" panose="02010600030101010101" pitchFamily="2" charset="-122"/>
                          <a:cs typeface="Times New Roman" panose="02020603050405020304" pitchFamily="18" charset="0"/>
                        </a:rPr>
                        <a:t>用户</a:t>
                      </a:r>
                      <a:endParaRPr lang="zh-CN" sz="200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492">
                <a:tc>
                  <a:txBody>
                    <a:bodyPr/>
                    <a:lstStyle/>
                    <a:p>
                      <a:pPr>
                        <a:lnSpc>
                          <a:spcPct val="114000"/>
                        </a:lnSpc>
                        <a:spcAft>
                          <a:spcPts val="0"/>
                        </a:spcAft>
                      </a:pPr>
                      <a:r>
                        <a:rPr lang="zh-CN" sz="2000">
                          <a:effectLst/>
                          <a:latin typeface="Times New Roman" panose="02020603050405020304" pitchFamily="18" charset="0"/>
                          <a:ea typeface="宋体" panose="02010600030101010101" pitchFamily="2" charset="-122"/>
                          <a:cs typeface="Times New Roman" panose="02020603050405020304" pitchFamily="18" charset="0"/>
                        </a:rPr>
                        <a:t>触发</a:t>
                      </a:r>
                      <a:endParaRPr lang="zh-CN" sz="200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4000"/>
                        </a:lnSpc>
                        <a:spcAft>
                          <a:spcPts val="0"/>
                        </a:spcAft>
                      </a:pPr>
                      <a:r>
                        <a:rPr lang="zh-CN" sz="2000">
                          <a:effectLst/>
                          <a:latin typeface="Times New Roman" panose="02020603050405020304" pitchFamily="18" charset="0"/>
                          <a:ea typeface="宋体" panose="02010600030101010101" pitchFamily="2" charset="-122"/>
                          <a:cs typeface="Times New Roman" panose="02020603050405020304" pitchFamily="18" charset="0"/>
                        </a:rPr>
                        <a:t>请求</a:t>
                      </a:r>
                      <a:r>
                        <a:rPr lang="en-US" sz="2000">
                          <a:effectLst/>
                          <a:latin typeface="Times New Roman" panose="02020603050405020304" pitchFamily="18" charset="0"/>
                          <a:ea typeface="宋体" panose="02010600030101010101" pitchFamily="2" charset="-122"/>
                          <a:cs typeface="Times New Roman" panose="02020603050405020304" pitchFamily="18" charset="0"/>
                        </a:rPr>
                        <a:t>Yinzer</a:t>
                      </a:r>
                      <a:r>
                        <a:rPr lang="zh-CN" sz="2000">
                          <a:effectLst/>
                          <a:latin typeface="Times New Roman" panose="02020603050405020304" pitchFamily="18" charset="0"/>
                          <a:ea typeface="宋体" panose="02010600030101010101" pitchFamily="2" charset="-122"/>
                          <a:cs typeface="Times New Roman" panose="02020603050405020304" pitchFamily="18" charset="0"/>
                        </a:rPr>
                        <a:t>服务器上的网页</a:t>
                      </a:r>
                      <a:endParaRPr lang="zh-CN" sz="200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492">
                <a:tc>
                  <a:txBody>
                    <a:bodyPr/>
                    <a:lstStyle/>
                    <a:p>
                      <a:pPr>
                        <a:lnSpc>
                          <a:spcPct val="114000"/>
                        </a:lnSpc>
                        <a:spcAft>
                          <a:spcPts val="0"/>
                        </a:spcAft>
                      </a:pPr>
                      <a:r>
                        <a:rPr lang="zh-CN" sz="2000">
                          <a:effectLst/>
                          <a:latin typeface="Times New Roman" panose="02020603050405020304" pitchFamily="18" charset="0"/>
                          <a:ea typeface="宋体" panose="02010600030101010101" pitchFamily="2" charset="-122"/>
                          <a:cs typeface="Times New Roman" panose="02020603050405020304" pitchFamily="18" charset="0"/>
                        </a:rPr>
                        <a:t>环境</a:t>
                      </a:r>
                      <a:endParaRPr lang="zh-CN" sz="200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4000"/>
                        </a:lnSpc>
                        <a:spcAft>
                          <a:spcPts val="0"/>
                        </a:spcAft>
                      </a:pP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正常操作</a:t>
                      </a:r>
                      <a:endParaRPr lang="zh-CN" sz="2000" dirty="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492">
                <a:tc>
                  <a:txBody>
                    <a:bodyPr/>
                    <a:lstStyle/>
                    <a:p>
                      <a:pPr>
                        <a:lnSpc>
                          <a:spcPct val="114000"/>
                        </a:lnSpc>
                        <a:spcAft>
                          <a:spcPts val="0"/>
                        </a:spcAft>
                      </a:pPr>
                      <a:r>
                        <a:rPr lang="zh-CN" sz="2000">
                          <a:effectLst/>
                          <a:latin typeface="Times New Roman" panose="02020603050405020304" pitchFamily="18" charset="0"/>
                          <a:ea typeface="宋体" panose="02010600030101010101" pitchFamily="2" charset="-122"/>
                          <a:cs typeface="Times New Roman" panose="02020603050405020304" pitchFamily="18" charset="0"/>
                        </a:rPr>
                        <a:t>制品</a:t>
                      </a:r>
                      <a:endParaRPr lang="zh-CN" sz="200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4000"/>
                        </a:lnSpc>
                        <a:spcAft>
                          <a:spcPts val="0"/>
                        </a:spcAft>
                      </a:pP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整个系统</a:t>
                      </a:r>
                      <a:endParaRPr lang="zh-CN" sz="2000" dirty="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492">
                <a:tc>
                  <a:txBody>
                    <a:bodyPr/>
                    <a:lstStyle/>
                    <a:p>
                      <a:pPr>
                        <a:lnSpc>
                          <a:spcPct val="114000"/>
                        </a:lnSpc>
                        <a:spcAft>
                          <a:spcPts val="0"/>
                        </a:spcAft>
                      </a:pPr>
                      <a:r>
                        <a:rPr lang="zh-CN" sz="2000">
                          <a:effectLst/>
                          <a:latin typeface="Times New Roman" panose="02020603050405020304" pitchFamily="18" charset="0"/>
                          <a:ea typeface="宋体" panose="02010600030101010101" pitchFamily="2" charset="-122"/>
                          <a:cs typeface="Times New Roman" panose="02020603050405020304" pitchFamily="18" charset="0"/>
                        </a:rPr>
                        <a:t>响应</a:t>
                      </a:r>
                      <a:endParaRPr lang="zh-CN" sz="200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4000"/>
                        </a:lnSpc>
                        <a:spcAft>
                          <a:spcPts val="0"/>
                        </a:spcAft>
                      </a:pPr>
                      <a:r>
                        <a:rPr lang="zh-CN" sz="2000">
                          <a:effectLst/>
                          <a:latin typeface="Times New Roman" panose="02020603050405020304" pitchFamily="18" charset="0"/>
                          <a:ea typeface="宋体" panose="02010600030101010101" pitchFamily="2" charset="-122"/>
                          <a:cs typeface="Times New Roman" panose="02020603050405020304" pitchFamily="18" charset="0"/>
                        </a:rPr>
                        <a:t>服务器返回网页</a:t>
                      </a:r>
                      <a:endParaRPr lang="zh-CN" sz="200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492">
                <a:tc>
                  <a:txBody>
                    <a:bodyPr/>
                    <a:lstStyle/>
                    <a:p>
                      <a:pPr>
                        <a:lnSpc>
                          <a:spcPct val="114000"/>
                        </a:lnSpc>
                        <a:spcAft>
                          <a:spcPts val="0"/>
                        </a:spcAft>
                      </a:pP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响应测试</a:t>
                      </a:r>
                      <a:endParaRPr lang="zh-CN" sz="2000" dirty="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4000"/>
                        </a:lnSpc>
                        <a:spcAft>
                          <a:spcPts val="0"/>
                        </a:spcAft>
                      </a:pPr>
                      <a:r>
                        <a:rPr lang="en-US" sz="2000" dirty="0" err="1">
                          <a:effectLst/>
                          <a:latin typeface="Times New Roman" panose="02020603050405020304" pitchFamily="18" charset="0"/>
                          <a:ea typeface="宋体" panose="02010600030101010101" pitchFamily="2" charset="-122"/>
                          <a:cs typeface="Times New Roman" panose="02020603050405020304" pitchFamily="18" charset="0"/>
                        </a:rPr>
                        <a:t>Yinzer</a:t>
                      </a: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系统在</a:t>
                      </a:r>
                      <a:r>
                        <a:rPr lang="en-US" sz="2000" dirty="0">
                          <a:effectLst/>
                          <a:latin typeface="Times New Roman" panose="02020603050405020304" pitchFamily="18" charset="0"/>
                          <a:ea typeface="宋体" panose="02010600030101010101" pitchFamily="2" charset="-122"/>
                          <a:cs typeface="Times New Roman" panose="02020603050405020304" pitchFamily="18" charset="0"/>
                        </a:rPr>
                        <a:t>1s</a:t>
                      </a: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内返回页面</a:t>
                      </a:r>
                      <a:endParaRPr lang="zh-CN" sz="2000" dirty="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90983">
                <a:tc>
                  <a:txBody>
                    <a:bodyPr/>
                    <a:lstStyle/>
                    <a:p>
                      <a:pPr>
                        <a:lnSpc>
                          <a:spcPct val="114000"/>
                        </a:lnSpc>
                        <a:spcAft>
                          <a:spcPts val="0"/>
                        </a:spcAft>
                      </a:pPr>
                      <a:r>
                        <a:rPr lang="zh-CN" sz="2000">
                          <a:effectLst/>
                          <a:latin typeface="Times New Roman" panose="02020603050405020304" pitchFamily="18" charset="0"/>
                          <a:ea typeface="宋体" panose="02010600030101010101" pitchFamily="2" charset="-122"/>
                          <a:cs typeface="Times New Roman" panose="02020603050405020304" pitchFamily="18" charset="0"/>
                        </a:rPr>
                        <a:t>完整地质量场景</a:t>
                      </a:r>
                      <a:endParaRPr lang="zh-CN" sz="200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4000"/>
                        </a:lnSpc>
                        <a:spcAft>
                          <a:spcPts val="0"/>
                        </a:spcAft>
                      </a:pPr>
                      <a:r>
                        <a:rPr lang="en-US" sz="2000" dirty="0" err="1">
                          <a:effectLst/>
                          <a:latin typeface="Times New Roman" panose="02020603050405020304" pitchFamily="18" charset="0"/>
                          <a:ea typeface="宋体" panose="02010600030101010101" pitchFamily="2" charset="-122"/>
                          <a:cs typeface="Times New Roman" panose="02020603050405020304" pitchFamily="18" charset="0"/>
                        </a:rPr>
                        <a:t>Yinzer</a:t>
                      </a: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用户点击浏览器中的链接；浏览器向</a:t>
                      </a:r>
                      <a:r>
                        <a:rPr lang="en-US" sz="2000" dirty="0" err="1">
                          <a:effectLst/>
                          <a:latin typeface="Times New Roman" panose="02020603050405020304" pitchFamily="18" charset="0"/>
                          <a:ea typeface="宋体" panose="02010600030101010101" pitchFamily="2" charset="-122"/>
                          <a:cs typeface="Times New Roman" panose="02020603050405020304" pitchFamily="18" charset="0"/>
                        </a:rPr>
                        <a:t>Yinzer</a:t>
                      </a: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系统发送请求，</a:t>
                      </a:r>
                      <a:r>
                        <a:rPr lang="en-US" sz="2000" dirty="0" err="1">
                          <a:effectLst/>
                          <a:latin typeface="Times New Roman" panose="02020603050405020304" pitchFamily="18" charset="0"/>
                          <a:ea typeface="宋体" panose="02010600030101010101" pitchFamily="2" charset="-122"/>
                          <a:cs typeface="Times New Roman" panose="02020603050405020304" pitchFamily="18" charset="0"/>
                        </a:rPr>
                        <a:t>Yinzer</a:t>
                      </a: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系统在</a:t>
                      </a:r>
                      <a:r>
                        <a:rPr lang="en-US" sz="2000" dirty="0">
                          <a:effectLst/>
                          <a:latin typeface="Times New Roman" panose="02020603050405020304" pitchFamily="18" charset="0"/>
                          <a:ea typeface="宋体" panose="02010600030101010101" pitchFamily="2" charset="-122"/>
                          <a:cs typeface="Times New Roman" panose="02020603050405020304" pitchFamily="18" charset="0"/>
                        </a:rPr>
                        <a:t>1s</a:t>
                      </a:r>
                      <a:r>
                        <a:rPr lang="zh-CN" sz="2000" dirty="0">
                          <a:effectLst/>
                          <a:latin typeface="Times New Roman" panose="02020603050405020304" pitchFamily="18" charset="0"/>
                          <a:ea typeface="宋体" panose="02010600030101010101" pitchFamily="2" charset="-122"/>
                          <a:cs typeface="Times New Roman" panose="02020603050405020304" pitchFamily="18" charset="0"/>
                        </a:rPr>
                        <a:t>内返回页面。</a:t>
                      </a:r>
                      <a:endParaRPr lang="zh-CN" sz="2000" dirty="0">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6413" name="矩形 4"/>
          <p:cNvSpPr>
            <a:spLocks noChangeArrowheads="1"/>
          </p:cNvSpPr>
          <p:nvPr/>
        </p:nvSpPr>
        <p:spPr bwMode="auto">
          <a:xfrm>
            <a:off x="1285875" y="1357313"/>
            <a:ext cx="660241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r>
              <a:rPr lang="zh-CN" altLang="zh-CN" sz="2800" dirty="0">
                <a:latin typeface="Calibri" panose="020F0502020204030204" pitchFamily="34" charset="0"/>
                <a:cs typeface="Times New Roman" panose="02020603050405020304" pitchFamily="18" charset="0"/>
              </a:rPr>
              <a:t>对</a:t>
            </a:r>
            <a:r>
              <a:rPr lang="en-US" altLang="zh-CN" sz="2800" dirty="0" err="1">
                <a:latin typeface="Calibri" panose="020F0502020204030204" pitchFamily="34" charset="0"/>
                <a:cs typeface="Times New Roman" panose="02020603050405020304" pitchFamily="18" charset="0"/>
              </a:rPr>
              <a:t>Yinzer</a:t>
            </a:r>
            <a:r>
              <a:rPr lang="zh-CN" altLang="zh-CN" sz="2800" dirty="0">
                <a:latin typeface="Calibri" panose="020F0502020204030204" pitchFamily="34" charset="0"/>
                <a:cs typeface="Times New Roman" panose="02020603050405020304" pitchFamily="18" charset="0"/>
              </a:rPr>
              <a:t>系统</a:t>
            </a:r>
            <a:r>
              <a:rPr lang="zh-CN" altLang="en-US" sz="2800" dirty="0">
                <a:latin typeface="Calibri" panose="020F0502020204030204" pitchFamily="34" charset="0"/>
                <a:cs typeface="Times New Roman" panose="02020603050405020304" pitchFamily="18" charset="0"/>
              </a:rPr>
              <a:t>体系结构</a:t>
            </a:r>
            <a:r>
              <a:rPr lang="zh-CN" altLang="zh-CN" sz="2800" dirty="0">
                <a:latin typeface="Calibri" panose="020F0502020204030204" pitchFamily="34" charset="0"/>
                <a:cs typeface="Times New Roman" panose="02020603050405020304" pitchFamily="18" charset="0"/>
              </a:rPr>
              <a:t>需求的一个完整的质量场景的描述</a:t>
            </a:r>
            <a:endParaRPr lang="zh-CN" altLang="en-US" sz="2800" dirty="0"/>
          </a:p>
        </p:txBody>
      </p:sp>
      <p:sp>
        <p:nvSpPr>
          <p:cNvPr id="7" name="标题 1"/>
          <p:cNvSpPr txBox="1"/>
          <p:nvPr/>
        </p:nvSpPr>
        <p:spPr>
          <a:xfrm>
            <a:off x="539552" y="184589"/>
            <a:ext cx="8148637" cy="1143000"/>
          </a:xfrm>
          <a:prstGeom prst="rect">
            <a:avLst/>
          </a:prstGeom>
        </p:spPr>
        <p:txBody>
          <a:bodyPr>
            <a:normAutofit fontScale="97500"/>
          </a:bodyPr>
          <a:lstStyle/>
          <a:p>
            <a:pPr>
              <a:defRPr/>
            </a:pPr>
            <a:r>
              <a:rPr kumimoji="1" lang="zh-CN" altLang="en-US" sz="4500" dirty="0">
                <a:solidFill>
                  <a:schemeClr val="bg1"/>
                </a:solidFill>
                <a:effectLst>
                  <a:outerShdw blurRad="38100" dist="38100" dir="2700000" algn="tl">
                    <a:srgbClr val="000000">
                      <a:alpha val="43137"/>
                    </a:srgbClr>
                  </a:outerShdw>
                </a:effectLst>
                <a:latin typeface="+mj-ea"/>
                <a:ea typeface="+mj-ea"/>
                <a:cs typeface="+mj-cs"/>
              </a:rPr>
              <a:t>体系结构需求获取（</a:t>
            </a:r>
            <a:r>
              <a:rPr kumimoji="1" lang="en-US" altLang="zh-CN" sz="4500" dirty="0">
                <a:solidFill>
                  <a:schemeClr val="bg1"/>
                </a:solidFill>
                <a:effectLst>
                  <a:outerShdw blurRad="38100" dist="38100" dir="2700000" algn="tl">
                    <a:srgbClr val="000000">
                      <a:alpha val="43137"/>
                    </a:srgbClr>
                  </a:outerShdw>
                </a:effectLst>
                <a:latin typeface="+mj-ea"/>
                <a:ea typeface="+mj-ea"/>
                <a:cs typeface="+mj-cs"/>
              </a:rPr>
              <a:t>5</a:t>
            </a:r>
            <a:r>
              <a:rPr kumimoji="1" lang="zh-CN" altLang="en-US" sz="4500" dirty="0">
                <a:solidFill>
                  <a:schemeClr val="bg1"/>
                </a:solidFill>
                <a:effectLst>
                  <a:outerShdw blurRad="38100" dist="38100" dir="2700000" algn="tl">
                    <a:srgbClr val="000000">
                      <a:alpha val="43137"/>
                    </a:srgbClr>
                  </a:outerShdw>
                </a:effectLst>
                <a:latin typeface="+mj-ea"/>
                <a:ea typeface="+mj-ea"/>
                <a:cs typeface="+mj-cs"/>
              </a:rPr>
              <a:t>）</a:t>
            </a:r>
            <a:endParaRPr kumimoji="1" lang="zh-CN" altLang="en-US" sz="4500" dirty="0">
              <a:solidFill>
                <a:schemeClr val="bg1"/>
              </a:solidFill>
              <a:effectLst>
                <a:outerShdw blurRad="38100" dist="38100" dir="2700000" algn="tl">
                  <a:srgbClr val="000000">
                    <a:alpha val="43137"/>
                  </a:srgbClr>
                </a:outerShdw>
              </a:effectLst>
              <a:latin typeface="+mj-ea"/>
              <a:ea typeface="+mj-ea"/>
              <a:cs typeface="+mj-cs"/>
            </a:endParaRPr>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5890"/>
            <a:ext cx="8148637" cy="1143000"/>
          </a:xfrm>
        </p:spPr>
        <p:txBody>
          <a:bodyPr/>
          <a:lstStyle/>
          <a:p>
            <a:pPr>
              <a:defRPr/>
            </a:pPr>
            <a:r>
              <a:rPr kumimoji="1" lang="zh-CN" altLang="en-US" sz="4400" dirty="0">
                <a:effectLst>
                  <a:outerShdw blurRad="38100" dist="38100" dir="2700000" algn="tl">
                    <a:srgbClr val="000000">
                      <a:alpha val="43137"/>
                    </a:srgbClr>
                  </a:outerShdw>
                </a:effectLst>
                <a:latin typeface="+mj-ea"/>
              </a:rPr>
              <a:t>体系结构需求获取（</a:t>
            </a:r>
            <a:r>
              <a:rPr kumimoji="1" lang="en-US" altLang="zh-CN" sz="4400" dirty="0">
                <a:effectLst>
                  <a:outerShdw blurRad="38100" dist="38100" dir="2700000" algn="tl">
                    <a:srgbClr val="000000">
                      <a:alpha val="43137"/>
                    </a:srgbClr>
                  </a:outerShdw>
                </a:effectLst>
                <a:latin typeface="+mj-ea"/>
              </a:rPr>
              <a:t>6</a:t>
            </a:r>
            <a:r>
              <a:rPr kumimoji="1" lang="zh-CN" altLang="en-US" sz="4400" dirty="0">
                <a:effectLst>
                  <a:outerShdw blurRad="38100" dist="38100" dir="2700000" algn="tl">
                    <a:srgbClr val="000000">
                      <a:alpha val="43137"/>
                    </a:srgbClr>
                  </a:outerShdw>
                </a:effectLst>
                <a:latin typeface="+mj-ea"/>
              </a:rPr>
              <a:t>）</a:t>
            </a:r>
            <a:endParaRPr lang="zh-CN" altLang="en-US" dirty="0">
              <a:effectLst>
                <a:outerShdw blurRad="38100" dist="38100" dir="2700000" algn="tl">
                  <a:srgbClr val="000000">
                    <a:alpha val="43137"/>
                  </a:srgbClr>
                </a:outerShdw>
              </a:effectLst>
              <a:latin typeface="+mj-ea"/>
            </a:endParaRPr>
          </a:p>
        </p:txBody>
      </p:sp>
      <p:sp>
        <p:nvSpPr>
          <p:cNvPr id="17411" name="内容占位符 2"/>
          <p:cNvSpPr>
            <a:spLocks noGrp="1"/>
          </p:cNvSpPr>
          <p:nvPr>
            <p:ph idx="1"/>
          </p:nvPr>
        </p:nvSpPr>
        <p:spPr/>
        <p:txBody>
          <a:bodyPr/>
          <a:lstStyle/>
          <a:p>
            <a:r>
              <a:rPr lang="en-US" altLang="zh-CN" dirty="0"/>
              <a:t>1. </a:t>
            </a:r>
            <a:r>
              <a:rPr lang="zh-CN" altLang="en-US" dirty="0"/>
              <a:t>质量场景</a:t>
            </a:r>
            <a:endParaRPr lang="en-US" altLang="zh-CN" dirty="0"/>
          </a:p>
          <a:p>
            <a:pPr lvl="1"/>
            <a:r>
              <a:rPr lang="zh-CN" altLang="en-US" dirty="0"/>
              <a:t>体系结构需求要用质量场景进行描述。</a:t>
            </a:r>
            <a:endParaRPr lang="en-US" altLang="zh-CN" dirty="0"/>
          </a:p>
          <a:p>
            <a:pPr lvl="2"/>
            <a:r>
              <a:rPr lang="zh-CN" altLang="en-US" dirty="0"/>
              <a:t>对于体系结构师和领域专家来说，需要做的是从抽象场景描述中获得特定的质量属性场景。</a:t>
            </a:r>
            <a:endParaRPr lang="en-US" altLang="zh-CN" dirty="0"/>
          </a:p>
          <a:p>
            <a:pPr lvl="2"/>
            <a:r>
              <a:rPr lang="zh-CN" altLang="en-US" dirty="0"/>
              <a:t>例如：“</a:t>
            </a:r>
            <a:r>
              <a:rPr lang="en-US" altLang="zh-CN" dirty="0" err="1"/>
              <a:t>Yinzer</a:t>
            </a:r>
            <a:r>
              <a:rPr lang="zh-CN" altLang="en-US" dirty="0"/>
              <a:t>用户点击浏览器中的链接；浏览器向</a:t>
            </a:r>
            <a:r>
              <a:rPr lang="en-US" altLang="zh-CN" dirty="0" err="1"/>
              <a:t>Yinzer</a:t>
            </a:r>
            <a:r>
              <a:rPr lang="zh-CN" altLang="en-US" dirty="0"/>
              <a:t>系统发送请求，</a:t>
            </a:r>
            <a:r>
              <a:rPr lang="en-US" altLang="zh-CN" dirty="0" err="1">
                <a:solidFill>
                  <a:srgbClr val="FF0000"/>
                </a:solidFill>
              </a:rPr>
              <a:t>Yinzer</a:t>
            </a:r>
            <a:r>
              <a:rPr lang="zh-CN" altLang="en-US" dirty="0">
                <a:solidFill>
                  <a:srgbClr val="FF0000"/>
                </a:solidFill>
              </a:rPr>
              <a:t>系统在</a:t>
            </a:r>
            <a:r>
              <a:rPr lang="en-US" altLang="zh-CN" dirty="0">
                <a:solidFill>
                  <a:srgbClr val="FF0000"/>
                </a:solidFill>
              </a:rPr>
              <a:t>1s</a:t>
            </a:r>
            <a:r>
              <a:rPr lang="zh-CN" altLang="en-US" dirty="0">
                <a:solidFill>
                  <a:srgbClr val="FF0000"/>
                </a:solidFill>
              </a:rPr>
              <a:t>内返回页面</a:t>
            </a:r>
            <a:r>
              <a:rPr lang="zh-CN" altLang="en-US" dirty="0"/>
              <a:t>” 就对系统性能提出了要求。</a:t>
            </a:r>
            <a:endParaRPr lang="zh-CN" altLang="en-US" dirty="0"/>
          </a:p>
          <a:p>
            <a:pPr lvl="2"/>
            <a:r>
              <a:rPr lang="zh-CN" altLang="en-US" dirty="0"/>
              <a:t>通常来说，我们考虑的特定的质量场景是对性能、可移植性、可替换性、可重用性等质量属性产生影响时的质量场景。</a:t>
            </a:r>
            <a:endParaRPr lang="zh-CN" altLang="en-US" dirty="0"/>
          </a:p>
        </p:txBody>
      </p:sp>
      <p:sp>
        <p:nvSpPr>
          <p:cNvPr id="1741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11F22B1D-5A1B-4B6B-80DC-11ED8BBE5A88}"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0"/>
            <a:ext cx="8148637" cy="1143000"/>
          </a:xfrm>
        </p:spPr>
        <p:txBody>
          <a:bodyPr/>
          <a:lstStyle/>
          <a:p>
            <a:pPr>
              <a:defRPr/>
            </a:pPr>
            <a:r>
              <a:rPr kumimoji="1" lang="zh-CN" altLang="en-US" sz="4400" dirty="0">
                <a:effectLst>
                  <a:outerShdw blurRad="38100" dist="38100" dir="2700000" algn="tl">
                    <a:srgbClr val="000000">
                      <a:alpha val="43137"/>
                    </a:srgbClr>
                  </a:outerShdw>
                </a:effectLst>
                <a:latin typeface="+mj-ea"/>
              </a:rPr>
              <a:t>体系结构需求获取（</a:t>
            </a:r>
            <a:r>
              <a:rPr kumimoji="1" lang="en-US" altLang="zh-CN" sz="4400" dirty="0">
                <a:effectLst>
                  <a:outerShdw blurRad="38100" dist="38100" dir="2700000" algn="tl">
                    <a:srgbClr val="000000">
                      <a:alpha val="43137"/>
                    </a:srgbClr>
                  </a:outerShdw>
                </a:effectLst>
                <a:latin typeface="+mj-ea"/>
              </a:rPr>
              <a:t>7</a:t>
            </a:r>
            <a:r>
              <a:rPr kumimoji="1" lang="zh-CN" altLang="en-US" sz="4400" dirty="0">
                <a:effectLst>
                  <a:outerShdw blurRad="38100" dist="38100" dir="2700000" algn="tl">
                    <a:srgbClr val="000000">
                      <a:alpha val="43137"/>
                    </a:srgbClr>
                  </a:outerShdw>
                </a:effectLst>
                <a:latin typeface="+mj-ea"/>
              </a:rPr>
              <a:t>）</a:t>
            </a:r>
            <a:endParaRPr lang="zh-CN" altLang="en-US" dirty="0">
              <a:effectLst>
                <a:outerShdw blurRad="38100" dist="38100" dir="2700000" algn="tl">
                  <a:srgbClr val="000000">
                    <a:alpha val="43137"/>
                  </a:srgbClr>
                </a:outerShdw>
              </a:effectLst>
              <a:latin typeface="+mj-ea"/>
            </a:endParaRPr>
          </a:p>
        </p:txBody>
      </p:sp>
      <p:sp>
        <p:nvSpPr>
          <p:cNvPr id="19459" name="内容占位符 2"/>
          <p:cNvSpPr>
            <a:spLocks noGrp="1"/>
          </p:cNvSpPr>
          <p:nvPr>
            <p:ph idx="1"/>
          </p:nvPr>
        </p:nvSpPr>
        <p:spPr>
          <a:xfrm>
            <a:off x="642938" y="1357313"/>
            <a:ext cx="7791450" cy="4800600"/>
          </a:xfrm>
        </p:spPr>
        <p:txBody>
          <a:bodyPr/>
          <a:lstStyle/>
          <a:p>
            <a:r>
              <a:rPr lang="en-US" altLang="zh-CN"/>
              <a:t>2. </a:t>
            </a:r>
            <a:r>
              <a:rPr lang="zh-CN" altLang="en-US"/>
              <a:t>软件质量模型</a:t>
            </a:r>
            <a:endParaRPr lang="en-US" altLang="zh-CN"/>
          </a:p>
          <a:p>
            <a:pPr lvl="1"/>
            <a:r>
              <a:rPr lang="zh-CN" altLang="zh-CN"/>
              <a:t>软件质量理想模型：可以用来描述，评估和预测质量属性的模型。</a:t>
            </a:r>
            <a:endParaRPr lang="en-US" altLang="zh-CN"/>
          </a:p>
        </p:txBody>
      </p:sp>
      <p:sp>
        <p:nvSpPr>
          <p:cNvPr id="1946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60D0EFDB-1154-408E-A5EB-01086AF6DFDF}" type="slidenum">
              <a:rPr lang="en-US" altLang="zh-CN">
                <a:solidFill>
                  <a:srgbClr val="B5A788"/>
                </a:solidFill>
              </a:rPr>
            </a:fld>
            <a:endParaRPr lang="en-US" altLang="zh-CN">
              <a:solidFill>
                <a:srgbClr val="B5A788"/>
              </a:solidFill>
            </a:endParaRPr>
          </a:p>
        </p:txBody>
      </p:sp>
      <p:graphicFrame>
        <p:nvGraphicFramePr>
          <p:cNvPr id="19461" name="对象 2"/>
          <p:cNvGraphicFramePr>
            <a:graphicFrameLocks noChangeAspect="1"/>
          </p:cNvGraphicFramePr>
          <p:nvPr/>
        </p:nvGraphicFramePr>
        <p:xfrm>
          <a:off x="3635375" y="2492375"/>
          <a:ext cx="5616575" cy="4068763"/>
        </p:xfrm>
        <a:graphic>
          <a:graphicData uri="http://schemas.openxmlformats.org/presentationml/2006/ole">
            <mc:AlternateContent xmlns:mc="http://schemas.openxmlformats.org/markup-compatibility/2006">
              <mc:Choice xmlns:v="urn:schemas-microsoft-com:vml" Requires="v">
                <p:oleObj spid="_x0000_s38947" name="Visio" r:id="rId1" imgW="6121400" imgH="4406900" progId="Visio.Drawing.11">
                  <p:embed/>
                </p:oleObj>
              </mc:Choice>
              <mc:Fallback>
                <p:oleObj name="Visio" r:id="rId1" imgW="6121400" imgH="44069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375" y="2492375"/>
                        <a:ext cx="5616575" cy="406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2" name="矩形 5"/>
          <p:cNvSpPr>
            <a:spLocks noChangeArrowheads="1"/>
          </p:cNvSpPr>
          <p:nvPr/>
        </p:nvSpPr>
        <p:spPr bwMode="auto">
          <a:xfrm>
            <a:off x="4386711" y="6499225"/>
            <a:ext cx="2993127" cy="3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eaLnBrk="1" hangingPunct="1">
              <a:lnSpc>
                <a:spcPct val="114000"/>
              </a:lnSpc>
              <a:spcAft>
                <a:spcPts val="900"/>
              </a:spcAft>
            </a:pPr>
            <a:r>
              <a:rPr lang="zh-CN" altLang="zh-CN" dirty="0">
                <a:latin typeface="Calibri" panose="020F0502020204030204" pitchFamily="34" charset="0"/>
                <a:cs typeface="Times New Roman" panose="02020603050405020304" pitchFamily="18" charset="0"/>
              </a:rPr>
              <a:t>软件质量理想模型结构图</a:t>
            </a:r>
            <a:endParaRPr lang="zh-CN" altLang="zh-CN" dirty="0">
              <a:latin typeface="Calibri" panose="020F0502020204030204" pitchFamily="34" charset="0"/>
              <a:cs typeface="Times New Roman" panose="02020603050405020304" pitchFamily="18" charset="0"/>
            </a:endParaRPr>
          </a:p>
        </p:txBody>
      </p:sp>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681" y="0"/>
            <a:ext cx="8148637" cy="1143000"/>
          </a:xfrm>
        </p:spPr>
        <p:txBody>
          <a:bodyPr/>
          <a:lstStyle/>
          <a:p>
            <a:pPr>
              <a:defRPr/>
            </a:pPr>
            <a:r>
              <a:rPr kumimoji="1" lang="zh-CN" altLang="en-US" sz="4400" dirty="0">
                <a:effectLst>
                  <a:outerShdw blurRad="38100" dist="38100" dir="2700000" algn="tl">
                    <a:srgbClr val="000000">
                      <a:alpha val="43137"/>
                    </a:srgbClr>
                  </a:outerShdw>
                </a:effectLst>
                <a:latin typeface="+mj-ea"/>
              </a:rPr>
              <a:t>体系结构需求获取（</a:t>
            </a:r>
            <a:r>
              <a:rPr kumimoji="1" lang="en-US" altLang="zh-CN" sz="4400" dirty="0">
                <a:effectLst>
                  <a:outerShdw blurRad="38100" dist="38100" dir="2700000" algn="tl">
                    <a:srgbClr val="000000">
                      <a:alpha val="43137"/>
                    </a:srgbClr>
                  </a:outerShdw>
                </a:effectLst>
                <a:latin typeface="+mj-ea"/>
              </a:rPr>
              <a:t>8</a:t>
            </a:r>
            <a:r>
              <a:rPr kumimoji="1" lang="zh-CN" altLang="en-US" sz="4400" dirty="0">
                <a:effectLst>
                  <a:outerShdw blurRad="38100" dist="38100" dir="2700000" algn="tl">
                    <a:srgbClr val="000000">
                      <a:alpha val="43137"/>
                    </a:srgbClr>
                  </a:outerShdw>
                </a:effectLst>
                <a:latin typeface="+mj-ea"/>
              </a:rPr>
              <a:t>）</a:t>
            </a:r>
            <a:endParaRPr lang="zh-CN" altLang="en-US" dirty="0">
              <a:effectLst>
                <a:outerShdw blurRad="38100" dist="38100" dir="2700000" algn="tl">
                  <a:srgbClr val="000000">
                    <a:alpha val="43137"/>
                  </a:srgbClr>
                </a:outerShdw>
              </a:effectLst>
              <a:latin typeface="+mj-ea"/>
            </a:endParaRPr>
          </a:p>
        </p:txBody>
      </p:sp>
      <p:sp>
        <p:nvSpPr>
          <p:cNvPr id="20483" name="内容占位符 2"/>
          <p:cNvSpPr>
            <a:spLocks noGrp="1"/>
          </p:cNvSpPr>
          <p:nvPr>
            <p:ph idx="1"/>
          </p:nvPr>
        </p:nvSpPr>
        <p:spPr>
          <a:xfrm>
            <a:off x="1143000" y="1447800"/>
            <a:ext cx="7791450" cy="4800600"/>
          </a:xfrm>
        </p:spPr>
        <p:txBody>
          <a:bodyPr/>
          <a:lstStyle/>
          <a:p>
            <a:r>
              <a:rPr lang="en-US" altLang="zh-CN"/>
              <a:t>2. </a:t>
            </a:r>
            <a:r>
              <a:rPr lang="zh-CN" altLang="en-US"/>
              <a:t>软件质量模型</a:t>
            </a:r>
            <a:endParaRPr lang="en-US" altLang="zh-CN"/>
          </a:p>
          <a:p>
            <a:pPr lvl="1"/>
            <a:r>
              <a:rPr lang="zh-CN" altLang="zh-CN"/>
              <a:t>软件质量元模型（软件质量理想模型设计原则）：可以清晰地描述质量模型中元素和元素之间相互关系的模型。</a:t>
            </a:r>
            <a:endParaRPr lang="en-US" altLang="zh-CN"/>
          </a:p>
          <a:p>
            <a:pPr lvl="1"/>
            <a:r>
              <a:rPr lang="zh-CN" altLang="zh-CN"/>
              <a:t>软件质量理想模型框架：描述了如何将软件质量元模型进行实例化，并且可以对质量属性进行定义</a:t>
            </a:r>
            <a:r>
              <a:rPr lang="zh-CN" altLang="en-US"/>
              <a:t>、</a:t>
            </a:r>
            <a:r>
              <a:rPr lang="zh-CN" altLang="zh-CN"/>
              <a:t>评估</a:t>
            </a:r>
            <a:r>
              <a:rPr lang="zh-CN" altLang="en-US"/>
              <a:t>、</a:t>
            </a:r>
            <a:r>
              <a:rPr lang="zh-CN" altLang="zh-CN"/>
              <a:t>预测，切实提高软件质量属性的框架</a:t>
            </a:r>
            <a:r>
              <a:rPr lang="en-US" altLang="zh-CN"/>
              <a:t> </a:t>
            </a:r>
            <a:r>
              <a:rPr lang="zh-CN" altLang="zh-CN"/>
              <a:t>。</a:t>
            </a:r>
            <a:endParaRPr lang="zh-CN" altLang="zh-CN"/>
          </a:p>
          <a:p>
            <a:pPr lvl="1"/>
            <a:endParaRPr lang="en-US" altLang="zh-CN"/>
          </a:p>
        </p:txBody>
      </p:sp>
      <p:sp>
        <p:nvSpPr>
          <p:cNvPr id="2048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C5815006-7156-47EE-B905-F59A4C0CC290}"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3209"/>
            <a:ext cx="8148637" cy="1143000"/>
          </a:xfrm>
        </p:spPr>
        <p:txBody>
          <a:bodyPr/>
          <a:lstStyle/>
          <a:p>
            <a:pPr>
              <a:defRPr/>
            </a:pPr>
            <a:r>
              <a:rPr kumimoji="1" lang="zh-CN" altLang="en-US" sz="4400" dirty="0">
                <a:effectLst>
                  <a:outerShdw blurRad="38100" dist="38100" dir="2700000" algn="tl">
                    <a:srgbClr val="000000">
                      <a:alpha val="43137"/>
                    </a:srgbClr>
                  </a:outerShdw>
                </a:effectLst>
                <a:latin typeface="+mj-ea"/>
              </a:rPr>
              <a:t>体系结构需求获取（</a:t>
            </a:r>
            <a:r>
              <a:rPr kumimoji="1" lang="en-US" altLang="zh-CN" sz="4400" dirty="0">
                <a:effectLst>
                  <a:outerShdw blurRad="38100" dist="38100" dir="2700000" algn="tl">
                    <a:srgbClr val="000000">
                      <a:alpha val="43137"/>
                    </a:srgbClr>
                  </a:outerShdw>
                </a:effectLst>
                <a:latin typeface="+mj-ea"/>
              </a:rPr>
              <a:t>9</a:t>
            </a:r>
            <a:r>
              <a:rPr kumimoji="1" lang="zh-CN" altLang="en-US" sz="4400" dirty="0">
                <a:effectLst>
                  <a:outerShdw blurRad="38100" dist="38100" dir="2700000" algn="tl">
                    <a:srgbClr val="000000">
                      <a:alpha val="43137"/>
                    </a:srgbClr>
                  </a:outerShdw>
                </a:effectLst>
                <a:latin typeface="+mj-ea"/>
              </a:rPr>
              <a:t>）</a:t>
            </a:r>
            <a:endParaRPr lang="zh-CN" altLang="en-US" dirty="0">
              <a:effectLst>
                <a:outerShdw blurRad="38100" dist="38100" dir="2700000" algn="tl">
                  <a:srgbClr val="000000">
                    <a:alpha val="43137"/>
                  </a:srgbClr>
                </a:outerShdw>
              </a:effectLst>
              <a:latin typeface="+mj-ea"/>
            </a:endParaRPr>
          </a:p>
        </p:txBody>
      </p:sp>
      <p:sp>
        <p:nvSpPr>
          <p:cNvPr id="21507" name="内容占位符 2"/>
          <p:cNvSpPr>
            <a:spLocks noGrp="1"/>
          </p:cNvSpPr>
          <p:nvPr>
            <p:ph idx="1"/>
          </p:nvPr>
        </p:nvSpPr>
        <p:spPr>
          <a:xfrm>
            <a:off x="597912" y="1484784"/>
            <a:ext cx="7934325" cy="4800600"/>
          </a:xfrm>
        </p:spPr>
        <p:txBody>
          <a:bodyPr/>
          <a:lstStyle/>
          <a:p>
            <a:r>
              <a:rPr lang="en-US" altLang="zh-CN" dirty="0"/>
              <a:t>3.</a:t>
            </a:r>
            <a:r>
              <a:rPr lang="zh-CN" altLang="zh-CN" dirty="0"/>
              <a:t>将质量场景映射到软件质量理想模型</a:t>
            </a:r>
            <a:endParaRPr lang="en-US" altLang="zh-CN" dirty="0"/>
          </a:p>
          <a:p>
            <a:pPr lvl="1"/>
            <a:r>
              <a:rPr lang="zh-CN" altLang="zh-CN" dirty="0"/>
              <a:t>通常，我们获得的质量场景都是以文本的形式呈现的，将质量场景映射到质量模型中需要对质量场景描述的内容进行分解和细化。</a:t>
            </a:r>
            <a:endParaRPr lang="en-US" altLang="zh-CN" dirty="0"/>
          </a:p>
          <a:p>
            <a:pPr lvl="1"/>
            <a:r>
              <a:rPr lang="zh-CN" altLang="zh-CN" dirty="0"/>
              <a:t>对于质量场景中那些很抽象层次的描述我们可以将其规约为抽象场景质量模型，对于特定的质量场景也会将其规约到特定质量的模型中。</a:t>
            </a:r>
            <a:endParaRPr lang="zh-CN" altLang="zh-CN" dirty="0"/>
          </a:p>
          <a:p>
            <a:pPr lvl="1"/>
            <a:endParaRPr lang="en-US" altLang="zh-CN" dirty="0"/>
          </a:p>
        </p:txBody>
      </p:sp>
      <p:sp>
        <p:nvSpPr>
          <p:cNvPr id="2150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4DD7B37E-8FC5-4EFC-B7C1-055ED264F81A}"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887CC39C-93AA-402C-AEB7-313092416A4C}" type="slidenum">
              <a:rPr lang="en-US" altLang="zh-CN">
                <a:solidFill>
                  <a:srgbClr val="B5A788"/>
                </a:solidFill>
              </a:rPr>
            </a:fld>
            <a:endParaRPr lang="en-US" altLang="zh-CN">
              <a:solidFill>
                <a:srgbClr val="B5A788"/>
              </a:solidFill>
            </a:endParaRPr>
          </a:p>
        </p:txBody>
      </p:sp>
      <p:sp>
        <p:nvSpPr>
          <p:cNvPr id="23555" name="Rectangle 2"/>
          <p:cNvSpPr>
            <a:spLocks noChangeArrowheads="1"/>
          </p:cNvSpPr>
          <p:nvPr/>
        </p:nvSpPr>
        <p:spPr bwMode="auto">
          <a:xfrm>
            <a:off x="2835275" y="3071813"/>
            <a:ext cx="996950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23556" name="矩形 5"/>
          <p:cNvSpPr>
            <a:spLocks noChangeArrowheads="1"/>
          </p:cNvSpPr>
          <p:nvPr/>
        </p:nvSpPr>
        <p:spPr bwMode="auto">
          <a:xfrm>
            <a:off x="3203848" y="6356350"/>
            <a:ext cx="3018775"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eaLnBrk="1" hangingPunct="1">
              <a:lnSpc>
                <a:spcPct val="114000"/>
              </a:lnSpc>
              <a:spcAft>
                <a:spcPts val="900"/>
              </a:spcAft>
            </a:pPr>
            <a:r>
              <a:rPr lang="zh-CN" altLang="zh-CN" sz="2000" dirty="0"/>
              <a:t>软件质量元模型结构图</a:t>
            </a:r>
            <a:endParaRPr lang="zh-CN" altLang="zh-CN" sz="2000" dirty="0">
              <a:latin typeface="Calibri" panose="020F0502020204030204" pitchFamily="34" charset="0"/>
              <a:cs typeface="Times New Roman" panose="02020603050405020304" pitchFamily="18" charset="0"/>
            </a:endParaRPr>
          </a:p>
        </p:txBody>
      </p:sp>
      <p:sp>
        <p:nvSpPr>
          <p:cNvPr id="23557" name="Rectangle 2"/>
          <p:cNvSpPr>
            <a:spLocks noChangeArrowheads="1"/>
          </p:cNvSpPr>
          <p:nvPr/>
        </p:nvSpPr>
        <p:spPr bwMode="auto">
          <a:xfrm>
            <a:off x="2987675" y="3071813"/>
            <a:ext cx="9628188"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graphicFrame>
        <p:nvGraphicFramePr>
          <p:cNvPr id="23558" name="对象 4"/>
          <p:cNvGraphicFramePr>
            <a:graphicFrameLocks noChangeAspect="1"/>
          </p:cNvGraphicFramePr>
          <p:nvPr/>
        </p:nvGraphicFramePr>
        <p:xfrm>
          <a:off x="2051720" y="1100138"/>
          <a:ext cx="5624512" cy="5280025"/>
        </p:xfrm>
        <a:graphic>
          <a:graphicData uri="http://schemas.openxmlformats.org/presentationml/2006/ole">
            <mc:AlternateContent xmlns:mc="http://schemas.openxmlformats.org/markup-compatibility/2006">
              <mc:Choice xmlns:v="urn:schemas-microsoft-com:vml" Requires="v">
                <p:oleObj spid="_x0000_s39971" name="Visio" r:id="rId1" imgW="3568700" imgH="3352800" progId="Visio.Drawing.11">
                  <p:embed/>
                </p:oleObj>
              </mc:Choice>
              <mc:Fallback>
                <p:oleObj name="Visio" r:id="rId1" imgW="3568700" imgH="3352800" progId="Visio.Drawing.11">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1100138"/>
                        <a:ext cx="5624512"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0"/>
            <a:ext cx="8148637" cy="1143000"/>
          </a:xfrm>
        </p:spPr>
        <p:txBody>
          <a:bodyPr/>
          <a:lstStyle/>
          <a:p>
            <a:pPr>
              <a:defRPr/>
            </a:pPr>
            <a:r>
              <a:rPr kumimoji="1" lang="zh-CN" altLang="en-US" sz="4000" dirty="0">
                <a:effectLst>
                  <a:outerShdw blurRad="38100" dist="38100" dir="2700000" algn="tl">
                    <a:srgbClr val="000000">
                      <a:alpha val="43137"/>
                    </a:srgbClr>
                  </a:outerShdw>
                </a:effectLst>
                <a:latin typeface="+mj-ea"/>
              </a:rPr>
              <a:t>体系结构</a:t>
            </a:r>
            <a:r>
              <a:rPr kumimoji="1" lang="zh-CN" altLang="zh-CN" sz="4000" dirty="0">
                <a:effectLst>
                  <a:outerShdw blurRad="38100" dist="38100" dir="2700000" algn="tl">
                    <a:srgbClr val="000000">
                      <a:alpha val="43137"/>
                    </a:srgbClr>
                  </a:outerShdw>
                </a:effectLst>
                <a:latin typeface="+mj-ea"/>
              </a:rPr>
              <a:t>设计、文档化和评估</a:t>
            </a:r>
            <a:endParaRPr kumimoji="1" lang="zh-CN" altLang="en-US" sz="4000" dirty="0">
              <a:effectLst>
                <a:outerShdw blurRad="38100" dist="38100" dir="2700000" algn="tl">
                  <a:srgbClr val="000000">
                    <a:alpha val="43137"/>
                  </a:srgbClr>
                </a:outerShdw>
              </a:effectLst>
              <a:latin typeface="+mj-ea"/>
            </a:endParaRPr>
          </a:p>
        </p:txBody>
      </p:sp>
      <p:sp>
        <p:nvSpPr>
          <p:cNvPr id="24579" name="内容占位符 2"/>
          <p:cNvSpPr>
            <a:spLocks noGrp="1"/>
          </p:cNvSpPr>
          <p:nvPr>
            <p:ph idx="1"/>
          </p:nvPr>
        </p:nvSpPr>
        <p:spPr>
          <a:xfrm>
            <a:off x="755576" y="1556792"/>
            <a:ext cx="7791450" cy="4800600"/>
          </a:xfrm>
        </p:spPr>
        <p:txBody>
          <a:bodyPr/>
          <a:lstStyle/>
          <a:p>
            <a:pPr>
              <a:defRPr/>
            </a:pPr>
            <a:r>
              <a:rPr lang="zh-CN" altLang="en-US" dirty="0"/>
              <a:t>体系结构</a:t>
            </a:r>
            <a:r>
              <a:rPr lang="zh-CN" altLang="zh-CN" dirty="0"/>
              <a:t>设计、文档化和评估是一个迭代过程</a:t>
            </a:r>
            <a:endParaRPr lang="en-US" altLang="zh-CN" dirty="0"/>
          </a:p>
          <a:p>
            <a:pPr lvl="1">
              <a:defRPr/>
            </a:pPr>
            <a:r>
              <a:rPr lang="zh-CN" altLang="en-US" dirty="0"/>
              <a:t>体系结构</a:t>
            </a:r>
            <a:r>
              <a:rPr lang="zh-CN" altLang="zh-CN" dirty="0"/>
              <a:t>设计、文档化和评估是一个迭代过程</a:t>
            </a:r>
            <a:r>
              <a:rPr lang="zh-CN" altLang="en-US" dirty="0"/>
              <a:t>也是体系结构驱动的软件开发的核心所在。</a:t>
            </a:r>
            <a:endParaRPr lang="en-US" altLang="zh-CN" dirty="0"/>
          </a:p>
          <a:p>
            <a:pPr lvl="1">
              <a:defRPr/>
            </a:pPr>
            <a:r>
              <a:rPr lang="zh-CN" altLang="en-US" dirty="0"/>
              <a:t>其步骤如下：</a:t>
            </a:r>
            <a:endParaRPr lang="en-US" altLang="zh-CN" dirty="0"/>
          </a:p>
          <a:p>
            <a:pPr lvl="2">
              <a:defRPr/>
            </a:pPr>
            <a:r>
              <a:rPr lang="en-US" altLang="zh-CN" dirty="0">
                <a:latin typeface="+mn-ea"/>
              </a:rPr>
              <a:t>1.</a:t>
            </a:r>
            <a:r>
              <a:rPr lang="zh-CN" altLang="zh-CN" dirty="0">
                <a:latin typeface="+mn-ea"/>
              </a:rPr>
              <a:t>基本</a:t>
            </a:r>
            <a:r>
              <a:rPr lang="zh-CN" altLang="en-US" dirty="0">
                <a:latin typeface="+mn-ea"/>
              </a:rPr>
              <a:t>体系结构</a:t>
            </a:r>
            <a:r>
              <a:rPr lang="zh-CN" altLang="zh-CN" dirty="0">
                <a:latin typeface="+mn-ea"/>
              </a:rPr>
              <a:t>设计</a:t>
            </a:r>
            <a:endParaRPr lang="en-US" altLang="zh-CN" dirty="0">
              <a:latin typeface="+mn-ea"/>
            </a:endParaRPr>
          </a:p>
          <a:p>
            <a:pPr lvl="2">
              <a:defRPr/>
            </a:pPr>
            <a:r>
              <a:rPr lang="en-US" altLang="zh-CN" dirty="0">
                <a:latin typeface="+mn-ea"/>
              </a:rPr>
              <a:t>2.</a:t>
            </a:r>
            <a:r>
              <a:rPr lang="zh-CN" altLang="en-US" dirty="0">
                <a:latin typeface="+mn-ea"/>
              </a:rPr>
              <a:t>体系结构文档化</a:t>
            </a:r>
            <a:endParaRPr lang="en-US" altLang="zh-CN" dirty="0">
              <a:latin typeface="+mn-ea"/>
            </a:endParaRPr>
          </a:p>
          <a:p>
            <a:pPr lvl="2">
              <a:defRPr/>
            </a:pPr>
            <a:r>
              <a:rPr lang="en-US" altLang="zh-CN" dirty="0">
                <a:latin typeface="+mn-ea"/>
              </a:rPr>
              <a:t>3.</a:t>
            </a:r>
            <a:r>
              <a:rPr lang="zh-CN" altLang="en-US" dirty="0">
                <a:latin typeface="+mn-ea"/>
              </a:rPr>
              <a:t>体系结构评估</a:t>
            </a:r>
            <a:endParaRPr lang="en-US" altLang="zh-CN" dirty="0">
              <a:latin typeface="+mn-ea"/>
            </a:endParaRPr>
          </a:p>
          <a:p>
            <a:pPr lvl="1">
              <a:defRPr/>
            </a:pPr>
            <a:endParaRPr lang="en-US" altLang="zh-CN" dirty="0"/>
          </a:p>
        </p:txBody>
      </p:sp>
      <p:sp>
        <p:nvSpPr>
          <p:cNvPr id="2458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C2928733-0F05-4E26-B8AB-96BDCAA880E0}"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25647"/>
            <a:ext cx="8148637" cy="1143000"/>
          </a:xfrm>
        </p:spPr>
        <p:txBody>
          <a:bodyPr>
            <a:normAutofit/>
          </a:bodyPr>
          <a:lstStyle/>
          <a:p>
            <a:pPr>
              <a:defRPr/>
            </a:pPr>
            <a:r>
              <a:rPr lang="zh-CN" altLang="zh-CN" sz="4400" dirty="0">
                <a:effectLst>
                  <a:outerShdw blurRad="38100" dist="38100" dir="2700000" algn="tl">
                    <a:srgbClr val="000000">
                      <a:alpha val="43137"/>
                    </a:srgbClr>
                  </a:outerShdw>
                </a:effectLst>
                <a:latin typeface="+mj-ea"/>
              </a:rPr>
              <a:t>迭代过程</a:t>
            </a:r>
            <a:r>
              <a:rPr lang="zh-CN" altLang="en-US" sz="4400" dirty="0">
                <a:effectLst>
                  <a:outerShdw blurRad="38100" dist="38100" dir="2700000" algn="tl">
                    <a:srgbClr val="000000">
                      <a:alpha val="43137"/>
                    </a:srgbClr>
                  </a:outerShdw>
                </a:effectLst>
                <a:latin typeface="+mj-ea"/>
              </a:rPr>
              <a:t>（</a:t>
            </a:r>
            <a:r>
              <a:rPr lang="en-US" altLang="zh-CN" sz="4400" dirty="0">
                <a:effectLst>
                  <a:outerShdw blurRad="38100" dist="38100" dir="2700000" algn="tl">
                    <a:srgbClr val="000000">
                      <a:alpha val="43137"/>
                    </a:srgbClr>
                  </a:outerShdw>
                </a:effectLst>
                <a:latin typeface="+mj-ea"/>
              </a:rPr>
              <a:t>1</a:t>
            </a:r>
            <a:r>
              <a:rPr lang="zh-CN" altLang="en-US" sz="4400" dirty="0">
                <a:effectLst>
                  <a:outerShdw blurRad="38100" dist="38100" dir="2700000" algn="tl">
                    <a:srgbClr val="000000">
                      <a:alpha val="43137"/>
                    </a:srgbClr>
                  </a:outerShdw>
                </a:effectLst>
                <a:latin typeface="+mj-ea"/>
              </a:rPr>
              <a:t>）</a:t>
            </a:r>
            <a:endParaRPr lang="en-US" altLang="zh-CN" sz="4400" dirty="0">
              <a:effectLst>
                <a:outerShdw blurRad="38100" dist="38100" dir="2700000" algn="tl">
                  <a:srgbClr val="000000">
                    <a:alpha val="43137"/>
                  </a:srgbClr>
                </a:outerShdw>
              </a:effectLst>
              <a:latin typeface="+mj-ea"/>
            </a:endParaRPr>
          </a:p>
        </p:txBody>
      </p:sp>
      <p:sp>
        <p:nvSpPr>
          <p:cNvPr id="25603" name="内容占位符 2"/>
          <p:cNvSpPr>
            <a:spLocks noGrp="1"/>
          </p:cNvSpPr>
          <p:nvPr>
            <p:ph idx="1"/>
          </p:nvPr>
        </p:nvSpPr>
        <p:spPr>
          <a:xfrm>
            <a:off x="1143000" y="1447800"/>
            <a:ext cx="7791450" cy="5124450"/>
          </a:xfrm>
        </p:spPr>
        <p:txBody>
          <a:bodyPr/>
          <a:lstStyle/>
          <a:p>
            <a:r>
              <a:rPr lang="en-US" altLang="zh-CN" dirty="0"/>
              <a:t>1.</a:t>
            </a:r>
            <a:r>
              <a:rPr lang="zh-CN" altLang="zh-CN" b="1" dirty="0"/>
              <a:t>基本</a:t>
            </a:r>
            <a:r>
              <a:rPr lang="zh-CN" altLang="en-US" b="1" dirty="0"/>
              <a:t>体系结构</a:t>
            </a:r>
            <a:r>
              <a:rPr lang="zh-CN" altLang="zh-CN" b="1" dirty="0"/>
              <a:t>设计</a:t>
            </a:r>
            <a:endParaRPr lang="en-US" altLang="zh-CN" b="1" dirty="0"/>
          </a:p>
          <a:p>
            <a:pPr lvl="1"/>
            <a:r>
              <a:rPr lang="zh-CN" altLang="zh-CN" dirty="0"/>
              <a:t>通过获得的</a:t>
            </a:r>
            <a:r>
              <a:rPr lang="zh-CN" altLang="en-US" dirty="0"/>
              <a:t>体系结构</a:t>
            </a:r>
            <a:r>
              <a:rPr lang="zh-CN" altLang="zh-CN" dirty="0"/>
              <a:t>需求信息，</a:t>
            </a:r>
            <a:r>
              <a:rPr lang="zh-CN" altLang="en-US" dirty="0"/>
              <a:t>体系结构</a:t>
            </a:r>
            <a:r>
              <a:rPr lang="zh-CN" altLang="zh-CN" dirty="0"/>
              <a:t>师对</a:t>
            </a:r>
            <a:r>
              <a:rPr lang="zh-CN" altLang="en-US" dirty="0"/>
              <a:t>体系结构</a:t>
            </a:r>
            <a:r>
              <a:rPr lang="zh-CN" altLang="zh-CN" dirty="0"/>
              <a:t>进行设计并通过文档进行记录</a:t>
            </a:r>
            <a:r>
              <a:rPr lang="en-US" altLang="zh-CN" dirty="0"/>
              <a:t>.</a:t>
            </a:r>
            <a:endParaRPr lang="en-US" altLang="zh-CN" dirty="0"/>
          </a:p>
          <a:p>
            <a:pPr lvl="1"/>
            <a:r>
              <a:rPr lang="zh-CN" altLang="en-US" dirty="0"/>
              <a:t>从零开始的软件系统开发的基本体系结构设计过程：</a:t>
            </a:r>
            <a:endParaRPr lang="en-US" altLang="zh-CN" dirty="0"/>
          </a:p>
          <a:p>
            <a:pPr lvl="2"/>
            <a:r>
              <a:rPr lang="zh-CN" altLang="en-US" dirty="0"/>
              <a:t>（</a:t>
            </a:r>
            <a:r>
              <a:rPr lang="en-US" altLang="zh-CN" dirty="0"/>
              <a:t>1</a:t>
            </a:r>
            <a:r>
              <a:rPr lang="zh-CN" altLang="en-US" dirty="0"/>
              <a:t>）通过功能性需求列表，抽取出体系结构需求列表和类功能列表。</a:t>
            </a:r>
            <a:endParaRPr lang="zh-CN" altLang="en-US" dirty="0"/>
          </a:p>
          <a:p>
            <a:pPr lvl="2"/>
            <a:r>
              <a:rPr lang="zh-CN" altLang="en-US" dirty="0"/>
              <a:t>（</a:t>
            </a:r>
            <a:r>
              <a:rPr lang="en-US" altLang="zh-CN" dirty="0"/>
              <a:t>2</a:t>
            </a:r>
            <a:r>
              <a:rPr lang="zh-CN" altLang="en-US" dirty="0"/>
              <a:t>）选择进行开发的子系统，将其对应的设计子系统记录到基于功能的体系结构中。</a:t>
            </a:r>
            <a:endParaRPr lang="zh-CN" altLang="en-US" dirty="0"/>
          </a:p>
          <a:p>
            <a:pPr lvl="2"/>
            <a:r>
              <a:rPr lang="zh-CN" altLang="en-US" dirty="0"/>
              <a:t>（</a:t>
            </a:r>
            <a:r>
              <a:rPr lang="en-US" altLang="zh-CN" dirty="0"/>
              <a:t>3</a:t>
            </a:r>
            <a:r>
              <a:rPr lang="zh-CN" altLang="en-US" dirty="0"/>
              <a:t>）通过基于功能的体系结构完成并发体系结构的设计。</a:t>
            </a:r>
            <a:endParaRPr lang="zh-CN" altLang="zh-CN" b="1" dirty="0"/>
          </a:p>
          <a:p>
            <a:pPr lvl="3"/>
            <a:endParaRPr lang="en-US" altLang="zh-CN" dirty="0"/>
          </a:p>
        </p:txBody>
      </p:sp>
      <p:sp>
        <p:nvSpPr>
          <p:cNvPr id="2560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4CCCEB42-7CD4-49DB-9676-730DAADF8316}"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16632"/>
            <a:ext cx="8148637" cy="1143000"/>
          </a:xfrm>
        </p:spPr>
        <p:txBody>
          <a:bodyPr>
            <a:normAutofit/>
          </a:bodyPr>
          <a:lstStyle/>
          <a:p>
            <a:pPr>
              <a:defRPr/>
            </a:pPr>
            <a:r>
              <a:rPr lang="zh-CN" altLang="zh-CN" sz="4400" dirty="0">
                <a:effectLst>
                  <a:outerShdw blurRad="38100" dist="38100" dir="2700000" algn="tl">
                    <a:srgbClr val="000000">
                      <a:alpha val="43137"/>
                    </a:srgbClr>
                  </a:outerShdw>
                </a:effectLst>
              </a:rPr>
              <a:t>迭代过程</a:t>
            </a:r>
            <a:r>
              <a:rPr lang="zh-CN" altLang="en-US" sz="4400" dirty="0">
                <a:effectLst>
                  <a:outerShdw blurRad="38100" dist="38100" dir="2700000" algn="tl">
                    <a:srgbClr val="000000">
                      <a:alpha val="43137"/>
                    </a:srgbClr>
                  </a:outerShdw>
                </a:effectLst>
              </a:rPr>
              <a:t>（</a:t>
            </a:r>
            <a:r>
              <a:rPr lang="en-US" altLang="zh-CN" sz="4400" dirty="0">
                <a:effectLst>
                  <a:outerShdw blurRad="38100" dist="38100" dir="2700000" algn="tl">
                    <a:srgbClr val="000000">
                      <a:alpha val="43137"/>
                    </a:srgbClr>
                  </a:outerShdw>
                </a:effectLst>
              </a:rPr>
              <a:t>2</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26627" name="内容占位符 2"/>
          <p:cNvSpPr>
            <a:spLocks noGrp="1"/>
          </p:cNvSpPr>
          <p:nvPr>
            <p:ph idx="1"/>
          </p:nvPr>
        </p:nvSpPr>
        <p:spPr>
          <a:xfrm>
            <a:off x="468313" y="1447800"/>
            <a:ext cx="8466137" cy="4800600"/>
          </a:xfrm>
        </p:spPr>
        <p:txBody>
          <a:bodyPr/>
          <a:lstStyle/>
          <a:p>
            <a:r>
              <a:rPr lang="en-US" altLang="zh-CN" dirty="0"/>
              <a:t>2.</a:t>
            </a:r>
            <a:r>
              <a:rPr lang="zh-CN" altLang="en-US" b="1" dirty="0"/>
              <a:t>体系结构文档化</a:t>
            </a:r>
            <a:endParaRPr lang="en-US" altLang="zh-CN" b="1" dirty="0"/>
          </a:p>
          <a:p>
            <a:pPr lvl="1"/>
            <a:r>
              <a:rPr lang="zh-CN" altLang="en-US" dirty="0"/>
              <a:t>体系结构的设计文档可以加强软件系统的利益相关者之间的联系，从而确定出满足需求的软件体系结构，旨在方便程序员和分析师的工作。</a:t>
            </a:r>
            <a:endParaRPr lang="en-US" altLang="zh-CN" dirty="0"/>
          </a:p>
          <a:p>
            <a:pPr lvl="2"/>
            <a:r>
              <a:rPr lang="zh-CN" altLang="en-US" dirty="0"/>
              <a:t>软件体系结构的设计文档必须是完整，并且可以追溯的。</a:t>
            </a:r>
            <a:endParaRPr lang="en-US" altLang="zh-CN" dirty="0"/>
          </a:p>
          <a:p>
            <a:pPr lvl="2"/>
            <a:r>
              <a:rPr lang="zh-CN" altLang="en-US" dirty="0"/>
              <a:t>整个体系结构设计文档必须要包含一个显著的起点，同时所有的子系统也必须要链接成一个完整的集合，并提供相应的指针指向子系统内部的详细设计文档。</a:t>
            </a:r>
            <a:endParaRPr lang="zh-CN" altLang="en-US" dirty="0"/>
          </a:p>
          <a:p>
            <a:pPr lvl="2"/>
            <a:r>
              <a:rPr lang="zh-CN" altLang="en-US" dirty="0"/>
              <a:t>在体系结构设计文档中应该有一个预先规定的约束框架。使得软件能够在性能，容错性，可维护性，安全性等方面能够有良好的表现。</a:t>
            </a:r>
            <a:endParaRPr lang="zh-CN" altLang="en-US" dirty="0"/>
          </a:p>
          <a:p>
            <a:pPr lvl="2"/>
            <a:r>
              <a:rPr lang="zh-CN" altLang="en-US" dirty="0"/>
              <a:t>体系结构设计文档要向所有的利益相关者公开。</a:t>
            </a:r>
            <a:endParaRPr lang="zh-CN" altLang="en-US" dirty="0"/>
          </a:p>
          <a:p>
            <a:pPr lvl="4"/>
            <a:endParaRPr lang="en-US" altLang="zh-CN" dirty="0"/>
          </a:p>
        </p:txBody>
      </p:sp>
      <p:sp>
        <p:nvSpPr>
          <p:cNvPr id="2662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BDA9BB8F-96A5-4ACC-A342-7C1A8CD3DBA4}"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1994" y="78489"/>
            <a:ext cx="8148637" cy="1143000"/>
          </a:xfrm>
        </p:spPr>
        <p:txBody>
          <a:bodyPr>
            <a:normAutofit/>
          </a:bodyPr>
          <a:lstStyle/>
          <a:p>
            <a:pPr>
              <a:defRPr/>
            </a:pPr>
            <a:r>
              <a:rPr lang="zh-CN" altLang="zh-CN" sz="4400" dirty="0">
                <a:effectLst>
                  <a:outerShdw blurRad="38100" dist="38100" dir="2700000" algn="tl">
                    <a:srgbClr val="000000">
                      <a:alpha val="43137"/>
                    </a:srgbClr>
                  </a:outerShdw>
                </a:effectLst>
              </a:rPr>
              <a:t>迭代过程</a:t>
            </a:r>
            <a:r>
              <a:rPr lang="zh-CN" altLang="en-US" sz="4400" dirty="0">
                <a:effectLst>
                  <a:outerShdw blurRad="38100" dist="38100" dir="2700000" algn="tl">
                    <a:srgbClr val="000000">
                      <a:alpha val="43137"/>
                    </a:srgbClr>
                  </a:outerShdw>
                </a:effectLst>
              </a:rPr>
              <a:t>（</a:t>
            </a:r>
            <a:r>
              <a:rPr lang="en-US" altLang="zh-CN" sz="4400" dirty="0">
                <a:effectLst>
                  <a:outerShdw blurRad="38100" dist="38100" dir="2700000" algn="tl">
                    <a:srgbClr val="000000">
                      <a:alpha val="43137"/>
                    </a:srgbClr>
                  </a:outerShdw>
                </a:effectLst>
              </a:rPr>
              <a:t>3</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27651" name="内容占位符 2"/>
          <p:cNvSpPr>
            <a:spLocks noGrp="1"/>
          </p:cNvSpPr>
          <p:nvPr>
            <p:ph idx="1"/>
          </p:nvPr>
        </p:nvSpPr>
        <p:spPr>
          <a:xfrm>
            <a:off x="468313" y="1447800"/>
            <a:ext cx="8466137" cy="4800600"/>
          </a:xfrm>
        </p:spPr>
        <p:txBody>
          <a:bodyPr/>
          <a:lstStyle/>
          <a:p>
            <a:r>
              <a:rPr lang="en-US" altLang="zh-CN" dirty="0"/>
              <a:t>3.</a:t>
            </a:r>
            <a:r>
              <a:rPr lang="zh-CN" altLang="en-US" b="1" dirty="0"/>
              <a:t>体系结构评估</a:t>
            </a:r>
            <a:endParaRPr lang="en-US" altLang="zh-CN" b="1" dirty="0"/>
          </a:p>
          <a:p>
            <a:pPr lvl="1"/>
            <a:r>
              <a:rPr lang="zh-CN" altLang="en-US" dirty="0"/>
              <a:t>评估的目的是分析体系结构以识别潜在风险并验证设计中已经满足的质量需求。</a:t>
            </a:r>
            <a:endParaRPr lang="en-US" altLang="zh-CN" dirty="0"/>
          </a:p>
          <a:p>
            <a:pPr lvl="2"/>
            <a:endParaRPr lang="zh-CN" altLang="en-US" dirty="0"/>
          </a:p>
          <a:p>
            <a:pPr lvl="4"/>
            <a:endParaRPr lang="en-US" altLang="zh-CN" dirty="0"/>
          </a:p>
        </p:txBody>
      </p:sp>
      <p:sp>
        <p:nvSpPr>
          <p:cNvPr id="2765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766DE152-D41A-4430-92AB-8BFFC544963F}" type="slidenum">
              <a:rPr lang="en-US" altLang="zh-CN">
                <a:solidFill>
                  <a:srgbClr val="B5A788"/>
                </a:solidFill>
              </a:rPr>
            </a:fld>
            <a:endParaRPr lang="en-US" altLang="zh-CN">
              <a:solidFill>
                <a:srgbClr val="B5A788"/>
              </a:solidFill>
            </a:endParaRPr>
          </a:p>
        </p:txBody>
      </p:sp>
      <p:sp>
        <p:nvSpPr>
          <p:cNvPr id="2765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graphicFrame>
        <p:nvGraphicFramePr>
          <p:cNvPr id="27654" name="Object 1"/>
          <p:cNvGraphicFramePr>
            <a:graphicFrameLocks noChangeAspect="1"/>
          </p:cNvGraphicFramePr>
          <p:nvPr/>
        </p:nvGraphicFramePr>
        <p:xfrm>
          <a:off x="1071563" y="3143250"/>
          <a:ext cx="7429500" cy="3281363"/>
        </p:xfrm>
        <a:graphic>
          <a:graphicData uri="http://schemas.openxmlformats.org/presentationml/2006/ole">
            <mc:AlternateContent xmlns:mc="http://schemas.openxmlformats.org/markup-compatibility/2006">
              <mc:Choice xmlns:v="urn:schemas-microsoft-com:vml" Requires="v">
                <p:oleObj spid="_x0000_s40995" name="Visio" r:id="rId1" imgW="4152900" imgH="1828800" progId="Visio.Drawing.11">
                  <p:embed/>
                </p:oleObj>
              </mc:Choice>
              <mc:Fallback>
                <p:oleObj name="Visio" r:id="rId1" imgW="4152900" imgH="18288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3143250"/>
                        <a:ext cx="7429500" cy="328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5" name="矩形 6"/>
          <p:cNvSpPr>
            <a:spLocks noChangeArrowheads="1"/>
          </p:cNvSpPr>
          <p:nvPr/>
        </p:nvSpPr>
        <p:spPr bwMode="auto">
          <a:xfrm>
            <a:off x="2928938" y="6488113"/>
            <a:ext cx="38779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r>
              <a:rPr lang="zh-CN" altLang="en-US" dirty="0"/>
              <a:t>对体系结构进行评估阶段任务描述图</a:t>
            </a:r>
            <a:endParaRPr lang="zh-CN" altLang="en-US" dirty="0"/>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bwMode="auto">
          <a:xfrm>
            <a:off x="785813" y="38100"/>
            <a:ext cx="8148637" cy="1143000"/>
          </a:xfrm>
        </p:spPr>
        <p:txBody>
          <a:bodyPr vert="horz" wrap="square" lIns="91440" tIns="45720" rIns="91440" bIns="45720" numCol="1" anchorCtr="0" compatLnSpc="1"/>
          <a:lstStyle/>
          <a:p>
            <a:pPr>
              <a:defRPr/>
            </a:pPr>
            <a:r>
              <a:rPr lang="zh-CN" altLang="en-US" sz="4400" dirty="0">
                <a:effectLst>
                  <a:outerShdw blurRad="38100" dist="38100" dir="2700000" algn="tl">
                    <a:srgbClr val="000000">
                      <a:alpha val="43137"/>
                    </a:srgbClr>
                  </a:outerShdw>
                </a:effectLst>
              </a:rPr>
              <a:t>什么是体系结构的结构（</a:t>
            </a:r>
            <a:r>
              <a:rPr lang="en-US" altLang="zh-CN" sz="4400" dirty="0">
                <a:effectLst>
                  <a:outerShdw blurRad="38100" dist="38100" dir="2700000" algn="tl">
                    <a:srgbClr val="000000">
                      <a:alpha val="43137"/>
                    </a:srgbClr>
                  </a:outerShdw>
                </a:effectLst>
              </a:rPr>
              <a:t>1</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28675" name="内容占位符 2"/>
          <p:cNvSpPr>
            <a:spLocks noGrp="1"/>
          </p:cNvSpPr>
          <p:nvPr>
            <p:ph idx="1"/>
          </p:nvPr>
        </p:nvSpPr>
        <p:spPr>
          <a:xfrm>
            <a:off x="1000125" y="1447800"/>
            <a:ext cx="7934325" cy="4800600"/>
          </a:xfrm>
        </p:spPr>
        <p:txBody>
          <a:bodyPr/>
          <a:lstStyle/>
          <a:p>
            <a:r>
              <a:rPr lang="zh-CN" altLang="en-US" dirty="0"/>
              <a:t>体系结构的结构</a:t>
            </a:r>
            <a:endParaRPr lang="en-US" altLang="zh-CN" dirty="0"/>
          </a:p>
          <a:p>
            <a:pPr lvl="1"/>
            <a:r>
              <a:rPr lang="zh-CN" altLang="en-US" dirty="0"/>
              <a:t>通过一定的结构对软件的体系结构进行描述，把这样的结构称为体系结构的结构。</a:t>
            </a:r>
            <a:endParaRPr lang="en-US" altLang="zh-CN" dirty="0"/>
          </a:p>
          <a:p>
            <a:pPr lvl="1"/>
            <a:r>
              <a:rPr lang="zh-CN" altLang="en-US" dirty="0">
                <a:solidFill>
                  <a:srgbClr val="FF0000"/>
                </a:solidFill>
              </a:rPr>
              <a:t>体系结构的结构</a:t>
            </a:r>
            <a:r>
              <a:rPr lang="zh-CN" altLang="en-US" dirty="0"/>
              <a:t>描述了体系结构的基本信息，也包括了类，方法，对象，文件，库等所有需要人做的设计和编码。</a:t>
            </a:r>
            <a:endParaRPr lang="en-US" altLang="zh-CN" dirty="0"/>
          </a:p>
          <a:p>
            <a:pPr lvl="1"/>
            <a:r>
              <a:rPr lang="zh-CN" altLang="en-US" dirty="0">
                <a:solidFill>
                  <a:srgbClr val="FF0000"/>
                </a:solidFill>
              </a:rPr>
              <a:t>体系结构视图</a:t>
            </a:r>
            <a:r>
              <a:rPr lang="zh-CN" altLang="en-US" dirty="0"/>
              <a:t>是由体系结构派生而出的，它可以是体系结构的子部分，也可以是多个体系结构信息的综合。</a:t>
            </a:r>
            <a:endParaRPr lang="zh-CN" altLang="en-US" dirty="0"/>
          </a:p>
          <a:p>
            <a:pPr lvl="1"/>
            <a:endParaRPr lang="zh-CN" altLang="en-US" dirty="0"/>
          </a:p>
          <a:p>
            <a:pPr lvl="4"/>
            <a:endParaRPr lang="en-US" altLang="zh-CN" dirty="0"/>
          </a:p>
        </p:txBody>
      </p:sp>
      <p:sp>
        <p:nvSpPr>
          <p:cNvPr id="2867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A83A7771-55BC-446F-B719-B64CA7608513}" type="slidenum">
              <a:rPr lang="en-US" altLang="zh-CN">
                <a:solidFill>
                  <a:srgbClr val="B5A788"/>
                </a:solidFill>
              </a:rPr>
            </a:fld>
            <a:endParaRPr lang="en-US" altLang="zh-CN">
              <a:solidFill>
                <a:srgbClr val="B5A788"/>
              </a:solidFill>
            </a:endParaRPr>
          </a:p>
        </p:txBody>
      </p:sp>
      <p:sp>
        <p:nvSpPr>
          <p:cNvPr id="2867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标题 1"/>
          <p:cNvSpPr>
            <a:spLocks noGrp="1"/>
          </p:cNvSpPr>
          <p:nvPr>
            <p:ph type="title"/>
          </p:nvPr>
        </p:nvSpPr>
        <p:spPr bwMode="auto">
          <a:xfrm>
            <a:off x="640556" y="38100"/>
            <a:ext cx="8148637" cy="1143000"/>
          </a:xfrm>
        </p:spPr>
        <p:txBody>
          <a:bodyPr vert="horz" wrap="square" lIns="91440" tIns="45720" rIns="91440" bIns="45720" numCol="1" anchorCtr="0" compatLnSpc="1"/>
          <a:lstStyle/>
          <a:p>
            <a:pPr>
              <a:defRPr/>
            </a:pPr>
            <a:r>
              <a:rPr lang="zh-CN" altLang="en-US" sz="4400" dirty="0">
                <a:effectLst>
                  <a:outerShdw blurRad="38100" dist="38100" dir="2700000" algn="tl">
                    <a:srgbClr val="000000">
                      <a:alpha val="43137"/>
                    </a:srgbClr>
                  </a:outerShdw>
                </a:effectLst>
              </a:rPr>
              <a:t>什么是体系结构的结构（</a:t>
            </a:r>
            <a:r>
              <a:rPr lang="en-US" altLang="zh-CN" sz="4400" dirty="0">
                <a:effectLst>
                  <a:outerShdw blurRad="38100" dist="38100" dir="2700000" algn="tl">
                    <a:srgbClr val="000000">
                      <a:alpha val="43137"/>
                    </a:srgbClr>
                  </a:outerShdw>
                </a:effectLst>
              </a:rPr>
              <a:t>2</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29699" name="内容占位符 2"/>
          <p:cNvSpPr>
            <a:spLocks noGrp="1"/>
          </p:cNvSpPr>
          <p:nvPr>
            <p:ph idx="1"/>
          </p:nvPr>
        </p:nvSpPr>
        <p:spPr>
          <a:xfrm>
            <a:off x="468313" y="1447800"/>
            <a:ext cx="8466137" cy="4800600"/>
          </a:xfrm>
        </p:spPr>
        <p:txBody>
          <a:bodyPr/>
          <a:lstStyle/>
          <a:p>
            <a:r>
              <a:rPr lang="zh-CN" altLang="en-US" dirty="0"/>
              <a:t>体系结构分类</a:t>
            </a:r>
            <a:endParaRPr lang="en-US" altLang="zh-CN" dirty="0"/>
          </a:p>
          <a:p>
            <a:pPr lvl="1"/>
            <a:r>
              <a:rPr lang="zh-CN" altLang="en-US" dirty="0"/>
              <a:t>对体系结构的描述有很多种方法，其中有五种最基本的类型</a:t>
            </a:r>
            <a:endParaRPr lang="en-US" altLang="zh-CN" dirty="0"/>
          </a:p>
          <a:p>
            <a:pPr lvl="1"/>
            <a:endParaRPr lang="zh-CN" altLang="en-US" dirty="0"/>
          </a:p>
          <a:p>
            <a:pPr lvl="4"/>
            <a:endParaRPr lang="en-US" altLang="zh-CN" dirty="0"/>
          </a:p>
        </p:txBody>
      </p:sp>
      <p:sp>
        <p:nvSpPr>
          <p:cNvPr id="2970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DD842DD0-8CED-4E6B-84E5-71440BAF07B0}" type="slidenum">
              <a:rPr lang="en-US" altLang="zh-CN">
                <a:solidFill>
                  <a:srgbClr val="B5A788"/>
                </a:solidFill>
              </a:rPr>
            </a:fld>
            <a:endParaRPr lang="en-US" altLang="zh-CN">
              <a:solidFill>
                <a:srgbClr val="B5A788"/>
              </a:solidFill>
            </a:endParaRPr>
          </a:p>
        </p:txBody>
      </p:sp>
      <p:sp>
        <p:nvSpPr>
          <p:cNvPr id="2970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2970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graphicFrame>
        <p:nvGraphicFramePr>
          <p:cNvPr id="29703" name="Object 1"/>
          <p:cNvGraphicFramePr>
            <a:graphicFrameLocks noChangeAspect="1"/>
          </p:cNvGraphicFramePr>
          <p:nvPr/>
        </p:nvGraphicFramePr>
        <p:xfrm>
          <a:off x="2357438" y="2786063"/>
          <a:ext cx="4714875" cy="3741737"/>
        </p:xfrm>
        <a:graphic>
          <a:graphicData uri="http://schemas.openxmlformats.org/presentationml/2006/ole">
            <mc:AlternateContent xmlns:mc="http://schemas.openxmlformats.org/markup-compatibility/2006">
              <mc:Choice xmlns:v="urn:schemas-microsoft-com:vml" Requires="v">
                <p:oleObj spid="_x0000_s42019" name="Visio" r:id="rId1" imgW="2730500" imgH="2171700" progId="Visio.Drawing.11">
                  <p:embed/>
                </p:oleObj>
              </mc:Choice>
              <mc:Fallback>
                <p:oleObj name="Visio" r:id="rId1" imgW="2730500" imgH="21717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38" y="2786063"/>
                        <a:ext cx="471487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bwMode="auto">
          <a:xfrm>
            <a:off x="611560" y="38100"/>
            <a:ext cx="8148637" cy="1143000"/>
          </a:xfrm>
        </p:spPr>
        <p:txBody>
          <a:bodyPr vert="horz" wrap="square" lIns="91440" tIns="45720" rIns="91440" bIns="45720" numCol="1" anchorCtr="0" compatLnSpc="1"/>
          <a:lstStyle/>
          <a:p>
            <a:pPr>
              <a:defRPr/>
            </a:pPr>
            <a:r>
              <a:rPr lang="zh-CN" altLang="en-US" sz="4400" dirty="0">
                <a:effectLst>
                  <a:outerShdw blurRad="38100" dist="38100" dir="2700000" algn="tl">
                    <a:srgbClr val="000000">
                      <a:alpha val="43137"/>
                    </a:srgbClr>
                  </a:outerShdw>
                </a:effectLst>
              </a:rPr>
              <a:t>什么是体系结构的结构（</a:t>
            </a:r>
            <a:r>
              <a:rPr lang="en-US" altLang="zh-CN" sz="4400" dirty="0">
                <a:effectLst>
                  <a:outerShdw blurRad="38100" dist="38100" dir="2700000" algn="tl">
                    <a:srgbClr val="000000">
                      <a:alpha val="43137"/>
                    </a:srgbClr>
                  </a:outerShdw>
                </a:effectLst>
              </a:rPr>
              <a:t>3</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30723" name="内容占位符 2"/>
          <p:cNvSpPr>
            <a:spLocks noGrp="1"/>
          </p:cNvSpPr>
          <p:nvPr>
            <p:ph idx="1"/>
          </p:nvPr>
        </p:nvSpPr>
        <p:spPr>
          <a:xfrm>
            <a:off x="928688" y="1447800"/>
            <a:ext cx="8005762" cy="4800600"/>
          </a:xfrm>
        </p:spPr>
        <p:txBody>
          <a:bodyPr/>
          <a:lstStyle/>
          <a:p>
            <a:r>
              <a:rPr lang="zh-CN" altLang="en-US" dirty="0"/>
              <a:t>体系结构分类</a:t>
            </a:r>
            <a:endParaRPr lang="en-US" altLang="zh-CN" dirty="0"/>
          </a:p>
          <a:p>
            <a:pPr lvl="1"/>
            <a:r>
              <a:rPr lang="zh-CN" altLang="en-US" dirty="0"/>
              <a:t>基于功能的结构</a:t>
            </a:r>
            <a:endParaRPr lang="en-US" altLang="zh-CN" dirty="0"/>
          </a:p>
          <a:p>
            <a:pPr lvl="2"/>
            <a:r>
              <a:rPr lang="zh-CN" altLang="en-US" dirty="0"/>
              <a:t>对软件系统的功能性需求的分解和描述。</a:t>
            </a:r>
            <a:endParaRPr lang="en-US" altLang="zh-CN" dirty="0"/>
          </a:p>
          <a:p>
            <a:pPr lvl="2"/>
            <a:r>
              <a:rPr lang="zh-CN" altLang="en-US" dirty="0"/>
              <a:t>在此类体系结构中，“组件”是功能（域）实体；“连接件”是数据的传输实体。</a:t>
            </a:r>
            <a:endParaRPr lang="en-US" altLang="zh-CN" dirty="0"/>
          </a:p>
          <a:p>
            <a:pPr lvl="2"/>
            <a:r>
              <a:rPr lang="zh-CN" altLang="en-US" dirty="0"/>
              <a:t>这种结构有助于我们理解功能实体之间的交互，对软件系统的功能性需求有更加深刻的理解，从而设计出满足功能性需求的软件体系结构。</a:t>
            </a:r>
            <a:endParaRPr lang="en-US" altLang="zh-CN" dirty="0"/>
          </a:p>
        </p:txBody>
      </p:sp>
      <p:sp>
        <p:nvSpPr>
          <p:cNvPr id="3072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924516A3-D725-44CF-90BE-017116123B1E}" type="slidenum">
              <a:rPr lang="en-US" altLang="zh-CN">
                <a:solidFill>
                  <a:srgbClr val="B5A788"/>
                </a:solidFill>
              </a:rPr>
            </a:fld>
            <a:endParaRPr lang="en-US" altLang="zh-CN">
              <a:solidFill>
                <a:srgbClr val="B5A788"/>
              </a:solidFill>
            </a:endParaRPr>
          </a:p>
        </p:txBody>
      </p:sp>
      <p:sp>
        <p:nvSpPr>
          <p:cNvPr id="3072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072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bwMode="auto">
          <a:xfrm>
            <a:off x="683568" y="0"/>
            <a:ext cx="8148637" cy="1143000"/>
          </a:xfrm>
        </p:spPr>
        <p:txBody>
          <a:bodyPr vert="horz" wrap="square" lIns="91440" tIns="45720" rIns="91440" bIns="45720" numCol="1" anchorCtr="0" compatLnSpc="1"/>
          <a:lstStyle/>
          <a:p>
            <a:pPr>
              <a:defRPr/>
            </a:pPr>
            <a:r>
              <a:rPr lang="zh-CN" altLang="en-US" sz="4400" dirty="0">
                <a:effectLst>
                  <a:outerShdw blurRad="38100" dist="38100" dir="2700000" algn="tl">
                    <a:srgbClr val="000000">
                      <a:alpha val="43137"/>
                    </a:srgbClr>
                  </a:outerShdw>
                </a:effectLst>
              </a:rPr>
              <a:t>什么是体系结构的结构（</a:t>
            </a:r>
            <a:r>
              <a:rPr lang="en-US" altLang="zh-CN" sz="4400" dirty="0">
                <a:effectLst>
                  <a:outerShdw blurRad="38100" dist="38100" dir="2700000" algn="tl">
                    <a:srgbClr val="000000">
                      <a:alpha val="43137"/>
                    </a:srgbClr>
                  </a:outerShdw>
                </a:effectLst>
              </a:rPr>
              <a:t>4</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31747" name="内容占位符 2"/>
          <p:cNvSpPr>
            <a:spLocks noGrp="1"/>
          </p:cNvSpPr>
          <p:nvPr>
            <p:ph idx="1"/>
          </p:nvPr>
        </p:nvSpPr>
        <p:spPr>
          <a:xfrm>
            <a:off x="1000125" y="1447800"/>
            <a:ext cx="7934325" cy="4800600"/>
          </a:xfrm>
        </p:spPr>
        <p:txBody>
          <a:bodyPr/>
          <a:lstStyle/>
          <a:p>
            <a:r>
              <a:rPr lang="zh-CN" altLang="en-US" dirty="0"/>
              <a:t>体系结构的分类</a:t>
            </a:r>
            <a:endParaRPr lang="en-US" altLang="zh-CN" dirty="0"/>
          </a:p>
          <a:p>
            <a:pPr lvl="1"/>
            <a:r>
              <a:rPr lang="zh-CN" altLang="en-US" dirty="0"/>
              <a:t>基于代码的体系结构</a:t>
            </a:r>
            <a:endParaRPr lang="en-US" altLang="zh-CN" dirty="0"/>
          </a:p>
          <a:p>
            <a:pPr lvl="2"/>
            <a:r>
              <a:rPr lang="zh-CN" altLang="en-US" dirty="0"/>
              <a:t>基于代码的体系结构对软件设计过程中关键性代码的抽象描述。</a:t>
            </a:r>
            <a:endParaRPr lang="en-US" altLang="zh-CN" dirty="0"/>
          </a:p>
          <a:p>
            <a:pPr lvl="2"/>
            <a:r>
              <a:rPr lang="zh-CN" altLang="en-US" dirty="0"/>
              <a:t>在基于代码的体系结构中，“组件”是包，类，对象，过程，函数，方法等，用于在各种抽象级别封装功能的载体；“连接件”可以使控制流，传输流，共享流，调用关系，对象的实例等。</a:t>
            </a:r>
            <a:endParaRPr lang="en-US" altLang="zh-CN" dirty="0"/>
          </a:p>
          <a:p>
            <a:pPr lvl="2"/>
            <a:r>
              <a:rPr lang="zh-CN" altLang="en-US" dirty="0"/>
              <a:t>这种结构对于了解系统的可维护性，可修改性，可重用性和可移植性至关重要。</a:t>
            </a:r>
            <a:endParaRPr lang="zh-CN" altLang="en-US" dirty="0"/>
          </a:p>
          <a:p>
            <a:endParaRPr lang="en-US" altLang="zh-CN" dirty="0"/>
          </a:p>
        </p:txBody>
      </p:sp>
      <p:sp>
        <p:nvSpPr>
          <p:cNvPr id="3174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F94889AC-2DFB-4ECB-841D-A5A035F1C306}" type="slidenum">
              <a:rPr lang="en-US" altLang="zh-CN">
                <a:solidFill>
                  <a:srgbClr val="B5A788"/>
                </a:solidFill>
              </a:rPr>
            </a:fld>
            <a:endParaRPr lang="en-US" altLang="zh-CN">
              <a:solidFill>
                <a:srgbClr val="B5A788"/>
              </a:solidFill>
            </a:endParaRPr>
          </a:p>
        </p:txBody>
      </p:sp>
      <p:sp>
        <p:nvSpPr>
          <p:cNvPr id="3174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175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bwMode="auto">
          <a:xfrm>
            <a:off x="539552" y="0"/>
            <a:ext cx="8148637" cy="1143000"/>
          </a:xfrm>
        </p:spPr>
        <p:txBody>
          <a:bodyPr vert="horz" wrap="square" lIns="91440" tIns="45720" rIns="91440" bIns="45720" numCol="1" anchorCtr="0" compatLnSpc="1"/>
          <a:lstStyle/>
          <a:p>
            <a:pPr>
              <a:defRPr/>
            </a:pPr>
            <a:r>
              <a:rPr lang="zh-CN" altLang="en-US" sz="4400" dirty="0">
                <a:effectLst>
                  <a:outerShdw blurRad="38100" dist="38100" dir="2700000" algn="tl">
                    <a:srgbClr val="000000">
                      <a:alpha val="43137"/>
                    </a:srgbClr>
                  </a:outerShdw>
                </a:effectLst>
              </a:rPr>
              <a:t>什么是体系结构的结构（</a:t>
            </a:r>
            <a:r>
              <a:rPr lang="en-US" altLang="zh-CN" sz="4400" dirty="0">
                <a:effectLst>
                  <a:outerShdw blurRad="38100" dist="38100" dir="2700000" algn="tl">
                    <a:srgbClr val="000000">
                      <a:alpha val="43137"/>
                    </a:srgbClr>
                  </a:outerShdw>
                </a:effectLst>
              </a:rPr>
              <a:t>5</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32771" name="内容占位符 2"/>
          <p:cNvSpPr>
            <a:spLocks noGrp="1"/>
          </p:cNvSpPr>
          <p:nvPr>
            <p:ph idx="1"/>
          </p:nvPr>
        </p:nvSpPr>
        <p:spPr>
          <a:xfrm>
            <a:off x="1071563" y="1447800"/>
            <a:ext cx="7862887" cy="4800600"/>
          </a:xfrm>
        </p:spPr>
        <p:txBody>
          <a:bodyPr/>
          <a:lstStyle/>
          <a:p>
            <a:r>
              <a:rPr lang="zh-CN" altLang="en-US" dirty="0"/>
              <a:t>体系结构的分类</a:t>
            </a:r>
            <a:endParaRPr lang="en-US" altLang="zh-CN" dirty="0"/>
          </a:p>
          <a:p>
            <a:pPr lvl="1"/>
            <a:r>
              <a:rPr lang="zh-CN" altLang="en-US" dirty="0"/>
              <a:t>并发体系结构</a:t>
            </a:r>
            <a:endParaRPr lang="en-US" altLang="zh-CN" dirty="0"/>
          </a:p>
          <a:p>
            <a:pPr lvl="2"/>
            <a:r>
              <a:rPr lang="zh-CN" altLang="en-US" dirty="0"/>
              <a:t>并行体系结构与软件系统的并发逻辑性有关，包含着系统的线程和</a:t>
            </a:r>
            <a:r>
              <a:rPr lang="en-US" altLang="zh-CN" dirty="0"/>
              <a:t>/</a:t>
            </a:r>
            <a:r>
              <a:rPr lang="zh-CN" altLang="en-US" dirty="0"/>
              <a:t>或进程的数量，执行时间和优先级等信息。</a:t>
            </a:r>
            <a:endParaRPr lang="en-US" altLang="zh-CN" dirty="0"/>
          </a:p>
          <a:p>
            <a:pPr lvl="2"/>
            <a:r>
              <a:rPr lang="zh-CN" altLang="en-US" dirty="0"/>
              <a:t>在并行体系结构中，“组件”是可以细化为线程或者进程的并发单元；“连接件”包括有同步，优先级，数据的传输和互斥。</a:t>
            </a:r>
            <a:endParaRPr lang="en-US" altLang="zh-CN" dirty="0"/>
          </a:p>
          <a:p>
            <a:pPr lvl="2"/>
            <a:r>
              <a:rPr lang="zh-CN" altLang="en-US" dirty="0"/>
              <a:t>这种结构对软件系统的运作有着至关重要的作用，同时也有助于实现软件系统的安全性和可靠性。</a:t>
            </a:r>
            <a:endParaRPr lang="en-US" altLang="zh-CN" dirty="0"/>
          </a:p>
        </p:txBody>
      </p:sp>
      <p:sp>
        <p:nvSpPr>
          <p:cNvPr id="3277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C6EE28B0-A99E-4FBE-81B4-58443EDE1A27}" type="slidenum">
              <a:rPr lang="en-US" altLang="zh-CN">
                <a:solidFill>
                  <a:srgbClr val="B5A788"/>
                </a:solidFill>
              </a:rPr>
            </a:fld>
            <a:endParaRPr lang="en-US" altLang="zh-CN">
              <a:solidFill>
                <a:srgbClr val="B5A788"/>
              </a:solidFill>
            </a:endParaRPr>
          </a:p>
        </p:txBody>
      </p:sp>
      <p:sp>
        <p:nvSpPr>
          <p:cNvPr id="3277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277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bwMode="auto">
          <a:xfrm>
            <a:off x="611560" y="38100"/>
            <a:ext cx="8148637" cy="1143000"/>
          </a:xfrm>
        </p:spPr>
        <p:txBody>
          <a:bodyPr vert="horz" wrap="square" lIns="91440" tIns="45720" rIns="91440" bIns="45720" numCol="1" anchorCtr="0" compatLnSpc="1"/>
          <a:lstStyle/>
          <a:p>
            <a:pPr>
              <a:defRPr/>
            </a:pPr>
            <a:r>
              <a:rPr lang="zh-CN" altLang="en-US" sz="4400" dirty="0">
                <a:effectLst>
                  <a:outerShdw blurRad="38100" dist="38100" dir="2700000" algn="tl">
                    <a:srgbClr val="000000">
                      <a:alpha val="43137"/>
                    </a:srgbClr>
                  </a:outerShdw>
                </a:effectLst>
              </a:rPr>
              <a:t>什么是体系结构的结构（</a:t>
            </a:r>
            <a:r>
              <a:rPr lang="en-US" altLang="zh-CN" sz="4400" dirty="0">
                <a:effectLst>
                  <a:outerShdw blurRad="38100" dist="38100" dir="2700000" algn="tl">
                    <a:srgbClr val="000000">
                      <a:alpha val="43137"/>
                    </a:srgbClr>
                  </a:outerShdw>
                </a:effectLst>
              </a:rPr>
              <a:t>6</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33795" name="内容占位符 2"/>
          <p:cNvSpPr>
            <a:spLocks noGrp="1"/>
          </p:cNvSpPr>
          <p:nvPr>
            <p:ph idx="1"/>
          </p:nvPr>
        </p:nvSpPr>
        <p:spPr>
          <a:xfrm>
            <a:off x="1000125" y="1447800"/>
            <a:ext cx="7934325" cy="4800600"/>
          </a:xfrm>
        </p:spPr>
        <p:txBody>
          <a:bodyPr/>
          <a:lstStyle/>
          <a:p>
            <a:r>
              <a:rPr lang="zh-CN" altLang="en-US" dirty="0"/>
              <a:t>体系结构的分类</a:t>
            </a:r>
            <a:endParaRPr lang="en-US" altLang="zh-CN" dirty="0"/>
          </a:p>
          <a:p>
            <a:pPr lvl="1"/>
            <a:r>
              <a:rPr lang="zh-CN" altLang="en-US" dirty="0"/>
              <a:t>物理体系结构</a:t>
            </a:r>
            <a:endParaRPr lang="en-US" altLang="zh-CN" dirty="0"/>
          </a:p>
          <a:p>
            <a:pPr lvl="2"/>
            <a:r>
              <a:rPr lang="zh-CN" altLang="en-US" dirty="0"/>
              <a:t>物理体系结构涉及中央处理器（</a:t>
            </a:r>
            <a:r>
              <a:rPr lang="en-US" altLang="zh-CN" dirty="0"/>
              <a:t>CPU</a:t>
            </a:r>
            <a:r>
              <a:rPr lang="zh-CN" altLang="en-US" dirty="0"/>
              <a:t>），存储器，总线，网络和输入</a:t>
            </a:r>
            <a:r>
              <a:rPr lang="en-US" altLang="zh-CN" dirty="0"/>
              <a:t>/</a:t>
            </a:r>
            <a:r>
              <a:rPr lang="zh-CN" altLang="en-US" dirty="0"/>
              <a:t>输出设备。</a:t>
            </a:r>
            <a:endParaRPr lang="en-US" altLang="zh-CN" dirty="0"/>
          </a:p>
          <a:p>
            <a:pPr lvl="2"/>
            <a:r>
              <a:rPr lang="zh-CN" altLang="en-US" dirty="0"/>
              <a:t>可以清晰了解软件系统的可用性，带宽，容量等信息。</a:t>
            </a:r>
            <a:endParaRPr lang="en-US" altLang="zh-CN" dirty="0"/>
          </a:p>
        </p:txBody>
      </p:sp>
      <p:sp>
        <p:nvSpPr>
          <p:cNvPr id="3379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44338E08-BE19-48B8-9EA5-03FC5ADBCE81}" type="slidenum">
              <a:rPr lang="en-US" altLang="zh-CN">
                <a:solidFill>
                  <a:srgbClr val="B5A788"/>
                </a:solidFill>
              </a:rPr>
            </a:fld>
            <a:endParaRPr lang="en-US" altLang="zh-CN">
              <a:solidFill>
                <a:srgbClr val="B5A788"/>
              </a:solidFill>
            </a:endParaRPr>
          </a:p>
        </p:txBody>
      </p:sp>
      <p:sp>
        <p:nvSpPr>
          <p:cNvPr id="3379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379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bwMode="auto">
          <a:xfrm>
            <a:off x="611560" y="-20626"/>
            <a:ext cx="8148637" cy="1143000"/>
          </a:xfrm>
        </p:spPr>
        <p:txBody>
          <a:bodyPr vert="horz" wrap="square" lIns="91440" tIns="45720" rIns="91440" bIns="45720" numCol="1" anchorCtr="0" compatLnSpc="1"/>
          <a:lstStyle/>
          <a:p>
            <a:pPr>
              <a:defRPr/>
            </a:pPr>
            <a:r>
              <a:rPr lang="zh-CN" altLang="en-US" sz="4400" dirty="0">
                <a:effectLst>
                  <a:outerShdw blurRad="38100" dist="38100" dir="2700000" algn="tl">
                    <a:srgbClr val="000000">
                      <a:alpha val="43137"/>
                    </a:srgbClr>
                  </a:outerShdw>
                </a:effectLst>
              </a:rPr>
              <a:t>什么是体系结构的结构（</a:t>
            </a:r>
            <a:r>
              <a:rPr lang="en-US" altLang="zh-CN" sz="4400" dirty="0">
                <a:effectLst>
                  <a:outerShdw blurRad="38100" dist="38100" dir="2700000" algn="tl">
                    <a:srgbClr val="000000">
                      <a:alpha val="43137"/>
                    </a:srgbClr>
                  </a:outerShdw>
                </a:effectLst>
              </a:rPr>
              <a:t>7</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sp>
        <p:nvSpPr>
          <p:cNvPr id="34819" name="内容占位符 2"/>
          <p:cNvSpPr>
            <a:spLocks noGrp="1"/>
          </p:cNvSpPr>
          <p:nvPr>
            <p:ph idx="1"/>
          </p:nvPr>
        </p:nvSpPr>
        <p:spPr>
          <a:xfrm>
            <a:off x="1000125" y="1447800"/>
            <a:ext cx="7934325" cy="4800600"/>
          </a:xfrm>
        </p:spPr>
        <p:txBody>
          <a:bodyPr/>
          <a:lstStyle/>
          <a:p>
            <a:r>
              <a:rPr lang="zh-CN" altLang="en-US" dirty="0"/>
              <a:t>体系结构的分类</a:t>
            </a:r>
            <a:endParaRPr lang="en-US" altLang="zh-CN" dirty="0"/>
          </a:p>
          <a:p>
            <a:pPr lvl="1"/>
            <a:r>
              <a:rPr lang="zh-CN" altLang="en-US" dirty="0"/>
              <a:t>基于开发的体系结构</a:t>
            </a:r>
            <a:endParaRPr lang="en-US" altLang="zh-CN" dirty="0"/>
          </a:p>
          <a:p>
            <a:pPr lvl="2"/>
            <a:r>
              <a:rPr lang="zh-CN" altLang="en-US" dirty="0"/>
              <a:t>开发体系结构涉及文件信息和目录信息。</a:t>
            </a:r>
            <a:endParaRPr lang="en-US" altLang="zh-CN" dirty="0"/>
          </a:p>
          <a:p>
            <a:pPr lvl="2"/>
            <a:r>
              <a:rPr lang="zh-CN" altLang="en-US" dirty="0"/>
              <a:t>这种体系结构对于软件系统的管理和控制有着重要的作用，同时也可作为团队分工的重要依据。</a:t>
            </a:r>
            <a:endParaRPr lang="zh-CN" altLang="en-US" dirty="0"/>
          </a:p>
        </p:txBody>
      </p:sp>
      <p:sp>
        <p:nvSpPr>
          <p:cNvPr id="3482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39819A6F-E32A-461E-8905-421CEADCCC47}" type="slidenum">
              <a:rPr lang="en-US" altLang="zh-CN">
                <a:solidFill>
                  <a:srgbClr val="B5A788"/>
                </a:solidFill>
              </a:rPr>
            </a:fld>
            <a:endParaRPr lang="en-US" altLang="zh-CN">
              <a:solidFill>
                <a:srgbClr val="B5A788"/>
              </a:solidFill>
            </a:endParaRPr>
          </a:p>
        </p:txBody>
      </p:sp>
      <p:sp>
        <p:nvSpPr>
          <p:cNvPr id="3482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482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bwMode="auto">
          <a:xfrm>
            <a:off x="497681" y="19538"/>
            <a:ext cx="8148637" cy="1143000"/>
          </a:xfrm>
        </p:spPr>
        <p:txBody>
          <a:bodyPr vert="horz" wrap="square" lIns="91440" tIns="45720" rIns="91440" bIns="45720" numCol="1" anchorCtr="0" compatLnSpc="1"/>
          <a:lstStyle/>
          <a:p>
            <a:pPr>
              <a:defRPr/>
            </a:pPr>
            <a:r>
              <a:rPr lang="zh-CN" altLang="en-US" sz="4400" dirty="0">
                <a:effectLst>
                  <a:outerShdw blurRad="38100" dist="38100" dir="2700000" algn="tl">
                    <a:srgbClr val="000000">
                      <a:alpha val="43137"/>
                    </a:srgbClr>
                  </a:outerShdw>
                </a:effectLst>
              </a:rPr>
              <a:t>什么是体系结构的结构（</a:t>
            </a:r>
            <a:r>
              <a:rPr lang="en-US" altLang="zh-CN" sz="4400" dirty="0">
                <a:effectLst>
                  <a:outerShdw blurRad="38100" dist="38100" dir="2700000" algn="tl">
                    <a:srgbClr val="000000">
                      <a:alpha val="43137"/>
                    </a:srgbClr>
                  </a:outerShdw>
                </a:effectLst>
              </a:rPr>
              <a:t>8</a:t>
            </a:r>
            <a:r>
              <a:rPr lang="zh-CN" altLang="en-US" sz="4400" dirty="0">
                <a:effectLst>
                  <a:outerShdw blurRad="38100" dist="38100" dir="2700000" algn="tl">
                    <a:srgbClr val="000000">
                      <a:alpha val="43137"/>
                    </a:srgbClr>
                  </a:outerShdw>
                </a:effectLst>
              </a:rPr>
              <a:t>）</a:t>
            </a:r>
            <a:endParaRPr lang="en-US" altLang="zh-CN" sz="4400" dirty="0">
              <a:effectLst>
                <a:outerShdw blurRad="38100" dist="38100" dir="2700000" algn="tl">
                  <a:srgbClr val="000000">
                    <a:alpha val="43137"/>
                  </a:srgbClr>
                </a:outerShdw>
              </a:effectLst>
            </a:endParaRPr>
          </a:p>
        </p:txBody>
      </p:sp>
      <p:graphicFrame>
        <p:nvGraphicFramePr>
          <p:cNvPr id="7" name="内容占位符 6"/>
          <p:cNvGraphicFramePr>
            <a:graphicFrameLocks noGrp="1"/>
          </p:cNvGraphicFramePr>
          <p:nvPr>
            <p:ph idx="1"/>
          </p:nvPr>
        </p:nvGraphicFramePr>
        <p:xfrm>
          <a:off x="395536" y="2420888"/>
          <a:ext cx="8466138" cy="4326329"/>
        </p:xfrm>
        <a:graphic>
          <a:graphicData uri="http://schemas.openxmlformats.org/drawingml/2006/table">
            <a:tbl>
              <a:tblPr firstRow="1" bandRow="1">
                <a:tableStyleId>{5C22544A-7EE6-4342-B048-85BDC9FD1C3A}</a:tableStyleId>
              </a:tblPr>
              <a:tblGrid>
                <a:gridCol w="3000396"/>
                <a:gridCol w="5465742"/>
              </a:tblGrid>
              <a:tr h="548595">
                <a:tc>
                  <a:txBody>
                    <a:bodyPr/>
                    <a:lstStyle/>
                    <a:p>
                      <a:pPr indent="266700">
                        <a:lnSpc>
                          <a:spcPct val="150000"/>
                        </a:lnSpc>
                        <a:spcBef>
                          <a:spcPts val="600"/>
                        </a:spcBef>
                        <a:spcAft>
                          <a:spcPts val="0"/>
                        </a:spcAft>
                      </a:pPr>
                      <a:r>
                        <a:rPr lang="zh-CN" sz="2400" b="1" kern="100" dirty="0">
                          <a:latin typeface="Calibri" panose="020F0502020204030204"/>
                          <a:ea typeface="宋体" panose="02010600030101010101" pitchFamily="2" charset="-122"/>
                          <a:cs typeface="Times New Roman" panose="02020603050405020304"/>
                        </a:rPr>
                        <a:t>质量属性</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nSpc>
                          <a:spcPct val="150000"/>
                        </a:lnSpc>
                        <a:spcBef>
                          <a:spcPts val="600"/>
                        </a:spcBef>
                        <a:spcAft>
                          <a:spcPts val="0"/>
                        </a:spcAft>
                      </a:pPr>
                      <a:r>
                        <a:rPr lang="zh-CN" altLang="en-US" sz="2400" b="1" kern="100" dirty="0">
                          <a:latin typeface="Calibri" panose="020F0502020204030204"/>
                          <a:ea typeface="宋体" panose="02010600030101010101" pitchFamily="2" charset="-122"/>
                          <a:cs typeface="Times New Roman" panose="02020603050405020304"/>
                        </a:rPr>
                        <a:t>体系结构</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tc>
              </a:tr>
              <a:tr h="548595">
                <a:tc>
                  <a:txBody>
                    <a:bodyPr/>
                    <a:lstStyle/>
                    <a:p>
                      <a:pPr indent="266700">
                        <a:lnSpc>
                          <a:spcPct val="150000"/>
                        </a:lnSpc>
                        <a:spcBef>
                          <a:spcPts val="600"/>
                        </a:spcBef>
                        <a:spcAft>
                          <a:spcPts val="0"/>
                        </a:spcAft>
                      </a:pPr>
                      <a:r>
                        <a:rPr lang="zh-CN" sz="2400" kern="100">
                          <a:latin typeface="Calibri" panose="020F0502020204030204"/>
                          <a:ea typeface="宋体" panose="02010600030101010101" pitchFamily="2" charset="-122"/>
                          <a:cs typeface="Times New Roman" panose="02020603050405020304"/>
                        </a:rPr>
                        <a:t>性能</a:t>
                      </a:r>
                      <a:endParaRPr lang="zh-CN" sz="2400" kern="1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nSpc>
                          <a:spcPct val="150000"/>
                        </a:lnSpc>
                        <a:spcBef>
                          <a:spcPts val="600"/>
                        </a:spcBef>
                        <a:spcAft>
                          <a:spcPts val="0"/>
                        </a:spcAft>
                      </a:pPr>
                      <a:r>
                        <a:rPr lang="zh-CN" sz="2400" kern="100" dirty="0">
                          <a:latin typeface="Calibri" panose="020F0502020204030204"/>
                          <a:ea typeface="宋体" panose="02010600030101010101" pitchFamily="2" charset="-122"/>
                          <a:cs typeface="Times New Roman" panose="02020603050405020304"/>
                        </a:rPr>
                        <a:t>并发</a:t>
                      </a:r>
                      <a:r>
                        <a:rPr lang="zh-CN" altLang="en-US" sz="2400" kern="100" dirty="0">
                          <a:latin typeface="Calibri" panose="020F0502020204030204"/>
                          <a:ea typeface="宋体" panose="02010600030101010101" pitchFamily="2" charset="-122"/>
                          <a:cs typeface="Times New Roman" panose="02020603050405020304"/>
                        </a:rPr>
                        <a:t>体系</a:t>
                      </a:r>
                      <a:r>
                        <a:rPr lang="zh-CN" sz="2400" kern="100" dirty="0">
                          <a:latin typeface="Calibri" panose="020F0502020204030204"/>
                          <a:ea typeface="宋体" panose="02010600030101010101" pitchFamily="2" charset="-122"/>
                          <a:cs typeface="Times New Roman" panose="02020603050405020304"/>
                        </a:rPr>
                        <a:t>结构，物理</a:t>
                      </a:r>
                      <a:r>
                        <a:rPr lang="zh-CN" altLang="en-US" sz="2400" kern="100" dirty="0">
                          <a:latin typeface="Calibri" panose="020F0502020204030204"/>
                          <a:ea typeface="宋体" panose="02010600030101010101" pitchFamily="2" charset="-122"/>
                          <a:cs typeface="Times New Roman" panose="02020603050405020304"/>
                        </a:rPr>
                        <a:t>体系</a:t>
                      </a:r>
                      <a:r>
                        <a:rPr lang="zh-CN" sz="2400" kern="100" dirty="0">
                          <a:latin typeface="Calibri" panose="020F0502020204030204"/>
                          <a:ea typeface="宋体" panose="02010600030101010101" pitchFamily="2" charset="-122"/>
                          <a:cs typeface="Times New Roman" panose="02020603050405020304"/>
                        </a:rPr>
                        <a:t>结构</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tc>
              </a:tr>
              <a:tr h="548595">
                <a:tc>
                  <a:txBody>
                    <a:bodyPr/>
                    <a:lstStyle/>
                    <a:p>
                      <a:pPr indent="266700">
                        <a:lnSpc>
                          <a:spcPct val="150000"/>
                        </a:lnSpc>
                        <a:spcBef>
                          <a:spcPts val="600"/>
                        </a:spcBef>
                        <a:spcAft>
                          <a:spcPts val="0"/>
                        </a:spcAft>
                      </a:pPr>
                      <a:r>
                        <a:rPr lang="zh-CN" sz="2400" kern="100">
                          <a:latin typeface="Calibri" panose="020F0502020204030204"/>
                          <a:ea typeface="宋体" panose="02010600030101010101" pitchFamily="2" charset="-122"/>
                          <a:cs typeface="Times New Roman" panose="02020603050405020304"/>
                        </a:rPr>
                        <a:t>安全性</a:t>
                      </a:r>
                      <a:endParaRPr lang="zh-CN" sz="2400" kern="1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nSpc>
                          <a:spcPct val="150000"/>
                        </a:lnSpc>
                        <a:spcBef>
                          <a:spcPts val="600"/>
                        </a:spcBef>
                        <a:spcAft>
                          <a:spcPts val="0"/>
                        </a:spcAft>
                      </a:pPr>
                      <a:r>
                        <a:rPr lang="zh-CN" sz="2400" kern="100" dirty="0">
                          <a:latin typeface="Calibri" panose="020F0502020204030204"/>
                          <a:ea typeface="宋体" panose="02010600030101010101" pitchFamily="2" charset="-122"/>
                          <a:cs typeface="Times New Roman" panose="02020603050405020304"/>
                        </a:rPr>
                        <a:t>并发</a:t>
                      </a:r>
                      <a:r>
                        <a:rPr lang="zh-CN" altLang="en-US" sz="2400" kern="100" dirty="0">
                          <a:latin typeface="Calibri" panose="020F0502020204030204"/>
                          <a:ea typeface="宋体" panose="02010600030101010101" pitchFamily="2" charset="-122"/>
                          <a:cs typeface="Times New Roman" panose="02020603050405020304"/>
                        </a:rPr>
                        <a:t>体系</a:t>
                      </a:r>
                      <a:r>
                        <a:rPr lang="zh-CN" sz="2400" kern="100" dirty="0">
                          <a:latin typeface="Calibri" panose="020F0502020204030204"/>
                          <a:ea typeface="宋体" panose="02010600030101010101" pitchFamily="2" charset="-122"/>
                          <a:cs typeface="Times New Roman" panose="02020603050405020304"/>
                        </a:rPr>
                        <a:t>结构，基于代码的</a:t>
                      </a:r>
                      <a:r>
                        <a:rPr lang="zh-CN" altLang="en-US" sz="2400" kern="100" dirty="0">
                          <a:latin typeface="Calibri" panose="020F0502020204030204"/>
                          <a:ea typeface="宋体" panose="02010600030101010101" pitchFamily="2" charset="-122"/>
                          <a:cs typeface="Times New Roman" panose="02020603050405020304"/>
                        </a:rPr>
                        <a:t>体系</a:t>
                      </a:r>
                      <a:r>
                        <a:rPr lang="zh-CN" sz="2400" kern="100" dirty="0">
                          <a:latin typeface="Calibri" panose="020F0502020204030204"/>
                          <a:ea typeface="宋体" panose="02010600030101010101" pitchFamily="2" charset="-122"/>
                          <a:cs typeface="Times New Roman" panose="02020603050405020304"/>
                        </a:rPr>
                        <a:t>结构</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tc>
              </a:tr>
              <a:tr h="548595">
                <a:tc>
                  <a:txBody>
                    <a:bodyPr/>
                    <a:lstStyle/>
                    <a:p>
                      <a:pPr indent="266700">
                        <a:lnSpc>
                          <a:spcPct val="150000"/>
                        </a:lnSpc>
                        <a:spcBef>
                          <a:spcPts val="600"/>
                        </a:spcBef>
                        <a:spcAft>
                          <a:spcPts val="0"/>
                        </a:spcAft>
                      </a:pPr>
                      <a:r>
                        <a:rPr lang="zh-CN" sz="2400" kern="100">
                          <a:latin typeface="Calibri" panose="020F0502020204030204"/>
                          <a:ea typeface="宋体" panose="02010600030101010101" pitchFamily="2" charset="-122"/>
                          <a:cs typeface="Times New Roman" panose="02020603050405020304"/>
                        </a:rPr>
                        <a:t>可靠性</a:t>
                      </a:r>
                      <a:r>
                        <a:rPr lang="en-US" sz="2400" kern="100">
                          <a:latin typeface="Calibri" panose="020F0502020204030204"/>
                          <a:ea typeface="宋体" panose="02010600030101010101" pitchFamily="2" charset="-122"/>
                          <a:cs typeface="Times New Roman" panose="02020603050405020304"/>
                        </a:rPr>
                        <a:t>/</a:t>
                      </a:r>
                      <a:r>
                        <a:rPr lang="zh-CN" sz="2400" kern="100">
                          <a:latin typeface="Calibri" panose="020F0502020204030204"/>
                          <a:ea typeface="宋体" panose="02010600030101010101" pitchFamily="2" charset="-122"/>
                          <a:cs typeface="Times New Roman" panose="02020603050405020304"/>
                        </a:rPr>
                        <a:t>可用性</a:t>
                      </a:r>
                      <a:endParaRPr lang="zh-CN" sz="2400" kern="1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nSpc>
                          <a:spcPct val="150000"/>
                        </a:lnSpc>
                        <a:spcBef>
                          <a:spcPts val="600"/>
                        </a:spcBef>
                        <a:spcAft>
                          <a:spcPts val="0"/>
                        </a:spcAft>
                      </a:pPr>
                      <a:r>
                        <a:rPr lang="zh-CN" sz="2400" kern="100" dirty="0">
                          <a:latin typeface="Calibri" panose="020F0502020204030204"/>
                          <a:ea typeface="宋体" panose="02010600030101010101" pitchFamily="2" charset="-122"/>
                          <a:cs typeface="Times New Roman" panose="02020603050405020304"/>
                        </a:rPr>
                        <a:t>并发</a:t>
                      </a:r>
                      <a:r>
                        <a:rPr lang="zh-CN" altLang="en-US" sz="2400" kern="100" dirty="0">
                          <a:latin typeface="Calibri" panose="020F0502020204030204"/>
                          <a:ea typeface="宋体" panose="02010600030101010101" pitchFamily="2" charset="-122"/>
                          <a:cs typeface="Times New Roman" panose="02020603050405020304"/>
                        </a:rPr>
                        <a:t>体系</a:t>
                      </a:r>
                      <a:r>
                        <a:rPr lang="zh-CN" sz="2400" kern="100" dirty="0">
                          <a:latin typeface="Calibri" panose="020F0502020204030204"/>
                          <a:ea typeface="宋体" panose="02010600030101010101" pitchFamily="2" charset="-122"/>
                          <a:cs typeface="Times New Roman" panose="02020603050405020304"/>
                        </a:rPr>
                        <a:t>结构，物理</a:t>
                      </a:r>
                      <a:r>
                        <a:rPr lang="zh-CN" altLang="en-US" sz="2400" kern="100" dirty="0">
                          <a:latin typeface="Calibri" panose="020F0502020204030204"/>
                          <a:ea typeface="宋体" panose="02010600030101010101" pitchFamily="2" charset="-122"/>
                          <a:cs typeface="Times New Roman" panose="02020603050405020304"/>
                        </a:rPr>
                        <a:t>体系</a:t>
                      </a:r>
                      <a:r>
                        <a:rPr lang="zh-CN" sz="2400" kern="100" dirty="0">
                          <a:latin typeface="Calibri" panose="020F0502020204030204"/>
                          <a:ea typeface="宋体" panose="02010600030101010101" pitchFamily="2" charset="-122"/>
                          <a:cs typeface="Times New Roman" panose="02020603050405020304"/>
                        </a:rPr>
                        <a:t>结构</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tc>
              </a:tr>
              <a:tr h="1645783">
                <a:tc>
                  <a:txBody>
                    <a:bodyPr/>
                    <a:lstStyle/>
                    <a:p>
                      <a:pPr indent="266700">
                        <a:lnSpc>
                          <a:spcPct val="150000"/>
                        </a:lnSpc>
                        <a:spcBef>
                          <a:spcPts val="600"/>
                        </a:spcBef>
                        <a:spcAft>
                          <a:spcPts val="0"/>
                        </a:spcAft>
                      </a:pPr>
                      <a:r>
                        <a:rPr lang="zh-CN" sz="2400" kern="100">
                          <a:latin typeface="Calibri" panose="020F0502020204030204"/>
                          <a:ea typeface="宋体" panose="02010600030101010101" pitchFamily="2" charset="-122"/>
                          <a:cs typeface="Times New Roman" panose="02020603050405020304"/>
                        </a:rPr>
                        <a:t>可修改性</a:t>
                      </a:r>
                      <a:r>
                        <a:rPr lang="en-US" sz="2400" kern="100">
                          <a:latin typeface="Calibri" panose="020F0502020204030204"/>
                          <a:ea typeface="宋体" panose="02010600030101010101" pitchFamily="2" charset="-122"/>
                          <a:cs typeface="Times New Roman" panose="02020603050405020304"/>
                        </a:rPr>
                        <a:t>/</a:t>
                      </a:r>
                      <a:r>
                        <a:rPr lang="zh-CN" sz="2400" kern="100">
                          <a:latin typeface="Calibri" panose="020F0502020204030204"/>
                          <a:ea typeface="宋体" panose="02010600030101010101" pitchFamily="2" charset="-122"/>
                          <a:cs typeface="Times New Roman" panose="02020603050405020304"/>
                        </a:rPr>
                        <a:t>可维护性</a:t>
                      </a:r>
                      <a:endParaRPr lang="zh-CN" sz="2400" kern="1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nSpc>
                          <a:spcPct val="150000"/>
                        </a:lnSpc>
                        <a:spcBef>
                          <a:spcPts val="600"/>
                        </a:spcBef>
                        <a:spcAft>
                          <a:spcPts val="0"/>
                        </a:spcAft>
                      </a:pPr>
                      <a:r>
                        <a:rPr lang="zh-CN" sz="2400" kern="100" dirty="0">
                          <a:latin typeface="Calibri" panose="020F0502020204030204"/>
                          <a:ea typeface="宋体" panose="02010600030101010101" pitchFamily="2" charset="-122"/>
                          <a:cs typeface="Times New Roman" panose="02020603050405020304"/>
                        </a:rPr>
                        <a:t>基于</a:t>
                      </a:r>
                      <a:r>
                        <a:rPr lang="zh-CN" altLang="en-US" sz="2400" kern="100" dirty="0">
                          <a:solidFill>
                            <a:schemeClr val="dk1"/>
                          </a:solidFill>
                          <a:latin typeface="Calibri" panose="020F0502020204030204"/>
                          <a:ea typeface="宋体" panose="02010600030101010101" pitchFamily="2" charset="-122"/>
                          <a:cs typeface="Times New Roman" panose="02020603050405020304"/>
                        </a:rPr>
                        <a:t>功能的不同的体系结构与软件质量属性之间的影响关系表体系结构</a:t>
                      </a:r>
                      <a:r>
                        <a:rPr lang="zh-CN" sz="2400" kern="100" dirty="0">
                          <a:latin typeface="Calibri" panose="020F0502020204030204"/>
                          <a:ea typeface="宋体" panose="02010600030101010101" pitchFamily="2" charset="-122"/>
                          <a:cs typeface="Times New Roman" panose="02020603050405020304"/>
                        </a:rPr>
                        <a:t>，基于代码的</a:t>
                      </a:r>
                      <a:r>
                        <a:rPr lang="zh-CN" altLang="en-US" sz="2400" kern="100" dirty="0">
                          <a:latin typeface="Calibri" panose="020F0502020204030204"/>
                          <a:ea typeface="宋体" panose="02010600030101010101" pitchFamily="2" charset="-122"/>
                          <a:cs typeface="Times New Roman" panose="02020603050405020304"/>
                        </a:rPr>
                        <a:t>体系结构</a:t>
                      </a:r>
                      <a:r>
                        <a:rPr lang="zh-CN" sz="2400" kern="100" dirty="0">
                          <a:latin typeface="Calibri" panose="020F0502020204030204"/>
                          <a:ea typeface="宋体" panose="02010600030101010101" pitchFamily="2" charset="-122"/>
                          <a:cs typeface="Times New Roman" panose="02020603050405020304"/>
                        </a:rPr>
                        <a:t>，基于开发的</a:t>
                      </a:r>
                      <a:r>
                        <a:rPr lang="zh-CN" altLang="en-US" sz="2400" kern="100" dirty="0">
                          <a:latin typeface="Calibri" panose="020F0502020204030204"/>
                          <a:ea typeface="宋体" panose="02010600030101010101" pitchFamily="2" charset="-122"/>
                          <a:cs typeface="Times New Roman" panose="02020603050405020304"/>
                        </a:rPr>
                        <a:t>体系</a:t>
                      </a:r>
                      <a:r>
                        <a:rPr lang="zh-CN" sz="2400" kern="100" dirty="0">
                          <a:latin typeface="Calibri" panose="020F0502020204030204"/>
                          <a:ea typeface="宋体" panose="02010600030101010101" pitchFamily="2" charset="-122"/>
                          <a:cs typeface="Times New Roman" panose="02020603050405020304"/>
                        </a:rPr>
                        <a:t>结构</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tc>
              </a:tr>
            </a:tbl>
          </a:graphicData>
        </a:graphic>
      </p:graphicFrame>
      <p:sp>
        <p:nvSpPr>
          <p:cNvPr id="3586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465F6445-E546-4EAE-B906-944CB765C431}" type="slidenum">
              <a:rPr lang="en-US" altLang="zh-CN">
                <a:solidFill>
                  <a:srgbClr val="B5A788"/>
                </a:solidFill>
              </a:rPr>
            </a:fld>
            <a:endParaRPr lang="en-US" altLang="zh-CN">
              <a:solidFill>
                <a:srgbClr val="B5A788"/>
              </a:solidFill>
            </a:endParaRPr>
          </a:p>
        </p:txBody>
      </p:sp>
      <p:sp>
        <p:nvSpPr>
          <p:cNvPr id="3586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586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5866" name="矩形 7"/>
          <p:cNvSpPr>
            <a:spLocks noChangeArrowheads="1"/>
          </p:cNvSpPr>
          <p:nvPr/>
        </p:nvSpPr>
        <p:spPr bwMode="auto">
          <a:xfrm>
            <a:off x="1259632" y="1284903"/>
            <a:ext cx="6858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a:r>
              <a:rPr lang="zh-CN" altLang="en-US" sz="2800" dirty="0"/>
              <a:t>不同的体系结构与软件质量属性之间的影响关系表</a:t>
            </a:r>
            <a:endParaRPr lang="zh-CN" altLang="en-US" sz="2800" dirty="0"/>
          </a:p>
        </p:txBody>
      </p:sp>
    </p:spTree>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38100"/>
            <a:ext cx="8148637" cy="1143000"/>
          </a:xfrm>
        </p:spPr>
        <p:txBody>
          <a:bodyPr>
            <a:normAutofit/>
          </a:bodyPr>
          <a:lstStyle/>
          <a:p>
            <a:pPr>
              <a:defRPr/>
            </a:pPr>
            <a:r>
              <a:rPr lang="zh-CN" altLang="en-US" sz="3600" dirty="0">
                <a:effectLst>
                  <a:outerShdw blurRad="38100" dist="38100" dir="2700000" algn="tl">
                    <a:srgbClr val="000000">
                      <a:alpha val="43137"/>
                    </a:srgbClr>
                  </a:outerShdw>
                </a:effectLst>
              </a:rPr>
              <a:t>从体系结构需求出发的评估（</a:t>
            </a:r>
            <a:r>
              <a:rPr lang="en-US" altLang="zh-CN" sz="3600" dirty="0">
                <a:effectLst>
                  <a:outerShdw blurRad="38100" dist="38100" dir="2700000" algn="tl">
                    <a:srgbClr val="000000">
                      <a:alpha val="43137"/>
                    </a:srgbClr>
                  </a:outerShdw>
                </a:effectLst>
              </a:rPr>
              <a:t>1</a:t>
            </a:r>
            <a:r>
              <a:rPr lang="zh-CN" altLang="en-US" sz="3600" dirty="0">
                <a:effectLst>
                  <a:outerShdw blurRad="38100" dist="38100" dir="2700000" algn="tl">
                    <a:srgbClr val="000000">
                      <a:alpha val="43137"/>
                    </a:srgbClr>
                  </a:outerShdw>
                </a:effectLst>
              </a:rPr>
              <a:t>）</a:t>
            </a:r>
            <a:endParaRPr lang="en-US" altLang="zh-CN" sz="3600" dirty="0">
              <a:effectLst>
                <a:outerShdw blurRad="38100" dist="38100" dir="2700000" algn="tl">
                  <a:srgbClr val="000000">
                    <a:alpha val="43137"/>
                  </a:srgbClr>
                </a:outerShdw>
              </a:effectLst>
            </a:endParaRPr>
          </a:p>
        </p:txBody>
      </p:sp>
      <p:sp>
        <p:nvSpPr>
          <p:cNvPr id="36867" name="内容占位符 2"/>
          <p:cNvSpPr>
            <a:spLocks noGrp="1"/>
          </p:cNvSpPr>
          <p:nvPr>
            <p:ph idx="1"/>
          </p:nvPr>
        </p:nvSpPr>
        <p:spPr>
          <a:xfrm>
            <a:off x="1000125" y="1447800"/>
            <a:ext cx="7934325" cy="4800600"/>
          </a:xfrm>
        </p:spPr>
        <p:txBody>
          <a:bodyPr/>
          <a:lstStyle/>
          <a:p>
            <a:r>
              <a:rPr lang="zh-CN" altLang="en-US" dirty="0"/>
              <a:t>体系结构权衡分析法（</a:t>
            </a:r>
            <a:r>
              <a:rPr lang="en-US" altLang="zh-CN" dirty="0"/>
              <a:t>ATAM</a:t>
            </a:r>
            <a:r>
              <a:rPr lang="zh-CN" altLang="en-US" dirty="0"/>
              <a:t>：</a:t>
            </a:r>
            <a:r>
              <a:rPr lang="en-US" altLang="zh-CN" dirty="0"/>
              <a:t> Architecture Tradeoff Analysis Method </a:t>
            </a:r>
            <a:r>
              <a:rPr lang="zh-CN" altLang="en-US" dirty="0"/>
              <a:t>）</a:t>
            </a:r>
            <a:endParaRPr lang="en-US" altLang="zh-CN" dirty="0"/>
          </a:p>
          <a:p>
            <a:r>
              <a:rPr lang="en-US" altLang="zh-CN" dirty="0"/>
              <a:t>ATAM</a:t>
            </a:r>
            <a:r>
              <a:rPr lang="zh-CN" altLang="en-US" dirty="0"/>
              <a:t>的方法来进行权衡评估是目的是：当需要满足某一质量需求时，会使得到其他的质量需求变差，我们需要权衡这种改变是否值得。</a:t>
            </a:r>
            <a:endParaRPr lang="en-US" altLang="zh-CN" dirty="0"/>
          </a:p>
        </p:txBody>
      </p:sp>
      <p:sp>
        <p:nvSpPr>
          <p:cNvPr id="3686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9A8A79B8-AF2C-47DF-B097-1B83B94C2991}" type="slidenum">
              <a:rPr lang="en-US" altLang="zh-CN">
                <a:solidFill>
                  <a:srgbClr val="B5A788"/>
                </a:solidFill>
              </a:rPr>
            </a:fld>
            <a:endParaRPr lang="en-US" altLang="zh-CN">
              <a:solidFill>
                <a:srgbClr val="B5A788"/>
              </a:solidFill>
            </a:endParaRPr>
          </a:p>
        </p:txBody>
      </p:sp>
      <p:sp>
        <p:nvSpPr>
          <p:cNvPr id="3686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687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681" y="0"/>
            <a:ext cx="8148637" cy="1143000"/>
          </a:xfrm>
        </p:spPr>
        <p:txBody>
          <a:bodyPr>
            <a:normAutofit/>
          </a:bodyPr>
          <a:lstStyle/>
          <a:p>
            <a:pPr>
              <a:defRPr/>
            </a:pPr>
            <a:r>
              <a:rPr lang="zh-CN" altLang="en-US" sz="3600" dirty="0">
                <a:effectLst>
                  <a:outerShdw blurRad="38100" dist="38100" dir="2700000" algn="tl">
                    <a:srgbClr val="000000">
                      <a:alpha val="43137"/>
                    </a:srgbClr>
                  </a:outerShdw>
                </a:effectLst>
              </a:rPr>
              <a:t>从体系结构需求出发的评估（</a:t>
            </a:r>
            <a:r>
              <a:rPr lang="en-US" altLang="zh-CN" sz="3600" dirty="0">
                <a:effectLst>
                  <a:outerShdw blurRad="38100" dist="38100" dir="2700000" algn="tl">
                    <a:srgbClr val="000000">
                      <a:alpha val="43137"/>
                    </a:srgbClr>
                  </a:outerShdw>
                </a:effectLst>
              </a:rPr>
              <a:t>2</a:t>
            </a:r>
            <a:r>
              <a:rPr lang="zh-CN" altLang="en-US" sz="3600" dirty="0">
                <a:effectLst>
                  <a:outerShdw blurRad="38100" dist="38100" dir="2700000" algn="tl">
                    <a:srgbClr val="000000">
                      <a:alpha val="43137"/>
                    </a:srgbClr>
                  </a:outerShdw>
                </a:effectLst>
              </a:rPr>
              <a:t>）</a:t>
            </a:r>
            <a:endParaRPr lang="en-US" altLang="zh-CN" sz="3600" dirty="0">
              <a:effectLst>
                <a:outerShdw blurRad="38100" dist="38100" dir="2700000" algn="tl">
                  <a:srgbClr val="000000">
                    <a:alpha val="43137"/>
                  </a:srgbClr>
                </a:outerShdw>
              </a:effectLst>
            </a:endParaRPr>
          </a:p>
        </p:txBody>
      </p:sp>
      <p:sp>
        <p:nvSpPr>
          <p:cNvPr id="37891" name="内容占位符 2"/>
          <p:cNvSpPr>
            <a:spLocks noGrp="1"/>
          </p:cNvSpPr>
          <p:nvPr>
            <p:ph idx="1"/>
          </p:nvPr>
        </p:nvSpPr>
        <p:spPr>
          <a:xfrm>
            <a:off x="468313" y="1447800"/>
            <a:ext cx="8466137" cy="4800600"/>
          </a:xfrm>
        </p:spPr>
        <p:txBody>
          <a:bodyPr/>
          <a:lstStyle/>
          <a:p>
            <a:r>
              <a:rPr lang="en-US" altLang="zh-CN" dirty="0"/>
              <a:t>ATAM</a:t>
            </a:r>
            <a:r>
              <a:rPr lang="zh-CN" altLang="en-US" dirty="0"/>
              <a:t>的过程</a:t>
            </a:r>
            <a:endParaRPr lang="en-US" altLang="zh-CN" dirty="0"/>
          </a:p>
          <a:p>
            <a:pPr lvl="1"/>
            <a:r>
              <a:rPr lang="zh-CN" altLang="en-US" dirty="0"/>
              <a:t>一个完整地</a:t>
            </a:r>
            <a:r>
              <a:rPr lang="en-US" altLang="zh-CN" dirty="0"/>
              <a:t>ATAM</a:t>
            </a:r>
            <a:r>
              <a:rPr lang="zh-CN" altLang="en-US" dirty="0"/>
              <a:t>通常会花费三个整天，其中每天都要进行如下三个过程：场景提出、体系结构提出和将场景映射到体系结构上，并进行分析评估。</a:t>
            </a:r>
            <a:endParaRPr lang="zh-CN" altLang="en-US" dirty="0"/>
          </a:p>
          <a:p>
            <a:pPr lvl="1"/>
            <a:endParaRPr lang="en-US" altLang="zh-CN" dirty="0"/>
          </a:p>
        </p:txBody>
      </p:sp>
      <p:sp>
        <p:nvSpPr>
          <p:cNvPr id="3789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9FAFE2C0-6107-49FB-B8AC-FBA9B017EB0B}" type="slidenum">
              <a:rPr lang="en-US" altLang="zh-CN">
                <a:solidFill>
                  <a:srgbClr val="B5A788"/>
                </a:solidFill>
              </a:rPr>
            </a:fld>
            <a:endParaRPr lang="en-US" altLang="zh-CN">
              <a:solidFill>
                <a:srgbClr val="B5A788"/>
              </a:solidFill>
            </a:endParaRPr>
          </a:p>
        </p:txBody>
      </p:sp>
      <p:sp>
        <p:nvSpPr>
          <p:cNvPr id="3789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789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789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graphicFrame>
        <p:nvGraphicFramePr>
          <p:cNvPr id="37896" name="Object 1"/>
          <p:cNvGraphicFramePr>
            <a:graphicFrameLocks noChangeAspect="1"/>
          </p:cNvGraphicFramePr>
          <p:nvPr/>
        </p:nvGraphicFramePr>
        <p:xfrm>
          <a:off x="785813" y="3429000"/>
          <a:ext cx="8137525" cy="2928938"/>
        </p:xfrm>
        <a:graphic>
          <a:graphicData uri="http://schemas.openxmlformats.org/presentationml/2006/ole">
            <mc:AlternateContent xmlns:mc="http://schemas.openxmlformats.org/markup-compatibility/2006">
              <mc:Choice xmlns:v="urn:schemas-microsoft-com:vml" Requires="v">
                <p:oleObj spid="_x0000_s43043" name="Visio" r:id="rId1" imgW="7721600" imgH="2768600" progId="Visio.Drawing.11">
                  <p:embed/>
                </p:oleObj>
              </mc:Choice>
              <mc:Fallback>
                <p:oleObj name="Visio" r:id="rId1" imgW="7721600" imgH="27686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3429000"/>
                        <a:ext cx="8137525"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7" name="矩形 8"/>
          <p:cNvSpPr>
            <a:spLocks noChangeArrowheads="1"/>
          </p:cNvSpPr>
          <p:nvPr/>
        </p:nvSpPr>
        <p:spPr bwMode="auto">
          <a:xfrm>
            <a:off x="3000375" y="6488113"/>
            <a:ext cx="34517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r>
              <a:rPr lang="en-US" altLang="zh-CN" sz="2000" dirty="0"/>
              <a:t>ATAM</a:t>
            </a:r>
            <a:r>
              <a:rPr lang="zh-CN" altLang="en-US" sz="2000" dirty="0"/>
              <a:t>活动及其重要性对比图</a:t>
            </a:r>
            <a:endParaRPr lang="zh-CN" altLang="en-US" sz="2000" dirty="0"/>
          </a:p>
        </p:txBody>
      </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52400"/>
            <a:ext cx="8148637" cy="1143000"/>
          </a:xfrm>
        </p:spPr>
        <p:txBody>
          <a:bodyPr>
            <a:noAutofit/>
          </a:bodyPr>
          <a:lstStyle/>
          <a:p>
            <a:pPr>
              <a:defRPr/>
            </a:pPr>
            <a:r>
              <a:rPr lang="zh-CN" altLang="en-US" sz="3200" dirty="0">
                <a:effectLst>
                  <a:outerShdw blurRad="38100" dist="38100" dir="2700000" algn="tl">
                    <a:srgbClr val="000000">
                      <a:alpha val="43137"/>
                    </a:srgbClr>
                  </a:outerShdw>
                </a:effectLst>
              </a:rPr>
              <a:t>寻找</a:t>
            </a:r>
            <a:r>
              <a:rPr lang="en-US" sz="3200" dirty="0">
                <a:effectLst>
                  <a:outerShdw blurRad="38100" dist="38100" dir="2700000" algn="tl">
                    <a:srgbClr val="000000">
                      <a:alpha val="43137"/>
                    </a:srgbClr>
                  </a:outerShdw>
                </a:effectLst>
              </a:rPr>
              <a:t>ATAM</a:t>
            </a:r>
            <a:r>
              <a:rPr lang="zh-CN" altLang="en-US" sz="3200" dirty="0">
                <a:effectLst>
                  <a:outerShdw blurRad="38100" dist="38100" dir="2700000" algn="tl">
                    <a:srgbClr val="000000">
                      <a:alpha val="43137"/>
                    </a:srgbClr>
                  </a:outerShdw>
                </a:effectLst>
              </a:rPr>
              <a:t>中的“权衡点”和“敏感点”（</a:t>
            </a:r>
            <a:r>
              <a:rPr lang="en-US" altLang="zh-CN" sz="3200" dirty="0">
                <a:effectLst>
                  <a:outerShdw blurRad="38100" dist="38100" dir="2700000" algn="tl">
                    <a:srgbClr val="000000">
                      <a:alpha val="43137"/>
                    </a:srgbClr>
                  </a:outerShdw>
                </a:effectLst>
              </a:rPr>
              <a:t>1</a:t>
            </a:r>
            <a:r>
              <a:rPr lang="zh-CN" altLang="en-US" sz="3200" dirty="0">
                <a:effectLst>
                  <a:outerShdw blurRad="38100" dist="38100" dir="2700000" algn="tl">
                    <a:srgbClr val="000000">
                      <a:alpha val="43137"/>
                    </a:srgbClr>
                  </a:outerShdw>
                </a:effectLst>
              </a:rPr>
              <a:t>）</a:t>
            </a:r>
            <a:endParaRPr lang="en-US" altLang="zh-CN" sz="3200" dirty="0">
              <a:effectLst>
                <a:outerShdw blurRad="38100" dist="38100" dir="2700000" algn="tl">
                  <a:srgbClr val="000000">
                    <a:alpha val="43137"/>
                  </a:srgbClr>
                </a:outerShdw>
              </a:effectLst>
            </a:endParaRPr>
          </a:p>
        </p:txBody>
      </p:sp>
      <p:sp>
        <p:nvSpPr>
          <p:cNvPr id="38915" name="内容占位符 2"/>
          <p:cNvSpPr>
            <a:spLocks noGrp="1"/>
          </p:cNvSpPr>
          <p:nvPr>
            <p:ph idx="1"/>
          </p:nvPr>
        </p:nvSpPr>
        <p:spPr>
          <a:xfrm>
            <a:off x="468313" y="1447800"/>
            <a:ext cx="8466137" cy="4800600"/>
          </a:xfrm>
        </p:spPr>
        <p:txBody>
          <a:bodyPr/>
          <a:lstStyle/>
          <a:p>
            <a:r>
              <a:rPr lang="zh-CN" altLang="en-US" dirty="0"/>
              <a:t>在</a:t>
            </a:r>
            <a:r>
              <a:rPr lang="en-US" altLang="zh-CN" dirty="0"/>
              <a:t>ATAM</a:t>
            </a:r>
            <a:r>
              <a:rPr lang="zh-CN" altLang="en-US" dirty="0"/>
              <a:t>中需要评估和确定的问题区域被称为“敏感点”和“权衡点</a:t>
            </a:r>
            <a:r>
              <a:rPr lang="en-US" altLang="zh-CN" dirty="0"/>
              <a:t> </a:t>
            </a:r>
            <a:r>
              <a:rPr lang="zh-CN" altLang="en-US" dirty="0"/>
              <a:t>”。</a:t>
            </a:r>
            <a:endParaRPr lang="en-US" altLang="zh-CN" dirty="0"/>
          </a:p>
          <a:p>
            <a:pPr lvl="1"/>
            <a:r>
              <a:rPr lang="zh-CN" altLang="en-US" dirty="0"/>
              <a:t>敏感点：是体系结构中对实现特定质量场景至关重要的组件的集合。</a:t>
            </a:r>
            <a:endParaRPr lang="en-US" altLang="zh-CN" dirty="0"/>
          </a:p>
          <a:p>
            <a:pPr lvl="1"/>
            <a:r>
              <a:rPr lang="zh-CN" altLang="en-US" dirty="0"/>
              <a:t>权衡点：是对实现多个质量需求至关重要的敏感点。</a:t>
            </a:r>
            <a:endParaRPr lang="zh-CN" altLang="en-US" dirty="0"/>
          </a:p>
          <a:p>
            <a:pPr lvl="1"/>
            <a:r>
              <a:rPr lang="zh-CN" altLang="en-US" dirty="0"/>
              <a:t>可通过</a:t>
            </a:r>
            <a:r>
              <a:rPr lang="en-US" altLang="zh-CN" dirty="0"/>
              <a:t>AHP(</a:t>
            </a:r>
            <a:r>
              <a:rPr lang="zh-CN" altLang="en-US" dirty="0"/>
              <a:t>层次分析过程</a:t>
            </a:r>
            <a:r>
              <a:rPr lang="en-US" altLang="zh-CN" dirty="0"/>
              <a:t>) </a:t>
            </a:r>
            <a:r>
              <a:rPr lang="zh-CN" altLang="en-US" dirty="0"/>
              <a:t>寻找</a:t>
            </a:r>
            <a:r>
              <a:rPr lang="en-US" altLang="zh-CN" dirty="0"/>
              <a:t>ATAM</a:t>
            </a:r>
            <a:r>
              <a:rPr lang="zh-CN" altLang="en-US" dirty="0"/>
              <a:t>中的“权衡点”和“敏感点”</a:t>
            </a:r>
            <a:endParaRPr lang="en-US" altLang="zh-CN" dirty="0"/>
          </a:p>
        </p:txBody>
      </p:sp>
      <p:sp>
        <p:nvSpPr>
          <p:cNvPr id="3891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05A66A33-0495-498D-8E76-8840CE4E758C}" type="slidenum">
              <a:rPr lang="en-US" altLang="zh-CN">
                <a:solidFill>
                  <a:srgbClr val="B5A788"/>
                </a:solidFill>
              </a:rPr>
            </a:fld>
            <a:endParaRPr lang="en-US" altLang="zh-CN">
              <a:solidFill>
                <a:srgbClr val="B5A788"/>
              </a:solidFill>
            </a:endParaRPr>
          </a:p>
        </p:txBody>
      </p:sp>
      <p:sp>
        <p:nvSpPr>
          <p:cNvPr id="3891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891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891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67388"/>
            <a:ext cx="8148637" cy="1143000"/>
          </a:xfrm>
        </p:spPr>
        <p:txBody>
          <a:bodyPr>
            <a:noAutofit/>
          </a:bodyPr>
          <a:lstStyle/>
          <a:p>
            <a:pPr>
              <a:defRPr/>
            </a:pPr>
            <a:r>
              <a:rPr lang="zh-CN" altLang="en-US" sz="2800" dirty="0">
                <a:effectLst>
                  <a:outerShdw blurRad="38100" dist="38100" dir="2700000" algn="tl">
                    <a:srgbClr val="000000">
                      <a:alpha val="43137"/>
                    </a:srgbClr>
                  </a:outerShdw>
                </a:effectLst>
              </a:rPr>
              <a:t>寻找</a:t>
            </a:r>
            <a:r>
              <a:rPr lang="en-US" sz="2800" dirty="0">
                <a:effectLst>
                  <a:outerShdw blurRad="38100" dist="38100" dir="2700000" algn="tl">
                    <a:srgbClr val="000000">
                      <a:alpha val="43137"/>
                    </a:srgbClr>
                  </a:outerShdw>
                </a:effectLst>
              </a:rPr>
              <a:t>ATAM</a:t>
            </a:r>
            <a:r>
              <a:rPr lang="zh-CN" altLang="en-US" sz="2800" dirty="0">
                <a:effectLst>
                  <a:outerShdw blurRad="38100" dist="38100" dir="2700000" algn="tl">
                    <a:srgbClr val="000000">
                      <a:alpha val="43137"/>
                    </a:srgbClr>
                  </a:outerShdw>
                </a:effectLst>
              </a:rPr>
              <a:t>中的“权衡点”和“敏感点”（</a:t>
            </a:r>
            <a:r>
              <a:rPr lang="en-US" altLang="zh-CN" sz="2800" dirty="0">
                <a:effectLst>
                  <a:outerShdw blurRad="38100" dist="38100" dir="2700000" algn="tl">
                    <a:srgbClr val="000000">
                      <a:alpha val="43137"/>
                    </a:srgbClr>
                  </a:outerShdw>
                </a:effectLst>
              </a:rPr>
              <a:t>2</a:t>
            </a:r>
            <a:r>
              <a:rPr lang="zh-CN" altLang="en-US" sz="2800" dirty="0">
                <a:effectLst>
                  <a:outerShdw blurRad="38100" dist="38100" dir="2700000" algn="tl">
                    <a:srgbClr val="000000">
                      <a:alpha val="43137"/>
                    </a:srgbClr>
                  </a:outerShdw>
                </a:effectLst>
              </a:rPr>
              <a:t>）</a:t>
            </a:r>
            <a:endParaRPr lang="en-US" altLang="zh-CN" sz="2800" dirty="0">
              <a:effectLst>
                <a:outerShdw blurRad="38100" dist="38100" dir="2700000" algn="tl">
                  <a:srgbClr val="000000">
                    <a:alpha val="43137"/>
                  </a:srgbClr>
                </a:outerShdw>
              </a:effectLst>
            </a:endParaRPr>
          </a:p>
        </p:txBody>
      </p:sp>
      <p:sp>
        <p:nvSpPr>
          <p:cNvPr id="39939" name="内容占位符 2"/>
          <p:cNvSpPr>
            <a:spLocks noGrp="1"/>
          </p:cNvSpPr>
          <p:nvPr>
            <p:ph idx="1"/>
          </p:nvPr>
        </p:nvSpPr>
        <p:spPr>
          <a:xfrm>
            <a:off x="468313" y="1447800"/>
            <a:ext cx="8466137" cy="4800600"/>
          </a:xfrm>
        </p:spPr>
        <p:txBody>
          <a:bodyPr/>
          <a:lstStyle/>
          <a:p>
            <a:r>
              <a:rPr lang="zh-CN" altLang="en-US"/>
              <a:t>对“权衡点”的寻找</a:t>
            </a:r>
            <a:endParaRPr lang="zh-CN" altLang="en-US"/>
          </a:p>
          <a:p>
            <a:pPr lvl="1"/>
            <a:r>
              <a:rPr lang="zh-CN" altLang="en-US"/>
              <a:t>寻找“权衡点”的目的是为了在两种或多种质量属性之间进行权衡</a:t>
            </a:r>
            <a:endParaRPr lang="en-US" altLang="zh-CN"/>
          </a:p>
          <a:p>
            <a:pPr lvl="1"/>
            <a:r>
              <a:rPr lang="zh-CN" altLang="en-US"/>
              <a:t>可以通过绝对值和相对值两种方式来对进行衡量</a:t>
            </a:r>
            <a:endParaRPr lang="en-US" altLang="zh-CN"/>
          </a:p>
          <a:p>
            <a:r>
              <a:rPr lang="zh-CN" altLang="en-US"/>
              <a:t>对“敏感点”的寻找</a:t>
            </a:r>
            <a:endParaRPr lang="zh-CN" altLang="en-US"/>
          </a:p>
          <a:p>
            <a:pPr lvl="1"/>
            <a:r>
              <a:rPr lang="zh-CN" altLang="en-US"/>
              <a:t>寻找“敏感点”的目的是使设计师搞清楚实现质量目标时应该更关注哪种质量需求。</a:t>
            </a:r>
            <a:endParaRPr lang="en-US" altLang="zh-CN"/>
          </a:p>
          <a:p>
            <a:pPr lvl="1"/>
            <a:endParaRPr lang="zh-CN" altLang="en-US"/>
          </a:p>
          <a:p>
            <a:endParaRPr lang="en-US" altLang="zh-CN"/>
          </a:p>
        </p:txBody>
      </p:sp>
      <p:sp>
        <p:nvSpPr>
          <p:cNvPr id="3994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B8EE0E1A-2B99-4A96-B911-35F251852D58}" type="slidenum">
              <a:rPr lang="en-US" altLang="zh-CN">
                <a:solidFill>
                  <a:srgbClr val="B5A788"/>
                </a:solidFill>
              </a:rPr>
            </a:fld>
            <a:endParaRPr lang="en-US" altLang="zh-CN">
              <a:solidFill>
                <a:srgbClr val="B5A788"/>
              </a:solidFill>
            </a:endParaRPr>
          </a:p>
        </p:txBody>
      </p:sp>
      <p:sp>
        <p:nvSpPr>
          <p:cNvPr id="3994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994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3994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1837" y="188640"/>
            <a:ext cx="8148637" cy="1143000"/>
          </a:xfrm>
        </p:spPr>
        <p:txBody>
          <a:bodyPr>
            <a:noAutofit/>
          </a:bodyPr>
          <a:lstStyle/>
          <a:p>
            <a:pPr>
              <a:defRPr/>
            </a:pPr>
            <a:r>
              <a:rPr lang="zh-CN" altLang="en-US" sz="2800" dirty="0">
                <a:effectLst>
                  <a:outerShdw blurRad="38100" dist="38100" dir="2700000" algn="tl">
                    <a:srgbClr val="000000">
                      <a:alpha val="43137"/>
                    </a:srgbClr>
                  </a:outerShdw>
                </a:effectLst>
              </a:rPr>
              <a:t>寻找</a:t>
            </a:r>
            <a:r>
              <a:rPr lang="en-US" sz="2800" dirty="0">
                <a:effectLst>
                  <a:outerShdw blurRad="38100" dist="38100" dir="2700000" algn="tl">
                    <a:srgbClr val="000000">
                      <a:alpha val="43137"/>
                    </a:srgbClr>
                  </a:outerShdw>
                </a:effectLst>
              </a:rPr>
              <a:t>ATAM</a:t>
            </a:r>
            <a:r>
              <a:rPr lang="zh-CN" altLang="en-US" sz="2800" dirty="0">
                <a:effectLst>
                  <a:outerShdw blurRad="38100" dist="38100" dir="2700000" algn="tl">
                    <a:srgbClr val="000000">
                      <a:alpha val="43137"/>
                    </a:srgbClr>
                  </a:outerShdw>
                </a:effectLst>
              </a:rPr>
              <a:t>中的“权衡点”和“敏感点”（</a:t>
            </a:r>
            <a:r>
              <a:rPr lang="en-US" altLang="zh-CN" sz="2800" dirty="0">
                <a:effectLst>
                  <a:outerShdw blurRad="38100" dist="38100" dir="2700000" algn="tl">
                    <a:srgbClr val="000000">
                      <a:alpha val="43137"/>
                    </a:srgbClr>
                  </a:outerShdw>
                </a:effectLst>
              </a:rPr>
              <a:t>3</a:t>
            </a:r>
            <a:r>
              <a:rPr lang="zh-CN" altLang="en-US" sz="2800" dirty="0">
                <a:effectLst>
                  <a:outerShdw blurRad="38100" dist="38100" dir="2700000" algn="tl">
                    <a:srgbClr val="000000">
                      <a:alpha val="43137"/>
                    </a:srgbClr>
                  </a:outerShdw>
                </a:effectLst>
              </a:rPr>
              <a:t>）</a:t>
            </a:r>
            <a:endParaRPr lang="en-US" altLang="zh-CN" sz="2800" dirty="0">
              <a:effectLst>
                <a:outerShdw blurRad="38100" dist="38100" dir="2700000" algn="tl">
                  <a:srgbClr val="000000">
                    <a:alpha val="43137"/>
                  </a:srgbClr>
                </a:outerShdw>
              </a:effectLst>
            </a:endParaRPr>
          </a:p>
        </p:txBody>
      </p:sp>
      <p:sp>
        <p:nvSpPr>
          <p:cNvPr id="40963" name="内容占位符 2"/>
          <p:cNvSpPr>
            <a:spLocks noGrp="1"/>
          </p:cNvSpPr>
          <p:nvPr>
            <p:ph idx="1"/>
          </p:nvPr>
        </p:nvSpPr>
        <p:spPr>
          <a:xfrm>
            <a:off x="468313" y="1447800"/>
            <a:ext cx="8675687" cy="4981575"/>
          </a:xfrm>
        </p:spPr>
        <p:txBody>
          <a:bodyPr/>
          <a:lstStyle/>
          <a:p>
            <a:r>
              <a:rPr lang="zh-CN" altLang="en-US" dirty="0"/>
              <a:t>案例</a:t>
            </a:r>
            <a:endParaRPr lang="en-US" altLang="zh-CN" dirty="0"/>
          </a:p>
          <a:p>
            <a:pPr lvl="1"/>
            <a:r>
              <a:rPr lang="zh-CN" altLang="en-US" dirty="0"/>
              <a:t>某分布式软件系统的体系结构中，假设采用了以下四种可能的体系结构形式为基础： （</a:t>
            </a:r>
            <a:r>
              <a:rPr lang="en-US" altLang="zh-CN" dirty="0"/>
              <a:t>1</a:t>
            </a:r>
            <a:r>
              <a:rPr lang="zh-CN" altLang="en-US" dirty="0"/>
              <a:t>）三层结构的</a:t>
            </a:r>
            <a:r>
              <a:rPr lang="en-US" altLang="zh-CN" dirty="0"/>
              <a:t>J2EE(THTJ)</a:t>
            </a:r>
            <a:r>
              <a:rPr lang="zh-CN" altLang="en-US" dirty="0"/>
              <a:t>；（</a:t>
            </a:r>
            <a:r>
              <a:rPr lang="en-US" altLang="zh-CN" dirty="0"/>
              <a:t>2</a:t>
            </a:r>
            <a:r>
              <a:rPr lang="zh-CN" altLang="en-US" dirty="0"/>
              <a:t>）三层结构的</a:t>
            </a:r>
            <a:r>
              <a:rPr lang="en-US" altLang="zh-CN" dirty="0" err="1"/>
              <a:t>.Net</a:t>
            </a:r>
            <a:r>
              <a:rPr lang="en-US" altLang="zh-CN" dirty="0"/>
              <a:t>(THTD)</a:t>
            </a:r>
            <a:r>
              <a:rPr lang="zh-CN" altLang="en-US" dirty="0"/>
              <a:t>；（</a:t>
            </a:r>
            <a:r>
              <a:rPr lang="en-US" altLang="zh-CN" dirty="0"/>
              <a:t>3</a:t>
            </a:r>
            <a:r>
              <a:rPr lang="zh-CN" altLang="en-US" dirty="0"/>
              <a:t>）两层的结构</a:t>
            </a:r>
            <a:r>
              <a:rPr lang="en-US" altLang="zh-CN" dirty="0"/>
              <a:t>(TWOT)</a:t>
            </a:r>
            <a:r>
              <a:rPr lang="zh-CN" altLang="en-US" dirty="0"/>
              <a:t>；（</a:t>
            </a:r>
            <a:r>
              <a:rPr lang="en-US" altLang="zh-CN" dirty="0"/>
              <a:t>4</a:t>
            </a:r>
            <a:r>
              <a:rPr lang="zh-CN" altLang="en-US" dirty="0"/>
              <a:t>）支持分布式代理的平台结构</a:t>
            </a:r>
            <a:r>
              <a:rPr lang="en-US" altLang="zh-CN" dirty="0"/>
              <a:t>(COAB)</a:t>
            </a:r>
            <a:r>
              <a:rPr lang="zh-CN" altLang="en-US" dirty="0"/>
              <a:t>。</a:t>
            </a:r>
            <a:endParaRPr lang="zh-CN" altLang="en-US" dirty="0"/>
          </a:p>
          <a:p>
            <a:pPr lvl="1"/>
            <a:r>
              <a:rPr lang="zh-CN" altLang="en-US" dirty="0"/>
              <a:t>该系统中考虑的质量属性有：可修改性（</a:t>
            </a:r>
            <a:r>
              <a:rPr lang="en-US" altLang="zh-CN" dirty="0"/>
              <a:t>modifiability</a:t>
            </a:r>
            <a:r>
              <a:rPr lang="zh-CN" altLang="en-US" dirty="0"/>
              <a:t>），可扩展性（</a:t>
            </a:r>
            <a:r>
              <a:rPr lang="en-US" altLang="zh-CN" dirty="0"/>
              <a:t>scalability</a:t>
            </a:r>
            <a:r>
              <a:rPr lang="zh-CN" altLang="en-US" dirty="0"/>
              <a:t>），性能（</a:t>
            </a:r>
            <a:r>
              <a:rPr lang="en-US" altLang="zh-CN" dirty="0"/>
              <a:t>performance</a:t>
            </a:r>
            <a:r>
              <a:rPr lang="zh-CN" altLang="en-US" dirty="0"/>
              <a:t>），成本（</a:t>
            </a:r>
            <a:r>
              <a:rPr lang="en-US" altLang="zh-CN" dirty="0"/>
              <a:t>cost</a:t>
            </a:r>
            <a:r>
              <a:rPr lang="zh-CN" altLang="en-US" dirty="0"/>
              <a:t>），开发投入（</a:t>
            </a:r>
            <a:r>
              <a:rPr lang="en-US" altLang="zh-CN" dirty="0"/>
              <a:t>development effort</a:t>
            </a:r>
            <a:r>
              <a:rPr lang="zh-CN" altLang="en-US" dirty="0"/>
              <a:t>），可移植性（</a:t>
            </a:r>
            <a:r>
              <a:rPr lang="en-US" altLang="zh-CN" dirty="0"/>
              <a:t>portability</a:t>
            </a:r>
            <a:r>
              <a:rPr lang="zh-CN" altLang="en-US" dirty="0"/>
              <a:t>）和易安装性（</a:t>
            </a:r>
            <a:r>
              <a:rPr lang="en-US" altLang="zh-CN" dirty="0"/>
              <a:t>ease of installation</a:t>
            </a:r>
            <a:r>
              <a:rPr lang="zh-CN" altLang="en-US" dirty="0"/>
              <a:t>）。</a:t>
            </a:r>
            <a:endParaRPr lang="zh-CN" altLang="en-US" dirty="0"/>
          </a:p>
          <a:p>
            <a:pPr lvl="1"/>
            <a:endParaRPr lang="en-US" altLang="zh-CN" dirty="0"/>
          </a:p>
        </p:txBody>
      </p:sp>
      <p:sp>
        <p:nvSpPr>
          <p:cNvPr id="4096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AB572AA7-D5D2-48EC-8143-5457E082BBAD}" type="slidenum">
              <a:rPr lang="en-US" altLang="zh-CN">
                <a:solidFill>
                  <a:srgbClr val="B5A788"/>
                </a:solidFill>
              </a:rPr>
            </a:fld>
            <a:endParaRPr lang="en-US" altLang="zh-CN">
              <a:solidFill>
                <a:srgbClr val="B5A788"/>
              </a:solidFill>
            </a:endParaRPr>
          </a:p>
        </p:txBody>
      </p:sp>
      <p:sp>
        <p:nvSpPr>
          <p:cNvPr id="4096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4096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4096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188640"/>
            <a:ext cx="8148637" cy="1143000"/>
          </a:xfrm>
        </p:spPr>
        <p:txBody>
          <a:bodyPr>
            <a:noAutofit/>
          </a:bodyPr>
          <a:lstStyle/>
          <a:p>
            <a:pPr>
              <a:defRPr/>
            </a:pPr>
            <a:r>
              <a:rPr lang="zh-CN" altLang="en-US" sz="2800" dirty="0">
                <a:effectLst>
                  <a:outerShdw blurRad="38100" dist="38100" dir="2700000" algn="tl">
                    <a:srgbClr val="000000">
                      <a:alpha val="43137"/>
                    </a:srgbClr>
                  </a:outerShdw>
                </a:effectLst>
              </a:rPr>
              <a:t>寻找</a:t>
            </a:r>
            <a:r>
              <a:rPr lang="en-US" sz="2800" dirty="0">
                <a:effectLst>
                  <a:outerShdw blurRad="38100" dist="38100" dir="2700000" algn="tl">
                    <a:srgbClr val="000000">
                      <a:alpha val="43137"/>
                    </a:srgbClr>
                  </a:outerShdw>
                </a:effectLst>
              </a:rPr>
              <a:t>ATAM</a:t>
            </a:r>
            <a:r>
              <a:rPr lang="zh-CN" altLang="en-US" sz="2800" dirty="0">
                <a:effectLst>
                  <a:outerShdw blurRad="38100" dist="38100" dir="2700000" algn="tl">
                    <a:srgbClr val="000000">
                      <a:alpha val="43137"/>
                    </a:srgbClr>
                  </a:outerShdw>
                </a:effectLst>
              </a:rPr>
              <a:t>中的“权衡点”和“敏感点”（</a:t>
            </a:r>
            <a:r>
              <a:rPr lang="en-US" altLang="zh-CN" sz="2800" dirty="0">
                <a:effectLst>
                  <a:outerShdw blurRad="38100" dist="38100" dir="2700000" algn="tl">
                    <a:srgbClr val="000000">
                      <a:alpha val="43137"/>
                    </a:srgbClr>
                  </a:outerShdw>
                </a:effectLst>
              </a:rPr>
              <a:t>4</a:t>
            </a:r>
            <a:r>
              <a:rPr lang="zh-CN" altLang="en-US" sz="2800" dirty="0">
                <a:effectLst>
                  <a:outerShdw blurRad="38100" dist="38100" dir="2700000" algn="tl">
                    <a:srgbClr val="000000">
                      <a:alpha val="43137"/>
                    </a:srgbClr>
                  </a:outerShdw>
                </a:effectLst>
              </a:rPr>
              <a:t>）</a:t>
            </a:r>
            <a:endParaRPr lang="en-US" altLang="zh-CN" sz="2800" dirty="0">
              <a:effectLst>
                <a:outerShdw blurRad="38100" dist="38100" dir="2700000" algn="tl">
                  <a:srgbClr val="000000">
                    <a:alpha val="43137"/>
                  </a:srgbClr>
                </a:outerShdw>
              </a:effectLst>
            </a:endParaRPr>
          </a:p>
        </p:txBody>
      </p:sp>
      <p:sp>
        <p:nvSpPr>
          <p:cNvPr id="41987" name="内容占位符 2"/>
          <p:cNvSpPr>
            <a:spLocks noGrp="1"/>
          </p:cNvSpPr>
          <p:nvPr>
            <p:ph idx="1"/>
          </p:nvPr>
        </p:nvSpPr>
        <p:spPr>
          <a:xfrm>
            <a:off x="468313" y="1447800"/>
            <a:ext cx="8675687" cy="4981575"/>
          </a:xfrm>
        </p:spPr>
        <p:txBody>
          <a:bodyPr/>
          <a:lstStyle/>
          <a:p>
            <a:r>
              <a:rPr lang="zh-CN" altLang="en-US" dirty="0"/>
              <a:t>案例</a:t>
            </a:r>
            <a:endParaRPr lang="en-US" altLang="zh-CN" dirty="0"/>
          </a:p>
          <a:p>
            <a:pPr lvl="1"/>
            <a:r>
              <a:rPr lang="zh-CN" altLang="en-US" dirty="0"/>
              <a:t>通过绝对值和相对值来进行权衡点的寻找：</a:t>
            </a:r>
            <a:endParaRPr lang="en-US" altLang="zh-CN" dirty="0"/>
          </a:p>
          <a:p>
            <a:pPr lvl="2"/>
            <a:r>
              <a:rPr lang="zh-CN" altLang="en-US" dirty="0"/>
              <a:t>为了实现体系结构所要求的可移植的质量需求，这就导致了数据的传输性能需要从</a:t>
            </a:r>
            <a:r>
              <a:rPr lang="en-US" altLang="zh-CN" dirty="0"/>
              <a:t>4500TPS</a:t>
            </a:r>
            <a:r>
              <a:rPr lang="zh-CN" altLang="en-US" dirty="0"/>
              <a:t>（每秒的传输速率）下降到</a:t>
            </a:r>
            <a:r>
              <a:rPr lang="en-US" altLang="zh-CN" dirty="0"/>
              <a:t>3000TPS</a:t>
            </a:r>
            <a:r>
              <a:rPr lang="zh-CN" altLang="en-US" dirty="0"/>
              <a:t>，下降的值</a:t>
            </a:r>
            <a:r>
              <a:rPr lang="en-US" altLang="zh-CN" dirty="0"/>
              <a:t>1500TPS</a:t>
            </a:r>
            <a:r>
              <a:rPr lang="zh-CN" altLang="en-US" dirty="0"/>
              <a:t>可以作为性能和可移植性</a:t>
            </a:r>
            <a:r>
              <a:rPr lang="en-US" altLang="zh-CN" sz="2000" dirty="0"/>
              <a:t> </a:t>
            </a:r>
            <a:r>
              <a:rPr lang="zh-CN" altLang="en-US" dirty="0"/>
              <a:t>这两个质量需求“权衡”值。</a:t>
            </a:r>
            <a:endParaRPr lang="zh-CN" altLang="en-US" dirty="0"/>
          </a:p>
          <a:p>
            <a:pPr lvl="2"/>
            <a:r>
              <a:rPr lang="zh-CN" altLang="en-US" dirty="0"/>
              <a:t>更多的情况，我们是无法求出这种绝对值的，因此采用的是相对值来进行表示。为了支持更高的可修改性需求，我们不得不降低性能质量需求，因此确定性能对可修改性的“折衷”值为</a:t>
            </a:r>
            <a:r>
              <a:rPr lang="en-US" altLang="zh-CN" dirty="0"/>
              <a:t>0.346</a:t>
            </a:r>
            <a:r>
              <a:rPr lang="zh-CN" altLang="en-US" dirty="0"/>
              <a:t>。</a:t>
            </a:r>
            <a:endParaRPr lang="zh-CN" altLang="en-US" dirty="0"/>
          </a:p>
        </p:txBody>
      </p:sp>
      <p:sp>
        <p:nvSpPr>
          <p:cNvPr id="4198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DF618CA6-34FA-4978-AD8B-5DE622546DD6}" type="slidenum">
              <a:rPr lang="en-US" altLang="zh-CN">
                <a:solidFill>
                  <a:srgbClr val="B5A788"/>
                </a:solidFill>
              </a:rPr>
            </a:fld>
            <a:endParaRPr lang="en-US" altLang="zh-CN">
              <a:solidFill>
                <a:srgbClr val="B5A788"/>
              </a:solidFill>
            </a:endParaRPr>
          </a:p>
        </p:txBody>
      </p:sp>
      <p:sp>
        <p:nvSpPr>
          <p:cNvPr id="4198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4199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
        <p:nvSpPr>
          <p:cNvPr id="4199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endParaRPr lang="zh-CN" altLang="en-US"/>
          </a:p>
        </p:txBody>
      </p:sp>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defRPr/>
            </a:pPr>
            <a:r>
              <a:rPr lang="zh-CN" altLang="en-US" sz="2800" dirty="0">
                <a:effectLst>
                  <a:outerShdw blurRad="38100" dist="38100" dir="2700000" algn="tl">
                    <a:srgbClr val="000000">
                      <a:alpha val="43137"/>
                    </a:srgbClr>
                  </a:outerShdw>
                </a:effectLst>
              </a:rPr>
              <a:t>寻找</a:t>
            </a:r>
            <a:r>
              <a:rPr lang="en-US" sz="2800" dirty="0">
                <a:effectLst>
                  <a:outerShdw blurRad="38100" dist="38100" dir="2700000" algn="tl">
                    <a:srgbClr val="000000">
                      <a:alpha val="43137"/>
                    </a:srgbClr>
                  </a:outerShdw>
                </a:effectLst>
              </a:rPr>
              <a:t>ATAM</a:t>
            </a:r>
            <a:r>
              <a:rPr lang="zh-CN" altLang="en-US" sz="2800" dirty="0">
                <a:effectLst>
                  <a:outerShdw blurRad="38100" dist="38100" dir="2700000" algn="tl">
                    <a:srgbClr val="000000">
                      <a:alpha val="43137"/>
                    </a:srgbClr>
                  </a:outerShdw>
                </a:effectLst>
              </a:rPr>
              <a:t>中的“权衡点”和“敏感点”（</a:t>
            </a:r>
            <a:r>
              <a:rPr lang="en-US" altLang="zh-CN" sz="2800" dirty="0">
                <a:effectLst>
                  <a:outerShdw blurRad="38100" dist="38100" dir="2700000" algn="tl">
                    <a:srgbClr val="000000">
                      <a:alpha val="43137"/>
                    </a:srgbClr>
                  </a:outerShdw>
                </a:effectLst>
              </a:rPr>
              <a:t>5</a:t>
            </a:r>
            <a:r>
              <a:rPr lang="zh-CN" altLang="en-US" sz="2800" dirty="0">
                <a:effectLst>
                  <a:outerShdw blurRad="38100" dist="38100" dir="2700000" algn="tl">
                    <a:srgbClr val="000000">
                      <a:alpha val="43137"/>
                    </a:srgbClr>
                  </a:outerShdw>
                </a:effectLst>
              </a:rPr>
              <a:t>）</a:t>
            </a:r>
            <a:endParaRPr lang="zh-CN" altLang="en-US" sz="3200" dirty="0">
              <a:effectLst>
                <a:outerShdw blurRad="38100" dist="38100" dir="2700000" algn="tl">
                  <a:srgbClr val="000000">
                    <a:alpha val="43137"/>
                  </a:srgbClr>
                </a:outerShdw>
              </a:effectLst>
            </a:endParaRPr>
          </a:p>
        </p:txBody>
      </p:sp>
      <p:sp>
        <p:nvSpPr>
          <p:cNvPr id="43011" name="内容占位符 2"/>
          <p:cNvSpPr>
            <a:spLocks noGrp="1"/>
          </p:cNvSpPr>
          <p:nvPr>
            <p:ph idx="1"/>
          </p:nvPr>
        </p:nvSpPr>
        <p:spPr/>
        <p:txBody>
          <a:bodyPr/>
          <a:lstStyle/>
          <a:p>
            <a:endParaRPr lang="zh-CN" altLang="en-US"/>
          </a:p>
        </p:txBody>
      </p:sp>
      <p:sp>
        <p:nvSpPr>
          <p:cNvPr id="4301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89D86E3B-81F4-4AA9-A6BB-F6DC8D46E065}" type="slidenum">
              <a:rPr lang="en-US" altLang="zh-CN">
                <a:solidFill>
                  <a:srgbClr val="B5A788"/>
                </a:solidFill>
              </a:rPr>
            </a:fld>
            <a:endParaRPr lang="en-US" altLang="zh-CN">
              <a:solidFill>
                <a:srgbClr val="B5A788"/>
              </a:solidFill>
            </a:endParaRPr>
          </a:p>
        </p:txBody>
      </p:sp>
      <p:pic>
        <p:nvPicPr>
          <p:cNvPr id="43013" name="图片 4" descr="C:\Users\a\Desktop\大多数.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3063" y="1643063"/>
            <a:ext cx="700087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Rectangle 1"/>
          <p:cNvSpPr>
            <a:spLocks noChangeArrowheads="1"/>
          </p:cNvSpPr>
          <p:nvPr/>
        </p:nvSpPr>
        <p:spPr bwMode="auto">
          <a:xfrm>
            <a:off x="2111713" y="6400770"/>
            <a:ext cx="53142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a:r>
              <a:rPr lang="zh-CN" altLang="en-US" sz="2000" dirty="0">
                <a:latin typeface="Times New Roman" panose="02020603050405020304" pitchFamily="18" charset="0"/>
                <a:cs typeface="Times New Roman" panose="02020603050405020304" pitchFamily="18" charset="0"/>
              </a:rPr>
              <a:t>可移植性对可扩展性“权衡点”的结果示意图</a:t>
            </a:r>
            <a:endParaRPr lang="zh-CN" altLang="en-US" sz="2000" dirty="0"/>
          </a:p>
        </p:txBody>
      </p:sp>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defRPr/>
            </a:pPr>
            <a:r>
              <a:rPr lang="zh-CN" altLang="en-US" sz="2800" dirty="0">
                <a:effectLst>
                  <a:outerShdw blurRad="38100" dist="38100" dir="2700000" algn="tl">
                    <a:srgbClr val="000000">
                      <a:alpha val="43137"/>
                    </a:srgbClr>
                  </a:outerShdw>
                </a:effectLst>
              </a:rPr>
              <a:t>寻找</a:t>
            </a:r>
            <a:r>
              <a:rPr lang="en-US" sz="2800" dirty="0">
                <a:effectLst>
                  <a:outerShdw blurRad="38100" dist="38100" dir="2700000" algn="tl">
                    <a:srgbClr val="000000">
                      <a:alpha val="43137"/>
                    </a:srgbClr>
                  </a:outerShdw>
                </a:effectLst>
              </a:rPr>
              <a:t>ATAM</a:t>
            </a:r>
            <a:r>
              <a:rPr lang="zh-CN" altLang="en-US" sz="2800" dirty="0">
                <a:effectLst>
                  <a:outerShdw blurRad="38100" dist="38100" dir="2700000" algn="tl">
                    <a:srgbClr val="000000">
                      <a:alpha val="43137"/>
                    </a:srgbClr>
                  </a:outerShdw>
                </a:effectLst>
              </a:rPr>
              <a:t>中的“权衡点”和“敏感点”（</a:t>
            </a:r>
            <a:r>
              <a:rPr lang="en-US" altLang="zh-CN" sz="2800" dirty="0">
                <a:effectLst>
                  <a:outerShdw blurRad="38100" dist="38100" dir="2700000" algn="tl">
                    <a:srgbClr val="000000">
                      <a:alpha val="43137"/>
                    </a:srgbClr>
                  </a:outerShdw>
                </a:effectLst>
              </a:rPr>
              <a:t>6</a:t>
            </a:r>
            <a:r>
              <a:rPr lang="zh-CN" altLang="en-US" sz="2800" dirty="0">
                <a:effectLst>
                  <a:outerShdw blurRad="38100" dist="38100" dir="2700000" algn="tl">
                    <a:srgbClr val="000000">
                      <a:alpha val="43137"/>
                    </a:srgbClr>
                  </a:outerShdw>
                </a:effectLst>
              </a:rPr>
              <a:t>）</a:t>
            </a:r>
            <a:endParaRPr lang="zh-CN" altLang="en-US" sz="3200" dirty="0">
              <a:effectLst>
                <a:outerShdw blurRad="38100" dist="38100" dir="2700000" algn="tl">
                  <a:srgbClr val="000000">
                    <a:alpha val="43137"/>
                  </a:srgbClr>
                </a:outerShdw>
              </a:effectLst>
            </a:endParaRPr>
          </a:p>
        </p:txBody>
      </p:sp>
      <p:sp>
        <p:nvSpPr>
          <p:cNvPr id="44035" name="内容占位符 2"/>
          <p:cNvSpPr>
            <a:spLocks noGrp="1"/>
          </p:cNvSpPr>
          <p:nvPr>
            <p:ph idx="1"/>
          </p:nvPr>
        </p:nvSpPr>
        <p:spPr/>
        <p:txBody>
          <a:bodyPr/>
          <a:lstStyle/>
          <a:p>
            <a:endParaRPr lang="zh-CN" altLang="en-US"/>
          </a:p>
        </p:txBody>
      </p:sp>
      <p:sp>
        <p:nvSpPr>
          <p:cNvPr id="4403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D6352E12-E0FE-4525-A0FF-1CC1A612685B}" type="slidenum">
              <a:rPr lang="en-US" altLang="zh-CN">
                <a:solidFill>
                  <a:srgbClr val="B5A788"/>
                </a:solidFill>
              </a:rPr>
            </a:fld>
            <a:endParaRPr lang="en-US" altLang="zh-CN">
              <a:solidFill>
                <a:srgbClr val="B5A788"/>
              </a:solidFill>
            </a:endParaRPr>
          </a:p>
        </p:txBody>
      </p:sp>
      <p:pic>
        <p:nvPicPr>
          <p:cNvPr id="44037" name="图片 4" descr="C:\Users\a\Desktop\凄凄切切.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3063" y="1500188"/>
            <a:ext cx="6715125"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8" name="Rectangle 1"/>
          <p:cNvSpPr>
            <a:spLocks noChangeArrowheads="1"/>
          </p:cNvSpPr>
          <p:nvPr/>
        </p:nvSpPr>
        <p:spPr bwMode="auto">
          <a:xfrm>
            <a:off x="860713" y="6457920"/>
            <a:ext cx="7622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a:r>
              <a:rPr lang="zh-CN" altLang="en-US" sz="2000" dirty="0">
                <a:latin typeface="Calibri" panose="020F0502020204030204" pitchFamily="34" charset="0"/>
                <a:cs typeface="Times New Roman" panose="02020603050405020304" pitchFamily="18" charset="0"/>
              </a:rPr>
              <a:t>考虑质量需求权值后可移植性对可扩展性的“权衡点”结果示意图</a:t>
            </a:r>
            <a:endParaRPr lang="zh-CN" altLang="en-US" sz="2000" dirty="0"/>
          </a:p>
        </p:txBody>
      </p:sp>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defRPr/>
            </a:pPr>
            <a:r>
              <a:rPr lang="zh-CN" altLang="en-US" sz="2800" dirty="0">
                <a:effectLst>
                  <a:outerShdw blurRad="38100" dist="38100" dir="2700000" algn="tl">
                    <a:srgbClr val="000000">
                      <a:alpha val="43137"/>
                    </a:srgbClr>
                  </a:outerShdw>
                </a:effectLst>
              </a:rPr>
              <a:t>寻找</a:t>
            </a:r>
            <a:r>
              <a:rPr lang="en-US" sz="2800" dirty="0">
                <a:effectLst>
                  <a:outerShdw blurRad="38100" dist="38100" dir="2700000" algn="tl">
                    <a:srgbClr val="000000">
                      <a:alpha val="43137"/>
                    </a:srgbClr>
                  </a:outerShdw>
                </a:effectLst>
              </a:rPr>
              <a:t>ATAM</a:t>
            </a:r>
            <a:r>
              <a:rPr lang="zh-CN" altLang="en-US" sz="2800" dirty="0">
                <a:effectLst>
                  <a:outerShdw blurRad="38100" dist="38100" dir="2700000" algn="tl">
                    <a:srgbClr val="000000">
                      <a:alpha val="43137"/>
                    </a:srgbClr>
                  </a:outerShdw>
                </a:effectLst>
              </a:rPr>
              <a:t>中的“权衡点”和“敏感点”（</a:t>
            </a:r>
            <a:r>
              <a:rPr lang="en-US" altLang="zh-CN" sz="2800" dirty="0">
                <a:effectLst>
                  <a:outerShdw blurRad="38100" dist="38100" dir="2700000" algn="tl">
                    <a:srgbClr val="000000">
                      <a:alpha val="43137"/>
                    </a:srgbClr>
                  </a:outerShdw>
                </a:effectLst>
              </a:rPr>
              <a:t>7</a:t>
            </a:r>
            <a:r>
              <a:rPr lang="zh-CN" altLang="en-US" sz="2800" dirty="0">
                <a:effectLst>
                  <a:outerShdw blurRad="38100" dist="38100" dir="2700000" algn="tl">
                    <a:srgbClr val="000000">
                      <a:alpha val="43137"/>
                    </a:srgbClr>
                  </a:outerShdw>
                </a:effectLst>
              </a:rPr>
              <a:t>）</a:t>
            </a:r>
            <a:endParaRPr lang="zh-CN" altLang="en-US" sz="3200" dirty="0">
              <a:effectLst>
                <a:outerShdw blurRad="38100" dist="38100" dir="2700000" algn="tl">
                  <a:srgbClr val="000000">
                    <a:alpha val="43137"/>
                  </a:srgbClr>
                </a:outerShdw>
              </a:effectLst>
            </a:endParaRPr>
          </a:p>
        </p:txBody>
      </p:sp>
      <p:graphicFrame>
        <p:nvGraphicFramePr>
          <p:cNvPr id="5" name="内容占位符 4"/>
          <p:cNvGraphicFramePr>
            <a:graphicFrameLocks noGrp="1"/>
          </p:cNvGraphicFramePr>
          <p:nvPr>
            <p:ph idx="1"/>
          </p:nvPr>
        </p:nvGraphicFramePr>
        <p:xfrm>
          <a:off x="900050" y="2492896"/>
          <a:ext cx="7499352" cy="3752848"/>
        </p:xfrm>
        <a:graphic>
          <a:graphicData uri="http://schemas.openxmlformats.org/drawingml/2006/table">
            <a:tbl>
              <a:tblPr firstRow="1" bandRow="1">
                <a:tableStyleId>{5C22544A-7EE6-4342-B048-85BDC9FD1C3A}</a:tableStyleId>
              </a:tblPr>
              <a:tblGrid>
                <a:gridCol w="1874838"/>
                <a:gridCol w="1874838"/>
                <a:gridCol w="1874838"/>
                <a:gridCol w="1874838"/>
              </a:tblGrid>
              <a:tr h="833967">
                <a:tc>
                  <a:txBody>
                    <a:bodyPr/>
                    <a:lstStyle/>
                    <a:p>
                      <a:pPr>
                        <a:lnSpc>
                          <a:spcPct val="114000"/>
                        </a:lnSpc>
                        <a:spcAft>
                          <a:spcPts val="0"/>
                        </a:spcAft>
                      </a:pPr>
                      <a:r>
                        <a:rPr lang="zh-CN" sz="2400" b="1" dirty="0">
                          <a:latin typeface="Calibri" panose="020F0502020204030204"/>
                          <a:ea typeface="宋体" panose="02010600030101010101" pitchFamily="2" charset="-122"/>
                          <a:cs typeface="Times New Roman" panose="02020603050405020304"/>
                        </a:rPr>
                        <a:t>质量需求</a:t>
                      </a:r>
                      <a:endParaRPr lang="zh-CN" sz="2400" dirty="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zh-CN" sz="2400" b="1">
                          <a:latin typeface="Calibri" panose="020F0502020204030204"/>
                          <a:ea typeface="宋体" panose="02010600030101010101" pitchFamily="2" charset="-122"/>
                          <a:cs typeface="Times New Roman" panose="02020603050405020304"/>
                        </a:rPr>
                        <a:t>候选决定</a:t>
                      </a:r>
                      <a:r>
                        <a:rPr lang="en-US" sz="2400" b="1">
                          <a:latin typeface="Calibri" panose="020F0502020204030204"/>
                          <a:ea typeface="宋体" panose="02010600030101010101" pitchFamily="2" charset="-122"/>
                          <a:cs typeface="Times New Roman" panose="02020603050405020304"/>
                        </a:rPr>
                        <a:t> </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zh-CN" sz="2400" b="1">
                          <a:latin typeface="Calibri" panose="020F0502020204030204"/>
                          <a:ea typeface="宋体" panose="02010600030101010101" pitchFamily="2" charset="-122"/>
                          <a:cs typeface="Times New Roman" panose="02020603050405020304"/>
                        </a:rPr>
                        <a:t>候选决定</a:t>
                      </a:r>
                      <a:r>
                        <a:rPr lang="en-US" sz="2400" b="1">
                          <a:latin typeface="Calibri" panose="020F0502020204030204"/>
                          <a:ea typeface="宋体" panose="02010600030101010101" pitchFamily="2" charset="-122"/>
                          <a:cs typeface="Times New Roman" panose="02020603050405020304"/>
                        </a:rPr>
                        <a:t> </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zh-CN" sz="2400" b="1">
                          <a:latin typeface="Calibri" panose="020F0502020204030204"/>
                          <a:ea typeface="宋体" panose="02010600030101010101" pitchFamily="2" charset="-122"/>
                          <a:cs typeface="Times New Roman" panose="02020603050405020304"/>
                        </a:rPr>
                        <a:t>最小的影响值</a:t>
                      </a:r>
                      <a:r>
                        <a:rPr lang="en-US" sz="2400" b="1">
                          <a:latin typeface="Calibri" panose="020F0502020204030204"/>
                          <a:ea typeface="宋体" panose="02010600030101010101" pitchFamily="2" charset="-122"/>
                          <a:cs typeface="Times New Roman" panose="02020603050405020304"/>
                        </a:rPr>
                        <a:t> </a:t>
                      </a:r>
                      <a:endParaRPr lang="zh-CN" sz="2400">
                        <a:latin typeface="Calibri" panose="020F0502020204030204"/>
                        <a:ea typeface="宋体" panose="02010600030101010101" pitchFamily="2" charset="-122"/>
                        <a:cs typeface="Times New Roman" panose="02020603050405020304"/>
                      </a:endParaRPr>
                    </a:p>
                  </a:txBody>
                  <a:tcPr marL="68580" marR="68580" marT="0" marB="0"/>
                </a:tc>
              </a:tr>
              <a:tr h="416983">
                <a:tc>
                  <a:txBody>
                    <a:bodyPr/>
                    <a:lstStyle/>
                    <a:p>
                      <a:pPr>
                        <a:lnSpc>
                          <a:spcPct val="114000"/>
                        </a:lnSpc>
                        <a:spcAft>
                          <a:spcPts val="0"/>
                        </a:spcAft>
                      </a:pPr>
                      <a:r>
                        <a:rPr lang="zh-CN" sz="2400">
                          <a:latin typeface="Calibri" panose="020F0502020204030204"/>
                          <a:ea typeface="宋体" panose="02010600030101010101" pitchFamily="2" charset="-122"/>
                          <a:cs typeface="Times New Roman" panose="02020603050405020304"/>
                        </a:rPr>
                        <a:t>性能</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TWOT</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COAB</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9.4</a:t>
                      </a:r>
                      <a:endParaRPr lang="zh-CN" sz="2400">
                        <a:latin typeface="Calibri" panose="020F0502020204030204"/>
                        <a:ea typeface="宋体" panose="02010600030101010101" pitchFamily="2" charset="-122"/>
                        <a:cs typeface="Times New Roman" panose="02020603050405020304"/>
                      </a:endParaRPr>
                    </a:p>
                  </a:txBody>
                  <a:tcPr marL="68580" marR="68580" marT="0" marB="0"/>
                </a:tc>
              </a:tr>
              <a:tr h="416983">
                <a:tc>
                  <a:txBody>
                    <a:bodyPr/>
                    <a:lstStyle/>
                    <a:p>
                      <a:pPr>
                        <a:lnSpc>
                          <a:spcPct val="114000"/>
                        </a:lnSpc>
                        <a:spcAft>
                          <a:spcPts val="0"/>
                        </a:spcAft>
                      </a:pPr>
                      <a:r>
                        <a:rPr lang="zh-CN" sz="2400">
                          <a:latin typeface="Calibri" panose="020F0502020204030204"/>
                          <a:ea typeface="宋体" panose="02010600030101010101" pitchFamily="2" charset="-122"/>
                          <a:cs typeface="Times New Roman" panose="02020603050405020304"/>
                        </a:rPr>
                        <a:t>成本</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TWOT</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COAB</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5.1</a:t>
                      </a:r>
                      <a:endParaRPr lang="zh-CN" sz="2400">
                        <a:latin typeface="Calibri" panose="020F0502020204030204"/>
                        <a:ea typeface="宋体" panose="02010600030101010101" pitchFamily="2" charset="-122"/>
                        <a:cs typeface="Times New Roman" panose="02020603050405020304"/>
                      </a:endParaRPr>
                    </a:p>
                  </a:txBody>
                  <a:tcPr marL="68580" marR="68580" marT="0" marB="0"/>
                </a:tc>
              </a:tr>
              <a:tr h="416983">
                <a:tc>
                  <a:txBody>
                    <a:bodyPr/>
                    <a:lstStyle/>
                    <a:p>
                      <a:pPr>
                        <a:lnSpc>
                          <a:spcPct val="114000"/>
                        </a:lnSpc>
                        <a:spcAft>
                          <a:spcPts val="0"/>
                        </a:spcAft>
                      </a:pPr>
                      <a:r>
                        <a:rPr lang="zh-CN" sz="2400">
                          <a:latin typeface="Calibri" panose="020F0502020204030204"/>
                          <a:ea typeface="宋体" panose="02010600030101010101" pitchFamily="2" charset="-122"/>
                          <a:cs typeface="Times New Roman" panose="02020603050405020304"/>
                        </a:rPr>
                        <a:t>开发投入</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TWOT</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COAB</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3.1</a:t>
                      </a:r>
                      <a:endParaRPr lang="zh-CN" sz="2400">
                        <a:latin typeface="Calibri" panose="020F0502020204030204"/>
                        <a:ea typeface="宋体" panose="02010600030101010101" pitchFamily="2" charset="-122"/>
                        <a:cs typeface="Times New Roman" panose="02020603050405020304"/>
                      </a:endParaRPr>
                    </a:p>
                  </a:txBody>
                  <a:tcPr marL="68580" marR="68580" marT="0" marB="0"/>
                </a:tc>
              </a:tr>
              <a:tr h="416983">
                <a:tc>
                  <a:txBody>
                    <a:bodyPr/>
                    <a:lstStyle/>
                    <a:p>
                      <a:pPr>
                        <a:lnSpc>
                          <a:spcPct val="114000"/>
                        </a:lnSpc>
                        <a:spcAft>
                          <a:spcPts val="0"/>
                        </a:spcAft>
                      </a:pPr>
                      <a:r>
                        <a:rPr lang="zh-CN" sz="2400">
                          <a:latin typeface="Calibri" panose="020F0502020204030204"/>
                          <a:ea typeface="宋体" panose="02010600030101010101" pitchFamily="2" charset="-122"/>
                          <a:cs typeface="Times New Roman" panose="02020603050405020304"/>
                        </a:rPr>
                        <a:t>可移植性</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TWOT</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COAB</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2.4</a:t>
                      </a:r>
                      <a:endParaRPr lang="zh-CN" sz="2400">
                        <a:latin typeface="Calibri" panose="020F0502020204030204"/>
                        <a:ea typeface="宋体" panose="02010600030101010101" pitchFamily="2" charset="-122"/>
                        <a:cs typeface="Times New Roman" panose="02020603050405020304"/>
                      </a:endParaRPr>
                    </a:p>
                  </a:txBody>
                  <a:tcPr marL="68580" marR="68580" marT="0" marB="0"/>
                </a:tc>
              </a:tr>
              <a:tr h="416983">
                <a:tc>
                  <a:txBody>
                    <a:bodyPr/>
                    <a:lstStyle/>
                    <a:p>
                      <a:pPr>
                        <a:lnSpc>
                          <a:spcPct val="114000"/>
                        </a:lnSpc>
                        <a:spcAft>
                          <a:spcPts val="0"/>
                        </a:spcAft>
                      </a:pPr>
                      <a:r>
                        <a:rPr lang="zh-CN" sz="2400">
                          <a:latin typeface="Calibri" panose="020F0502020204030204"/>
                          <a:ea typeface="宋体" panose="02010600030101010101" pitchFamily="2" charset="-122"/>
                          <a:cs typeface="Times New Roman" panose="02020603050405020304"/>
                        </a:rPr>
                        <a:t>易安装性</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TWOT</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COAB</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13.5</a:t>
                      </a:r>
                      <a:endParaRPr lang="zh-CN" sz="2400">
                        <a:latin typeface="Calibri" panose="020F0502020204030204"/>
                        <a:ea typeface="宋体" panose="02010600030101010101" pitchFamily="2" charset="-122"/>
                        <a:cs typeface="Times New Roman" panose="02020603050405020304"/>
                      </a:endParaRPr>
                    </a:p>
                  </a:txBody>
                  <a:tcPr marL="68580" marR="68580" marT="0" marB="0"/>
                </a:tc>
              </a:tr>
              <a:tr h="416983">
                <a:tc>
                  <a:txBody>
                    <a:bodyPr/>
                    <a:lstStyle/>
                    <a:p>
                      <a:pPr>
                        <a:lnSpc>
                          <a:spcPct val="114000"/>
                        </a:lnSpc>
                        <a:spcAft>
                          <a:spcPts val="0"/>
                        </a:spcAft>
                      </a:pPr>
                      <a:r>
                        <a:rPr lang="zh-CN" sz="2400">
                          <a:latin typeface="Calibri" panose="020F0502020204030204"/>
                          <a:ea typeface="宋体" panose="02010600030101010101" pitchFamily="2" charset="-122"/>
                          <a:cs typeface="Times New Roman" panose="02020603050405020304"/>
                        </a:rPr>
                        <a:t>可扩展性</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COAB</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THTD</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5.7</a:t>
                      </a:r>
                      <a:endParaRPr lang="zh-CN" sz="2400">
                        <a:latin typeface="Calibri" panose="020F0502020204030204"/>
                        <a:ea typeface="宋体" panose="02010600030101010101" pitchFamily="2" charset="-122"/>
                        <a:cs typeface="Times New Roman" panose="02020603050405020304"/>
                      </a:endParaRPr>
                    </a:p>
                  </a:txBody>
                  <a:tcPr marL="68580" marR="68580" marT="0" marB="0"/>
                </a:tc>
              </a:tr>
              <a:tr h="416983">
                <a:tc>
                  <a:txBody>
                    <a:bodyPr/>
                    <a:lstStyle/>
                    <a:p>
                      <a:pPr>
                        <a:lnSpc>
                          <a:spcPct val="114000"/>
                        </a:lnSpc>
                        <a:spcAft>
                          <a:spcPts val="0"/>
                        </a:spcAft>
                      </a:pPr>
                      <a:r>
                        <a:rPr lang="zh-CN" sz="2400">
                          <a:latin typeface="Calibri" panose="020F0502020204030204"/>
                          <a:ea typeface="宋体" panose="02010600030101010101" pitchFamily="2" charset="-122"/>
                          <a:cs typeface="Times New Roman" panose="02020603050405020304"/>
                        </a:rPr>
                        <a:t>可修改性</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COAB</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a:latin typeface="Calibri" panose="020F0502020204030204"/>
                          <a:ea typeface="宋体" panose="02010600030101010101" pitchFamily="2" charset="-122"/>
                          <a:cs typeface="Times New Roman" panose="02020603050405020304"/>
                        </a:rPr>
                        <a:t>TWOT</a:t>
                      </a:r>
                      <a:endParaRPr lang="zh-CN" sz="2400">
                        <a:latin typeface="Calibri" panose="020F0502020204030204"/>
                        <a:ea typeface="宋体" panose="02010600030101010101" pitchFamily="2" charset="-122"/>
                        <a:cs typeface="Times New Roman" panose="02020603050405020304"/>
                      </a:endParaRPr>
                    </a:p>
                  </a:txBody>
                  <a:tcPr marL="68580" marR="68580" marT="0" marB="0"/>
                </a:tc>
                <a:tc>
                  <a:txBody>
                    <a:bodyPr/>
                    <a:lstStyle/>
                    <a:p>
                      <a:pPr>
                        <a:lnSpc>
                          <a:spcPct val="114000"/>
                        </a:lnSpc>
                        <a:spcAft>
                          <a:spcPts val="0"/>
                        </a:spcAft>
                      </a:pPr>
                      <a:r>
                        <a:rPr lang="en-US" sz="2400" dirty="0">
                          <a:latin typeface="Calibri" panose="020F0502020204030204"/>
                          <a:ea typeface="宋体" panose="02010600030101010101" pitchFamily="2" charset="-122"/>
                          <a:cs typeface="Times New Roman" panose="02020603050405020304"/>
                        </a:rPr>
                        <a:t>3.9</a:t>
                      </a:r>
                      <a:endParaRPr lang="zh-CN" sz="2400" dirty="0">
                        <a:latin typeface="Calibri" panose="020F0502020204030204"/>
                        <a:ea typeface="宋体" panose="02010600030101010101" pitchFamily="2" charset="-122"/>
                        <a:cs typeface="Times New Roman" panose="02020603050405020304"/>
                      </a:endParaRPr>
                    </a:p>
                  </a:txBody>
                  <a:tcPr marL="68580" marR="68580" marT="0" marB="0"/>
                </a:tc>
              </a:tr>
            </a:tbl>
          </a:graphicData>
        </a:graphic>
      </p:graphicFrame>
      <p:sp>
        <p:nvSpPr>
          <p:cNvPr id="45106"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441B285A-7CD2-4CB5-9650-DA858EE6FD2E}" type="slidenum">
              <a:rPr lang="en-US" altLang="zh-CN">
                <a:solidFill>
                  <a:srgbClr val="B5A788"/>
                </a:solidFill>
              </a:rPr>
            </a:fld>
            <a:endParaRPr lang="en-US" altLang="zh-CN">
              <a:solidFill>
                <a:srgbClr val="B5A788"/>
              </a:solidFill>
            </a:endParaRPr>
          </a:p>
        </p:txBody>
      </p:sp>
      <p:sp>
        <p:nvSpPr>
          <p:cNvPr id="45107" name="Rectangle 2"/>
          <p:cNvSpPr>
            <a:spLocks noChangeArrowheads="1"/>
          </p:cNvSpPr>
          <p:nvPr/>
        </p:nvSpPr>
        <p:spPr bwMode="auto">
          <a:xfrm>
            <a:off x="1907495" y="1664191"/>
            <a:ext cx="58400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a:r>
              <a:rPr lang="zh-CN" altLang="en-US" sz="2000" dirty="0">
                <a:latin typeface="Times New Roman" panose="02020603050405020304" pitchFamily="18" charset="0"/>
                <a:cs typeface="Times New Roman" panose="02020603050405020304" pitchFamily="18" charset="0"/>
              </a:rPr>
              <a:t>对分</a:t>
            </a:r>
            <a:r>
              <a:rPr lang="zh-CN" altLang="en-US" sz="2000" dirty="0">
                <a:latin typeface="Calibri" panose="020F0502020204030204" pitchFamily="34" charset="0"/>
                <a:cs typeface="Times New Roman" panose="02020603050405020304" pitchFamily="18" charset="0"/>
              </a:rPr>
              <a:t>布式软件系统进行“敏感点”寻找后的结果</a:t>
            </a:r>
            <a:endParaRPr lang="zh-CN" altLang="en-US" sz="2000" dirty="0"/>
          </a:p>
        </p:txBody>
      </p:sp>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a:t>目前软件设计方法的主要缺点</a:t>
            </a:r>
            <a:endParaRPr lang="zh-CN" altLang="en-US"/>
          </a:p>
        </p:txBody>
      </p:sp>
      <p:sp>
        <p:nvSpPr>
          <p:cNvPr id="614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982CFC9-1670-432B-89B4-09A1514188DF}"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614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4BFB266-8D7F-4EEB-BCBC-74577FE9589C}" type="datetime1">
              <a:rPr lang="zh-CN" altLang="en-US"/>
            </a:fld>
            <a:endParaRPr lang="zh-CN" altLang="en-US"/>
          </a:p>
        </p:txBody>
      </p:sp>
      <p:grpSp>
        <p:nvGrpSpPr>
          <p:cNvPr id="602115" name="Group 3"/>
          <p:cNvGrpSpPr/>
          <p:nvPr/>
        </p:nvGrpSpPr>
        <p:grpSpPr bwMode="auto">
          <a:xfrm>
            <a:off x="971550" y="1987550"/>
            <a:ext cx="4032250" cy="2520950"/>
            <a:chOff x="612" y="1252"/>
            <a:chExt cx="2540" cy="1588"/>
          </a:xfrm>
        </p:grpSpPr>
        <p:sp>
          <p:nvSpPr>
            <p:cNvPr id="6149" name="AutoShape 4"/>
            <p:cNvSpPr>
              <a:spLocks noChangeArrowheads="1"/>
            </p:cNvSpPr>
            <p:nvPr/>
          </p:nvSpPr>
          <p:spPr bwMode="auto">
            <a:xfrm>
              <a:off x="612" y="1252"/>
              <a:ext cx="2540" cy="1588"/>
            </a:xfrm>
            <a:prstGeom prst="irregularSeal2">
              <a:avLst/>
            </a:prstGeom>
            <a:solidFill>
              <a:srgbClr val="00FFFF"/>
            </a:solidFill>
            <a:ln w="38100">
              <a:solidFill>
                <a:srgbClr val="00CC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chemeClr val="bg2"/>
                </a:solidFill>
              </a:endParaRPr>
            </a:p>
          </p:txBody>
        </p:sp>
        <p:sp>
          <p:nvSpPr>
            <p:cNvPr id="6150" name="WordArt 5"/>
            <p:cNvSpPr>
              <a:spLocks noChangeArrowheads="1" noChangeShapeType="1" noTextEdit="1"/>
            </p:cNvSpPr>
            <p:nvPr/>
          </p:nvSpPr>
          <p:spPr bwMode="auto">
            <a:xfrm>
              <a:off x="1174" y="1801"/>
              <a:ext cx="1406" cy="771"/>
            </a:xfrm>
            <a:prstGeom prst="rect">
              <a:avLst/>
            </a:prstGeom>
            <a:extLst>
              <a:ext uri="{91240B29-F687-4F45-9708-019B960494DF}">
                <a14:hiddenLine xmlns:a14="http://schemas.microsoft.com/office/drawing/2010/main" w="9525">
                  <a:noFill/>
                  <a:round/>
                </a14:hiddenLine>
              </a:ext>
            </a:extLst>
          </p:spPr>
          <p:txBody>
            <a:bodyPr wrap="none" fromWordArt="1">
              <a:prstTxWarp prst="textCascadeUp">
                <a:avLst>
                  <a:gd name="adj" fmla="val 44444"/>
                </a:avLst>
              </a:prstTxWarp>
              <a:scene3d>
                <a:camera prst="legacyPerspectiveTopLeft">
                  <a:rot lat="0" lon="20519999" rev="0"/>
                </a:camera>
                <a:lightRig rig="legacyHarsh3" dir="r"/>
              </a:scene3d>
              <a:sp3d extrusionH="430200" prstMaterial="legacyMatte">
                <a:extrusionClr>
                  <a:srgbClr val="006600"/>
                </a:extrusionClr>
                <a:contourClr>
                  <a:srgbClr val="6699FF"/>
                </a:contourClr>
              </a:sp3d>
            </a:bodyPr>
            <a:lstStyle/>
            <a:p>
              <a:pPr algn="ctr"/>
              <a:r>
                <a:rPr lang="zh-CN" altLang="en-US" sz="3600" b="1">
                  <a:pattFill prst="pct75">
                    <a:fgClr>
                      <a:srgbClr val="6699FF"/>
                    </a:fgClr>
                    <a:bgClr>
                      <a:srgbClr val="FFFFFF"/>
                    </a:bgClr>
                  </a:pattFill>
                  <a:latin typeface="华文新魏" panose="02010800040101010101" pitchFamily="2" charset="-122"/>
                  <a:ea typeface="华文新魏" panose="02010800040101010101" pitchFamily="2" charset="-122"/>
                </a:rPr>
                <a:t>经验</a:t>
              </a:r>
              <a:endParaRPr lang="zh-CN" altLang="en-US" sz="3600" b="1">
                <a:pattFill prst="pct75">
                  <a:fgClr>
                    <a:srgbClr val="6699FF"/>
                  </a:fgClr>
                  <a:bgClr>
                    <a:srgbClr val="FFFFFF"/>
                  </a:bgClr>
                </a:pattFill>
                <a:latin typeface="华文新魏" panose="02010800040101010101" pitchFamily="2" charset="-122"/>
                <a:ea typeface="华文新魏" panose="02010800040101010101" pitchFamily="2" charset="-122"/>
              </a:endParaRPr>
            </a:p>
          </p:txBody>
        </p:sp>
      </p:grpSp>
      <p:sp>
        <p:nvSpPr>
          <p:cNvPr id="5126" name="WordArt 6"/>
          <p:cNvSpPr>
            <a:spLocks noChangeArrowheads="1" noChangeShapeType="1" noTextEdit="1"/>
          </p:cNvSpPr>
          <p:nvPr/>
        </p:nvSpPr>
        <p:spPr bwMode="auto">
          <a:xfrm>
            <a:off x="2339975" y="3716338"/>
            <a:ext cx="4895850" cy="1584325"/>
          </a:xfrm>
          <a:prstGeom prst="rect">
            <a:avLst/>
          </a:prstGeom>
        </p:spPr>
        <p:txBody>
          <a:bodyPr wrap="none" fromWordArt="1">
            <a:prstTxWarp prst="textPlain">
              <a:avLst>
                <a:gd name="adj" fmla="val 50000"/>
              </a:avLst>
            </a:prstTxWarp>
          </a:bodyPr>
          <a:lstStyle/>
          <a:p>
            <a:pPr algn="ctr"/>
            <a:r>
              <a:rPr lang="zh-CN" altLang="en-US" sz="3600" b="1" kern="10">
                <a:ln w="25400">
                  <a:solidFill>
                    <a:srgbClr val="0033CC"/>
                  </a:solidFill>
                  <a:round/>
                </a:ln>
                <a:blipFill dpi="0" rotWithShape="0">
                  <a:blip r:embed="rId1">
                    <a:alphaModFix amt="50000"/>
                  </a:blip>
                  <a:srcRect/>
                  <a:tile tx="0" ty="0" sx="100000" sy="100000" flip="none" algn="tl"/>
                </a:blipFill>
                <a:effectLst>
                  <a:outerShdw dist="45791" dir="2021404" algn="ctr" rotWithShape="0">
                    <a:srgbClr val="9999FF"/>
                  </a:outerShdw>
                </a:effectLst>
                <a:latin typeface="华文新魏" panose="02010800040101010101" pitchFamily="2" charset="-122"/>
                <a:ea typeface="华文新魏" panose="02010800040101010101" pitchFamily="2" charset="-122"/>
              </a:rPr>
              <a:t>决定一切</a:t>
            </a:r>
            <a:endParaRPr lang="zh-CN" altLang="en-US" sz="3600" b="1" kern="10">
              <a:ln w="25400">
                <a:solidFill>
                  <a:srgbClr val="0033CC"/>
                </a:solidFill>
                <a:round/>
              </a:ln>
              <a:blipFill dpi="0" rotWithShape="0">
                <a:blip r:embed="rId1">
                  <a:alphaModFix amt="50000"/>
                </a:blip>
                <a:srcRect/>
                <a:tile tx="0" ty="0" sx="100000" sy="100000" flip="none" algn="tl"/>
              </a:blipFill>
              <a:effectLst>
                <a:outerShdw dist="45791" dir="2021404" algn="ctr" rotWithShape="0">
                  <a:srgbClr val="9999FF"/>
                </a:outerShdw>
              </a:effectLst>
              <a:latin typeface="华文新魏" panose="02010800040101010101" pitchFamily="2" charset="-122"/>
              <a:ea typeface="华文新魏" panose="02010800040101010101" pitchFamily="2" charset="-122"/>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nodeType="clickEffect">
                                  <p:stCondLst>
                                    <p:cond delay="0"/>
                                  </p:stCondLst>
                                  <p:childTnLst>
                                    <p:set>
                                      <p:cBhvr>
                                        <p:cTn id="6" dur="1" fill="hold">
                                          <p:stCondLst>
                                            <p:cond delay="0"/>
                                          </p:stCondLst>
                                        </p:cTn>
                                        <p:tgtEl>
                                          <p:spTgt spid="602115"/>
                                        </p:tgtEl>
                                        <p:attrNameLst>
                                          <p:attrName>style.visibility</p:attrName>
                                        </p:attrNameLst>
                                      </p:cBhvr>
                                      <p:to>
                                        <p:strVal val="visible"/>
                                      </p:to>
                                    </p:set>
                                    <p:anim calcmode="lin" valueType="num">
                                      <p:cBhvr>
                                        <p:cTn id="7" dur="500" fill="hold"/>
                                        <p:tgtEl>
                                          <p:spTgt spid="602115"/>
                                        </p:tgtEl>
                                        <p:attrNameLst>
                                          <p:attrName>ppt_w</p:attrName>
                                        </p:attrNameLst>
                                      </p:cBhvr>
                                      <p:tavLst>
                                        <p:tav tm="0">
                                          <p:val>
                                            <p:strVal val="4*#ppt_w"/>
                                          </p:val>
                                        </p:tav>
                                        <p:tav tm="100000">
                                          <p:val>
                                            <p:strVal val="#ppt_w"/>
                                          </p:val>
                                        </p:tav>
                                      </p:tavLst>
                                    </p:anim>
                                    <p:anim calcmode="lin" valueType="num">
                                      <p:cBhvr>
                                        <p:cTn id="8" dur="500" fill="hold"/>
                                        <p:tgtEl>
                                          <p:spTgt spid="602115"/>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nodeType="afterEffect">
                                  <p:stCondLst>
                                    <p:cond delay="500"/>
                                  </p:stCondLst>
                                  <p:childTnLst>
                                    <p:set>
                                      <p:cBhvr>
                                        <p:cTn id="11" dur="1" fill="hold">
                                          <p:stCondLst>
                                            <p:cond delay="0"/>
                                          </p:stCondLst>
                                        </p:cTn>
                                        <p:tgtEl>
                                          <p:spTgt spid="5126"/>
                                        </p:tgtEl>
                                        <p:attrNameLst>
                                          <p:attrName>style.visibility</p:attrName>
                                        </p:attrNameLst>
                                      </p:cBhvr>
                                      <p:to>
                                        <p:strVal val="visible"/>
                                      </p:to>
                                    </p:set>
                                    <p:animEffect transition="in" filter="wipe(left)">
                                      <p:cBhvr>
                                        <p:cTn id="12" dur="5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395536" y="136525"/>
            <a:ext cx="8686800" cy="884238"/>
          </a:xfrm>
        </p:spPr>
        <p:txBody>
          <a:bodyPr/>
          <a:lstStyle/>
          <a:p>
            <a:r>
              <a:rPr lang="zh-CN" altLang="en-US" sz="3600" dirty="0"/>
              <a:t>目前最常见的体系结构</a:t>
            </a:r>
            <a:r>
              <a:rPr lang="en-US" altLang="zh-CN" sz="3600" dirty="0"/>
              <a:t>: </a:t>
            </a:r>
            <a:r>
              <a:rPr lang="zh-CN" altLang="en-US" sz="3600" dirty="0"/>
              <a:t>分层</a:t>
            </a:r>
            <a:r>
              <a:rPr lang="en-US" altLang="zh-CN" sz="3600" dirty="0"/>
              <a:t>+OO</a:t>
            </a:r>
            <a:endParaRPr lang="en-US" altLang="zh-CN" sz="3600" dirty="0"/>
          </a:p>
        </p:txBody>
      </p:sp>
      <p:sp>
        <p:nvSpPr>
          <p:cNvPr id="7172" name="Rectangle 3"/>
          <p:cNvSpPr>
            <a:spLocks noGrp="1" noChangeArrowheads="1"/>
          </p:cNvSpPr>
          <p:nvPr>
            <p:ph idx="1"/>
          </p:nvPr>
        </p:nvSpPr>
        <p:spPr/>
        <p:txBody>
          <a:bodyPr/>
          <a:lstStyle/>
          <a:p>
            <a:r>
              <a:rPr lang="en-US" altLang="zh-CN"/>
              <a:t>– </a:t>
            </a:r>
            <a:r>
              <a:rPr lang="zh-CN" altLang="en-US"/>
              <a:t>管道</a:t>
            </a:r>
            <a:r>
              <a:rPr lang="en-US" altLang="zh-CN"/>
              <a:t>-</a:t>
            </a:r>
            <a:r>
              <a:rPr lang="zh-CN" altLang="en-US"/>
              <a:t>过滤器风格、批处理风格已经非常少见；</a:t>
            </a:r>
            <a:br>
              <a:rPr lang="zh-CN" altLang="en-US"/>
            </a:br>
            <a:r>
              <a:rPr lang="en-US" altLang="zh-CN"/>
              <a:t>– </a:t>
            </a:r>
            <a:r>
              <a:rPr lang="zh-CN" altLang="en-US"/>
              <a:t>过程控制风格、黑板结构、虚拟机风格往往针对具体的应用领域；</a:t>
            </a:r>
            <a:br>
              <a:rPr lang="zh-CN" altLang="en-US"/>
            </a:br>
            <a:r>
              <a:rPr lang="en-US" altLang="zh-CN"/>
              <a:t>– OO</a:t>
            </a:r>
            <a:r>
              <a:rPr lang="zh-CN" altLang="en-US"/>
              <a:t>的思想已经融合在几乎所有的体系结构之中，而事件风格、层次化的思想同样也被广泛使用；</a:t>
            </a:r>
            <a:br>
              <a:rPr lang="zh-CN" altLang="en-US"/>
            </a:br>
            <a:r>
              <a:rPr lang="en-US" altLang="zh-CN"/>
              <a:t>– MVC</a:t>
            </a:r>
            <a:r>
              <a:rPr lang="zh-CN" altLang="en-US"/>
              <a:t>、基于规则的系统、</a:t>
            </a:r>
            <a:r>
              <a:rPr lang="en-US" altLang="zh-CN"/>
              <a:t>B/S</a:t>
            </a:r>
            <a:r>
              <a:rPr lang="zh-CN" altLang="en-US"/>
              <a:t>、数据库风格也是经常使用的风格。</a:t>
            </a:r>
            <a:endParaRPr lang="zh-CN" altLang="en-US"/>
          </a:p>
        </p:txBody>
      </p:sp>
      <p:sp>
        <p:nvSpPr>
          <p:cNvPr id="716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F357977-03BB-4C68-AE73-E139F67AC6BE}"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717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EA6DFF0-2CE2-4C0F-A5D8-126944FEF9BA}" type="datetime1">
              <a:rPr lang="zh-CN" altLang="en-US"/>
            </a:fld>
            <a:endParaRPr lang="zh-CN" altLang="en-US"/>
          </a:p>
        </p:txBody>
      </p:sp>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a:t>体系结构风格的选择次序</a:t>
            </a:r>
            <a:endParaRPr lang="zh-CN" altLang="en-US" dirty="0"/>
          </a:p>
        </p:txBody>
      </p:sp>
      <p:sp>
        <p:nvSpPr>
          <p:cNvPr id="8196" name="Rectangle 3"/>
          <p:cNvSpPr>
            <a:spLocks noGrp="1" noChangeArrowheads="1"/>
          </p:cNvSpPr>
          <p:nvPr>
            <p:ph idx="1"/>
          </p:nvPr>
        </p:nvSpPr>
        <p:spPr/>
        <p:txBody>
          <a:bodyPr/>
          <a:lstStyle/>
          <a:p>
            <a:pPr>
              <a:lnSpc>
                <a:spcPct val="90000"/>
              </a:lnSpc>
              <a:buFont typeface="Wingdings" panose="05000000000000000000" pitchFamily="2" charset="2"/>
              <a:buNone/>
            </a:pPr>
            <a:r>
              <a:rPr lang="en-US" altLang="zh-CN" sz="2400"/>
              <a:t>A.</a:t>
            </a:r>
            <a:r>
              <a:rPr lang="zh-CN" altLang="en-US" sz="2400"/>
              <a:t>绝大多数实际运行的系统都是几种体系结构的复合：</a:t>
            </a:r>
            <a:br>
              <a:rPr lang="zh-CN" altLang="en-US" sz="2400"/>
            </a:br>
            <a:r>
              <a:rPr lang="en-US" altLang="zh-CN" sz="2400"/>
              <a:t>– </a:t>
            </a:r>
            <a:r>
              <a:rPr lang="zh-CN" altLang="en-US" sz="2400"/>
              <a:t>在系统的某些部分采用一种体系结构而在其他的部分采用另外的体系，故而需要将复合几种基本体系结构组合起来形成复合体系结构。</a:t>
            </a:r>
            <a:br>
              <a:rPr lang="zh-CN" altLang="en-US" sz="2400"/>
            </a:br>
            <a:r>
              <a:rPr lang="en-US" altLang="zh-CN" sz="2400"/>
              <a:t>– </a:t>
            </a:r>
            <a:r>
              <a:rPr lang="zh-CN" altLang="en-US" sz="2400"/>
              <a:t>在实际的系统分析和设计中，首先将整个系统作为一个功能体进行分析和权衡，得到适宜的、最上层的体系结构；</a:t>
            </a:r>
            <a:br>
              <a:rPr lang="zh-CN" altLang="en-US" sz="2400"/>
            </a:br>
            <a:r>
              <a:rPr lang="en-US" altLang="zh-CN" sz="2400"/>
              <a:t>– </a:t>
            </a:r>
            <a:r>
              <a:rPr lang="zh-CN" altLang="en-US" sz="2400"/>
              <a:t>如果该体系结构中的元素较为复杂，可以继续进行分解，得到某一部分的局部体系结构。</a:t>
            </a:r>
            <a:endParaRPr lang="zh-CN" altLang="en-US" sz="2400"/>
          </a:p>
          <a:p>
            <a:pPr>
              <a:lnSpc>
                <a:spcPct val="90000"/>
              </a:lnSpc>
              <a:buFont typeface="Wingdings" panose="05000000000000000000" pitchFamily="2" charset="2"/>
              <a:buNone/>
            </a:pPr>
            <a:r>
              <a:rPr lang="en-US" altLang="zh-CN" sz="2400"/>
              <a:t>B.</a:t>
            </a:r>
            <a:r>
              <a:rPr lang="zh-CN" altLang="en-US" sz="2400"/>
              <a:t>将焦点集中在系统的总体结构的考虑上，而避免较多的考虑使用的语言、具体的技术等实现细节上。</a:t>
            </a:r>
            <a:endParaRPr lang="zh-CN" altLang="en-US" sz="2400"/>
          </a:p>
        </p:txBody>
      </p:sp>
      <p:sp>
        <p:nvSpPr>
          <p:cNvPr id="819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07C4CD3-47AF-4BCE-BEBA-B7FE3A7BCAF7}"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819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806ED80-37AB-4537-8489-15D60CFBA4CB}" type="datetime1">
              <a:rPr lang="zh-CN" altLang="en-US"/>
            </a:fld>
            <a:endParaRPr lang="zh-CN" altLang="en-US"/>
          </a:p>
        </p:txBody>
      </p:sp>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457200" y="238918"/>
            <a:ext cx="8229600" cy="884238"/>
          </a:xfrm>
        </p:spPr>
        <p:txBody>
          <a:bodyPr/>
          <a:lstStyle/>
          <a:p>
            <a:r>
              <a:rPr lang="zh-CN" altLang="en-US" sz="4000" dirty="0"/>
              <a:t>风格选择的基本思想：</a:t>
            </a:r>
            <a:br>
              <a:rPr lang="zh-CN" altLang="en-US" sz="4000" dirty="0"/>
            </a:br>
            <a:r>
              <a:rPr lang="zh-CN" altLang="en-US" sz="4000" dirty="0"/>
              <a:t>由粗到细的分解</a:t>
            </a:r>
            <a:endParaRPr lang="zh-CN" altLang="en-US" sz="4000" dirty="0"/>
          </a:p>
        </p:txBody>
      </p:sp>
      <p:sp>
        <p:nvSpPr>
          <p:cNvPr id="9220" name="Rectangle 3"/>
          <p:cNvSpPr>
            <a:spLocks noGrp="1" noChangeArrowheads="1"/>
          </p:cNvSpPr>
          <p:nvPr>
            <p:ph idx="1"/>
          </p:nvPr>
        </p:nvSpPr>
        <p:spPr/>
        <p:txBody>
          <a:bodyPr/>
          <a:lstStyle/>
          <a:p>
            <a:pPr>
              <a:buFont typeface="Wingdings" panose="05000000000000000000" pitchFamily="2" charset="2"/>
              <a:buNone/>
            </a:pPr>
            <a:endParaRPr lang="en-US" altLang="zh-CN"/>
          </a:p>
          <a:p>
            <a:pPr>
              <a:buFont typeface="Wingdings" panose="05000000000000000000" pitchFamily="2" charset="2"/>
              <a:buNone/>
            </a:pPr>
            <a:r>
              <a:rPr lang="zh-CN" altLang="en-US"/>
              <a:t>基本的分析方法：功能和复杂性的分解</a:t>
            </a:r>
            <a:br>
              <a:rPr lang="zh-CN" altLang="en-US"/>
            </a:br>
            <a:r>
              <a:rPr lang="en-US" altLang="zh-CN"/>
              <a:t>– </a:t>
            </a:r>
            <a:r>
              <a:rPr lang="zh-CN" altLang="en-US"/>
              <a:t>横向分解：分层次</a:t>
            </a:r>
            <a:br>
              <a:rPr lang="zh-CN" altLang="en-US"/>
            </a:br>
            <a:r>
              <a:rPr lang="en-US" altLang="zh-CN"/>
              <a:t>– </a:t>
            </a:r>
            <a:r>
              <a:rPr lang="zh-CN" altLang="en-US"/>
              <a:t>纵向分解：子系统、模块</a:t>
            </a:r>
            <a:br>
              <a:rPr lang="zh-CN" altLang="en-US"/>
            </a:br>
            <a:r>
              <a:rPr lang="en-US" altLang="zh-CN"/>
              <a:t>– </a:t>
            </a:r>
            <a:r>
              <a:rPr lang="zh-CN" altLang="en-US"/>
              <a:t>针对每一个分解后得到的模块，根据该问题领域的特性，选择行为模式</a:t>
            </a:r>
            <a:r>
              <a:rPr lang="en-US" altLang="zh-CN"/>
              <a:t>(</a:t>
            </a:r>
            <a:r>
              <a:rPr lang="zh-CN" altLang="en-US"/>
              <a:t>具体的体系结构风格</a:t>
            </a:r>
            <a:r>
              <a:rPr lang="en-US" altLang="zh-CN"/>
              <a:t>)</a:t>
            </a:r>
            <a:br>
              <a:rPr lang="en-US" altLang="zh-CN"/>
            </a:br>
            <a:r>
              <a:rPr lang="en-US" altLang="zh-CN"/>
              <a:t>– </a:t>
            </a:r>
            <a:r>
              <a:rPr lang="zh-CN" altLang="en-US"/>
              <a:t>构件、连接件设计</a:t>
            </a:r>
            <a:br>
              <a:rPr lang="zh-CN" altLang="en-US"/>
            </a:br>
            <a:r>
              <a:rPr lang="en-US" altLang="zh-CN"/>
              <a:t>——</a:t>
            </a:r>
            <a:r>
              <a:rPr lang="zh-CN" altLang="en-US"/>
              <a:t>从大粒度风格入手，逐渐细化</a:t>
            </a:r>
            <a:endParaRPr lang="zh-CN" altLang="en-US"/>
          </a:p>
        </p:txBody>
      </p:sp>
      <p:sp>
        <p:nvSpPr>
          <p:cNvPr id="921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1987F63-7BF5-4762-B92C-956674E651F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921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E4D06A2-A8CD-44AF-B231-FE92EEB809DF}" type="datetime1">
              <a:rPr lang="zh-CN" altLang="en-US"/>
            </a:fld>
            <a:endParaRPr lang="zh-CN" altLang="en-US"/>
          </a:p>
        </p:txBody>
      </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zh-CN" dirty="0"/>
              <a:t>SA</a:t>
            </a:r>
            <a:r>
              <a:rPr lang="zh-CN" altLang="en-US" dirty="0"/>
              <a:t>风格选择需考虑的因素</a:t>
            </a:r>
            <a:endParaRPr lang="zh-CN" altLang="en-US" dirty="0"/>
          </a:p>
        </p:txBody>
      </p:sp>
      <p:sp>
        <p:nvSpPr>
          <p:cNvPr id="10244" name="Rectangle 3"/>
          <p:cNvSpPr>
            <a:spLocks noGrp="1" noChangeArrowheads="1"/>
          </p:cNvSpPr>
          <p:nvPr>
            <p:ph idx="1"/>
          </p:nvPr>
        </p:nvSpPr>
        <p:spPr>
          <a:xfrm>
            <a:off x="468313" y="1412875"/>
            <a:ext cx="8229600" cy="4608513"/>
          </a:xfrm>
        </p:spPr>
        <p:txBody>
          <a:bodyPr/>
          <a:lstStyle/>
          <a:p>
            <a:pPr>
              <a:lnSpc>
                <a:spcPct val="80000"/>
              </a:lnSpc>
            </a:pPr>
            <a:br>
              <a:rPr lang="en-US" altLang="zh-CN" sz="2800"/>
            </a:br>
            <a:r>
              <a:rPr lang="en-US" altLang="zh-CN" sz="2800"/>
              <a:t>A.</a:t>
            </a:r>
            <a:r>
              <a:rPr lang="zh-CN" altLang="en-US" sz="2800"/>
              <a:t>技术因素：</a:t>
            </a:r>
            <a:br>
              <a:rPr lang="zh-CN" altLang="en-US" sz="2800"/>
            </a:br>
            <a:r>
              <a:rPr lang="en-US" altLang="zh-CN" sz="2800"/>
              <a:t>– (1) Which kinds of components and connectors are used in the style (</a:t>
            </a:r>
            <a:r>
              <a:rPr lang="zh-CN" altLang="en-US" sz="2800"/>
              <a:t>何种构件、连接件</a:t>
            </a:r>
            <a:r>
              <a:rPr lang="en-US" altLang="zh-CN" sz="2800"/>
              <a:t>)</a:t>
            </a:r>
            <a:br>
              <a:rPr lang="en-US" altLang="zh-CN" sz="2800"/>
            </a:br>
            <a:r>
              <a:rPr lang="en-US" altLang="zh-CN" sz="2800"/>
              <a:t>– (2) How control is shared, allocated, and transferred among the components (</a:t>
            </a:r>
            <a:r>
              <a:rPr lang="zh-CN" altLang="en-US" sz="2800"/>
              <a:t>在运行时，构件之间的控制机制是如何被共享、分配和转移</a:t>
            </a:r>
            <a:r>
              <a:rPr lang="en-US" altLang="zh-CN" sz="2800"/>
              <a:t>)</a:t>
            </a:r>
            <a:br>
              <a:rPr lang="en-US" altLang="zh-CN" sz="2800"/>
            </a:br>
            <a:r>
              <a:rPr lang="en-US" altLang="zh-CN" sz="2800"/>
              <a:t>– (3) How data is communicated through the system (</a:t>
            </a:r>
            <a:r>
              <a:rPr lang="zh-CN" altLang="en-US" sz="2800"/>
              <a:t>数据如何通讯</a:t>
            </a:r>
            <a:r>
              <a:rPr lang="en-US" altLang="zh-CN" sz="2800"/>
              <a:t>)</a:t>
            </a:r>
            <a:br>
              <a:rPr lang="en-US" altLang="zh-CN" sz="2800"/>
            </a:br>
            <a:r>
              <a:rPr lang="en-US" altLang="zh-CN" sz="2800"/>
              <a:t>– (4) How data and control interact (</a:t>
            </a:r>
            <a:r>
              <a:rPr lang="zh-CN" altLang="en-US" sz="2800"/>
              <a:t>数据与控制如何交互</a:t>
            </a:r>
            <a:r>
              <a:rPr lang="en-US" altLang="zh-CN" sz="2800"/>
              <a:t>)</a:t>
            </a:r>
            <a:endParaRPr lang="en-US" altLang="zh-CN" sz="2800"/>
          </a:p>
        </p:txBody>
      </p:sp>
      <p:sp>
        <p:nvSpPr>
          <p:cNvPr id="1024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38F31C2-D8C3-410C-9C8A-330E5D60DADA}"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024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EAABE48-E6C3-4034-A61E-7EBAF6B83B14}" type="datetime1">
              <a:rPr lang="zh-CN" altLang="en-US"/>
            </a:fld>
            <a:endParaRPr lang="zh-CN" altLang="en-US"/>
          </a:p>
        </p:txBody>
      </p:sp>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en-US" altLang="zh-CN" dirty="0"/>
              <a:t>SA</a:t>
            </a:r>
            <a:r>
              <a:rPr lang="zh-CN" altLang="en-US" dirty="0"/>
              <a:t>风格选择需考虑的因素 </a:t>
            </a:r>
            <a:endParaRPr lang="zh-CN" altLang="en-US" dirty="0"/>
          </a:p>
        </p:txBody>
      </p:sp>
      <p:sp>
        <p:nvSpPr>
          <p:cNvPr id="11268" name="Rectangle 3"/>
          <p:cNvSpPr>
            <a:spLocks noGrp="1" noChangeArrowheads="1"/>
          </p:cNvSpPr>
          <p:nvPr>
            <p:ph idx="1"/>
          </p:nvPr>
        </p:nvSpPr>
        <p:spPr>
          <a:xfrm>
            <a:off x="501650" y="1700808"/>
            <a:ext cx="7886700" cy="4351338"/>
          </a:xfrm>
        </p:spPr>
        <p:txBody>
          <a:bodyPr/>
          <a:lstStyle/>
          <a:p>
            <a:pPr lvl="2">
              <a:lnSpc>
                <a:spcPct val="90000"/>
              </a:lnSpc>
            </a:pPr>
            <a:r>
              <a:rPr lang="en-US" altLang="zh-CN" sz="2400" dirty="0"/>
              <a:t>B.</a:t>
            </a:r>
            <a:r>
              <a:rPr lang="zh-CN" altLang="en-US" sz="2400" dirty="0"/>
              <a:t>性能因素：</a:t>
            </a:r>
            <a:br>
              <a:rPr lang="zh-CN" altLang="en-US" sz="2400" dirty="0"/>
            </a:br>
            <a:r>
              <a:rPr lang="en-US" altLang="zh-CN" sz="2400" dirty="0"/>
              <a:t>– (5) How the performance will be (</a:t>
            </a:r>
            <a:r>
              <a:rPr lang="zh-CN" altLang="en-US" sz="2400" dirty="0"/>
              <a:t>性能如何</a:t>
            </a:r>
            <a:r>
              <a:rPr lang="en-US" altLang="zh-CN" sz="2400" dirty="0"/>
              <a:t>)</a:t>
            </a:r>
            <a:br>
              <a:rPr lang="en-US" altLang="zh-CN" sz="2400" dirty="0"/>
            </a:br>
            <a:r>
              <a:rPr lang="en-US" altLang="zh-CN" sz="2400" dirty="0"/>
              <a:t>• Modifiability (</a:t>
            </a:r>
            <a:r>
              <a:rPr lang="zh-CN" altLang="en-US" sz="2400" dirty="0"/>
              <a:t>可修改性</a:t>
            </a:r>
            <a:r>
              <a:rPr lang="en-US" altLang="zh-CN" sz="2400" dirty="0"/>
              <a:t>)</a:t>
            </a:r>
            <a:endParaRPr lang="en-US" altLang="zh-CN" sz="2400" dirty="0"/>
          </a:p>
          <a:p>
            <a:pPr lvl="2">
              <a:lnSpc>
                <a:spcPct val="90000"/>
              </a:lnSpc>
              <a:buFont typeface="Wingdings" panose="05000000000000000000" pitchFamily="2" charset="2"/>
              <a:buNone/>
            </a:pPr>
            <a:r>
              <a:rPr lang="en-US" altLang="zh-CN" sz="2400" dirty="0"/>
              <a:t>		– Change in Algorithm (</a:t>
            </a:r>
            <a:r>
              <a:rPr lang="zh-CN" altLang="en-US" sz="2400" dirty="0"/>
              <a:t>算法的变化</a:t>
            </a:r>
            <a:r>
              <a:rPr lang="en-US" altLang="zh-CN" sz="2400" dirty="0"/>
              <a:t>)</a:t>
            </a:r>
            <a:br>
              <a:rPr lang="en-US" altLang="zh-CN" sz="2400" dirty="0"/>
            </a:br>
            <a:r>
              <a:rPr lang="en-US" altLang="zh-CN" sz="2400" dirty="0"/>
              <a:t>	– Change in Data Representation (</a:t>
            </a:r>
            <a:r>
              <a:rPr lang="zh-CN" altLang="en-US" sz="2400" dirty="0"/>
              <a:t>数据表示	方式的变化</a:t>
            </a:r>
            <a:r>
              <a:rPr lang="en-US" altLang="zh-CN" sz="2400" dirty="0"/>
              <a:t>)</a:t>
            </a:r>
            <a:br>
              <a:rPr lang="en-US" altLang="zh-CN" sz="2400" dirty="0"/>
            </a:br>
            <a:r>
              <a:rPr lang="en-US" altLang="zh-CN" sz="2400" dirty="0"/>
              <a:t>	– Enhancement to system function (</a:t>
            </a:r>
            <a:r>
              <a:rPr lang="zh-CN" altLang="en-US" sz="2400" dirty="0"/>
              <a:t>系统功	能的可扩展性</a:t>
            </a:r>
            <a:r>
              <a:rPr lang="en-US" altLang="zh-CN" sz="2400" dirty="0"/>
              <a:t>)</a:t>
            </a:r>
            <a:br>
              <a:rPr lang="en-US" altLang="zh-CN" sz="2400" dirty="0"/>
            </a:br>
            <a:r>
              <a:rPr lang="en-US" altLang="zh-CN" sz="2400" dirty="0"/>
              <a:t>• Performance (</a:t>
            </a:r>
            <a:r>
              <a:rPr lang="zh-CN" altLang="en-US" sz="2400" dirty="0"/>
              <a:t>性能</a:t>
            </a:r>
            <a:r>
              <a:rPr lang="en-US" altLang="zh-CN" sz="2400" dirty="0"/>
              <a:t>)</a:t>
            </a:r>
            <a:r>
              <a:rPr lang="zh-CN" altLang="en-US" sz="2400" dirty="0"/>
              <a:t>：</a:t>
            </a:r>
            <a:endParaRPr lang="zh-CN" altLang="en-US" sz="2400" dirty="0"/>
          </a:p>
          <a:p>
            <a:pPr lvl="2">
              <a:lnSpc>
                <a:spcPct val="90000"/>
              </a:lnSpc>
              <a:buFont typeface="Wingdings" panose="05000000000000000000" pitchFamily="2" charset="2"/>
              <a:buNone/>
            </a:pPr>
            <a:r>
              <a:rPr lang="zh-CN" altLang="en-US" sz="2400" dirty="0"/>
              <a:t>		</a:t>
            </a:r>
            <a:r>
              <a:rPr lang="en-US" altLang="zh-CN" sz="2400" dirty="0"/>
              <a:t>Both space and time (</a:t>
            </a:r>
            <a:r>
              <a:rPr lang="zh-CN" altLang="en-US" sz="2400" dirty="0"/>
              <a:t>时空复杂性</a:t>
            </a:r>
            <a:r>
              <a:rPr lang="en-US" altLang="zh-CN" sz="2400" dirty="0"/>
              <a:t>)</a:t>
            </a:r>
            <a:br>
              <a:rPr lang="en-US" altLang="zh-CN" sz="2400" dirty="0"/>
            </a:br>
            <a:r>
              <a:rPr lang="en-US" altLang="zh-CN" sz="2400" dirty="0"/>
              <a:t>• Reusability (</a:t>
            </a:r>
            <a:r>
              <a:rPr lang="zh-CN" altLang="en-US" sz="2400" dirty="0"/>
              <a:t>可复用性</a:t>
            </a:r>
            <a:r>
              <a:rPr lang="en-US" altLang="zh-CN" sz="2400" dirty="0"/>
              <a:t>)</a:t>
            </a:r>
            <a:br>
              <a:rPr lang="en-US" altLang="zh-CN" sz="2400" dirty="0"/>
            </a:br>
            <a:endParaRPr lang="en-US" altLang="zh-CN" sz="2400" dirty="0"/>
          </a:p>
        </p:txBody>
      </p:sp>
      <p:sp>
        <p:nvSpPr>
          <p:cNvPr id="1126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B40DBE1-EDE1-4E1F-9C8B-6F392DC01F8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126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60E5B88-77ED-4611-97D1-D786705F3F46}" type="datetime1">
              <a:rPr lang="zh-CN" altLang="en-US"/>
            </a:fld>
            <a:endParaRPr lang="zh-CN" altLang="en-US"/>
          </a:p>
        </p:txBody>
      </p:sp>
    </p:spTree>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dirty="0"/>
              <a:t>基于经验的</a:t>
            </a:r>
            <a:r>
              <a:rPr lang="en-US" altLang="zh-CN" dirty="0"/>
              <a:t>SA</a:t>
            </a:r>
            <a:r>
              <a:rPr lang="zh-CN" altLang="en-US" dirty="0"/>
              <a:t>风格选择原则</a:t>
            </a:r>
            <a:endParaRPr lang="zh-CN" altLang="en-US" dirty="0"/>
          </a:p>
        </p:txBody>
      </p:sp>
      <p:sp>
        <p:nvSpPr>
          <p:cNvPr id="12292" name="Rectangle 3"/>
          <p:cNvSpPr>
            <a:spLocks noGrp="1" noChangeArrowheads="1"/>
          </p:cNvSpPr>
          <p:nvPr>
            <p:ph idx="1"/>
          </p:nvPr>
        </p:nvSpPr>
        <p:spPr>
          <a:xfrm>
            <a:off x="656339" y="1609725"/>
            <a:ext cx="7886700" cy="4351338"/>
          </a:xfrm>
        </p:spPr>
        <p:txBody>
          <a:bodyPr/>
          <a:lstStyle/>
          <a:p>
            <a:pPr>
              <a:lnSpc>
                <a:spcPct val="80000"/>
              </a:lnSpc>
              <a:buFont typeface="Wingdings" panose="05000000000000000000" pitchFamily="2" charset="2"/>
              <a:buNone/>
            </a:pPr>
            <a:r>
              <a:rPr lang="en-US" altLang="zh-CN" sz="2400" dirty="0"/>
              <a:t>A.</a:t>
            </a:r>
            <a:r>
              <a:rPr lang="zh-CN" altLang="en-US" sz="2400" dirty="0"/>
              <a:t>使用分层结构的经验法则</a:t>
            </a:r>
            <a:br>
              <a:rPr lang="zh-CN" altLang="en-US" sz="2400" dirty="0"/>
            </a:br>
            <a:r>
              <a:rPr lang="zh-CN" altLang="en-US" sz="2400" dirty="0"/>
              <a:t>层次化的思想在任何系统中都可能得到应用；</a:t>
            </a:r>
            <a:endParaRPr lang="zh-CN" altLang="en-US" sz="2400" dirty="0"/>
          </a:p>
          <a:p>
            <a:pPr>
              <a:lnSpc>
                <a:spcPct val="80000"/>
              </a:lnSpc>
              <a:buFont typeface="Wingdings" panose="05000000000000000000" pitchFamily="2" charset="2"/>
              <a:buNone/>
            </a:pPr>
            <a:r>
              <a:rPr lang="en-US" altLang="zh-CN" sz="2400" dirty="0"/>
              <a:t>B.</a:t>
            </a:r>
            <a:r>
              <a:rPr lang="zh-CN" altLang="en-US" sz="2400" dirty="0"/>
              <a:t>使用数据流风格的经验法则</a:t>
            </a:r>
            <a:r>
              <a:rPr lang="en-US" altLang="zh-CN" sz="2400" dirty="0"/>
              <a:t>(1)</a:t>
            </a:r>
            <a:br>
              <a:rPr lang="en-US" altLang="zh-CN" sz="2400" dirty="0"/>
            </a:br>
            <a:r>
              <a:rPr lang="en-US" altLang="zh-CN" sz="2400" dirty="0"/>
              <a:t>If your problem can be decomposed into sequential stages, consider batch sequential or pipeline architectures. (</a:t>
            </a:r>
            <a:r>
              <a:rPr lang="zh-CN" altLang="en-US" sz="2400" dirty="0"/>
              <a:t>如果问题可分解为连续的几个阶段，那么考虑使用顺序批处理风格或管道</a:t>
            </a:r>
            <a:r>
              <a:rPr lang="en-US" altLang="zh-CN" sz="2400" dirty="0"/>
              <a:t>-</a:t>
            </a:r>
            <a:r>
              <a:rPr lang="zh-CN" altLang="en-US" sz="2400" dirty="0"/>
              <a:t>过滤器风格</a:t>
            </a:r>
            <a:r>
              <a:rPr lang="en-US" altLang="zh-CN" sz="2400" dirty="0"/>
              <a:t>)</a:t>
            </a:r>
            <a:br>
              <a:rPr lang="en-US" altLang="zh-CN" sz="2400" dirty="0"/>
            </a:br>
            <a:r>
              <a:rPr lang="en-US" altLang="zh-CN" sz="2400" dirty="0"/>
              <a:t>– If in addition each stage is incremental , so that later stages can begin before earlier stages finish, consider a pipeline architecture. (</a:t>
            </a:r>
            <a:r>
              <a:rPr lang="zh-CN" altLang="en-US" sz="2400" dirty="0"/>
              <a:t>如果每个阶段是递增的，从而后序可在前序完成之前开始，那么就要使用管道</a:t>
            </a:r>
            <a:r>
              <a:rPr lang="en-US" altLang="zh-CN" sz="2400" dirty="0"/>
              <a:t>-</a:t>
            </a:r>
            <a:r>
              <a:rPr lang="zh-CN" altLang="en-US" sz="2400" dirty="0"/>
              <a:t>过滤器风格</a:t>
            </a:r>
            <a:r>
              <a:rPr lang="en-US" altLang="zh-CN" sz="2400" dirty="0"/>
              <a:t>)</a:t>
            </a:r>
            <a:br>
              <a:rPr lang="en-US" altLang="zh-CN" sz="2400" dirty="0"/>
            </a:br>
            <a:r>
              <a:rPr lang="en-US" altLang="zh-CN" sz="2400" dirty="0"/>
              <a:t>– If your problem involves transformations on continuous streams of data (or on very long streams), consider a pipeline architecture. (</a:t>
            </a:r>
            <a:r>
              <a:rPr lang="zh-CN" altLang="en-US" sz="2400" dirty="0"/>
              <a:t>如果问题涉及到连续数据流上的转换，考虑使用管道</a:t>
            </a:r>
            <a:r>
              <a:rPr lang="en-US" altLang="zh-CN" sz="2400" dirty="0"/>
              <a:t>-</a:t>
            </a:r>
            <a:r>
              <a:rPr lang="zh-CN" altLang="en-US" sz="2400" dirty="0"/>
              <a:t>过滤器风格</a:t>
            </a:r>
            <a:r>
              <a:rPr lang="en-US" altLang="zh-CN" sz="2400" dirty="0"/>
              <a:t>)</a:t>
            </a:r>
            <a:endParaRPr lang="en-US" altLang="zh-CN" sz="2400" dirty="0"/>
          </a:p>
        </p:txBody>
      </p:sp>
      <p:sp>
        <p:nvSpPr>
          <p:cNvPr id="1228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2A9BB65-1EE1-4405-B9C0-D479CBD2D0B9}"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229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5E088AB-2888-4DA4-959D-62C44423161D}" type="datetime1">
              <a:rPr lang="zh-CN" altLang="en-US"/>
            </a:fld>
            <a:endParaRPr lang="zh-CN" altLang="en-US"/>
          </a:p>
        </p:txBody>
      </p:sp>
    </p:spTree>
  </p:cSld>
  <p:clrMapOvr>
    <a:masterClrMapping/>
  </p:clrMapOvr>
  <p:transition>
    <p:wipe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dirty="0"/>
              <a:t>基于经验的</a:t>
            </a:r>
            <a:r>
              <a:rPr lang="en-US" altLang="zh-CN" dirty="0"/>
              <a:t>SA</a:t>
            </a:r>
            <a:r>
              <a:rPr lang="zh-CN" altLang="en-US" dirty="0"/>
              <a:t>风格选择原则</a:t>
            </a:r>
            <a:endParaRPr lang="zh-CN" altLang="en-US" dirty="0"/>
          </a:p>
        </p:txBody>
      </p:sp>
      <p:sp>
        <p:nvSpPr>
          <p:cNvPr id="13316" name="Rectangle 3"/>
          <p:cNvSpPr>
            <a:spLocks noGrp="1" noChangeArrowheads="1"/>
          </p:cNvSpPr>
          <p:nvPr>
            <p:ph idx="1"/>
          </p:nvPr>
        </p:nvSpPr>
        <p:spPr/>
        <p:txBody>
          <a:bodyPr/>
          <a:lstStyle/>
          <a:p>
            <a:pPr>
              <a:lnSpc>
                <a:spcPct val="80000"/>
              </a:lnSpc>
            </a:pPr>
            <a:r>
              <a:rPr lang="en-US" altLang="zh-CN" sz="2800" dirty="0"/>
              <a:t>C.</a:t>
            </a:r>
            <a:r>
              <a:rPr lang="zh-CN" altLang="en-US" sz="2800" dirty="0"/>
              <a:t>使用</a:t>
            </a:r>
            <a:r>
              <a:rPr lang="en-US" altLang="zh-CN" sz="2800" dirty="0"/>
              <a:t>OO</a:t>
            </a:r>
            <a:r>
              <a:rPr lang="zh-CN" altLang="en-US" sz="2800" dirty="0"/>
              <a:t>和仓库风格的经验法则</a:t>
            </a:r>
            <a:br>
              <a:rPr lang="zh-CN" altLang="en-US" sz="2800" dirty="0"/>
            </a:br>
            <a:r>
              <a:rPr lang="zh-CN" altLang="en-US" sz="2800" dirty="0"/>
              <a:t>如果核心问题是应用程序中数据的理解、管理与表示，那么考虑使用仓库或者</a:t>
            </a:r>
            <a:r>
              <a:rPr lang="en-US" altLang="zh-CN" sz="2800" dirty="0"/>
              <a:t>ADT/OO</a:t>
            </a:r>
            <a:r>
              <a:rPr lang="zh-CN" altLang="en-US" sz="2800" dirty="0"/>
              <a:t>风格</a:t>
            </a:r>
            <a:r>
              <a:rPr lang="en-US" altLang="zh-CN" sz="2800" dirty="0"/>
              <a:t>)</a:t>
            </a:r>
            <a:br>
              <a:rPr lang="en-US" altLang="zh-CN" sz="2800" dirty="0"/>
            </a:br>
            <a:r>
              <a:rPr lang="en-US" altLang="zh-CN" sz="2800" dirty="0"/>
              <a:t>–</a:t>
            </a:r>
            <a:r>
              <a:rPr lang="zh-CN" altLang="en-US" sz="2800" dirty="0"/>
              <a:t>如果数据格式的表示可能发生变化，</a:t>
            </a:r>
            <a:r>
              <a:rPr lang="en-US" altLang="zh-CN" sz="2800" dirty="0"/>
              <a:t>ADT/OO</a:t>
            </a:r>
            <a:r>
              <a:rPr lang="zh-CN" altLang="en-US" sz="2800" dirty="0"/>
              <a:t>可限制这种变化所影响的范围</a:t>
            </a:r>
            <a:r>
              <a:rPr lang="en-US" altLang="zh-CN" sz="2800" dirty="0"/>
              <a:t>)</a:t>
            </a:r>
            <a:br>
              <a:rPr lang="en-US" altLang="zh-CN" sz="2800" dirty="0"/>
            </a:br>
            <a:r>
              <a:rPr lang="en-US" altLang="zh-CN" sz="2800" dirty="0"/>
              <a:t>–</a:t>
            </a:r>
            <a:r>
              <a:rPr lang="zh-CN" altLang="en-US" sz="2800" dirty="0"/>
              <a:t>如果数据是持久存在的，使用仓库结构</a:t>
            </a:r>
            <a:r>
              <a:rPr lang="en-US" altLang="zh-CN" sz="2800" dirty="0"/>
              <a:t>)</a:t>
            </a:r>
            <a:br>
              <a:rPr lang="en-US" altLang="zh-CN" sz="2800" dirty="0"/>
            </a:br>
            <a:r>
              <a:rPr lang="en-US" altLang="zh-CN" sz="2800" dirty="0"/>
              <a:t>• </a:t>
            </a:r>
            <a:r>
              <a:rPr lang="zh-CN" altLang="en-US" sz="2800" dirty="0"/>
              <a:t>如果使用仓库风格且输入数据是无序的、执行次序无法预先确定，使用黑板结构</a:t>
            </a:r>
            <a:r>
              <a:rPr lang="en-US" altLang="zh-CN" sz="2800" dirty="0"/>
              <a:t>)</a:t>
            </a:r>
            <a:br>
              <a:rPr lang="en-US" altLang="zh-CN" sz="2800" dirty="0"/>
            </a:br>
            <a:r>
              <a:rPr lang="en-US" altLang="zh-CN" sz="2800" dirty="0"/>
              <a:t>• </a:t>
            </a:r>
            <a:r>
              <a:rPr lang="zh-CN" altLang="en-US" sz="2800" dirty="0"/>
              <a:t>如果使用仓库风格且执行次序由请求来决定、数据是高度结构化的，适用数据库风格</a:t>
            </a:r>
            <a:br>
              <a:rPr lang="zh-CN" altLang="en-US" sz="2800" dirty="0"/>
            </a:br>
            <a:r>
              <a:rPr lang="en-US" altLang="zh-CN" sz="2800" dirty="0"/>
              <a:t>– </a:t>
            </a:r>
            <a:r>
              <a:rPr lang="zh-CN" altLang="en-US" sz="2800" dirty="0"/>
              <a:t>如果追求数据存取的性能，考虑使用分布式数据库风格。</a:t>
            </a:r>
            <a:endParaRPr lang="zh-CN" altLang="en-US" sz="2800" dirty="0"/>
          </a:p>
        </p:txBody>
      </p:sp>
      <p:sp>
        <p:nvSpPr>
          <p:cNvPr id="1331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CDB5742-D0D0-453B-A19F-10657905AB6E}"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331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558BE7C-9032-46E9-A69A-33D49C070CFF}" type="datetime1">
              <a:rPr lang="zh-CN" altLang="en-US"/>
            </a:fld>
            <a:endParaRPr lang="zh-CN" altLang="en-US"/>
          </a:p>
        </p:txBody>
      </p:sp>
    </p:spTree>
  </p:cSld>
  <p:clrMapOvr>
    <a:masterClrMapping/>
  </p:clrMapOvr>
  <p:transition>
    <p:wipe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zh-CN" altLang="en-US" dirty="0"/>
              <a:t>基于经验的</a:t>
            </a:r>
            <a:r>
              <a:rPr lang="en-US" altLang="zh-CN" dirty="0"/>
              <a:t>SA</a:t>
            </a:r>
            <a:r>
              <a:rPr lang="zh-CN" altLang="en-US" dirty="0"/>
              <a:t>风格选择原则</a:t>
            </a:r>
            <a:endParaRPr lang="zh-CN" altLang="en-US" dirty="0"/>
          </a:p>
        </p:txBody>
      </p:sp>
      <p:sp>
        <p:nvSpPr>
          <p:cNvPr id="14340" name="Rectangle 3"/>
          <p:cNvSpPr>
            <a:spLocks noGrp="1" noChangeArrowheads="1"/>
          </p:cNvSpPr>
          <p:nvPr>
            <p:ph idx="1"/>
          </p:nvPr>
        </p:nvSpPr>
        <p:spPr/>
        <p:txBody>
          <a:bodyPr/>
          <a:lstStyle/>
          <a:p>
            <a:r>
              <a:rPr lang="en-US" altLang="zh-CN"/>
              <a:t>D.</a:t>
            </a:r>
            <a:r>
              <a:rPr lang="zh-CN" altLang="en-US"/>
              <a:t>使用交互式风格的经验法则</a:t>
            </a:r>
            <a:br>
              <a:rPr lang="zh-CN" altLang="en-US"/>
            </a:br>
            <a:r>
              <a:rPr lang="zh-CN" altLang="en-US"/>
              <a:t>  如果任务之间的控制流可预先设定、无须配置，那么考虑使用主程序</a:t>
            </a:r>
            <a:r>
              <a:rPr lang="en-US" altLang="zh-CN"/>
              <a:t>-</a:t>
            </a:r>
            <a:r>
              <a:rPr lang="zh-CN" altLang="en-US"/>
              <a:t>子过程风格、</a:t>
            </a:r>
            <a:r>
              <a:rPr lang="en-US" altLang="zh-CN"/>
              <a:t>OO</a:t>
            </a:r>
            <a:r>
              <a:rPr lang="zh-CN" altLang="en-US"/>
              <a:t>风格</a:t>
            </a:r>
            <a:r>
              <a:rPr lang="en-US" altLang="zh-CN"/>
              <a:t>)</a:t>
            </a:r>
            <a:br>
              <a:rPr lang="en-US" altLang="zh-CN"/>
            </a:br>
            <a:r>
              <a:rPr lang="en-US" altLang="zh-CN"/>
              <a:t>  (</a:t>
            </a:r>
            <a:r>
              <a:rPr lang="zh-CN" altLang="en-US"/>
              <a:t>如果任务需要高度的灵活性与可配置性、松散耦合性，或者任务是被动性的，那么考虑使用事件系统或</a:t>
            </a:r>
            <a:r>
              <a:rPr lang="en-US" altLang="zh-CN"/>
              <a:t>C/S</a:t>
            </a:r>
            <a:r>
              <a:rPr lang="zh-CN" altLang="en-US"/>
              <a:t>风格</a:t>
            </a:r>
            <a:r>
              <a:rPr lang="en-US" altLang="zh-CN"/>
              <a:t>)</a:t>
            </a:r>
            <a:br>
              <a:rPr lang="en-US" altLang="zh-CN"/>
            </a:br>
            <a:r>
              <a:rPr lang="en-US" altLang="zh-CN"/>
              <a:t>–</a:t>
            </a:r>
            <a:r>
              <a:rPr lang="zh-CN" altLang="en-US"/>
              <a:t>如果任务的产生者与接收者之间不能预先绑定在一起，使用基于事件的风格</a:t>
            </a:r>
            <a:r>
              <a:rPr lang="en-US" altLang="zh-CN"/>
              <a:t>)</a:t>
            </a:r>
            <a:endParaRPr lang="en-US" altLang="zh-CN"/>
          </a:p>
        </p:txBody>
      </p:sp>
      <p:sp>
        <p:nvSpPr>
          <p:cNvPr id="1433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E4F4F6E-2E9A-4720-B0D0-DA673006D9A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433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E2E2863-C719-4C32-A5EB-9A967BB9E7CA}" type="datetime1">
              <a:rPr lang="zh-CN" altLang="en-US"/>
            </a:fld>
            <a:endParaRPr lang="zh-CN" altLang="en-US"/>
          </a:p>
        </p:txBody>
      </p:sp>
    </p:spTree>
  </p:cSld>
  <p:clrMapOvr>
    <a:masterClrMapping/>
  </p:clrMapOvr>
  <p:transition>
    <p:wipe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a:t>基于经验的</a:t>
            </a:r>
            <a:r>
              <a:rPr lang="en-US" altLang="zh-CN" dirty="0"/>
              <a:t>SA</a:t>
            </a:r>
            <a:r>
              <a:rPr lang="zh-CN" altLang="en-US" dirty="0"/>
              <a:t>风格选择原则</a:t>
            </a:r>
            <a:endParaRPr lang="zh-CN" altLang="en-US" dirty="0"/>
          </a:p>
        </p:txBody>
      </p:sp>
      <p:sp>
        <p:nvSpPr>
          <p:cNvPr id="15364" name="Rectangle 3"/>
          <p:cNvSpPr>
            <a:spLocks noGrp="1" noChangeArrowheads="1"/>
          </p:cNvSpPr>
          <p:nvPr>
            <p:ph idx="1"/>
          </p:nvPr>
        </p:nvSpPr>
        <p:spPr/>
        <p:txBody>
          <a:bodyPr/>
          <a:lstStyle/>
          <a:p>
            <a:pPr>
              <a:lnSpc>
                <a:spcPct val="90000"/>
              </a:lnSpc>
            </a:pPr>
            <a:r>
              <a:rPr lang="en-US" altLang="zh-CN"/>
              <a:t>– </a:t>
            </a:r>
            <a:r>
              <a:rPr lang="zh-CN" altLang="en-US"/>
              <a:t>如果任务分为生产者与消费者，考虑</a:t>
            </a:r>
            <a:r>
              <a:rPr lang="en-US" altLang="zh-CN"/>
              <a:t>C/S</a:t>
            </a:r>
            <a:r>
              <a:rPr lang="zh-CN" altLang="en-US"/>
              <a:t>风格</a:t>
            </a:r>
            <a:r>
              <a:rPr lang="en-US" altLang="zh-CN"/>
              <a:t>)</a:t>
            </a:r>
            <a:br>
              <a:rPr lang="en-US" altLang="zh-CN"/>
            </a:br>
            <a:r>
              <a:rPr lang="en-US" altLang="zh-CN"/>
              <a:t>• </a:t>
            </a:r>
            <a:r>
              <a:rPr lang="zh-CN" altLang="en-US"/>
              <a:t>如果追求客户端的计算效率，考虑胖客户端的</a:t>
            </a:r>
            <a:r>
              <a:rPr lang="en-US" altLang="zh-CN"/>
              <a:t>C/S</a:t>
            </a:r>
            <a:r>
              <a:rPr lang="zh-CN" altLang="en-US"/>
              <a:t>风格</a:t>
            </a:r>
            <a:br>
              <a:rPr lang="zh-CN" altLang="en-US"/>
            </a:br>
            <a:r>
              <a:rPr lang="en-US" altLang="zh-CN"/>
              <a:t>• </a:t>
            </a:r>
            <a:r>
              <a:rPr lang="zh-CN" altLang="en-US"/>
              <a:t>如果客户端频繁发生变化，考虑瘦客户端的</a:t>
            </a:r>
            <a:r>
              <a:rPr lang="en-US" altLang="zh-CN"/>
              <a:t>C/S</a:t>
            </a:r>
            <a:r>
              <a:rPr lang="zh-CN" altLang="en-US"/>
              <a:t>风格</a:t>
            </a:r>
            <a:r>
              <a:rPr lang="en-US" altLang="zh-CN"/>
              <a:t>(</a:t>
            </a:r>
            <a:r>
              <a:rPr lang="zh-CN" altLang="en-US"/>
              <a:t>或</a:t>
            </a:r>
            <a:r>
              <a:rPr lang="en-US" altLang="zh-CN"/>
              <a:t>B/S</a:t>
            </a:r>
            <a:r>
              <a:rPr lang="zh-CN" altLang="en-US"/>
              <a:t>风格</a:t>
            </a:r>
            <a:r>
              <a:rPr lang="en-US" altLang="zh-CN"/>
              <a:t>)</a:t>
            </a:r>
            <a:br>
              <a:rPr lang="en-US" altLang="zh-CN"/>
            </a:br>
            <a:r>
              <a:rPr lang="en-US" altLang="zh-CN"/>
              <a:t>• </a:t>
            </a:r>
            <a:r>
              <a:rPr lang="zh-CN" altLang="en-US"/>
              <a:t>如果服务器端的计算压力过大，考虑使用服务器的集群风格</a:t>
            </a:r>
            <a:br>
              <a:rPr lang="zh-CN" altLang="en-US"/>
            </a:br>
            <a:r>
              <a:rPr lang="en-US" altLang="zh-CN"/>
              <a:t>• </a:t>
            </a:r>
            <a:r>
              <a:rPr lang="zh-CN" altLang="en-US"/>
              <a:t>如果无须中央服务器，使用点对点</a:t>
            </a:r>
            <a:r>
              <a:rPr lang="en-US" altLang="zh-CN"/>
              <a:t>(P2P)</a:t>
            </a:r>
            <a:r>
              <a:rPr lang="zh-CN" altLang="en-US"/>
              <a:t>风格</a:t>
            </a:r>
            <a:endParaRPr lang="zh-CN" altLang="en-US"/>
          </a:p>
        </p:txBody>
      </p:sp>
      <p:sp>
        <p:nvSpPr>
          <p:cNvPr id="1536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892325B-152D-486A-AE13-1C65C4C15401}"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536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B5BB0F4-B303-4A13-9BDF-58EFA7525C73}" type="datetime1">
              <a:rPr lang="zh-CN" altLang="en-US"/>
            </a:fld>
            <a:endParaRPr lang="zh-CN" altLang="en-US"/>
          </a:p>
        </p:txBody>
      </p:sp>
    </p:spTree>
  </p:cSld>
  <p:clrMapOvr>
    <a:masterClrMapping/>
  </p:clrMapOvr>
  <p:transition>
    <p:wipe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dirty="0"/>
              <a:t>基于经验的</a:t>
            </a:r>
            <a:r>
              <a:rPr lang="en-US" altLang="zh-CN" dirty="0"/>
              <a:t>SA</a:t>
            </a:r>
            <a:r>
              <a:rPr lang="zh-CN" altLang="en-US" dirty="0"/>
              <a:t>风格选择原则</a:t>
            </a:r>
            <a:endParaRPr lang="zh-CN" altLang="en-US" dirty="0"/>
          </a:p>
        </p:txBody>
      </p:sp>
      <p:sp>
        <p:nvSpPr>
          <p:cNvPr id="16388" name="Rectangle 3"/>
          <p:cNvSpPr>
            <a:spLocks noGrp="1" noChangeArrowheads="1"/>
          </p:cNvSpPr>
          <p:nvPr>
            <p:ph idx="1"/>
          </p:nvPr>
        </p:nvSpPr>
        <p:spPr/>
        <p:txBody>
          <a:bodyPr/>
          <a:lstStyle/>
          <a:p>
            <a:pPr>
              <a:lnSpc>
                <a:spcPct val="90000"/>
              </a:lnSpc>
            </a:pPr>
            <a:r>
              <a:rPr lang="en-US" altLang="zh-CN" sz="2800"/>
              <a:t>E.</a:t>
            </a:r>
            <a:r>
              <a:rPr lang="zh-CN" altLang="en-US" sz="2800"/>
              <a:t>使用虚拟机风格的经验法则</a:t>
            </a:r>
            <a:br>
              <a:rPr lang="zh-CN" altLang="en-US" sz="2800"/>
            </a:br>
            <a:r>
              <a:rPr lang="zh-CN" altLang="en-US" sz="2800"/>
              <a:t>   </a:t>
            </a:r>
            <a:r>
              <a:rPr lang="en-US" altLang="zh-CN" sz="2800"/>
              <a:t>If you have designed a computation but have no machine on which you can execute it, consider an interpreter architecture.(</a:t>
            </a:r>
            <a:r>
              <a:rPr lang="zh-CN" altLang="en-US" sz="2800"/>
              <a:t>如果设计了某种计算，但没有机器可以支持它运行，那么考虑使用虚拟机</a:t>
            </a:r>
            <a:r>
              <a:rPr lang="en-US" altLang="zh-CN" sz="2800"/>
              <a:t>/</a:t>
            </a:r>
            <a:r>
              <a:rPr lang="zh-CN" altLang="en-US" sz="2800"/>
              <a:t>解释器体系结构</a:t>
            </a:r>
            <a:r>
              <a:rPr lang="en-US" altLang="zh-CN" sz="2800"/>
              <a:t>)</a:t>
            </a:r>
            <a:br>
              <a:rPr lang="en-US" altLang="zh-CN" sz="2800"/>
            </a:br>
            <a:r>
              <a:rPr lang="en-US" altLang="zh-CN" sz="2800"/>
              <a:t>    If you have to implement some business logics which are often changed, consider a rule-based architecture. (</a:t>
            </a:r>
            <a:r>
              <a:rPr lang="zh-CN" altLang="en-US" sz="2800"/>
              <a:t>如果要实现一些经常发生变化的业务逻辑，考虑使用基于规则的系统</a:t>
            </a:r>
            <a:r>
              <a:rPr lang="en-US" altLang="zh-CN" sz="2800"/>
              <a:t>)</a:t>
            </a:r>
            <a:br>
              <a:rPr lang="en-US" altLang="zh-CN" sz="2800"/>
            </a:br>
            <a:endParaRPr lang="en-US" altLang="zh-CN" sz="2800"/>
          </a:p>
        </p:txBody>
      </p:sp>
      <p:sp>
        <p:nvSpPr>
          <p:cNvPr id="1638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6454D54-81CE-44C7-A391-EB2256A02237}"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638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052F816-4CCC-4E62-B25E-00886A5A005B}" type="datetime1">
              <a:rPr lang="zh-CN" altLang="en-US"/>
            </a:fld>
            <a:endParaRPr lang="zh-CN" altLang="en-US"/>
          </a:p>
        </p:txBody>
      </p:sp>
    </p:spTree>
  </p:cSld>
  <p:clrMapOvr>
    <a:masterClrMapping/>
  </p:clrMapOvr>
  <p:transition>
    <p:wipe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a:t>“</a:t>
            </a:r>
            <a:r>
              <a:rPr lang="zh-CN" altLang="en-US"/>
              <a:t>经验决定一切”带来的问题</a:t>
            </a:r>
            <a:endParaRPr lang="zh-CN" altLang="en-US"/>
          </a:p>
        </p:txBody>
      </p:sp>
      <p:sp>
        <p:nvSpPr>
          <p:cNvPr id="17412" name="Rectangle 3"/>
          <p:cNvSpPr>
            <a:spLocks noGrp="1" noChangeArrowheads="1"/>
          </p:cNvSpPr>
          <p:nvPr>
            <p:ph idx="1"/>
          </p:nvPr>
        </p:nvSpPr>
        <p:spPr/>
        <p:txBody>
          <a:bodyPr/>
          <a:lstStyle/>
          <a:p>
            <a:r>
              <a:rPr lang="zh-CN" altLang="en-US"/>
              <a:t>经验很重要，没有不行；</a:t>
            </a:r>
            <a:endParaRPr lang="zh-CN" altLang="en-US"/>
          </a:p>
          <a:p>
            <a:r>
              <a:rPr lang="zh-CN" altLang="en-US"/>
              <a:t>经验的随意性很大，很难科学地评价各种经验的正确性；</a:t>
            </a:r>
            <a:endParaRPr lang="zh-CN" altLang="en-US"/>
          </a:p>
          <a:p>
            <a:r>
              <a:rPr lang="zh-CN" altLang="en-US"/>
              <a:t>没经过高度概括和总结的经验需要后来者花费很长的时间和精力才能继承，甚至可能失传；</a:t>
            </a:r>
            <a:endParaRPr lang="zh-CN" altLang="en-US"/>
          </a:p>
          <a:p>
            <a:r>
              <a:rPr lang="zh-CN" altLang="en-US"/>
              <a:t>经验经常限制开拓。</a:t>
            </a:r>
            <a:endParaRPr lang="zh-CN" altLang="en-US"/>
          </a:p>
        </p:txBody>
      </p:sp>
      <p:sp>
        <p:nvSpPr>
          <p:cNvPr id="1740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9B8B5EA-1723-4A06-BF6F-AFA3C8329B2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741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43E8592-D45B-4D56-99F9-DC71624BA38D}" type="datetime1">
              <a:rPr lang="zh-CN" altLang="en-US"/>
            </a:fld>
            <a:endParaRPr lang="zh-CN" altLang="en-US"/>
          </a:p>
        </p:txBody>
      </p:sp>
    </p:spTree>
  </p:cSld>
  <p:clrMapOvr>
    <a:masterClrMapping/>
  </p:clrMapOvr>
  <p:transition>
    <p:wipe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285750" y="135731"/>
            <a:ext cx="8229600" cy="884238"/>
          </a:xfrm>
        </p:spPr>
        <p:txBody>
          <a:bodyPr/>
          <a:lstStyle/>
          <a:p>
            <a:r>
              <a:rPr lang="zh-CN" altLang="en-US" sz="4000" dirty="0"/>
              <a:t>“体系选择矩阵法”的目标</a:t>
            </a:r>
            <a:endParaRPr lang="zh-CN" altLang="en-US" sz="4000" dirty="0"/>
          </a:p>
        </p:txBody>
      </p:sp>
      <p:pic>
        <p:nvPicPr>
          <p:cNvPr id="18437" name="Picture 5" descr="j0299125"/>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rcRect/>
          <a:stretch>
            <a:fillRect/>
          </a:stretch>
        </p:blipFill>
        <p:spPr>
          <a:xfrm>
            <a:off x="1476375" y="1773238"/>
            <a:ext cx="2019300" cy="3311525"/>
          </a:xfrm>
        </p:spPr>
      </p:pic>
      <p:sp>
        <p:nvSpPr>
          <p:cNvPr id="18436" name="Rectangle 3"/>
          <p:cNvSpPr>
            <a:spLocks noGrp="1" noChangeArrowheads="1"/>
          </p:cNvSpPr>
          <p:nvPr>
            <p:ph type="body" sz="half" idx="2"/>
          </p:nvPr>
        </p:nvSpPr>
        <p:spPr/>
        <p:txBody>
          <a:bodyPr/>
          <a:lstStyle/>
          <a:p>
            <a:r>
              <a:rPr lang="zh-CN" altLang="en-US" sz="2800"/>
              <a:t>让选择体系结构的过程变得简单！</a:t>
            </a:r>
            <a:endParaRPr lang="zh-CN" altLang="en-US" sz="2800"/>
          </a:p>
          <a:p>
            <a:r>
              <a:rPr lang="zh-CN" altLang="en-US" sz="2800"/>
              <a:t>让选择体系结构的方法变得易学！</a:t>
            </a:r>
            <a:endParaRPr lang="zh-CN" altLang="en-US" sz="2800"/>
          </a:p>
          <a:p>
            <a:r>
              <a:rPr lang="zh-CN" altLang="en-US" sz="2800"/>
              <a:t>让每一个程序员都能轻松驾驭体系结构！</a:t>
            </a:r>
            <a:endParaRPr lang="zh-CN" altLang="en-US" sz="2800"/>
          </a:p>
        </p:txBody>
      </p:sp>
      <p:sp>
        <p:nvSpPr>
          <p:cNvPr id="18433" name="灯片编号占位符 4"/>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F31186C-C5AD-499D-B7CD-77EF6F77CAD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8434" name="日期占位符 5"/>
          <p:cNvSpPr>
            <a:spLocks noGrp="1" noChangeArrowheads="1"/>
          </p:cNvSpPr>
          <p:nvPr>
            <p:ph type="dt" sz="half"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7353C4B-8C0A-4D48-8ED1-ABDF9DEF2AF9}" type="datetime1">
              <a:rPr lang="zh-CN" altLang="en-US"/>
            </a:fld>
            <a:endParaRPr lang="zh-CN" altLang="en-US"/>
          </a:p>
        </p:txBody>
      </p:sp>
    </p:spTree>
  </p:cSld>
  <p:clrMapOvr>
    <a:masterClrMapping/>
  </p:clrMapOvr>
  <p:transition>
    <p:wipe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en-US" altLang="zh-CN" sz="4000" dirty="0"/>
              <a:t>“</a:t>
            </a:r>
            <a:r>
              <a:rPr lang="zh-CN" altLang="en-US" sz="4000" dirty="0"/>
              <a:t>体系选择矩阵法”的基本思想</a:t>
            </a:r>
            <a:endParaRPr lang="zh-CN" altLang="en-US" sz="4000" dirty="0"/>
          </a:p>
        </p:txBody>
      </p:sp>
      <p:sp>
        <p:nvSpPr>
          <p:cNvPr id="19460" name="Rectangle 3"/>
          <p:cNvSpPr>
            <a:spLocks noGrp="1" noChangeArrowheads="1"/>
          </p:cNvSpPr>
          <p:nvPr>
            <p:ph idx="1"/>
          </p:nvPr>
        </p:nvSpPr>
        <p:spPr/>
        <p:txBody>
          <a:bodyPr/>
          <a:lstStyle/>
          <a:p>
            <a:pPr marL="0" indent="0">
              <a:buFont typeface="Wingdings" panose="05000000000000000000" pitchFamily="2" charset="2"/>
              <a:buNone/>
            </a:pPr>
            <a:r>
              <a:rPr lang="zh-CN" altLang="en-US"/>
              <a:t>预先评估各种体系结构风格对质量需求的表现，并为它们评分。分数最高的体系结构风格获得录用。</a:t>
            </a:r>
            <a:endParaRPr lang="zh-CN" altLang="en-US"/>
          </a:p>
        </p:txBody>
      </p:sp>
      <p:sp>
        <p:nvSpPr>
          <p:cNvPr id="1945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E559E19-9642-4015-82F8-513AC42309CE}"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1945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1577128-750E-4051-B001-706C9C5AD6B5}" type="datetime1">
              <a:rPr lang="zh-CN" altLang="en-US"/>
            </a:fld>
            <a:endParaRPr lang="zh-CN" altLang="en-US"/>
          </a:p>
        </p:txBody>
      </p:sp>
      <p:grpSp>
        <p:nvGrpSpPr>
          <p:cNvPr id="19461" name="Group 4"/>
          <p:cNvGrpSpPr/>
          <p:nvPr/>
        </p:nvGrpSpPr>
        <p:grpSpPr bwMode="auto">
          <a:xfrm>
            <a:off x="663575" y="3284538"/>
            <a:ext cx="7653338" cy="2736850"/>
            <a:chOff x="144" y="1706"/>
            <a:chExt cx="5439" cy="2185"/>
          </a:xfrm>
        </p:grpSpPr>
        <p:pic>
          <p:nvPicPr>
            <p:cNvPr id="19462" name="Picture 5" descr="AN00113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43" y="1706"/>
              <a:ext cx="2340" cy="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 Box 6"/>
            <p:cNvSpPr txBox="1">
              <a:spLocks noChangeArrowheads="1"/>
            </p:cNvSpPr>
            <p:nvPr/>
          </p:nvSpPr>
          <p:spPr bwMode="auto">
            <a:xfrm rot="-1561740">
              <a:off x="1763" y="2427"/>
              <a:ext cx="727"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600" b="1">
                  <a:solidFill>
                    <a:srgbClr val="99FF66"/>
                  </a:solidFill>
                  <a:latin typeface="Comic Sans MS" panose="030F0702030302020204" pitchFamily="66" charset="0"/>
                </a:rPr>
                <a:t>100</a:t>
              </a:r>
              <a:endParaRPr lang="en-US" altLang="zh-CN" sz="3600" b="1">
                <a:solidFill>
                  <a:srgbClr val="99FF66"/>
                </a:solidFill>
                <a:latin typeface="Comic Sans MS" panose="030F0702030302020204" pitchFamily="66" charset="0"/>
              </a:endParaRPr>
            </a:p>
          </p:txBody>
        </p:sp>
        <p:sp>
          <p:nvSpPr>
            <p:cNvPr id="19464" name="Text Box 7"/>
            <p:cNvSpPr txBox="1">
              <a:spLocks noChangeArrowheads="1"/>
            </p:cNvSpPr>
            <p:nvPr/>
          </p:nvSpPr>
          <p:spPr bwMode="auto">
            <a:xfrm rot="1391110">
              <a:off x="912" y="2474"/>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600" b="1">
                  <a:solidFill>
                    <a:schemeClr val="accent2"/>
                  </a:solidFill>
                  <a:latin typeface="Comic Sans MS" panose="030F0702030302020204" pitchFamily="66" charset="0"/>
                </a:rPr>
                <a:t>23</a:t>
              </a:r>
              <a:endParaRPr lang="en-US" altLang="zh-CN" sz="3600" b="1">
                <a:solidFill>
                  <a:schemeClr val="accent2"/>
                </a:solidFill>
                <a:latin typeface="Comic Sans MS" panose="030F0702030302020204" pitchFamily="66" charset="0"/>
              </a:endParaRPr>
            </a:p>
          </p:txBody>
        </p:sp>
        <p:sp>
          <p:nvSpPr>
            <p:cNvPr id="19465" name="Text Box 8"/>
            <p:cNvSpPr txBox="1">
              <a:spLocks noChangeArrowheads="1"/>
            </p:cNvSpPr>
            <p:nvPr/>
          </p:nvSpPr>
          <p:spPr bwMode="auto">
            <a:xfrm rot="-2924954">
              <a:off x="491" y="3047"/>
              <a:ext cx="594"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600" b="1">
                  <a:solidFill>
                    <a:schemeClr val="tx2"/>
                  </a:solidFill>
                  <a:latin typeface="Comic Sans MS" panose="030F0702030302020204" pitchFamily="66" charset="0"/>
                </a:rPr>
                <a:t>86</a:t>
              </a:r>
              <a:endParaRPr lang="en-US" altLang="zh-CN" sz="3600" b="1">
                <a:solidFill>
                  <a:schemeClr val="tx2"/>
                </a:solidFill>
                <a:latin typeface="Comic Sans MS" panose="030F0702030302020204" pitchFamily="66" charset="0"/>
              </a:endParaRPr>
            </a:p>
          </p:txBody>
        </p:sp>
        <p:sp>
          <p:nvSpPr>
            <p:cNvPr id="19466" name="Text Box 9"/>
            <p:cNvSpPr txBox="1">
              <a:spLocks noChangeArrowheads="1"/>
            </p:cNvSpPr>
            <p:nvPr/>
          </p:nvSpPr>
          <p:spPr bwMode="auto">
            <a:xfrm rot="2283347">
              <a:off x="2455" y="2830"/>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600" b="1">
                  <a:solidFill>
                    <a:schemeClr val="hlink"/>
                  </a:solidFill>
                  <a:latin typeface="Comic Sans MS" panose="030F0702030302020204" pitchFamily="66" charset="0"/>
                </a:rPr>
                <a:t>96</a:t>
              </a:r>
              <a:endParaRPr lang="en-US" altLang="zh-CN" sz="3600" b="1">
                <a:solidFill>
                  <a:schemeClr val="hlink"/>
                </a:solidFill>
                <a:latin typeface="Comic Sans MS" panose="030F0702030302020204" pitchFamily="66" charset="0"/>
              </a:endParaRPr>
            </a:p>
          </p:txBody>
        </p:sp>
        <p:sp>
          <p:nvSpPr>
            <p:cNvPr id="19467" name="Text Box 10"/>
            <p:cNvSpPr txBox="1">
              <a:spLocks noChangeArrowheads="1"/>
            </p:cNvSpPr>
            <p:nvPr/>
          </p:nvSpPr>
          <p:spPr bwMode="auto">
            <a:xfrm rot="742445">
              <a:off x="2928" y="1957"/>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600" b="1">
                  <a:solidFill>
                    <a:srgbClr val="FFFF87"/>
                  </a:solidFill>
                  <a:latin typeface="Comic Sans MS" panose="030F0702030302020204" pitchFamily="66" charset="0"/>
                </a:rPr>
                <a:t>66</a:t>
              </a:r>
              <a:endParaRPr lang="en-US" altLang="zh-CN" sz="3600" b="1">
                <a:solidFill>
                  <a:srgbClr val="FFFF87"/>
                </a:solidFill>
                <a:latin typeface="Comic Sans MS" panose="030F0702030302020204" pitchFamily="66" charset="0"/>
              </a:endParaRPr>
            </a:p>
          </p:txBody>
        </p:sp>
        <p:sp>
          <p:nvSpPr>
            <p:cNvPr id="19468" name="Text Box 11"/>
            <p:cNvSpPr txBox="1">
              <a:spLocks noChangeArrowheads="1"/>
            </p:cNvSpPr>
            <p:nvPr/>
          </p:nvSpPr>
          <p:spPr bwMode="auto">
            <a:xfrm rot="-551421">
              <a:off x="1676" y="3297"/>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600" b="1">
                  <a:solidFill>
                    <a:srgbClr val="FF0000"/>
                  </a:solidFill>
                  <a:latin typeface="Comic Sans MS" panose="030F0702030302020204" pitchFamily="66" charset="0"/>
                </a:rPr>
                <a:t>53</a:t>
              </a:r>
              <a:endParaRPr lang="en-US" altLang="zh-CN" sz="3600" b="1">
                <a:solidFill>
                  <a:srgbClr val="FF0000"/>
                </a:solidFill>
                <a:latin typeface="Comic Sans MS" panose="030F0702030302020204" pitchFamily="66" charset="0"/>
              </a:endParaRPr>
            </a:p>
          </p:txBody>
        </p:sp>
        <p:sp>
          <p:nvSpPr>
            <p:cNvPr id="19469" name="Text Box 12"/>
            <p:cNvSpPr txBox="1">
              <a:spLocks noChangeArrowheads="1"/>
            </p:cNvSpPr>
            <p:nvPr/>
          </p:nvSpPr>
          <p:spPr bwMode="auto">
            <a:xfrm rot="-1789915">
              <a:off x="144" y="2152"/>
              <a:ext cx="726"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600" b="1">
                  <a:solidFill>
                    <a:srgbClr val="FFCCFF"/>
                  </a:solidFill>
                  <a:latin typeface="Comic Sans MS" panose="030F0702030302020204" pitchFamily="66" charset="0"/>
                </a:rPr>
                <a:t>142</a:t>
              </a:r>
              <a:endParaRPr lang="en-US" altLang="zh-CN" sz="3600" b="1">
                <a:solidFill>
                  <a:srgbClr val="FFCCFF"/>
                </a:solidFill>
                <a:latin typeface="Comic Sans MS" panose="030F0702030302020204" pitchFamily="66" charset="0"/>
              </a:endParaRPr>
            </a:p>
          </p:txBody>
        </p:sp>
      </p:grpSp>
    </p:spTree>
  </p:cSld>
  <p:clrMapOvr>
    <a:masterClrMapping/>
  </p:clrMapOvr>
  <p:transition>
    <p:wipe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sz="3600" dirty="0"/>
              <a:t>软件体系结构影响质量的两种方式</a:t>
            </a:r>
            <a:endParaRPr lang="zh-CN" altLang="en-US" sz="3600" dirty="0"/>
          </a:p>
        </p:txBody>
      </p:sp>
      <p:sp>
        <p:nvSpPr>
          <p:cNvPr id="20484" name="Rectangle 3"/>
          <p:cNvSpPr>
            <a:spLocks noGrp="1" noChangeArrowheads="1"/>
          </p:cNvSpPr>
          <p:nvPr>
            <p:ph idx="1"/>
          </p:nvPr>
        </p:nvSpPr>
        <p:spPr/>
        <p:txBody>
          <a:bodyPr/>
          <a:lstStyle/>
          <a:p>
            <a:r>
              <a:rPr lang="zh-CN" altLang="en-US"/>
              <a:t>结构</a:t>
            </a:r>
            <a:endParaRPr lang="zh-CN" altLang="en-US"/>
          </a:p>
          <a:p>
            <a:pPr lvl="1"/>
            <a:r>
              <a:rPr lang="zh-CN" altLang="en-US"/>
              <a:t>因为组件之间的关联，影响的质量</a:t>
            </a:r>
            <a:endParaRPr lang="zh-CN" altLang="en-US"/>
          </a:p>
          <a:p>
            <a:pPr lvl="1"/>
            <a:r>
              <a:rPr lang="zh-CN" altLang="en-US"/>
              <a:t>比如：重用、适应性</a:t>
            </a:r>
            <a:endParaRPr lang="zh-CN" altLang="en-US"/>
          </a:p>
          <a:p>
            <a:r>
              <a:rPr lang="zh-CN" altLang="en-US"/>
              <a:t>实现</a:t>
            </a:r>
            <a:endParaRPr lang="zh-CN" altLang="en-US"/>
          </a:p>
          <a:p>
            <a:pPr lvl="1"/>
            <a:r>
              <a:rPr lang="zh-CN" altLang="en-US"/>
              <a:t>采用不同的实现方法影响的质量</a:t>
            </a:r>
            <a:endParaRPr lang="zh-CN" altLang="en-US"/>
          </a:p>
          <a:p>
            <a:pPr lvl="1"/>
            <a:r>
              <a:rPr lang="zh-CN" altLang="en-US"/>
              <a:t>比如：安全、兼容性</a:t>
            </a:r>
            <a:endParaRPr lang="zh-CN" altLang="en-US"/>
          </a:p>
        </p:txBody>
      </p:sp>
      <p:sp>
        <p:nvSpPr>
          <p:cNvPr id="2048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B7AE07E-383D-405A-B1FE-C68758CAA364}"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048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F58720C-C78D-4E38-AE09-6328FB722AD8}" type="datetime1">
              <a:rPr lang="zh-CN" altLang="en-US"/>
            </a:fld>
            <a:endParaRPr lang="zh-CN" altLang="en-US"/>
          </a:p>
        </p:txBody>
      </p:sp>
    </p:spTree>
  </p:cSld>
  <p:clrMapOvr>
    <a:masterClrMapping/>
  </p:clrMapOvr>
  <p:transition>
    <p:wipe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01650" y="119063"/>
            <a:ext cx="6590630" cy="755650"/>
          </a:xfrm>
        </p:spPr>
        <p:txBody>
          <a:bodyPr/>
          <a:lstStyle/>
          <a:p>
            <a:r>
              <a:rPr lang="zh-CN" altLang="en-US" sz="3600" dirty="0"/>
              <a:t>受体系结构影响的质量需求</a:t>
            </a:r>
            <a:endParaRPr lang="zh-CN" altLang="en-US" sz="3600" dirty="0"/>
          </a:p>
        </p:txBody>
      </p:sp>
      <p:sp>
        <p:nvSpPr>
          <p:cNvPr id="21508" name="Rectangle 3"/>
          <p:cNvSpPr>
            <a:spLocks noGrp="1" noChangeArrowheads="1"/>
          </p:cNvSpPr>
          <p:nvPr>
            <p:ph sz="half" idx="1"/>
          </p:nvPr>
        </p:nvSpPr>
        <p:spPr/>
        <p:txBody>
          <a:bodyPr/>
          <a:lstStyle/>
          <a:p>
            <a:r>
              <a:rPr lang="zh-CN" altLang="en-US" sz="4800"/>
              <a:t>性能</a:t>
            </a:r>
            <a:endParaRPr lang="zh-CN" altLang="en-US" sz="4800"/>
          </a:p>
          <a:p>
            <a:r>
              <a:rPr lang="zh-CN" altLang="en-US" sz="4800"/>
              <a:t>容错</a:t>
            </a:r>
            <a:endParaRPr lang="zh-CN" altLang="en-US" sz="4800"/>
          </a:p>
          <a:p>
            <a:r>
              <a:rPr lang="zh-CN" altLang="en-US" sz="4800"/>
              <a:t>适应性</a:t>
            </a:r>
            <a:endParaRPr lang="zh-CN" altLang="en-US" sz="4800"/>
          </a:p>
          <a:p>
            <a:r>
              <a:rPr lang="zh-CN" altLang="en-US" sz="4800"/>
              <a:t>重用</a:t>
            </a:r>
            <a:endParaRPr lang="zh-CN" altLang="en-US" sz="4800"/>
          </a:p>
          <a:p>
            <a:r>
              <a:rPr lang="zh-CN" altLang="en-US" sz="4800"/>
              <a:t>集成性</a:t>
            </a:r>
            <a:endParaRPr lang="zh-CN" altLang="en-US" sz="4800"/>
          </a:p>
        </p:txBody>
      </p:sp>
      <p:sp>
        <p:nvSpPr>
          <p:cNvPr id="555012" name="Rectangle 4"/>
          <p:cNvSpPr>
            <a:spLocks noGrp="1" noChangeArrowheads="1"/>
          </p:cNvSpPr>
          <p:nvPr>
            <p:ph sz="half" idx="2"/>
          </p:nvPr>
        </p:nvSpPr>
        <p:spPr/>
        <p:txBody>
          <a:bodyPr/>
          <a:lstStyle/>
          <a:p>
            <a:r>
              <a:rPr lang="zh-CN" altLang="en-US"/>
              <a:t>计算性能</a:t>
            </a:r>
            <a:endParaRPr lang="zh-CN" altLang="en-US"/>
          </a:p>
          <a:p>
            <a:r>
              <a:rPr lang="zh-CN" altLang="en-US"/>
              <a:t>节省空间</a:t>
            </a:r>
            <a:endParaRPr lang="zh-CN" altLang="en-US"/>
          </a:p>
          <a:p>
            <a:endParaRPr lang="zh-CN" altLang="en-US"/>
          </a:p>
          <a:p>
            <a:r>
              <a:rPr lang="zh-CN" altLang="en-US"/>
              <a:t>组件更换</a:t>
            </a:r>
            <a:endParaRPr lang="zh-CN" altLang="en-US"/>
          </a:p>
          <a:p>
            <a:r>
              <a:rPr lang="zh-CN" altLang="en-US"/>
              <a:t>组件移位</a:t>
            </a:r>
            <a:endParaRPr lang="zh-CN" altLang="en-US"/>
          </a:p>
          <a:p>
            <a:r>
              <a:rPr lang="zh-CN" altLang="en-US"/>
              <a:t>组件无关</a:t>
            </a:r>
            <a:endParaRPr lang="zh-CN" altLang="en-US"/>
          </a:p>
          <a:p>
            <a:r>
              <a:rPr lang="zh-CN" altLang="en-US"/>
              <a:t>组件互通</a:t>
            </a:r>
            <a:endParaRPr lang="zh-CN" altLang="en-US"/>
          </a:p>
          <a:p>
            <a:r>
              <a:rPr lang="zh-CN" altLang="en-US"/>
              <a:t>接口变换</a:t>
            </a:r>
            <a:endParaRPr lang="zh-CN" altLang="en-US"/>
          </a:p>
        </p:txBody>
      </p:sp>
      <p:sp>
        <p:nvSpPr>
          <p:cNvPr id="21506" name="日期占位符 5"/>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06FC909-84EB-4A82-AF5A-959F333D6F97}" type="datetime1">
              <a:rPr lang="zh-CN" altLang="en-US"/>
            </a:fld>
            <a:endParaRPr lang="zh-CN" altLang="en-US"/>
          </a:p>
        </p:txBody>
      </p:sp>
      <p:sp>
        <p:nvSpPr>
          <p:cNvPr id="2150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9FF0ABB-30DE-4EF4-9C85-33EFCDD7C807}"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555013" name="AutoShape 5"/>
          <p:cNvSpPr/>
          <p:nvPr/>
        </p:nvSpPr>
        <p:spPr bwMode="auto">
          <a:xfrm>
            <a:off x="2411413" y="1700213"/>
            <a:ext cx="2160587" cy="936625"/>
          </a:xfrm>
          <a:prstGeom prst="leftBrace">
            <a:avLst>
              <a:gd name="adj1" fmla="val 0"/>
              <a:gd name="adj2" fmla="val 35764"/>
            </a:avLst>
          </a:prstGeom>
          <a:noFill/>
          <a:ln w="88900">
            <a:solidFill>
              <a:srgbClr val="FF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55014" name="AutoShape 6"/>
          <p:cNvSpPr/>
          <p:nvPr/>
        </p:nvSpPr>
        <p:spPr bwMode="auto">
          <a:xfrm>
            <a:off x="2771775" y="3429000"/>
            <a:ext cx="1800225" cy="2736850"/>
          </a:xfrm>
          <a:prstGeom prst="leftBrace">
            <a:avLst>
              <a:gd name="adj1" fmla="val 0"/>
              <a:gd name="adj2" fmla="val 11542"/>
            </a:avLst>
          </a:prstGeom>
          <a:noFill/>
          <a:ln w="88900">
            <a:solidFill>
              <a:srgbClr val="FF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55015" name="AutoShape 7"/>
          <p:cNvSpPr/>
          <p:nvPr/>
        </p:nvSpPr>
        <p:spPr bwMode="auto">
          <a:xfrm>
            <a:off x="2771775" y="3429000"/>
            <a:ext cx="1800225" cy="2736850"/>
          </a:xfrm>
          <a:prstGeom prst="leftBrace">
            <a:avLst>
              <a:gd name="adj1" fmla="val 0"/>
              <a:gd name="adj2" fmla="val 77319"/>
            </a:avLst>
          </a:prstGeom>
          <a:noFill/>
          <a:ln w="88900">
            <a:solidFill>
              <a:srgbClr val="FF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5013"/>
                                        </p:tgtEl>
                                        <p:attrNameLst>
                                          <p:attrName>style.visibility</p:attrName>
                                        </p:attrNameLst>
                                      </p:cBhvr>
                                      <p:to>
                                        <p:strVal val="visible"/>
                                      </p:to>
                                    </p:set>
                                    <p:animEffect transition="in" filter="wipe(left)">
                                      <p:cBhvr>
                                        <p:cTn id="7" dur="500"/>
                                        <p:tgtEl>
                                          <p:spTgt spid="55501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55012">
                                            <p:txEl>
                                              <p:pRg st="0" end="0"/>
                                            </p:txEl>
                                          </p:spTgt>
                                        </p:tgtEl>
                                        <p:attrNameLst>
                                          <p:attrName>style.visibility</p:attrName>
                                        </p:attrNameLst>
                                      </p:cBhvr>
                                      <p:to>
                                        <p:strVal val="visible"/>
                                      </p:to>
                                    </p:set>
                                    <p:animEffect transition="in" filter="wipe(left)">
                                      <p:cBhvr>
                                        <p:cTn id="11" dur="500"/>
                                        <p:tgtEl>
                                          <p:spTgt spid="55501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55012">
                                            <p:txEl>
                                              <p:pRg st="1" end="1"/>
                                            </p:txEl>
                                          </p:spTgt>
                                        </p:tgtEl>
                                        <p:attrNameLst>
                                          <p:attrName>style.visibility</p:attrName>
                                        </p:attrNameLst>
                                      </p:cBhvr>
                                      <p:to>
                                        <p:strVal val="visible"/>
                                      </p:to>
                                    </p:set>
                                    <p:animEffect transition="in" filter="wipe(left)">
                                      <p:cBhvr>
                                        <p:cTn id="15" dur="500"/>
                                        <p:tgtEl>
                                          <p:spTgt spid="55501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55014"/>
                                        </p:tgtEl>
                                        <p:attrNameLst>
                                          <p:attrName>style.visibility</p:attrName>
                                        </p:attrNameLst>
                                      </p:cBhvr>
                                      <p:to>
                                        <p:strVal val="visible"/>
                                      </p:to>
                                    </p:set>
                                    <p:animEffect transition="in" filter="wipe(left)">
                                      <p:cBhvr>
                                        <p:cTn id="20" dur="500"/>
                                        <p:tgtEl>
                                          <p:spTgt spid="555014"/>
                                        </p:tgtEl>
                                      </p:cBhvr>
                                    </p:animEffect>
                                  </p:childTnLst>
                                </p:cTn>
                              </p:par>
                              <p:par>
                                <p:cTn id="21" presetID="22" presetClass="entr" presetSubtype="8" fill="hold" nodeType="withEffect">
                                  <p:stCondLst>
                                    <p:cond delay="0"/>
                                  </p:stCondLst>
                                  <p:childTnLst>
                                    <p:set>
                                      <p:cBhvr>
                                        <p:cTn id="22" dur="1" fill="hold">
                                          <p:stCondLst>
                                            <p:cond delay="0"/>
                                          </p:stCondLst>
                                        </p:cTn>
                                        <p:tgtEl>
                                          <p:spTgt spid="555015"/>
                                        </p:tgtEl>
                                        <p:attrNameLst>
                                          <p:attrName>style.visibility</p:attrName>
                                        </p:attrNameLst>
                                      </p:cBhvr>
                                      <p:to>
                                        <p:strVal val="visible"/>
                                      </p:to>
                                    </p:set>
                                    <p:animEffect transition="in" filter="wipe(left)">
                                      <p:cBhvr>
                                        <p:cTn id="23" dur="500"/>
                                        <p:tgtEl>
                                          <p:spTgt spid="555015"/>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555012">
                                            <p:txEl>
                                              <p:pRg st="3" end="3"/>
                                            </p:txEl>
                                          </p:spTgt>
                                        </p:tgtEl>
                                        <p:attrNameLst>
                                          <p:attrName>style.visibility</p:attrName>
                                        </p:attrNameLst>
                                      </p:cBhvr>
                                      <p:to>
                                        <p:strVal val="visible"/>
                                      </p:to>
                                    </p:set>
                                    <p:animEffect transition="in" filter="wipe(left)">
                                      <p:cBhvr>
                                        <p:cTn id="27" dur="500"/>
                                        <p:tgtEl>
                                          <p:spTgt spid="555012">
                                            <p:txEl>
                                              <p:pRg st="3" end="3"/>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555012">
                                            <p:txEl>
                                              <p:pRg st="4" end="4"/>
                                            </p:txEl>
                                          </p:spTgt>
                                        </p:tgtEl>
                                        <p:attrNameLst>
                                          <p:attrName>style.visibility</p:attrName>
                                        </p:attrNameLst>
                                      </p:cBhvr>
                                      <p:to>
                                        <p:strVal val="visible"/>
                                      </p:to>
                                    </p:set>
                                    <p:animEffect transition="in" filter="wipe(left)">
                                      <p:cBhvr>
                                        <p:cTn id="30" dur="500"/>
                                        <p:tgtEl>
                                          <p:spTgt spid="555012">
                                            <p:txEl>
                                              <p:pRg st="4" end="4"/>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555012">
                                            <p:txEl>
                                              <p:pRg st="5" end="5"/>
                                            </p:txEl>
                                          </p:spTgt>
                                        </p:tgtEl>
                                        <p:attrNameLst>
                                          <p:attrName>style.visibility</p:attrName>
                                        </p:attrNameLst>
                                      </p:cBhvr>
                                      <p:to>
                                        <p:strVal val="visible"/>
                                      </p:to>
                                    </p:set>
                                    <p:animEffect transition="in" filter="wipe(left)">
                                      <p:cBhvr>
                                        <p:cTn id="33" dur="500"/>
                                        <p:tgtEl>
                                          <p:spTgt spid="555012">
                                            <p:txEl>
                                              <p:pRg st="5" end="5"/>
                                            </p:txEl>
                                          </p:spTgt>
                                        </p:tgtEl>
                                      </p:cBhvr>
                                    </p:animEffect>
                                  </p:childTnLst>
                                </p:cTn>
                              </p:par>
                              <p:par>
                                <p:cTn id="34" presetID="22" presetClass="entr" presetSubtype="8" fill="hold" nodeType="withEffect">
                                  <p:stCondLst>
                                    <p:cond delay="0"/>
                                  </p:stCondLst>
                                  <p:childTnLst>
                                    <p:set>
                                      <p:cBhvr>
                                        <p:cTn id="35" dur="1" fill="hold">
                                          <p:stCondLst>
                                            <p:cond delay="0"/>
                                          </p:stCondLst>
                                        </p:cTn>
                                        <p:tgtEl>
                                          <p:spTgt spid="555012">
                                            <p:txEl>
                                              <p:pRg st="6" end="6"/>
                                            </p:txEl>
                                          </p:spTgt>
                                        </p:tgtEl>
                                        <p:attrNameLst>
                                          <p:attrName>style.visibility</p:attrName>
                                        </p:attrNameLst>
                                      </p:cBhvr>
                                      <p:to>
                                        <p:strVal val="visible"/>
                                      </p:to>
                                    </p:set>
                                    <p:animEffect transition="in" filter="wipe(left)">
                                      <p:cBhvr>
                                        <p:cTn id="36" dur="500"/>
                                        <p:tgtEl>
                                          <p:spTgt spid="555012">
                                            <p:txEl>
                                              <p:pRg st="6" end="6"/>
                                            </p:txEl>
                                          </p:spTgt>
                                        </p:tgtEl>
                                      </p:cBhvr>
                                    </p:animEffect>
                                  </p:childTnLst>
                                </p:cTn>
                              </p:par>
                              <p:par>
                                <p:cTn id="37" presetID="22" presetClass="entr" presetSubtype="8" fill="hold" nodeType="withEffect">
                                  <p:stCondLst>
                                    <p:cond delay="0"/>
                                  </p:stCondLst>
                                  <p:childTnLst>
                                    <p:set>
                                      <p:cBhvr>
                                        <p:cTn id="38" dur="1" fill="hold">
                                          <p:stCondLst>
                                            <p:cond delay="0"/>
                                          </p:stCondLst>
                                        </p:cTn>
                                        <p:tgtEl>
                                          <p:spTgt spid="555012">
                                            <p:txEl>
                                              <p:pRg st="7" end="7"/>
                                            </p:txEl>
                                          </p:spTgt>
                                        </p:tgtEl>
                                        <p:attrNameLst>
                                          <p:attrName>style.visibility</p:attrName>
                                        </p:attrNameLst>
                                      </p:cBhvr>
                                      <p:to>
                                        <p:strVal val="visible"/>
                                      </p:to>
                                    </p:set>
                                    <p:animEffect transition="in" filter="wipe(left)">
                                      <p:cBhvr>
                                        <p:cTn id="39" dur="500"/>
                                        <p:tgtEl>
                                          <p:spTgt spid="5550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45243" y="136525"/>
            <a:ext cx="8229600" cy="884238"/>
          </a:xfrm>
        </p:spPr>
        <p:txBody>
          <a:bodyPr/>
          <a:lstStyle/>
          <a:p>
            <a:r>
              <a:rPr lang="zh-CN" altLang="en-US" sz="3200" dirty="0"/>
              <a:t>各种体系风格对质量需求的影响</a:t>
            </a:r>
            <a:endParaRPr lang="zh-CN" altLang="en-US" sz="3200" dirty="0"/>
          </a:p>
        </p:txBody>
      </p:sp>
      <p:sp>
        <p:nvSpPr>
          <p:cNvPr id="23553" name="灯片编号占位符 3"/>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1496AD3-8FA7-407D-AA05-7F29C72FB5D7}"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3554" name="日期占位符 4"/>
          <p:cNvSpPr>
            <a:spLocks noGrp="1" noChangeArrowheads="1"/>
          </p:cNvSpPr>
          <p:nvPr>
            <p:ph type="dt" sz="half"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0E010E8-D4D5-4520-A215-72531B4F5999}" type="datetime1">
              <a:rPr lang="zh-CN" altLang="en-US"/>
            </a:fld>
            <a:endParaRPr lang="zh-CN" altLang="en-US"/>
          </a:p>
        </p:txBody>
      </p:sp>
      <p:grpSp>
        <p:nvGrpSpPr>
          <p:cNvPr id="558202" name="Group 122"/>
          <p:cNvGrpSpPr/>
          <p:nvPr/>
        </p:nvGrpSpPr>
        <p:grpSpPr bwMode="auto">
          <a:xfrm>
            <a:off x="1766888" y="5700713"/>
            <a:ext cx="6919912" cy="465137"/>
            <a:chOff x="1113" y="3591"/>
            <a:chExt cx="4359" cy="293"/>
          </a:xfrm>
        </p:grpSpPr>
        <p:sp>
          <p:nvSpPr>
            <p:cNvPr id="23557" name="Rectangle 4"/>
            <p:cNvSpPr>
              <a:spLocks noChangeArrowheads="1"/>
            </p:cNvSpPr>
            <p:nvPr/>
          </p:nvSpPr>
          <p:spPr bwMode="auto">
            <a:xfrm>
              <a:off x="4988" y="359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58" name="Rectangle 5"/>
            <p:cNvSpPr>
              <a:spLocks noChangeArrowheads="1"/>
            </p:cNvSpPr>
            <p:nvPr/>
          </p:nvSpPr>
          <p:spPr bwMode="auto">
            <a:xfrm>
              <a:off x="4503" y="3591"/>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3</a:t>
              </a:r>
              <a:endParaRPr lang="en-US" altLang="zh-CN" sz="2000" b="1">
                <a:solidFill>
                  <a:srgbClr val="FF3399"/>
                </a:solidFill>
              </a:endParaRPr>
            </a:p>
          </p:txBody>
        </p:sp>
        <p:sp>
          <p:nvSpPr>
            <p:cNvPr id="23559" name="Rectangle 6"/>
            <p:cNvSpPr>
              <a:spLocks noChangeArrowheads="1"/>
            </p:cNvSpPr>
            <p:nvPr/>
          </p:nvSpPr>
          <p:spPr bwMode="auto">
            <a:xfrm>
              <a:off x="4019" y="359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4</a:t>
              </a:r>
              <a:endParaRPr lang="en-US" altLang="zh-CN" sz="2000" b="1">
                <a:solidFill>
                  <a:srgbClr val="FF3399"/>
                </a:solidFill>
              </a:endParaRPr>
            </a:p>
          </p:txBody>
        </p:sp>
        <p:sp>
          <p:nvSpPr>
            <p:cNvPr id="23560" name="Rectangle 7"/>
            <p:cNvSpPr>
              <a:spLocks noChangeArrowheads="1"/>
            </p:cNvSpPr>
            <p:nvPr/>
          </p:nvSpPr>
          <p:spPr bwMode="auto">
            <a:xfrm>
              <a:off x="3535" y="359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561" name="Rectangle 8"/>
            <p:cNvSpPr>
              <a:spLocks noChangeArrowheads="1"/>
            </p:cNvSpPr>
            <p:nvPr/>
          </p:nvSpPr>
          <p:spPr bwMode="auto">
            <a:xfrm>
              <a:off x="3050" y="3591"/>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62" name="Rectangle 9"/>
            <p:cNvSpPr>
              <a:spLocks noChangeArrowheads="1"/>
            </p:cNvSpPr>
            <p:nvPr/>
          </p:nvSpPr>
          <p:spPr bwMode="auto">
            <a:xfrm>
              <a:off x="2566" y="359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563" name="Rectangle 10"/>
            <p:cNvSpPr>
              <a:spLocks noChangeArrowheads="1"/>
            </p:cNvSpPr>
            <p:nvPr/>
          </p:nvSpPr>
          <p:spPr bwMode="auto">
            <a:xfrm>
              <a:off x="2082" y="359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64" name="Rectangle 11"/>
            <p:cNvSpPr>
              <a:spLocks noChangeArrowheads="1"/>
            </p:cNvSpPr>
            <p:nvPr/>
          </p:nvSpPr>
          <p:spPr bwMode="auto">
            <a:xfrm>
              <a:off x="1598" y="359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65" name="Rectangle 12"/>
            <p:cNvSpPr>
              <a:spLocks noChangeArrowheads="1"/>
            </p:cNvSpPr>
            <p:nvPr/>
          </p:nvSpPr>
          <p:spPr bwMode="auto">
            <a:xfrm>
              <a:off x="1113" y="3591"/>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grpSp>
      <p:sp>
        <p:nvSpPr>
          <p:cNvPr id="23566" name="Rectangle 13"/>
          <p:cNvSpPr>
            <a:spLocks noChangeArrowheads="1"/>
          </p:cNvSpPr>
          <p:nvPr/>
        </p:nvSpPr>
        <p:spPr bwMode="auto">
          <a:xfrm>
            <a:off x="457200" y="5700713"/>
            <a:ext cx="1309688"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对等</a:t>
            </a:r>
            <a:endParaRPr lang="zh-CN" altLang="en-US" b="1">
              <a:solidFill>
                <a:srgbClr val="3333FF"/>
              </a:solidFill>
            </a:endParaRPr>
          </a:p>
        </p:txBody>
      </p:sp>
      <p:grpSp>
        <p:nvGrpSpPr>
          <p:cNvPr id="558201" name="Group 121"/>
          <p:cNvGrpSpPr/>
          <p:nvPr/>
        </p:nvGrpSpPr>
        <p:grpSpPr bwMode="auto">
          <a:xfrm>
            <a:off x="1766888" y="5233988"/>
            <a:ext cx="6919912" cy="466725"/>
            <a:chOff x="1113" y="3297"/>
            <a:chExt cx="4359" cy="294"/>
          </a:xfrm>
        </p:grpSpPr>
        <p:sp>
          <p:nvSpPr>
            <p:cNvPr id="23568" name="Rectangle 14"/>
            <p:cNvSpPr>
              <a:spLocks noChangeArrowheads="1"/>
            </p:cNvSpPr>
            <p:nvPr/>
          </p:nvSpPr>
          <p:spPr bwMode="auto">
            <a:xfrm>
              <a:off x="4988" y="329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569" name="Rectangle 15"/>
            <p:cNvSpPr>
              <a:spLocks noChangeArrowheads="1"/>
            </p:cNvSpPr>
            <p:nvPr/>
          </p:nvSpPr>
          <p:spPr bwMode="auto">
            <a:xfrm>
              <a:off x="4503" y="3297"/>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70" name="Rectangle 16"/>
            <p:cNvSpPr>
              <a:spLocks noChangeArrowheads="1"/>
            </p:cNvSpPr>
            <p:nvPr/>
          </p:nvSpPr>
          <p:spPr bwMode="auto">
            <a:xfrm>
              <a:off x="4019" y="329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3</a:t>
              </a:r>
              <a:endParaRPr lang="en-US" altLang="zh-CN" sz="2000" b="1">
                <a:solidFill>
                  <a:srgbClr val="FF3399"/>
                </a:solidFill>
              </a:endParaRPr>
            </a:p>
          </p:txBody>
        </p:sp>
        <p:sp>
          <p:nvSpPr>
            <p:cNvPr id="23571" name="Rectangle 17"/>
            <p:cNvSpPr>
              <a:spLocks noChangeArrowheads="1"/>
            </p:cNvSpPr>
            <p:nvPr/>
          </p:nvSpPr>
          <p:spPr bwMode="auto">
            <a:xfrm>
              <a:off x="3535" y="329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572" name="Rectangle 18"/>
            <p:cNvSpPr>
              <a:spLocks noChangeArrowheads="1"/>
            </p:cNvSpPr>
            <p:nvPr/>
          </p:nvSpPr>
          <p:spPr bwMode="auto">
            <a:xfrm>
              <a:off x="3050" y="3297"/>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73" name="Rectangle 19"/>
            <p:cNvSpPr>
              <a:spLocks noChangeArrowheads="1"/>
            </p:cNvSpPr>
            <p:nvPr/>
          </p:nvSpPr>
          <p:spPr bwMode="auto">
            <a:xfrm>
              <a:off x="2566" y="329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3</a:t>
              </a:r>
              <a:endParaRPr lang="en-US" altLang="zh-CN" sz="2000" b="1">
                <a:solidFill>
                  <a:srgbClr val="FF3399"/>
                </a:solidFill>
              </a:endParaRPr>
            </a:p>
          </p:txBody>
        </p:sp>
        <p:sp>
          <p:nvSpPr>
            <p:cNvPr id="23574" name="Rectangle 20"/>
            <p:cNvSpPr>
              <a:spLocks noChangeArrowheads="1"/>
            </p:cNvSpPr>
            <p:nvPr/>
          </p:nvSpPr>
          <p:spPr bwMode="auto">
            <a:xfrm>
              <a:off x="2082" y="329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75" name="Rectangle 21"/>
            <p:cNvSpPr>
              <a:spLocks noChangeArrowheads="1"/>
            </p:cNvSpPr>
            <p:nvPr/>
          </p:nvSpPr>
          <p:spPr bwMode="auto">
            <a:xfrm>
              <a:off x="1598" y="329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76" name="Rectangle 22"/>
            <p:cNvSpPr>
              <a:spLocks noChangeArrowheads="1"/>
            </p:cNvSpPr>
            <p:nvPr/>
          </p:nvSpPr>
          <p:spPr bwMode="auto">
            <a:xfrm>
              <a:off x="1113" y="3297"/>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grpSp>
      <p:sp>
        <p:nvSpPr>
          <p:cNvPr id="23577" name="Rectangle 23"/>
          <p:cNvSpPr>
            <a:spLocks noChangeArrowheads="1"/>
          </p:cNvSpPr>
          <p:nvPr/>
        </p:nvSpPr>
        <p:spPr bwMode="auto">
          <a:xfrm>
            <a:off x="457200" y="5233988"/>
            <a:ext cx="13096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sz="1500" b="1">
                <a:solidFill>
                  <a:srgbClr val="3333FF"/>
                </a:solidFill>
              </a:rPr>
              <a:t>客户</a:t>
            </a:r>
            <a:r>
              <a:rPr lang="en-US" altLang="zh-CN" sz="1500" b="1">
                <a:solidFill>
                  <a:srgbClr val="3333FF"/>
                </a:solidFill>
              </a:rPr>
              <a:t>—</a:t>
            </a:r>
            <a:r>
              <a:rPr lang="zh-CN" altLang="en-US" sz="1500" b="1">
                <a:solidFill>
                  <a:srgbClr val="3333FF"/>
                </a:solidFill>
              </a:rPr>
              <a:t>服务器</a:t>
            </a:r>
            <a:endParaRPr lang="zh-CN" altLang="en-US" sz="1500" b="1">
              <a:solidFill>
                <a:srgbClr val="3333FF"/>
              </a:solidFill>
            </a:endParaRPr>
          </a:p>
        </p:txBody>
      </p:sp>
      <p:grpSp>
        <p:nvGrpSpPr>
          <p:cNvPr id="558200" name="Group 120"/>
          <p:cNvGrpSpPr/>
          <p:nvPr/>
        </p:nvGrpSpPr>
        <p:grpSpPr bwMode="auto">
          <a:xfrm>
            <a:off x="1766888" y="4768850"/>
            <a:ext cx="6919912" cy="465138"/>
            <a:chOff x="1113" y="3004"/>
            <a:chExt cx="4359" cy="293"/>
          </a:xfrm>
        </p:grpSpPr>
        <p:sp>
          <p:nvSpPr>
            <p:cNvPr id="23579" name="Rectangle 24"/>
            <p:cNvSpPr>
              <a:spLocks noChangeArrowheads="1"/>
            </p:cNvSpPr>
            <p:nvPr/>
          </p:nvSpPr>
          <p:spPr bwMode="auto">
            <a:xfrm>
              <a:off x="4988" y="300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2</a:t>
              </a:r>
              <a:endParaRPr lang="en-US" altLang="zh-CN" sz="2000" b="1">
                <a:solidFill>
                  <a:srgbClr val="FF3399"/>
                </a:solidFill>
              </a:endParaRPr>
            </a:p>
          </p:txBody>
        </p:sp>
        <p:sp>
          <p:nvSpPr>
            <p:cNvPr id="23580" name="Rectangle 25"/>
            <p:cNvSpPr>
              <a:spLocks noChangeArrowheads="1"/>
            </p:cNvSpPr>
            <p:nvPr/>
          </p:nvSpPr>
          <p:spPr bwMode="auto">
            <a:xfrm>
              <a:off x="4503" y="3004"/>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81" name="Rectangle 26"/>
            <p:cNvSpPr>
              <a:spLocks noChangeArrowheads="1"/>
            </p:cNvSpPr>
            <p:nvPr/>
          </p:nvSpPr>
          <p:spPr bwMode="auto">
            <a:xfrm>
              <a:off x="4019" y="300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4</a:t>
              </a:r>
              <a:endParaRPr lang="en-US" altLang="zh-CN" sz="2000" b="1">
                <a:solidFill>
                  <a:srgbClr val="FF3399"/>
                </a:solidFill>
              </a:endParaRPr>
            </a:p>
          </p:txBody>
        </p:sp>
        <p:sp>
          <p:nvSpPr>
            <p:cNvPr id="23582" name="Rectangle 27"/>
            <p:cNvSpPr>
              <a:spLocks noChangeArrowheads="1"/>
            </p:cNvSpPr>
            <p:nvPr/>
          </p:nvSpPr>
          <p:spPr bwMode="auto">
            <a:xfrm>
              <a:off x="3535" y="300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583" name="Rectangle 28"/>
            <p:cNvSpPr>
              <a:spLocks noChangeArrowheads="1"/>
            </p:cNvSpPr>
            <p:nvPr/>
          </p:nvSpPr>
          <p:spPr bwMode="auto">
            <a:xfrm>
              <a:off x="3050" y="3004"/>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4</a:t>
              </a:r>
              <a:endParaRPr lang="en-US" altLang="zh-CN" sz="2000" b="1">
                <a:solidFill>
                  <a:srgbClr val="FF3399"/>
                </a:solidFill>
              </a:endParaRPr>
            </a:p>
          </p:txBody>
        </p:sp>
        <p:sp>
          <p:nvSpPr>
            <p:cNvPr id="23584" name="Rectangle 29"/>
            <p:cNvSpPr>
              <a:spLocks noChangeArrowheads="1"/>
            </p:cNvSpPr>
            <p:nvPr/>
          </p:nvSpPr>
          <p:spPr bwMode="auto">
            <a:xfrm>
              <a:off x="2566" y="300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3</a:t>
              </a:r>
              <a:endParaRPr lang="en-US" altLang="zh-CN" sz="2000" b="1">
                <a:solidFill>
                  <a:srgbClr val="FF3399"/>
                </a:solidFill>
              </a:endParaRPr>
            </a:p>
          </p:txBody>
        </p:sp>
        <p:sp>
          <p:nvSpPr>
            <p:cNvPr id="23585" name="Rectangle 30"/>
            <p:cNvSpPr>
              <a:spLocks noChangeArrowheads="1"/>
            </p:cNvSpPr>
            <p:nvPr/>
          </p:nvSpPr>
          <p:spPr bwMode="auto">
            <a:xfrm>
              <a:off x="2082" y="300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86" name="Rectangle 31"/>
            <p:cNvSpPr>
              <a:spLocks noChangeArrowheads="1"/>
            </p:cNvSpPr>
            <p:nvPr/>
          </p:nvSpPr>
          <p:spPr bwMode="auto">
            <a:xfrm>
              <a:off x="1598" y="300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87" name="Rectangle 32"/>
            <p:cNvSpPr>
              <a:spLocks noChangeArrowheads="1"/>
            </p:cNvSpPr>
            <p:nvPr/>
          </p:nvSpPr>
          <p:spPr bwMode="auto">
            <a:xfrm>
              <a:off x="1113" y="3004"/>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grpSp>
      <p:sp>
        <p:nvSpPr>
          <p:cNvPr id="23588" name="Rectangle 33"/>
          <p:cNvSpPr>
            <a:spLocks noChangeArrowheads="1"/>
          </p:cNvSpPr>
          <p:nvPr/>
        </p:nvSpPr>
        <p:spPr bwMode="auto">
          <a:xfrm>
            <a:off x="457200" y="4768850"/>
            <a:ext cx="1309688"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仓库</a:t>
            </a:r>
            <a:endParaRPr lang="zh-CN" altLang="en-US" b="1">
              <a:solidFill>
                <a:srgbClr val="3333FF"/>
              </a:solidFill>
            </a:endParaRPr>
          </a:p>
        </p:txBody>
      </p:sp>
      <p:grpSp>
        <p:nvGrpSpPr>
          <p:cNvPr id="558199" name="Group 119"/>
          <p:cNvGrpSpPr/>
          <p:nvPr/>
        </p:nvGrpSpPr>
        <p:grpSpPr bwMode="auto">
          <a:xfrm>
            <a:off x="1766888" y="4303713"/>
            <a:ext cx="6919912" cy="465137"/>
            <a:chOff x="1113" y="2711"/>
            <a:chExt cx="4359" cy="293"/>
          </a:xfrm>
        </p:grpSpPr>
        <p:sp>
          <p:nvSpPr>
            <p:cNvPr id="23590" name="Rectangle 34"/>
            <p:cNvSpPr>
              <a:spLocks noChangeArrowheads="1"/>
            </p:cNvSpPr>
            <p:nvPr/>
          </p:nvSpPr>
          <p:spPr bwMode="auto">
            <a:xfrm>
              <a:off x="4988" y="271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591" name="Rectangle 35"/>
            <p:cNvSpPr>
              <a:spLocks noChangeArrowheads="1"/>
            </p:cNvSpPr>
            <p:nvPr/>
          </p:nvSpPr>
          <p:spPr bwMode="auto">
            <a:xfrm>
              <a:off x="4503" y="2711"/>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592" name="Rectangle 36"/>
            <p:cNvSpPr>
              <a:spLocks noChangeArrowheads="1"/>
            </p:cNvSpPr>
            <p:nvPr/>
          </p:nvSpPr>
          <p:spPr bwMode="auto">
            <a:xfrm>
              <a:off x="4019" y="271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2</a:t>
              </a:r>
              <a:endParaRPr lang="en-US" altLang="zh-CN" sz="2000" b="1">
                <a:solidFill>
                  <a:srgbClr val="FF3399"/>
                </a:solidFill>
              </a:endParaRPr>
            </a:p>
          </p:txBody>
        </p:sp>
        <p:sp>
          <p:nvSpPr>
            <p:cNvPr id="23593" name="Rectangle 37"/>
            <p:cNvSpPr>
              <a:spLocks noChangeArrowheads="1"/>
            </p:cNvSpPr>
            <p:nvPr/>
          </p:nvSpPr>
          <p:spPr bwMode="auto">
            <a:xfrm>
              <a:off x="3535" y="271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4</a:t>
              </a:r>
              <a:endParaRPr lang="en-US" altLang="zh-CN" sz="2000" b="1">
                <a:solidFill>
                  <a:srgbClr val="FF3399"/>
                </a:solidFill>
              </a:endParaRPr>
            </a:p>
          </p:txBody>
        </p:sp>
        <p:sp>
          <p:nvSpPr>
            <p:cNvPr id="23594" name="Rectangle 38"/>
            <p:cNvSpPr>
              <a:spLocks noChangeArrowheads="1"/>
            </p:cNvSpPr>
            <p:nvPr/>
          </p:nvSpPr>
          <p:spPr bwMode="auto">
            <a:xfrm>
              <a:off x="3050" y="2711"/>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95" name="Rectangle 39"/>
            <p:cNvSpPr>
              <a:spLocks noChangeArrowheads="1"/>
            </p:cNvSpPr>
            <p:nvPr/>
          </p:nvSpPr>
          <p:spPr bwMode="auto">
            <a:xfrm>
              <a:off x="2566" y="271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4</a:t>
              </a:r>
              <a:endParaRPr lang="en-US" altLang="zh-CN" sz="2000" b="1">
                <a:solidFill>
                  <a:srgbClr val="FF3399"/>
                </a:solidFill>
              </a:endParaRPr>
            </a:p>
          </p:txBody>
        </p:sp>
        <p:sp>
          <p:nvSpPr>
            <p:cNvPr id="23596" name="Rectangle 40"/>
            <p:cNvSpPr>
              <a:spLocks noChangeArrowheads="1"/>
            </p:cNvSpPr>
            <p:nvPr/>
          </p:nvSpPr>
          <p:spPr bwMode="auto">
            <a:xfrm>
              <a:off x="2082" y="271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597" name="Rectangle 41"/>
            <p:cNvSpPr>
              <a:spLocks noChangeArrowheads="1"/>
            </p:cNvSpPr>
            <p:nvPr/>
          </p:nvSpPr>
          <p:spPr bwMode="auto">
            <a:xfrm>
              <a:off x="1598" y="2711"/>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598" name="Rectangle 42"/>
            <p:cNvSpPr>
              <a:spLocks noChangeArrowheads="1"/>
            </p:cNvSpPr>
            <p:nvPr/>
          </p:nvSpPr>
          <p:spPr bwMode="auto">
            <a:xfrm>
              <a:off x="1113" y="2711"/>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3</a:t>
              </a:r>
              <a:endParaRPr lang="en-US" altLang="zh-CN" sz="2000" b="1">
                <a:solidFill>
                  <a:srgbClr val="FF3399"/>
                </a:solidFill>
              </a:endParaRPr>
            </a:p>
          </p:txBody>
        </p:sp>
      </p:grpSp>
      <p:sp>
        <p:nvSpPr>
          <p:cNvPr id="23599" name="Rectangle 43"/>
          <p:cNvSpPr>
            <a:spLocks noChangeArrowheads="1"/>
          </p:cNvSpPr>
          <p:nvPr/>
        </p:nvSpPr>
        <p:spPr bwMode="auto">
          <a:xfrm>
            <a:off x="457200" y="4303713"/>
            <a:ext cx="1309688"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层次</a:t>
            </a:r>
            <a:endParaRPr lang="zh-CN" altLang="en-US" b="1">
              <a:solidFill>
                <a:srgbClr val="3333FF"/>
              </a:solidFill>
            </a:endParaRPr>
          </a:p>
        </p:txBody>
      </p:sp>
      <p:grpSp>
        <p:nvGrpSpPr>
          <p:cNvPr id="558198" name="Group 118"/>
          <p:cNvGrpSpPr/>
          <p:nvPr/>
        </p:nvGrpSpPr>
        <p:grpSpPr bwMode="auto">
          <a:xfrm>
            <a:off x="1766888" y="3836988"/>
            <a:ext cx="6919912" cy="466725"/>
            <a:chOff x="1113" y="2417"/>
            <a:chExt cx="4359" cy="294"/>
          </a:xfrm>
        </p:grpSpPr>
        <p:sp>
          <p:nvSpPr>
            <p:cNvPr id="23601" name="Rectangle 44"/>
            <p:cNvSpPr>
              <a:spLocks noChangeArrowheads="1"/>
            </p:cNvSpPr>
            <p:nvPr/>
          </p:nvSpPr>
          <p:spPr bwMode="auto">
            <a:xfrm>
              <a:off x="4988" y="241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02" name="Rectangle 45"/>
            <p:cNvSpPr>
              <a:spLocks noChangeArrowheads="1"/>
            </p:cNvSpPr>
            <p:nvPr/>
          </p:nvSpPr>
          <p:spPr bwMode="auto">
            <a:xfrm>
              <a:off x="4503" y="2417"/>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4</a:t>
              </a:r>
              <a:endParaRPr lang="en-US" altLang="zh-CN" sz="2000" b="1">
                <a:solidFill>
                  <a:srgbClr val="FF3399"/>
                </a:solidFill>
              </a:endParaRPr>
            </a:p>
          </p:txBody>
        </p:sp>
        <p:sp>
          <p:nvSpPr>
            <p:cNvPr id="23603" name="Rectangle 46"/>
            <p:cNvSpPr>
              <a:spLocks noChangeArrowheads="1"/>
            </p:cNvSpPr>
            <p:nvPr/>
          </p:nvSpPr>
          <p:spPr bwMode="auto">
            <a:xfrm>
              <a:off x="4019" y="241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4</a:t>
              </a:r>
              <a:endParaRPr lang="en-US" altLang="zh-CN" sz="2000" b="1">
                <a:solidFill>
                  <a:srgbClr val="FF3399"/>
                </a:solidFill>
              </a:endParaRPr>
            </a:p>
          </p:txBody>
        </p:sp>
        <p:sp>
          <p:nvSpPr>
            <p:cNvPr id="23604" name="Rectangle 47"/>
            <p:cNvSpPr>
              <a:spLocks noChangeArrowheads="1"/>
            </p:cNvSpPr>
            <p:nvPr/>
          </p:nvSpPr>
          <p:spPr bwMode="auto">
            <a:xfrm>
              <a:off x="3535" y="241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605" name="Rectangle 48"/>
            <p:cNvSpPr>
              <a:spLocks noChangeArrowheads="1"/>
            </p:cNvSpPr>
            <p:nvPr/>
          </p:nvSpPr>
          <p:spPr bwMode="auto">
            <a:xfrm>
              <a:off x="3050" y="2417"/>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2</a:t>
              </a:r>
              <a:endParaRPr lang="en-US" altLang="zh-CN" sz="2000" b="1">
                <a:solidFill>
                  <a:srgbClr val="FF3399"/>
                </a:solidFill>
              </a:endParaRPr>
            </a:p>
          </p:txBody>
        </p:sp>
        <p:sp>
          <p:nvSpPr>
            <p:cNvPr id="23606" name="Rectangle 49"/>
            <p:cNvSpPr>
              <a:spLocks noChangeArrowheads="1"/>
            </p:cNvSpPr>
            <p:nvPr/>
          </p:nvSpPr>
          <p:spPr bwMode="auto">
            <a:xfrm>
              <a:off x="2566" y="241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07" name="Rectangle 50"/>
            <p:cNvSpPr>
              <a:spLocks noChangeArrowheads="1"/>
            </p:cNvSpPr>
            <p:nvPr/>
          </p:nvSpPr>
          <p:spPr bwMode="auto">
            <a:xfrm>
              <a:off x="2082" y="241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08" name="Rectangle 51"/>
            <p:cNvSpPr>
              <a:spLocks noChangeArrowheads="1"/>
            </p:cNvSpPr>
            <p:nvPr/>
          </p:nvSpPr>
          <p:spPr bwMode="auto">
            <a:xfrm>
              <a:off x="1598" y="2417"/>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09" name="Rectangle 52"/>
            <p:cNvSpPr>
              <a:spLocks noChangeArrowheads="1"/>
            </p:cNvSpPr>
            <p:nvPr/>
          </p:nvSpPr>
          <p:spPr bwMode="auto">
            <a:xfrm>
              <a:off x="1113" y="2417"/>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grpSp>
      <p:sp>
        <p:nvSpPr>
          <p:cNvPr id="23610" name="Rectangle 53"/>
          <p:cNvSpPr>
            <a:spLocks noChangeArrowheads="1"/>
          </p:cNvSpPr>
          <p:nvPr/>
        </p:nvSpPr>
        <p:spPr bwMode="auto">
          <a:xfrm>
            <a:off x="457200" y="3836988"/>
            <a:ext cx="13096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事件驱动</a:t>
            </a:r>
            <a:endParaRPr lang="zh-CN" altLang="en-US" b="1">
              <a:solidFill>
                <a:srgbClr val="3333FF"/>
              </a:solidFill>
            </a:endParaRPr>
          </a:p>
        </p:txBody>
      </p:sp>
      <p:grpSp>
        <p:nvGrpSpPr>
          <p:cNvPr id="558197" name="Group 117"/>
          <p:cNvGrpSpPr/>
          <p:nvPr/>
        </p:nvGrpSpPr>
        <p:grpSpPr bwMode="auto">
          <a:xfrm>
            <a:off x="1766888" y="3371850"/>
            <a:ext cx="6919912" cy="465138"/>
            <a:chOff x="1113" y="2124"/>
            <a:chExt cx="4359" cy="293"/>
          </a:xfrm>
        </p:grpSpPr>
        <p:sp>
          <p:nvSpPr>
            <p:cNvPr id="23612" name="Rectangle 54"/>
            <p:cNvSpPr>
              <a:spLocks noChangeArrowheads="1"/>
            </p:cNvSpPr>
            <p:nvPr/>
          </p:nvSpPr>
          <p:spPr bwMode="auto">
            <a:xfrm>
              <a:off x="4988" y="212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613" name="Rectangle 55"/>
            <p:cNvSpPr>
              <a:spLocks noChangeArrowheads="1"/>
            </p:cNvSpPr>
            <p:nvPr/>
          </p:nvSpPr>
          <p:spPr bwMode="auto">
            <a:xfrm>
              <a:off x="4503" y="2124"/>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14" name="Rectangle 56"/>
            <p:cNvSpPr>
              <a:spLocks noChangeArrowheads="1"/>
            </p:cNvSpPr>
            <p:nvPr/>
          </p:nvSpPr>
          <p:spPr bwMode="auto">
            <a:xfrm>
              <a:off x="4019" y="212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4</a:t>
              </a:r>
              <a:endParaRPr lang="en-US" altLang="zh-CN" sz="2000" b="1">
                <a:solidFill>
                  <a:srgbClr val="FF3399"/>
                </a:solidFill>
              </a:endParaRPr>
            </a:p>
          </p:txBody>
        </p:sp>
        <p:sp>
          <p:nvSpPr>
            <p:cNvPr id="23615" name="Rectangle 57"/>
            <p:cNvSpPr>
              <a:spLocks noChangeArrowheads="1"/>
            </p:cNvSpPr>
            <p:nvPr/>
          </p:nvSpPr>
          <p:spPr bwMode="auto">
            <a:xfrm>
              <a:off x="3535" y="212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616" name="Rectangle 58"/>
            <p:cNvSpPr>
              <a:spLocks noChangeArrowheads="1"/>
            </p:cNvSpPr>
            <p:nvPr/>
          </p:nvSpPr>
          <p:spPr bwMode="auto">
            <a:xfrm>
              <a:off x="3050" y="2124"/>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17" name="Rectangle 59"/>
            <p:cNvSpPr>
              <a:spLocks noChangeArrowheads="1"/>
            </p:cNvSpPr>
            <p:nvPr/>
          </p:nvSpPr>
          <p:spPr bwMode="auto">
            <a:xfrm>
              <a:off x="2566" y="212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618" name="Rectangle 60"/>
            <p:cNvSpPr>
              <a:spLocks noChangeArrowheads="1"/>
            </p:cNvSpPr>
            <p:nvPr/>
          </p:nvSpPr>
          <p:spPr bwMode="auto">
            <a:xfrm>
              <a:off x="2082" y="212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19" name="Rectangle 61"/>
            <p:cNvSpPr>
              <a:spLocks noChangeArrowheads="1"/>
            </p:cNvSpPr>
            <p:nvPr/>
          </p:nvSpPr>
          <p:spPr bwMode="auto">
            <a:xfrm>
              <a:off x="1598" y="2124"/>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20" name="Rectangle 62"/>
            <p:cNvSpPr>
              <a:spLocks noChangeArrowheads="1"/>
            </p:cNvSpPr>
            <p:nvPr/>
          </p:nvSpPr>
          <p:spPr bwMode="auto">
            <a:xfrm>
              <a:off x="1113" y="2124"/>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grpSp>
      <p:sp>
        <p:nvSpPr>
          <p:cNvPr id="23621" name="Rectangle 63"/>
          <p:cNvSpPr>
            <a:spLocks noChangeArrowheads="1"/>
          </p:cNvSpPr>
          <p:nvPr/>
        </p:nvSpPr>
        <p:spPr bwMode="auto">
          <a:xfrm>
            <a:off x="457200" y="3371850"/>
            <a:ext cx="1309688"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面向对象</a:t>
            </a:r>
            <a:endParaRPr lang="zh-CN" altLang="en-US" b="1">
              <a:solidFill>
                <a:srgbClr val="3333FF"/>
              </a:solidFill>
            </a:endParaRPr>
          </a:p>
        </p:txBody>
      </p:sp>
      <p:grpSp>
        <p:nvGrpSpPr>
          <p:cNvPr id="558196" name="Group 116"/>
          <p:cNvGrpSpPr/>
          <p:nvPr/>
        </p:nvGrpSpPr>
        <p:grpSpPr bwMode="auto">
          <a:xfrm>
            <a:off x="1766888" y="2905125"/>
            <a:ext cx="6919912" cy="466725"/>
            <a:chOff x="1113" y="1830"/>
            <a:chExt cx="4359" cy="294"/>
          </a:xfrm>
        </p:grpSpPr>
        <p:sp>
          <p:nvSpPr>
            <p:cNvPr id="23623" name="Rectangle 64"/>
            <p:cNvSpPr>
              <a:spLocks noChangeArrowheads="1"/>
            </p:cNvSpPr>
            <p:nvPr/>
          </p:nvSpPr>
          <p:spPr bwMode="auto">
            <a:xfrm>
              <a:off x="4988" y="1830"/>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624" name="Rectangle 65"/>
            <p:cNvSpPr>
              <a:spLocks noChangeArrowheads="1"/>
            </p:cNvSpPr>
            <p:nvPr/>
          </p:nvSpPr>
          <p:spPr bwMode="auto">
            <a:xfrm>
              <a:off x="4503" y="1830"/>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25" name="Rectangle 66"/>
            <p:cNvSpPr>
              <a:spLocks noChangeArrowheads="1"/>
            </p:cNvSpPr>
            <p:nvPr/>
          </p:nvSpPr>
          <p:spPr bwMode="auto">
            <a:xfrm>
              <a:off x="4019" y="1830"/>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26" name="Rectangle 67"/>
            <p:cNvSpPr>
              <a:spLocks noChangeArrowheads="1"/>
            </p:cNvSpPr>
            <p:nvPr/>
          </p:nvSpPr>
          <p:spPr bwMode="auto">
            <a:xfrm>
              <a:off x="3535" y="1830"/>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627" name="Rectangle 68"/>
            <p:cNvSpPr>
              <a:spLocks noChangeArrowheads="1"/>
            </p:cNvSpPr>
            <p:nvPr/>
          </p:nvSpPr>
          <p:spPr bwMode="auto">
            <a:xfrm>
              <a:off x="3050" y="1830"/>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28" name="Rectangle 69"/>
            <p:cNvSpPr>
              <a:spLocks noChangeArrowheads="1"/>
            </p:cNvSpPr>
            <p:nvPr/>
          </p:nvSpPr>
          <p:spPr bwMode="auto">
            <a:xfrm>
              <a:off x="2566" y="1830"/>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3</a:t>
              </a:r>
              <a:endParaRPr lang="en-US" altLang="zh-CN" sz="2000" b="1">
                <a:solidFill>
                  <a:srgbClr val="FF3399"/>
                </a:solidFill>
              </a:endParaRPr>
            </a:p>
          </p:txBody>
        </p:sp>
        <p:sp>
          <p:nvSpPr>
            <p:cNvPr id="23629" name="Rectangle 70"/>
            <p:cNvSpPr>
              <a:spLocks noChangeArrowheads="1"/>
            </p:cNvSpPr>
            <p:nvPr/>
          </p:nvSpPr>
          <p:spPr bwMode="auto">
            <a:xfrm>
              <a:off x="2082" y="1830"/>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30" name="Rectangle 71"/>
            <p:cNvSpPr>
              <a:spLocks noChangeArrowheads="1"/>
            </p:cNvSpPr>
            <p:nvPr/>
          </p:nvSpPr>
          <p:spPr bwMode="auto">
            <a:xfrm>
              <a:off x="1598" y="1830"/>
              <a:ext cx="48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3</a:t>
              </a:r>
              <a:endParaRPr lang="en-US" altLang="zh-CN" sz="2000" b="1">
                <a:solidFill>
                  <a:srgbClr val="FF3399"/>
                </a:solidFill>
              </a:endParaRPr>
            </a:p>
          </p:txBody>
        </p:sp>
        <p:sp>
          <p:nvSpPr>
            <p:cNvPr id="23631" name="Rectangle 72"/>
            <p:cNvSpPr>
              <a:spLocks noChangeArrowheads="1"/>
            </p:cNvSpPr>
            <p:nvPr/>
          </p:nvSpPr>
          <p:spPr bwMode="auto">
            <a:xfrm>
              <a:off x="1113" y="1830"/>
              <a:ext cx="48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2</a:t>
              </a:r>
              <a:endParaRPr lang="en-US" altLang="zh-CN" sz="2000" b="1">
                <a:solidFill>
                  <a:srgbClr val="FF3399"/>
                </a:solidFill>
              </a:endParaRPr>
            </a:p>
          </p:txBody>
        </p:sp>
      </p:grpSp>
      <p:sp>
        <p:nvSpPr>
          <p:cNvPr id="23632" name="Rectangle 73"/>
          <p:cNvSpPr>
            <a:spLocks noChangeArrowheads="1"/>
          </p:cNvSpPr>
          <p:nvPr/>
        </p:nvSpPr>
        <p:spPr bwMode="auto">
          <a:xfrm>
            <a:off x="457200" y="2905125"/>
            <a:ext cx="13096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dirty="0">
                <a:solidFill>
                  <a:srgbClr val="3333FF"/>
                </a:solidFill>
              </a:rPr>
              <a:t>结构化</a:t>
            </a:r>
            <a:endParaRPr lang="zh-CN" altLang="en-US" b="1" dirty="0">
              <a:solidFill>
                <a:srgbClr val="3333FF"/>
              </a:solidFill>
            </a:endParaRPr>
          </a:p>
        </p:txBody>
      </p:sp>
      <p:grpSp>
        <p:nvGrpSpPr>
          <p:cNvPr id="558195" name="Group 115"/>
          <p:cNvGrpSpPr/>
          <p:nvPr/>
        </p:nvGrpSpPr>
        <p:grpSpPr bwMode="auto">
          <a:xfrm>
            <a:off x="1766888" y="2439988"/>
            <a:ext cx="6919912" cy="465137"/>
            <a:chOff x="1113" y="1537"/>
            <a:chExt cx="4359" cy="293"/>
          </a:xfrm>
        </p:grpSpPr>
        <p:sp>
          <p:nvSpPr>
            <p:cNvPr id="23634" name="Rectangle 74"/>
            <p:cNvSpPr>
              <a:spLocks noChangeArrowheads="1"/>
            </p:cNvSpPr>
            <p:nvPr/>
          </p:nvSpPr>
          <p:spPr bwMode="auto">
            <a:xfrm>
              <a:off x="4988" y="1537"/>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635" name="Rectangle 75"/>
            <p:cNvSpPr>
              <a:spLocks noChangeArrowheads="1"/>
            </p:cNvSpPr>
            <p:nvPr/>
          </p:nvSpPr>
          <p:spPr bwMode="auto">
            <a:xfrm>
              <a:off x="4503" y="1537"/>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1</a:t>
              </a:r>
              <a:endParaRPr lang="en-US" altLang="zh-CN" sz="2000" b="1">
                <a:solidFill>
                  <a:srgbClr val="FF3399"/>
                </a:solidFill>
              </a:endParaRPr>
            </a:p>
          </p:txBody>
        </p:sp>
        <p:sp>
          <p:nvSpPr>
            <p:cNvPr id="23636" name="Rectangle 76"/>
            <p:cNvSpPr>
              <a:spLocks noChangeArrowheads="1"/>
            </p:cNvSpPr>
            <p:nvPr/>
          </p:nvSpPr>
          <p:spPr bwMode="auto">
            <a:xfrm>
              <a:off x="4019" y="1537"/>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dirty="0">
                  <a:solidFill>
                    <a:srgbClr val="FF3399"/>
                  </a:solidFill>
                </a:rPr>
                <a:t>5</a:t>
              </a:r>
              <a:endParaRPr lang="en-US" altLang="zh-CN" sz="2000" b="1" dirty="0">
                <a:solidFill>
                  <a:srgbClr val="FF3399"/>
                </a:solidFill>
              </a:endParaRPr>
            </a:p>
          </p:txBody>
        </p:sp>
        <p:sp>
          <p:nvSpPr>
            <p:cNvPr id="23637" name="Rectangle 77"/>
            <p:cNvSpPr>
              <a:spLocks noChangeArrowheads="1"/>
            </p:cNvSpPr>
            <p:nvPr/>
          </p:nvSpPr>
          <p:spPr bwMode="auto">
            <a:xfrm>
              <a:off x="3535" y="1537"/>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2</a:t>
              </a:r>
              <a:endParaRPr lang="en-US" altLang="zh-CN" sz="2000" b="1">
                <a:solidFill>
                  <a:srgbClr val="FF3399"/>
                </a:solidFill>
              </a:endParaRPr>
            </a:p>
          </p:txBody>
        </p:sp>
        <p:sp>
          <p:nvSpPr>
            <p:cNvPr id="23638" name="Rectangle 78"/>
            <p:cNvSpPr>
              <a:spLocks noChangeArrowheads="1"/>
            </p:cNvSpPr>
            <p:nvPr/>
          </p:nvSpPr>
          <p:spPr bwMode="auto">
            <a:xfrm>
              <a:off x="3050" y="1537"/>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dirty="0">
                  <a:solidFill>
                    <a:srgbClr val="FF3399"/>
                  </a:solidFill>
                </a:rPr>
                <a:t>5</a:t>
              </a:r>
              <a:endParaRPr lang="en-US" altLang="zh-CN" sz="2000" b="1" dirty="0">
                <a:solidFill>
                  <a:srgbClr val="FF3399"/>
                </a:solidFill>
              </a:endParaRPr>
            </a:p>
          </p:txBody>
        </p:sp>
        <p:sp>
          <p:nvSpPr>
            <p:cNvPr id="23639" name="Rectangle 79"/>
            <p:cNvSpPr>
              <a:spLocks noChangeArrowheads="1"/>
            </p:cNvSpPr>
            <p:nvPr/>
          </p:nvSpPr>
          <p:spPr bwMode="auto">
            <a:xfrm>
              <a:off x="2566" y="1537"/>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40" name="Rectangle 80"/>
            <p:cNvSpPr>
              <a:spLocks noChangeArrowheads="1"/>
            </p:cNvSpPr>
            <p:nvPr/>
          </p:nvSpPr>
          <p:spPr bwMode="auto">
            <a:xfrm>
              <a:off x="2082" y="1537"/>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dirty="0">
                  <a:solidFill>
                    <a:srgbClr val="FF3399"/>
                  </a:solidFill>
                </a:rPr>
                <a:t>1</a:t>
              </a:r>
              <a:endParaRPr lang="en-US" altLang="zh-CN" sz="2000" b="1" dirty="0">
                <a:solidFill>
                  <a:srgbClr val="FF3399"/>
                </a:solidFill>
              </a:endParaRPr>
            </a:p>
          </p:txBody>
        </p:sp>
        <p:sp>
          <p:nvSpPr>
            <p:cNvPr id="23641" name="Rectangle 81"/>
            <p:cNvSpPr>
              <a:spLocks noChangeArrowheads="1"/>
            </p:cNvSpPr>
            <p:nvPr/>
          </p:nvSpPr>
          <p:spPr bwMode="auto">
            <a:xfrm>
              <a:off x="1598" y="1537"/>
              <a:ext cx="48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a:solidFill>
                    <a:srgbClr val="FF3399"/>
                  </a:solidFill>
                </a:rPr>
                <a:t>5</a:t>
              </a:r>
              <a:endParaRPr lang="en-US" altLang="zh-CN" sz="2000" b="1">
                <a:solidFill>
                  <a:srgbClr val="FF3399"/>
                </a:solidFill>
              </a:endParaRPr>
            </a:p>
          </p:txBody>
        </p:sp>
        <p:sp>
          <p:nvSpPr>
            <p:cNvPr id="23642" name="Rectangle 82"/>
            <p:cNvSpPr>
              <a:spLocks noChangeArrowheads="1"/>
            </p:cNvSpPr>
            <p:nvPr/>
          </p:nvSpPr>
          <p:spPr bwMode="auto">
            <a:xfrm>
              <a:off x="1113" y="1537"/>
              <a:ext cx="48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en-US" altLang="zh-CN" sz="2000" b="1" dirty="0">
                  <a:solidFill>
                    <a:srgbClr val="FF3399"/>
                  </a:solidFill>
                </a:rPr>
                <a:t>5</a:t>
              </a:r>
              <a:endParaRPr lang="en-US" altLang="zh-CN" sz="2000" b="1" dirty="0">
                <a:solidFill>
                  <a:srgbClr val="FF3399"/>
                </a:solidFill>
              </a:endParaRPr>
            </a:p>
          </p:txBody>
        </p:sp>
      </p:grpSp>
      <p:sp>
        <p:nvSpPr>
          <p:cNvPr id="23643" name="Rectangle 83"/>
          <p:cNvSpPr>
            <a:spLocks noChangeArrowheads="1"/>
          </p:cNvSpPr>
          <p:nvPr/>
        </p:nvSpPr>
        <p:spPr bwMode="auto">
          <a:xfrm>
            <a:off x="457200" y="2439988"/>
            <a:ext cx="1309688"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管道</a:t>
            </a:r>
            <a:endParaRPr lang="zh-CN" altLang="en-US" b="1">
              <a:solidFill>
                <a:srgbClr val="3333FF"/>
              </a:solidFill>
            </a:endParaRPr>
          </a:p>
        </p:txBody>
      </p:sp>
      <p:sp>
        <p:nvSpPr>
          <p:cNvPr id="23644" name="Rectangle 84"/>
          <p:cNvSpPr>
            <a:spLocks noChangeArrowheads="1"/>
          </p:cNvSpPr>
          <p:nvPr/>
        </p:nvSpPr>
        <p:spPr bwMode="auto">
          <a:xfrm>
            <a:off x="7918450" y="1557338"/>
            <a:ext cx="7683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容错</a:t>
            </a:r>
            <a:endParaRPr lang="zh-CN" altLang="en-US" b="1">
              <a:solidFill>
                <a:srgbClr val="3333FF"/>
              </a:solidFill>
            </a:endParaRPr>
          </a:p>
        </p:txBody>
      </p:sp>
      <p:sp>
        <p:nvSpPr>
          <p:cNvPr id="23645" name="Rectangle 85"/>
          <p:cNvSpPr>
            <a:spLocks noChangeArrowheads="1"/>
          </p:cNvSpPr>
          <p:nvPr/>
        </p:nvSpPr>
        <p:spPr bwMode="auto">
          <a:xfrm>
            <a:off x="7148513" y="1557338"/>
            <a:ext cx="769937"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节省空间</a:t>
            </a:r>
            <a:endParaRPr lang="zh-CN" altLang="en-US" b="1">
              <a:solidFill>
                <a:srgbClr val="3333FF"/>
              </a:solidFill>
            </a:endParaRPr>
          </a:p>
        </p:txBody>
      </p:sp>
      <p:sp>
        <p:nvSpPr>
          <p:cNvPr id="23646" name="Rectangle 86"/>
          <p:cNvSpPr>
            <a:spLocks noChangeArrowheads="1"/>
          </p:cNvSpPr>
          <p:nvPr/>
        </p:nvSpPr>
        <p:spPr bwMode="auto">
          <a:xfrm>
            <a:off x="6380163" y="1557338"/>
            <a:ext cx="7683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计算性能</a:t>
            </a:r>
            <a:endParaRPr lang="zh-CN" altLang="en-US" b="1">
              <a:solidFill>
                <a:srgbClr val="3333FF"/>
              </a:solidFill>
            </a:endParaRPr>
          </a:p>
        </p:txBody>
      </p:sp>
      <p:sp>
        <p:nvSpPr>
          <p:cNvPr id="23647" name="Rectangle 87"/>
          <p:cNvSpPr>
            <a:spLocks noChangeArrowheads="1"/>
          </p:cNvSpPr>
          <p:nvPr/>
        </p:nvSpPr>
        <p:spPr bwMode="auto">
          <a:xfrm>
            <a:off x="5611813" y="1557338"/>
            <a:ext cx="7683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接口变换</a:t>
            </a:r>
            <a:endParaRPr lang="zh-CN" altLang="en-US" b="1">
              <a:solidFill>
                <a:srgbClr val="3333FF"/>
              </a:solidFill>
            </a:endParaRPr>
          </a:p>
        </p:txBody>
      </p:sp>
      <p:sp>
        <p:nvSpPr>
          <p:cNvPr id="23648" name="Rectangle 88"/>
          <p:cNvSpPr>
            <a:spLocks noChangeArrowheads="1"/>
          </p:cNvSpPr>
          <p:nvPr/>
        </p:nvSpPr>
        <p:spPr bwMode="auto">
          <a:xfrm>
            <a:off x="4841875" y="1557338"/>
            <a:ext cx="769938"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组件互通</a:t>
            </a:r>
            <a:endParaRPr lang="zh-CN" altLang="en-US" b="1">
              <a:solidFill>
                <a:srgbClr val="3333FF"/>
              </a:solidFill>
            </a:endParaRPr>
          </a:p>
        </p:txBody>
      </p:sp>
      <p:sp>
        <p:nvSpPr>
          <p:cNvPr id="23649" name="Rectangle 89"/>
          <p:cNvSpPr>
            <a:spLocks noChangeArrowheads="1"/>
          </p:cNvSpPr>
          <p:nvPr/>
        </p:nvSpPr>
        <p:spPr bwMode="auto">
          <a:xfrm>
            <a:off x="4073525" y="1557338"/>
            <a:ext cx="7683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组件无关</a:t>
            </a:r>
            <a:endParaRPr lang="zh-CN" altLang="en-US" b="1">
              <a:solidFill>
                <a:srgbClr val="3333FF"/>
              </a:solidFill>
            </a:endParaRPr>
          </a:p>
        </p:txBody>
      </p:sp>
      <p:sp>
        <p:nvSpPr>
          <p:cNvPr id="23650" name="Rectangle 90"/>
          <p:cNvSpPr>
            <a:spLocks noChangeArrowheads="1"/>
          </p:cNvSpPr>
          <p:nvPr/>
        </p:nvSpPr>
        <p:spPr bwMode="auto">
          <a:xfrm>
            <a:off x="3305175" y="1557338"/>
            <a:ext cx="7683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组件移位</a:t>
            </a:r>
            <a:endParaRPr lang="zh-CN" altLang="en-US" b="1">
              <a:solidFill>
                <a:srgbClr val="3333FF"/>
              </a:solidFill>
            </a:endParaRPr>
          </a:p>
        </p:txBody>
      </p:sp>
      <p:sp>
        <p:nvSpPr>
          <p:cNvPr id="23651" name="Rectangle 91"/>
          <p:cNvSpPr>
            <a:spLocks noChangeArrowheads="1"/>
          </p:cNvSpPr>
          <p:nvPr/>
        </p:nvSpPr>
        <p:spPr bwMode="auto">
          <a:xfrm>
            <a:off x="2536825" y="1557338"/>
            <a:ext cx="7683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组件更换</a:t>
            </a:r>
            <a:endParaRPr lang="zh-CN" altLang="en-US" b="1">
              <a:solidFill>
                <a:srgbClr val="3333FF"/>
              </a:solidFill>
            </a:endParaRPr>
          </a:p>
        </p:txBody>
      </p:sp>
      <p:sp>
        <p:nvSpPr>
          <p:cNvPr id="23652" name="Rectangle 92"/>
          <p:cNvSpPr>
            <a:spLocks noChangeArrowheads="1"/>
          </p:cNvSpPr>
          <p:nvPr/>
        </p:nvSpPr>
        <p:spPr bwMode="auto">
          <a:xfrm>
            <a:off x="1766888" y="1557338"/>
            <a:ext cx="769937"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0" rIns="54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SzPct val="75000"/>
              <a:buFont typeface="Wingdings" panose="05000000000000000000" pitchFamily="2" charset="2"/>
              <a:buNone/>
            </a:pPr>
            <a:r>
              <a:rPr lang="zh-CN" altLang="en-US" b="1">
                <a:solidFill>
                  <a:srgbClr val="3333FF"/>
                </a:solidFill>
              </a:rPr>
              <a:t>组件重用</a:t>
            </a:r>
            <a:endParaRPr lang="zh-CN" altLang="en-US" b="1">
              <a:solidFill>
                <a:srgbClr val="3333FF"/>
              </a:solidFill>
            </a:endParaRPr>
          </a:p>
        </p:txBody>
      </p:sp>
      <p:sp>
        <p:nvSpPr>
          <p:cNvPr id="23653" name="Rectangle 93"/>
          <p:cNvSpPr>
            <a:spLocks noChangeArrowheads="1"/>
          </p:cNvSpPr>
          <p:nvPr/>
        </p:nvSpPr>
        <p:spPr bwMode="auto">
          <a:xfrm>
            <a:off x="457200" y="1557338"/>
            <a:ext cx="1309688"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0" rIns="90000" bIns="0"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endParaRPr lang="zh-CN" altLang="zh-CN" sz="2800" b="1">
              <a:solidFill>
                <a:srgbClr val="3333FF"/>
              </a:solidFill>
            </a:endParaRPr>
          </a:p>
        </p:txBody>
      </p:sp>
      <p:sp>
        <p:nvSpPr>
          <p:cNvPr id="23654" name="Line 94"/>
          <p:cNvSpPr>
            <a:spLocks noChangeShapeType="1"/>
          </p:cNvSpPr>
          <p:nvPr/>
        </p:nvSpPr>
        <p:spPr bwMode="auto">
          <a:xfrm>
            <a:off x="457200" y="1557338"/>
            <a:ext cx="82296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55" name="Line 95"/>
          <p:cNvSpPr>
            <a:spLocks noChangeShapeType="1"/>
          </p:cNvSpPr>
          <p:nvPr/>
        </p:nvSpPr>
        <p:spPr bwMode="auto">
          <a:xfrm>
            <a:off x="457200" y="2439988"/>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56" name="Line 96"/>
          <p:cNvSpPr>
            <a:spLocks noChangeShapeType="1"/>
          </p:cNvSpPr>
          <p:nvPr/>
        </p:nvSpPr>
        <p:spPr bwMode="auto">
          <a:xfrm>
            <a:off x="457200" y="2905125"/>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57" name="Line 97"/>
          <p:cNvSpPr>
            <a:spLocks noChangeShapeType="1"/>
          </p:cNvSpPr>
          <p:nvPr/>
        </p:nvSpPr>
        <p:spPr bwMode="auto">
          <a:xfrm>
            <a:off x="457200" y="3371850"/>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58" name="Line 98"/>
          <p:cNvSpPr>
            <a:spLocks noChangeShapeType="1"/>
          </p:cNvSpPr>
          <p:nvPr/>
        </p:nvSpPr>
        <p:spPr bwMode="auto">
          <a:xfrm>
            <a:off x="457200" y="3836988"/>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59" name="Line 99"/>
          <p:cNvSpPr>
            <a:spLocks noChangeShapeType="1"/>
          </p:cNvSpPr>
          <p:nvPr/>
        </p:nvSpPr>
        <p:spPr bwMode="auto">
          <a:xfrm>
            <a:off x="457200" y="4303713"/>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0" name="Line 100"/>
          <p:cNvSpPr>
            <a:spLocks noChangeShapeType="1"/>
          </p:cNvSpPr>
          <p:nvPr/>
        </p:nvSpPr>
        <p:spPr bwMode="auto">
          <a:xfrm>
            <a:off x="457200" y="4768850"/>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1" name="Line 101"/>
          <p:cNvSpPr>
            <a:spLocks noChangeShapeType="1"/>
          </p:cNvSpPr>
          <p:nvPr/>
        </p:nvSpPr>
        <p:spPr bwMode="auto">
          <a:xfrm>
            <a:off x="457200" y="5233988"/>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2" name="Line 102"/>
          <p:cNvSpPr>
            <a:spLocks noChangeShapeType="1"/>
          </p:cNvSpPr>
          <p:nvPr/>
        </p:nvSpPr>
        <p:spPr bwMode="auto">
          <a:xfrm>
            <a:off x="457200" y="5700713"/>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3" name="Line 103"/>
          <p:cNvSpPr>
            <a:spLocks noChangeShapeType="1"/>
          </p:cNvSpPr>
          <p:nvPr/>
        </p:nvSpPr>
        <p:spPr bwMode="auto">
          <a:xfrm>
            <a:off x="457200" y="6165850"/>
            <a:ext cx="82296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4" name="Line 104"/>
          <p:cNvSpPr>
            <a:spLocks noChangeShapeType="1"/>
          </p:cNvSpPr>
          <p:nvPr/>
        </p:nvSpPr>
        <p:spPr bwMode="auto">
          <a:xfrm>
            <a:off x="457200" y="1557338"/>
            <a:ext cx="0" cy="4608512"/>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5" name="Line 105"/>
          <p:cNvSpPr>
            <a:spLocks noChangeShapeType="1"/>
          </p:cNvSpPr>
          <p:nvPr/>
        </p:nvSpPr>
        <p:spPr bwMode="auto">
          <a:xfrm>
            <a:off x="1766888"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6" name="Line 106"/>
          <p:cNvSpPr>
            <a:spLocks noChangeShapeType="1"/>
          </p:cNvSpPr>
          <p:nvPr/>
        </p:nvSpPr>
        <p:spPr bwMode="auto">
          <a:xfrm>
            <a:off x="2536825"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7" name="Line 107"/>
          <p:cNvSpPr>
            <a:spLocks noChangeShapeType="1"/>
          </p:cNvSpPr>
          <p:nvPr/>
        </p:nvSpPr>
        <p:spPr bwMode="auto">
          <a:xfrm>
            <a:off x="3305175"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8" name="Line 108"/>
          <p:cNvSpPr>
            <a:spLocks noChangeShapeType="1"/>
          </p:cNvSpPr>
          <p:nvPr/>
        </p:nvSpPr>
        <p:spPr bwMode="auto">
          <a:xfrm>
            <a:off x="4073525"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69" name="Line 109"/>
          <p:cNvSpPr>
            <a:spLocks noChangeShapeType="1"/>
          </p:cNvSpPr>
          <p:nvPr/>
        </p:nvSpPr>
        <p:spPr bwMode="auto">
          <a:xfrm>
            <a:off x="4841875"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70" name="Line 110"/>
          <p:cNvSpPr>
            <a:spLocks noChangeShapeType="1"/>
          </p:cNvSpPr>
          <p:nvPr/>
        </p:nvSpPr>
        <p:spPr bwMode="auto">
          <a:xfrm>
            <a:off x="5611813"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71" name="Line 111"/>
          <p:cNvSpPr>
            <a:spLocks noChangeShapeType="1"/>
          </p:cNvSpPr>
          <p:nvPr/>
        </p:nvSpPr>
        <p:spPr bwMode="auto">
          <a:xfrm>
            <a:off x="6380163"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72" name="Line 112"/>
          <p:cNvSpPr>
            <a:spLocks noChangeShapeType="1"/>
          </p:cNvSpPr>
          <p:nvPr/>
        </p:nvSpPr>
        <p:spPr bwMode="auto">
          <a:xfrm>
            <a:off x="7148513"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73" name="Line 113"/>
          <p:cNvSpPr>
            <a:spLocks noChangeShapeType="1"/>
          </p:cNvSpPr>
          <p:nvPr/>
        </p:nvSpPr>
        <p:spPr bwMode="auto">
          <a:xfrm>
            <a:off x="7918450" y="1557338"/>
            <a:ext cx="0" cy="460851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74" name="Line 114"/>
          <p:cNvSpPr>
            <a:spLocks noChangeShapeType="1"/>
          </p:cNvSpPr>
          <p:nvPr/>
        </p:nvSpPr>
        <p:spPr bwMode="auto">
          <a:xfrm>
            <a:off x="8686800" y="1557338"/>
            <a:ext cx="0" cy="4608512"/>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8195"/>
                                        </p:tgtEl>
                                        <p:attrNameLst>
                                          <p:attrName>style.visibility</p:attrName>
                                        </p:attrNameLst>
                                      </p:cBhvr>
                                      <p:to>
                                        <p:strVal val="visible"/>
                                      </p:to>
                                    </p:set>
                                    <p:animEffect transition="in" filter="wipe(left)">
                                      <p:cBhvr>
                                        <p:cTn id="7" dur="500"/>
                                        <p:tgtEl>
                                          <p:spTgt spid="5581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58196"/>
                                        </p:tgtEl>
                                        <p:attrNameLst>
                                          <p:attrName>style.visibility</p:attrName>
                                        </p:attrNameLst>
                                      </p:cBhvr>
                                      <p:to>
                                        <p:strVal val="visible"/>
                                      </p:to>
                                    </p:set>
                                    <p:animEffect transition="in" filter="wipe(left)">
                                      <p:cBhvr>
                                        <p:cTn id="12" dur="500"/>
                                        <p:tgtEl>
                                          <p:spTgt spid="5581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8197"/>
                                        </p:tgtEl>
                                        <p:attrNameLst>
                                          <p:attrName>style.visibility</p:attrName>
                                        </p:attrNameLst>
                                      </p:cBhvr>
                                      <p:to>
                                        <p:strVal val="visible"/>
                                      </p:to>
                                    </p:set>
                                    <p:animEffect transition="in" filter="wipe(left)">
                                      <p:cBhvr>
                                        <p:cTn id="17" dur="500"/>
                                        <p:tgtEl>
                                          <p:spTgt spid="5581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58198"/>
                                        </p:tgtEl>
                                        <p:attrNameLst>
                                          <p:attrName>style.visibility</p:attrName>
                                        </p:attrNameLst>
                                      </p:cBhvr>
                                      <p:to>
                                        <p:strVal val="visible"/>
                                      </p:to>
                                    </p:set>
                                    <p:animEffect transition="in" filter="wipe(left)">
                                      <p:cBhvr>
                                        <p:cTn id="22" dur="500"/>
                                        <p:tgtEl>
                                          <p:spTgt spid="5581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58199"/>
                                        </p:tgtEl>
                                        <p:attrNameLst>
                                          <p:attrName>style.visibility</p:attrName>
                                        </p:attrNameLst>
                                      </p:cBhvr>
                                      <p:to>
                                        <p:strVal val="visible"/>
                                      </p:to>
                                    </p:set>
                                    <p:animEffect transition="in" filter="wipe(left)">
                                      <p:cBhvr>
                                        <p:cTn id="27" dur="500"/>
                                        <p:tgtEl>
                                          <p:spTgt spid="5581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58200"/>
                                        </p:tgtEl>
                                        <p:attrNameLst>
                                          <p:attrName>style.visibility</p:attrName>
                                        </p:attrNameLst>
                                      </p:cBhvr>
                                      <p:to>
                                        <p:strVal val="visible"/>
                                      </p:to>
                                    </p:set>
                                    <p:animEffect transition="in" filter="wipe(left)">
                                      <p:cBhvr>
                                        <p:cTn id="32" dur="500"/>
                                        <p:tgtEl>
                                          <p:spTgt spid="5582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58201"/>
                                        </p:tgtEl>
                                        <p:attrNameLst>
                                          <p:attrName>style.visibility</p:attrName>
                                        </p:attrNameLst>
                                      </p:cBhvr>
                                      <p:to>
                                        <p:strVal val="visible"/>
                                      </p:to>
                                    </p:set>
                                    <p:animEffect transition="in" filter="wipe(left)">
                                      <p:cBhvr>
                                        <p:cTn id="37" dur="500"/>
                                        <p:tgtEl>
                                          <p:spTgt spid="5582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58202"/>
                                        </p:tgtEl>
                                        <p:attrNameLst>
                                          <p:attrName>style.visibility</p:attrName>
                                        </p:attrNameLst>
                                      </p:cBhvr>
                                      <p:to>
                                        <p:strVal val="visible"/>
                                      </p:to>
                                    </p:set>
                                    <p:animEffect transition="in" filter="wipe(left)">
                                      <p:cBhvr>
                                        <p:cTn id="42" dur="500"/>
                                        <p:tgtEl>
                                          <p:spTgt spid="558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a:t>编译器对体系结构质量的期望值</a:t>
            </a:r>
            <a:endParaRPr lang="zh-CN" altLang="en-US"/>
          </a:p>
        </p:txBody>
      </p:sp>
      <p:sp>
        <p:nvSpPr>
          <p:cNvPr id="24580" name="Rectangle 3"/>
          <p:cNvSpPr>
            <a:spLocks noGrp="1" noChangeArrowheads="1"/>
          </p:cNvSpPr>
          <p:nvPr>
            <p:ph idx="1"/>
          </p:nvPr>
        </p:nvSpPr>
        <p:spPr/>
        <p:txBody>
          <a:bodyPr/>
          <a:lstStyle/>
          <a:p>
            <a:r>
              <a:rPr lang="zh-CN" altLang="en-US"/>
              <a:t>期望值的取值范围是</a:t>
            </a:r>
            <a:r>
              <a:rPr lang="en-US" altLang="zh-CN"/>
              <a:t>0-4</a:t>
            </a:r>
            <a:r>
              <a:rPr lang="zh-CN" altLang="en-US"/>
              <a:t>，表示对某项体系需求的关心程度。</a:t>
            </a:r>
            <a:endParaRPr lang="zh-CN" altLang="en-US"/>
          </a:p>
        </p:txBody>
      </p:sp>
      <p:sp>
        <p:nvSpPr>
          <p:cNvPr id="24577"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03FFFBE-AA84-4C26-A179-EFB2AB4A0451}"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4578"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4471EF2-3AC3-4A41-AA27-B18601B5AAEC}" type="datetime1">
              <a:rPr lang="zh-CN" altLang="en-US"/>
            </a:fld>
            <a:endParaRPr lang="zh-CN" altLang="en-US"/>
          </a:p>
        </p:txBody>
      </p:sp>
      <p:sp>
        <p:nvSpPr>
          <p:cNvPr id="560132" name="Text Box 4"/>
          <p:cNvSpPr txBox="1">
            <a:spLocks noChangeArrowheads="1"/>
          </p:cNvSpPr>
          <p:nvPr/>
        </p:nvSpPr>
        <p:spPr bwMode="auto">
          <a:xfrm>
            <a:off x="1763713" y="2852738"/>
            <a:ext cx="2276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组件重用：</a:t>
            </a:r>
            <a:endParaRPr lang="zh-CN" altLang="en-US" sz="3200" b="1">
              <a:solidFill>
                <a:srgbClr val="0033CC"/>
              </a:solidFill>
            </a:endParaRPr>
          </a:p>
        </p:txBody>
      </p:sp>
      <p:sp>
        <p:nvSpPr>
          <p:cNvPr id="560133" name="Text Box 5"/>
          <p:cNvSpPr txBox="1">
            <a:spLocks noChangeArrowheads="1"/>
          </p:cNvSpPr>
          <p:nvPr/>
        </p:nvSpPr>
        <p:spPr bwMode="auto">
          <a:xfrm>
            <a:off x="3706813" y="2873375"/>
            <a:ext cx="504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4</a:t>
            </a:r>
            <a:endParaRPr lang="en-US" altLang="zh-CN" sz="3200">
              <a:solidFill>
                <a:srgbClr val="FF3399"/>
              </a:solidFill>
            </a:endParaRPr>
          </a:p>
        </p:txBody>
      </p:sp>
      <p:sp>
        <p:nvSpPr>
          <p:cNvPr id="560134" name="Text Box 6"/>
          <p:cNvSpPr txBox="1">
            <a:spLocks noChangeArrowheads="1"/>
          </p:cNvSpPr>
          <p:nvPr/>
        </p:nvSpPr>
        <p:spPr bwMode="auto">
          <a:xfrm>
            <a:off x="1763713" y="3500438"/>
            <a:ext cx="2276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组件更换：</a:t>
            </a:r>
            <a:endParaRPr lang="zh-CN" altLang="en-US" sz="3200" b="1">
              <a:solidFill>
                <a:srgbClr val="0033CC"/>
              </a:solidFill>
            </a:endParaRPr>
          </a:p>
        </p:txBody>
      </p:sp>
      <p:sp>
        <p:nvSpPr>
          <p:cNvPr id="560135" name="Text Box 7"/>
          <p:cNvSpPr txBox="1">
            <a:spLocks noChangeArrowheads="1"/>
          </p:cNvSpPr>
          <p:nvPr/>
        </p:nvSpPr>
        <p:spPr bwMode="auto">
          <a:xfrm>
            <a:off x="3706813" y="3521075"/>
            <a:ext cx="504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4</a:t>
            </a:r>
            <a:endParaRPr lang="en-US" altLang="zh-CN" sz="3200">
              <a:solidFill>
                <a:srgbClr val="FF3399"/>
              </a:solidFill>
            </a:endParaRPr>
          </a:p>
        </p:txBody>
      </p:sp>
      <p:sp>
        <p:nvSpPr>
          <p:cNvPr id="560136" name="Text Box 8"/>
          <p:cNvSpPr txBox="1">
            <a:spLocks noChangeArrowheads="1"/>
          </p:cNvSpPr>
          <p:nvPr/>
        </p:nvSpPr>
        <p:spPr bwMode="auto">
          <a:xfrm>
            <a:off x="1763713" y="4148138"/>
            <a:ext cx="2276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组件移位：</a:t>
            </a:r>
            <a:endParaRPr lang="zh-CN" altLang="en-US" sz="3200" b="1">
              <a:solidFill>
                <a:srgbClr val="0033CC"/>
              </a:solidFill>
            </a:endParaRPr>
          </a:p>
        </p:txBody>
      </p:sp>
      <p:sp>
        <p:nvSpPr>
          <p:cNvPr id="560137" name="Text Box 9"/>
          <p:cNvSpPr txBox="1">
            <a:spLocks noChangeArrowheads="1"/>
          </p:cNvSpPr>
          <p:nvPr/>
        </p:nvSpPr>
        <p:spPr bwMode="auto">
          <a:xfrm>
            <a:off x="3706813" y="4168775"/>
            <a:ext cx="504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0</a:t>
            </a:r>
            <a:endParaRPr lang="en-US" altLang="zh-CN" sz="3200">
              <a:solidFill>
                <a:srgbClr val="FF3399"/>
              </a:solidFill>
            </a:endParaRPr>
          </a:p>
        </p:txBody>
      </p:sp>
      <p:sp>
        <p:nvSpPr>
          <p:cNvPr id="560138" name="Text Box 10"/>
          <p:cNvSpPr txBox="1">
            <a:spLocks noChangeArrowheads="1"/>
          </p:cNvSpPr>
          <p:nvPr/>
        </p:nvSpPr>
        <p:spPr bwMode="auto">
          <a:xfrm>
            <a:off x="1763713" y="4797425"/>
            <a:ext cx="2276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组件无关：</a:t>
            </a:r>
            <a:endParaRPr lang="zh-CN" altLang="en-US" sz="3200" b="1">
              <a:solidFill>
                <a:srgbClr val="0033CC"/>
              </a:solidFill>
            </a:endParaRPr>
          </a:p>
        </p:txBody>
      </p:sp>
      <p:sp>
        <p:nvSpPr>
          <p:cNvPr id="560139" name="Text Box 11"/>
          <p:cNvSpPr txBox="1">
            <a:spLocks noChangeArrowheads="1"/>
          </p:cNvSpPr>
          <p:nvPr/>
        </p:nvSpPr>
        <p:spPr bwMode="auto">
          <a:xfrm>
            <a:off x="3706813" y="4818063"/>
            <a:ext cx="5048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0</a:t>
            </a:r>
            <a:endParaRPr lang="en-US" altLang="zh-CN" sz="3200">
              <a:solidFill>
                <a:srgbClr val="FF3399"/>
              </a:solidFill>
            </a:endParaRPr>
          </a:p>
        </p:txBody>
      </p:sp>
      <p:sp>
        <p:nvSpPr>
          <p:cNvPr id="560140" name="Text Box 12"/>
          <p:cNvSpPr txBox="1">
            <a:spLocks noChangeArrowheads="1"/>
          </p:cNvSpPr>
          <p:nvPr/>
        </p:nvSpPr>
        <p:spPr bwMode="auto">
          <a:xfrm>
            <a:off x="1763713" y="5445125"/>
            <a:ext cx="2276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组件互通：</a:t>
            </a:r>
            <a:endParaRPr lang="zh-CN" altLang="en-US" sz="3200" b="1">
              <a:solidFill>
                <a:srgbClr val="0033CC"/>
              </a:solidFill>
            </a:endParaRPr>
          </a:p>
        </p:txBody>
      </p:sp>
      <p:sp>
        <p:nvSpPr>
          <p:cNvPr id="560141" name="Text Box 13"/>
          <p:cNvSpPr txBox="1">
            <a:spLocks noChangeArrowheads="1"/>
          </p:cNvSpPr>
          <p:nvPr/>
        </p:nvSpPr>
        <p:spPr bwMode="auto">
          <a:xfrm>
            <a:off x="3706813" y="5465763"/>
            <a:ext cx="5048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2</a:t>
            </a:r>
            <a:endParaRPr lang="en-US" altLang="zh-CN" sz="3200">
              <a:solidFill>
                <a:srgbClr val="FF3399"/>
              </a:solidFill>
            </a:endParaRPr>
          </a:p>
        </p:txBody>
      </p:sp>
      <p:sp>
        <p:nvSpPr>
          <p:cNvPr id="560142" name="Text Box 14"/>
          <p:cNvSpPr txBox="1">
            <a:spLocks noChangeArrowheads="1"/>
          </p:cNvSpPr>
          <p:nvPr/>
        </p:nvSpPr>
        <p:spPr bwMode="auto">
          <a:xfrm>
            <a:off x="4932363" y="2852738"/>
            <a:ext cx="2276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接口变换：</a:t>
            </a:r>
            <a:endParaRPr lang="zh-CN" altLang="en-US" sz="3200" b="1">
              <a:solidFill>
                <a:srgbClr val="0033CC"/>
              </a:solidFill>
            </a:endParaRPr>
          </a:p>
        </p:txBody>
      </p:sp>
      <p:sp>
        <p:nvSpPr>
          <p:cNvPr id="560143" name="Text Box 15"/>
          <p:cNvSpPr txBox="1">
            <a:spLocks noChangeArrowheads="1"/>
          </p:cNvSpPr>
          <p:nvPr/>
        </p:nvSpPr>
        <p:spPr bwMode="auto">
          <a:xfrm>
            <a:off x="6875463" y="2873375"/>
            <a:ext cx="504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4</a:t>
            </a:r>
            <a:endParaRPr lang="en-US" altLang="zh-CN" sz="3200">
              <a:solidFill>
                <a:srgbClr val="FF3399"/>
              </a:solidFill>
            </a:endParaRPr>
          </a:p>
        </p:txBody>
      </p:sp>
      <p:sp>
        <p:nvSpPr>
          <p:cNvPr id="560144" name="Text Box 16"/>
          <p:cNvSpPr txBox="1">
            <a:spLocks noChangeArrowheads="1"/>
          </p:cNvSpPr>
          <p:nvPr/>
        </p:nvSpPr>
        <p:spPr bwMode="auto">
          <a:xfrm>
            <a:off x="4932363" y="3500438"/>
            <a:ext cx="2276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计算性能：</a:t>
            </a:r>
            <a:endParaRPr lang="zh-CN" altLang="en-US" sz="3200" b="1">
              <a:solidFill>
                <a:srgbClr val="0033CC"/>
              </a:solidFill>
            </a:endParaRPr>
          </a:p>
        </p:txBody>
      </p:sp>
      <p:sp>
        <p:nvSpPr>
          <p:cNvPr id="560145" name="Text Box 17"/>
          <p:cNvSpPr txBox="1">
            <a:spLocks noChangeArrowheads="1"/>
          </p:cNvSpPr>
          <p:nvPr/>
        </p:nvSpPr>
        <p:spPr bwMode="auto">
          <a:xfrm>
            <a:off x="6875463" y="3521075"/>
            <a:ext cx="504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1</a:t>
            </a:r>
            <a:endParaRPr lang="en-US" altLang="zh-CN" sz="3200">
              <a:solidFill>
                <a:srgbClr val="FF3399"/>
              </a:solidFill>
            </a:endParaRPr>
          </a:p>
        </p:txBody>
      </p:sp>
      <p:sp>
        <p:nvSpPr>
          <p:cNvPr id="560146" name="Text Box 18"/>
          <p:cNvSpPr txBox="1">
            <a:spLocks noChangeArrowheads="1"/>
          </p:cNvSpPr>
          <p:nvPr/>
        </p:nvSpPr>
        <p:spPr bwMode="auto">
          <a:xfrm>
            <a:off x="4932363" y="4148138"/>
            <a:ext cx="2276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节省空间：</a:t>
            </a:r>
            <a:endParaRPr lang="zh-CN" altLang="en-US" sz="3200" b="1">
              <a:solidFill>
                <a:srgbClr val="0033CC"/>
              </a:solidFill>
            </a:endParaRPr>
          </a:p>
        </p:txBody>
      </p:sp>
      <p:sp>
        <p:nvSpPr>
          <p:cNvPr id="560147" name="Text Box 19"/>
          <p:cNvSpPr txBox="1">
            <a:spLocks noChangeArrowheads="1"/>
          </p:cNvSpPr>
          <p:nvPr/>
        </p:nvSpPr>
        <p:spPr bwMode="auto">
          <a:xfrm>
            <a:off x="6875463" y="4168775"/>
            <a:ext cx="504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0</a:t>
            </a:r>
            <a:endParaRPr lang="en-US" altLang="zh-CN" sz="3200">
              <a:solidFill>
                <a:srgbClr val="FF3399"/>
              </a:solidFill>
            </a:endParaRPr>
          </a:p>
        </p:txBody>
      </p:sp>
      <p:sp>
        <p:nvSpPr>
          <p:cNvPr id="560148" name="Text Box 20"/>
          <p:cNvSpPr txBox="1">
            <a:spLocks noChangeArrowheads="1"/>
          </p:cNvSpPr>
          <p:nvPr/>
        </p:nvSpPr>
        <p:spPr bwMode="auto">
          <a:xfrm>
            <a:off x="4932363" y="4797425"/>
            <a:ext cx="2276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33CC"/>
                </a:solidFill>
              </a:rPr>
              <a:t>容　　错：</a:t>
            </a:r>
            <a:endParaRPr lang="zh-CN" altLang="en-US" sz="3200" b="1">
              <a:solidFill>
                <a:srgbClr val="0033CC"/>
              </a:solidFill>
            </a:endParaRPr>
          </a:p>
        </p:txBody>
      </p:sp>
      <p:sp>
        <p:nvSpPr>
          <p:cNvPr id="560149" name="Text Box 21"/>
          <p:cNvSpPr txBox="1">
            <a:spLocks noChangeArrowheads="1"/>
          </p:cNvSpPr>
          <p:nvPr/>
        </p:nvSpPr>
        <p:spPr bwMode="auto">
          <a:xfrm>
            <a:off x="6875463" y="4818063"/>
            <a:ext cx="5048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a:solidFill>
                  <a:srgbClr val="FF3399"/>
                </a:solidFill>
              </a:rPr>
              <a:t>0</a:t>
            </a:r>
            <a:endParaRPr lang="en-US" altLang="zh-CN" sz="3200">
              <a:solidFill>
                <a:srgbClr val="FF3399"/>
              </a:solidFill>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013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6013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013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56013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560140"/>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560142"/>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560144"/>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560146"/>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5601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60133"/>
                                        </p:tgtEl>
                                        <p:attrNameLst>
                                          <p:attrName>style.visibility</p:attrName>
                                        </p:attrNameLst>
                                      </p:cBhvr>
                                      <p:to>
                                        <p:strVal val="visible"/>
                                      </p:to>
                                    </p:set>
                                    <p:animEffect transition="in" filter="dissolve">
                                      <p:cBhvr>
                                        <p:cTn id="35" dur="500"/>
                                        <p:tgtEl>
                                          <p:spTgt spid="56013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560135"/>
                                        </p:tgtEl>
                                        <p:attrNameLst>
                                          <p:attrName>style.visibility</p:attrName>
                                        </p:attrNameLst>
                                      </p:cBhvr>
                                      <p:to>
                                        <p:strVal val="visible"/>
                                      </p:to>
                                    </p:set>
                                    <p:animEffect transition="in" filter="dissolve">
                                      <p:cBhvr>
                                        <p:cTn id="40" dur="500"/>
                                        <p:tgtEl>
                                          <p:spTgt spid="56013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560137"/>
                                        </p:tgtEl>
                                        <p:attrNameLst>
                                          <p:attrName>style.visibility</p:attrName>
                                        </p:attrNameLst>
                                      </p:cBhvr>
                                      <p:to>
                                        <p:strVal val="visible"/>
                                      </p:to>
                                    </p:set>
                                    <p:animEffect transition="in" filter="dissolve">
                                      <p:cBhvr>
                                        <p:cTn id="45" dur="500"/>
                                        <p:tgtEl>
                                          <p:spTgt spid="560137"/>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560139"/>
                                        </p:tgtEl>
                                        <p:attrNameLst>
                                          <p:attrName>style.visibility</p:attrName>
                                        </p:attrNameLst>
                                      </p:cBhvr>
                                      <p:to>
                                        <p:strVal val="visible"/>
                                      </p:to>
                                    </p:set>
                                    <p:animEffect transition="in" filter="dissolve">
                                      <p:cBhvr>
                                        <p:cTn id="50" dur="500"/>
                                        <p:tgtEl>
                                          <p:spTgt spid="560139"/>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560141"/>
                                        </p:tgtEl>
                                        <p:attrNameLst>
                                          <p:attrName>style.visibility</p:attrName>
                                        </p:attrNameLst>
                                      </p:cBhvr>
                                      <p:to>
                                        <p:strVal val="visible"/>
                                      </p:to>
                                    </p:set>
                                    <p:animEffect transition="in" filter="dissolve">
                                      <p:cBhvr>
                                        <p:cTn id="55" dur="500"/>
                                        <p:tgtEl>
                                          <p:spTgt spid="560141"/>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560143"/>
                                        </p:tgtEl>
                                        <p:attrNameLst>
                                          <p:attrName>style.visibility</p:attrName>
                                        </p:attrNameLst>
                                      </p:cBhvr>
                                      <p:to>
                                        <p:strVal val="visible"/>
                                      </p:to>
                                    </p:set>
                                    <p:animEffect transition="in" filter="dissolve">
                                      <p:cBhvr>
                                        <p:cTn id="60" dur="500"/>
                                        <p:tgtEl>
                                          <p:spTgt spid="560143"/>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560145"/>
                                        </p:tgtEl>
                                        <p:attrNameLst>
                                          <p:attrName>style.visibility</p:attrName>
                                        </p:attrNameLst>
                                      </p:cBhvr>
                                      <p:to>
                                        <p:strVal val="visible"/>
                                      </p:to>
                                    </p:set>
                                    <p:animEffect transition="in" filter="dissolve">
                                      <p:cBhvr>
                                        <p:cTn id="65" dur="500"/>
                                        <p:tgtEl>
                                          <p:spTgt spid="560145"/>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560147"/>
                                        </p:tgtEl>
                                        <p:attrNameLst>
                                          <p:attrName>style.visibility</p:attrName>
                                        </p:attrNameLst>
                                      </p:cBhvr>
                                      <p:to>
                                        <p:strVal val="visible"/>
                                      </p:to>
                                    </p:set>
                                    <p:animEffect transition="in" filter="dissolve">
                                      <p:cBhvr>
                                        <p:cTn id="70" dur="500"/>
                                        <p:tgtEl>
                                          <p:spTgt spid="560147"/>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560149"/>
                                        </p:tgtEl>
                                        <p:attrNameLst>
                                          <p:attrName>style.visibility</p:attrName>
                                        </p:attrNameLst>
                                      </p:cBhvr>
                                      <p:to>
                                        <p:strVal val="visible"/>
                                      </p:to>
                                    </p:set>
                                    <p:animEffect transition="in" filter="dissolve">
                                      <p:cBhvr>
                                        <p:cTn id="75" dur="500"/>
                                        <p:tgtEl>
                                          <p:spTgt spid="560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2" grpId="0"/>
      <p:bldP spid="560133" grpId="0"/>
      <p:bldP spid="560134" grpId="0"/>
      <p:bldP spid="560135" grpId="0"/>
      <p:bldP spid="560136" grpId="0"/>
      <p:bldP spid="560137" grpId="0"/>
      <p:bldP spid="560138" grpId="0"/>
      <p:bldP spid="560139" grpId="0"/>
      <p:bldP spid="560140" grpId="0"/>
      <p:bldP spid="560141" grpId="0"/>
      <p:bldP spid="560142" grpId="0"/>
      <p:bldP spid="560143" grpId="0"/>
      <p:bldP spid="560144" grpId="0"/>
      <p:bldP spid="560145" grpId="0"/>
      <p:bldP spid="560146" grpId="0"/>
      <p:bldP spid="560147" grpId="0"/>
      <p:bldP spid="560148" grpId="0"/>
      <p:bldP spid="56014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395288" y="137211"/>
            <a:ext cx="8229600" cy="884238"/>
          </a:xfrm>
        </p:spPr>
        <p:txBody>
          <a:bodyPr/>
          <a:lstStyle/>
          <a:p>
            <a:r>
              <a:rPr lang="zh-CN" altLang="en-US" sz="3200" dirty="0"/>
              <a:t>用期望值看体系结构风格的表现</a:t>
            </a:r>
            <a:endParaRPr lang="zh-CN" altLang="en-US" sz="3200" dirty="0"/>
          </a:p>
        </p:txBody>
      </p:sp>
      <p:sp>
        <p:nvSpPr>
          <p:cNvPr id="25601" name="灯片编号占位符 3"/>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0532E62-3251-4C8C-A450-132C5F124DB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5602" name="日期占位符 4"/>
          <p:cNvSpPr>
            <a:spLocks noGrp="1" noChangeArrowheads="1"/>
          </p:cNvSpPr>
          <p:nvPr>
            <p:ph type="dt" sz="half"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FF26DE9-FA00-4F49-9923-BBECAF93E857}" type="datetime1">
              <a:rPr lang="zh-CN" altLang="en-US"/>
            </a:fld>
            <a:endParaRPr lang="zh-CN" altLang="en-US"/>
          </a:p>
        </p:txBody>
      </p:sp>
      <p:graphicFrame>
        <p:nvGraphicFramePr>
          <p:cNvPr id="562627" name="Group 451"/>
          <p:cNvGraphicFramePr>
            <a:graphicFrameLocks noGrp="1"/>
          </p:cNvGraphicFramePr>
          <p:nvPr/>
        </p:nvGraphicFramePr>
        <p:xfrm>
          <a:off x="468313" y="1816100"/>
          <a:ext cx="8224837" cy="4273547"/>
        </p:xfrm>
        <a:graphic>
          <a:graphicData uri="http://schemas.openxmlformats.org/drawingml/2006/table">
            <a:tbl>
              <a:tblPr/>
              <a:tblGrid>
                <a:gridCol w="1309687"/>
                <a:gridCol w="768350"/>
                <a:gridCol w="768350"/>
                <a:gridCol w="768350"/>
                <a:gridCol w="768350"/>
                <a:gridCol w="768350"/>
                <a:gridCol w="768350"/>
                <a:gridCol w="768350"/>
                <a:gridCol w="768350"/>
                <a:gridCol w="768350"/>
              </a:tblGrid>
              <a:tr h="706595">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组件重用</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组件更换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组件移位</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组件无关</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组件互通</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接口变换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计算性能</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节省空间</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容错</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期望值</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dirty="0">
                          <a:ln>
                            <a:noFill/>
                          </a:ln>
                          <a:solidFill>
                            <a:srgbClr val="3333FF"/>
                          </a:solidFill>
                          <a:effectLst/>
                          <a:latin typeface="Arial" panose="020B0604020202020204" pitchFamily="34" charset="0"/>
                          <a:ea typeface="宋体" panose="02010600030101010101" pitchFamily="2" charset="-122"/>
                        </a:rPr>
                        <a:t>管道</a:t>
                      </a:r>
                      <a:endParaRPr kumimoji="0" lang="zh-CN" altLang="en-US" sz="1800" b="1" i="0" u="none" strike="noStrike" cap="none" normalizeH="0" baseline="0" dirty="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结构化</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面向对象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事件驱动</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层次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仓库</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客户</a:t>
                      </a:r>
                      <a:r>
                        <a:rPr kumimoji="0" lang="en-US" altLang="zh-CN"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a:t>
                      </a:r>
                      <a:r>
                        <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服务器</a:t>
                      </a:r>
                      <a:endPar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对等</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62629" name="Rectangle 453"/>
          <p:cNvSpPr>
            <a:spLocks noChangeArrowheads="1"/>
          </p:cNvSpPr>
          <p:nvPr/>
        </p:nvSpPr>
        <p:spPr bwMode="auto">
          <a:xfrm>
            <a:off x="395288" y="3336925"/>
            <a:ext cx="8353425" cy="2755900"/>
          </a:xfrm>
          <a:prstGeom prst="rect">
            <a:avLst/>
          </a:prstGeom>
          <a:solidFill>
            <a:schemeClr val="bg1">
              <a:alpha val="89018"/>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2590" name="Oval 414"/>
          <p:cNvSpPr>
            <a:spLocks noChangeArrowheads="1"/>
          </p:cNvSpPr>
          <p:nvPr/>
        </p:nvSpPr>
        <p:spPr bwMode="auto">
          <a:xfrm>
            <a:off x="1911350" y="2420938"/>
            <a:ext cx="511175" cy="1008062"/>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2591" name="Text Box 415"/>
          <p:cNvSpPr txBox="1">
            <a:spLocks noChangeArrowheads="1"/>
          </p:cNvSpPr>
          <p:nvPr/>
        </p:nvSpPr>
        <p:spPr bwMode="auto">
          <a:xfrm>
            <a:off x="1046163" y="2420938"/>
            <a:ext cx="8731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5400" b="1" dirty="0">
                <a:solidFill>
                  <a:srgbClr val="FF0000"/>
                </a:solidFill>
              </a:rPr>
              <a:t>×</a:t>
            </a:r>
            <a:endParaRPr lang="en-US" altLang="zh-CN" sz="5400" b="1" dirty="0">
              <a:solidFill>
                <a:srgbClr val="FF0000"/>
              </a:solidFill>
              <a:cs typeface="Arial" panose="020B0604020202020204" pitchFamily="34" charset="0"/>
            </a:endParaRPr>
          </a:p>
        </p:txBody>
      </p:sp>
      <p:sp>
        <p:nvSpPr>
          <p:cNvPr id="562592" name="Oval 416"/>
          <p:cNvSpPr>
            <a:spLocks noChangeArrowheads="1"/>
          </p:cNvSpPr>
          <p:nvPr/>
        </p:nvSpPr>
        <p:spPr bwMode="auto">
          <a:xfrm>
            <a:off x="3446463" y="2420938"/>
            <a:ext cx="511175" cy="1008062"/>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562593" name="Group 417"/>
          <p:cNvGrpSpPr/>
          <p:nvPr/>
        </p:nvGrpSpPr>
        <p:grpSpPr bwMode="auto">
          <a:xfrm>
            <a:off x="2679700" y="2420938"/>
            <a:ext cx="5872163" cy="1008062"/>
            <a:chOff x="1681" y="1389"/>
            <a:chExt cx="3699" cy="635"/>
          </a:xfrm>
        </p:grpSpPr>
        <p:sp>
          <p:nvSpPr>
            <p:cNvPr id="25732" name="Oval 418"/>
            <p:cNvSpPr>
              <a:spLocks noChangeArrowheads="1"/>
            </p:cNvSpPr>
            <p:nvPr/>
          </p:nvSpPr>
          <p:spPr bwMode="auto">
            <a:xfrm>
              <a:off x="1681" y="1389"/>
              <a:ext cx="322" cy="635"/>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5733" name="Oval 419"/>
            <p:cNvSpPr>
              <a:spLocks noChangeArrowheads="1"/>
            </p:cNvSpPr>
            <p:nvPr/>
          </p:nvSpPr>
          <p:spPr bwMode="auto">
            <a:xfrm>
              <a:off x="2639" y="1389"/>
              <a:ext cx="322" cy="635"/>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5734" name="Oval 420"/>
            <p:cNvSpPr>
              <a:spLocks noChangeArrowheads="1"/>
            </p:cNvSpPr>
            <p:nvPr/>
          </p:nvSpPr>
          <p:spPr bwMode="auto">
            <a:xfrm>
              <a:off x="3616" y="1389"/>
              <a:ext cx="322" cy="635"/>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5735" name="Oval 421"/>
            <p:cNvSpPr>
              <a:spLocks noChangeArrowheads="1"/>
            </p:cNvSpPr>
            <p:nvPr/>
          </p:nvSpPr>
          <p:spPr bwMode="auto">
            <a:xfrm>
              <a:off x="3133" y="1389"/>
              <a:ext cx="322" cy="635"/>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5736" name="Oval 422"/>
            <p:cNvSpPr>
              <a:spLocks noChangeArrowheads="1"/>
            </p:cNvSpPr>
            <p:nvPr/>
          </p:nvSpPr>
          <p:spPr bwMode="auto">
            <a:xfrm>
              <a:off x="4091" y="1389"/>
              <a:ext cx="322" cy="635"/>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5737" name="Oval 423"/>
            <p:cNvSpPr>
              <a:spLocks noChangeArrowheads="1"/>
            </p:cNvSpPr>
            <p:nvPr/>
          </p:nvSpPr>
          <p:spPr bwMode="auto">
            <a:xfrm>
              <a:off x="5058" y="1389"/>
              <a:ext cx="322" cy="635"/>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5738" name="Oval 424"/>
            <p:cNvSpPr>
              <a:spLocks noChangeArrowheads="1"/>
            </p:cNvSpPr>
            <p:nvPr/>
          </p:nvSpPr>
          <p:spPr bwMode="auto">
            <a:xfrm>
              <a:off x="4575" y="1389"/>
              <a:ext cx="322" cy="635"/>
            </a:xfrm>
            <a:prstGeom prst="ellipse">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sp>
        <p:nvSpPr>
          <p:cNvPr id="562601" name="Text Box 425"/>
          <p:cNvSpPr txBox="1">
            <a:spLocks noChangeArrowheads="1"/>
          </p:cNvSpPr>
          <p:nvPr/>
        </p:nvSpPr>
        <p:spPr bwMode="auto">
          <a:xfrm>
            <a:off x="1790700" y="3413125"/>
            <a:ext cx="7937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02" name="Text Box 426"/>
          <p:cNvSpPr txBox="1">
            <a:spLocks noChangeArrowheads="1"/>
          </p:cNvSpPr>
          <p:nvPr/>
        </p:nvSpPr>
        <p:spPr bwMode="auto">
          <a:xfrm>
            <a:off x="1862138" y="3860800"/>
            <a:ext cx="581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solidFill>
                  <a:srgbClr val="996633"/>
                </a:solidFill>
              </a:rPr>
              <a:t>20</a:t>
            </a:r>
            <a:endParaRPr lang="en-US" altLang="zh-CN" sz="2800">
              <a:solidFill>
                <a:srgbClr val="996633"/>
              </a:solidFill>
            </a:endParaRPr>
          </a:p>
        </p:txBody>
      </p:sp>
      <p:sp>
        <p:nvSpPr>
          <p:cNvPr id="562603" name="Text Box 427"/>
          <p:cNvSpPr txBox="1">
            <a:spLocks noChangeArrowheads="1"/>
          </p:cNvSpPr>
          <p:nvPr/>
        </p:nvSpPr>
        <p:spPr bwMode="auto">
          <a:xfrm>
            <a:off x="2565400" y="3398838"/>
            <a:ext cx="7937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04" name="Text Box 428"/>
          <p:cNvSpPr txBox="1">
            <a:spLocks noChangeArrowheads="1"/>
          </p:cNvSpPr>
          <p:nvPr/>
        </p:nvSpPr>
        <p:spPr bwMode="auto">
          <a:xfrm>
            <a:off x="2636838" y="3846513"/>
            <a:ext cx="581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solidFill>
                  <a:srgbClr val="996633"/>
                </a:solidFill>
              </a:rPr>
              <a:t>20</a:t>
            </a:r>
            <a:endParaRPr lang="en-US" altLang="zh-CN" sz="2800">
              <a:solidFill>
                <a:srgbClr val="996633"/>
              </a:solidFill>
            </a:endParaRPr>
          </a:p>
        </p:txBody>
      </p:sp>
      <p:sp>
        <p:nvSpPr>
          <p:cNvPr id="562605" name="Text Box 429"/>
          <p:cNvSpPr txBox="1">
            <a:spLocks noChangeArrowheads="1"/>
          </p:cNvSpPr>
          <p:nvPr/>
        </p:nvSpPr>
        <p:spPr bwMode="auto">
          <a:xfrm>
            <a:off x="3341688" y="3398838"/>
            <a:ext cx="7937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06" name="Text Box 430"/>
          <p:cNvSpPr txBox="1">
            <a:spLocks noChangeArrowheads="1"/>
          </p:cNvSpPr>
          <p:nvPr/>
        </p:nvSpPr>
        <p:spPr bwMode="auto">
          <a:xfrm>
            <a:off x="3511550" y="3846513"/>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solidFill>
                  <a:srgbClr val="996633"/>
                </a:solidFill>
              </a:rPr>
              <a:t>0</a:t>
            </a:r>
            <a:endParaRPr lang="en-US" altLang="zh-CN" sz="2800">
              <a:solidFill>
                <a:srgbClr val="996633"/>
              </a:solidFill>
            </a:endParaRPr>
          </a:p>
        </p:txBody>
      </p:sp>
      <p:sp>
        <p:nvSpPr>
          <p:cNvPr id="562607" name="Text Box 431"/>
          <p:cNvSpPr txBox="1">
            <a:spLocks noChangeArrowheads="1"/>
          </p:cNvSpPr>
          <p:nvPr/>
        </p:nvSpPr>
        <p:spPr bwMode="auto">
          <a:xfrm>
            <a:off x="4094163" y="3398838"/>
            <a:ext cx="7937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08" name="Text Box 432"/>
          <p:cNvSpPr txBox="1">
            <a:spLocks noChangeArrowheads="1"/>
          </p:cNvSpPr>
          <p:nvPr/>
        </p:nvSpPr>
        <p:spPr bwMode="auto">
          <a:xfrm>
            <a:off x="4264025" y="3846513"/>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solidFill>
                  <a:srgbClr val="996633"/>
                </a:solidFill>
              </a:rPr>
              <a:t>0</a:t>
            </a:r>
            <a:endParaRPr lang="en-US" altLang="zh-CN" sz="2800">
              <a:solidFill>
                <a:srgbClr val="996633"/>
              </a:solidFill>
            </a:endParaRPr>
          </a:p>
        </p:txBody>
      </p:sp>
      <p:sp>
        <p:nvSpPr>
          <p:cNvPr id="562609" name="Text Box 433"/>
          <p:cNvSpPr txBox="1">
            <a:spLocks noChangeArrowheads="1"/>
          </p:cNvSpPr>
          <p:nvPr/>
        </p:nvSpPr>
        <p:spPr bwMode="auto">
          <a:xfrm>
            <a:off x="4870450" y="3398838"/>
            <a:ext cx="7937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10" name="Text Box 434"/>
          <p:cNvSpPr txBox="1">
            <a:spLocks noChangeArrowheads="1"/>
          </p:cNvSpPr>
          <p:nvPr/>
        </p:nvSpPr>
        <p:spPr bwMode="auto">
          <a:xfrm>
            <a:off x="4938898" y="3846513"/>
            <a:ext cx="5854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dirty="0">
                <a:solidFill>
                  <a:srgbClr val="996633"/>
                </a:solidFill>
              </a:rPr>
              <a:t>10</a:t>
            </a:r>
            <a:endParaRPr lang="en-US" altLang="zh-CN" sz="2800" dirty="0">
              <a:solidFill>
                <a:srgbClr val="996633"/>
              </a:solidFill>
            </a:endParaRPr>
          </a:p>
        </p:txBody>
      </p:sp>
      <p:sp>
        <p:nvSpPr>
          <p:cNvPr id="562611" name="Text Box 435"/>
          <p:cNvSpPr txBox="1">
            <a:spLocks noChangeArrowheads="1"/>
          </p:cNvSpPr>
          <p:nvPr/>
        </p:nvSpPr>
        <p:spPr bwMode="auto">
          <a:xfrm>
            <a:off x="5645150" y="3398838"/>
            <a:ext cx="7937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12" name="Text Box 436"/>
          <p:cNvSpPr txBox="1">
            <a:spLocks noChangeArrowheads="1"/>
          </p:cNvSpPr>
          <p:nvPr/>
        </p:nvSpPr>
        <p:spPr bwMode="auto">
          <a:xfrm>
            <a:off x="5815013" y="3846513"/>
            <a:ext cx="382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solidFill>
                  <a:srgbClr val="996633"/>
                </a:solidFill>
              </a:rPr>
              <a:t>8</a:t>
            </a:r>
            <a:endParaRPr lang="en-US" altLang="zh-CN" sz="2800">
              <a:solidFill>
                <a:srgbClr val="996633"/>
              </a:solidFill>
            </a:endParaRPr>
          </a:p>
        </p:txBody>
      </p:sp>
      <p:sp>
        <p:nvSpPr>
          <p:cNvPr id="562613" name="Text Box 437"/>
          <p:cNvSpPr txBox="1">
            <a:spLocks noChangeArrowheads="1"/>
          </p:cNvSpPr>
          <p:nvPr/>
        </p:nvSpPr>
        <p:spPr bwMode="auto">
          <a:xfrm>
            <a:off x="6399213" y="3398838"/>
            <a:ext cx="7937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14" name="Text Box 438"/>
          <p:cNvSpPr txBox="1">
            <a:spLocks noChangeArrowheads="1"/>
          </p:cNvSpPr>
          <p:nvPr/>
        </p:nvSpPr>
        <p:spPr bwMode="auto">
          <a:xfrm>
            <a:off x="6569075" y="3846513"/>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dirty="0">
                <a:solidFill>
                  <a:srgbClr val="996633"/>
                </a:solidFill>
              </a:rPr>
              <a:t>5</a:t>
            </a:r>
            <a:endParaRPr lang="en-US" altLang="zh-CN" sz="2800" dirty="0">
              <a:solidFill>
                <a:srgbClr val="996633"/>
              </a:solidFill>
            </a:endParaRPr>
          </a:p>
        </p:txBody>
      </p:sp>
      <p:sp>
        <p:nvSpPr>
          <p:cNvPr id="562615" name="Text Box 439"/>
          <p:cNvSpPr txBox="1">
            <a:spLocks noChangeArrowheads="1"/>
          </p:cNvSpPr>
          <p:nvPr/>
        </p:nvSpPr>
        <p:spPr bwMode="auto">
          <a:xfrm>
            <a:off x="7173913" y="3398838"/>
            <a:ext cx="7937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16" name="Text Box 440"/>
          <p:cNvSpPr txBox="1">
            <a:spLocks noChangeArrowheads="1"/>
          </p:cNvSpPr>
          <p:nvPr/>
        </p:nvSpPr>
        <p:spPr bwMode="auto">
          <a:xfrm>
            <a:off x="7343775" y="3846513"/>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solidFill>
                  <a:srgbClr val="996633"/>
                </a:solidFill>
              </a:rPr>
              <a:t>0</a:t>
            </a:r>
            <a:endParaRPr lang="en-US" altLang="zh-CN" sz="2800">
              <a:solidFill>
                <a:srgbClr val="996633"/>
              </a:solidFill>
            </a:endParaRPr>
          </a:p>
        </p:txBody>
      </p:sp>
      <p:sp>
        <p:nvSpPr>
          <p:cNvPr id="562617" name="Text Box 441"/>
          <p:cNvSpPr txBox="1">
            <a:spLocks noChangeArrowheads="1"/>
          </p:cNvSpPr>
          <p:nvPr/>
        </p:nvSpPr>
        <p:spPr bwMode="auto">
          <a:xfrm>
            <a:off x="7934325" y="3398838"/>
            <a:ext cx="7937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562618" name="Text Box 442"/>
          <p:cNvSpPr txBox="1">
            <a:spLocks noChangeArrowheads="1"/>
          </p:cNvSpPr>
          <p:nvPr/>
        </p:nvSpPr>
        <p:spPr bwMode="auto">
          <a:xfrm>
            <a:off x="8104188" y="3846513"/>
            <a:ext cx="382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solidFill>
                  <a:srgbClr val="996633"/>
                </a:solidFill>
              </a:rPr>
              <a:t>0</a:t>
            </a:r>
            <a:endParaRPr lang="en-US" altLang="zh-CN" sz="2800">
              <a:solidFill>
                <a:srgbClr val="996633"/>
              </a:solidFill>
            </a:endParaRPr>
          </a:p>
        </p:txBody>
      </p:sp>
      <p:sp>
        <p:nvSpPr>
          <p:cNvPr id="562619" name="AutoShape 443"/>
          <p:cNvSpPr/>
          <p:nvPr/>
        </p:nvSpPr>
        <p:spPr bwMode="auto">
          <a:xfrm rot="-5400000">
            <a:off x="4979988" y="1520825"/>
            <a:ext cx="503238" cy="6192837"/>
          </a:xfrm>
          <a:prstGeom prst="leftBrace">
            <a:avLst>
              <a:gd name="adj1" fmla="val 102778"/>
              <a:gd name="adj2" fmla="val 50000"/>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562620" name="Group 444"/>
          <p:cNvGrpSpPr/>
          <p:nvPr/>
        </p:nvGrpSpPr>
        <p:grpSpPr bwMode="auto">
          <a:xfrm>
            <a:off x="4614863" y="4833938"/>
            <a:ext cx="1047750" cy="627062"/>
            <a:chOff x="2900" y="2909"/>
            <a:chExt cx="660" cy="395"/>
          </a:xfrm>
        </p:grpSpPr>
        <p:sp>
          <p:nvSpPr>
            <p:cNvPr id="25759" name="Text Box 445"/>
            <p:cNvSpPr txBox="1">
              <a:spLocks noChangeArrowheads="1"/>
            </p:cNvSpPr>
            <p:nvPr/>
          </p:nvSpPr>
          <p:spPr bwMode="auto">
            <a:xfrm>
              <a:off x="3060" y="2931"/>
              <a:ext cx="500"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FF0000"/>
                  </a:solidFill>
                </a:rPr>
                <a:t>＝</a:t>
              </a:r>
              <a:endParaRPr lang="zh-CN" altLang="en-US" sz="4000" b="1">
                <a:solidFill>
                  <a:srgbClr val="FF0000"/>
                </a:solidFill>
              </a:endParaRPr>
            </a:p>
          </p:txBody>
        </p:sp>
        <p:sp>
          <p:nvSpPr>
            <p:cNvPr id="25760" name="Text Box 446"/>
            <p:cNvSpPr txBox="1">
              <a:spLocks noChangeArrowheads="1"/>
            </p:cNvSpPr>
            <p:nvPr/>
          </p:nvSpPr>
          <p:spPr bwMode="auto">
            <a:xfrm>
              <a:off x="2900" y="2909"/>
              <a:ext cx="37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FF0000"/>
                  </a:solidFill>
                </a:rPr>
                <a:t>＋</a:t>
              </a:r>
              <a:endParaRPr lang="zh-CN" altLang="en-US" sz="3200" b="1">
                <a:solidFill>
                  <a:srgbClr val="FF0000"/>
                </a:solidFill>
              </a:endParaRPr>
            </a:p>
          </p:txBody>
        </p:sp>
      </p:grpSp>
      <p:sp>
        <p:nvSpPr>
          <p:cNvPr id="562623" name="Text Box 447"/>
          <p:cNvSpPr txBox="1">
            <a:spLocks noChangeArrowheads="1"/>
          </p:cNvSpPr>
          <p:nvPr/>
        </p:nvSpPr>
        <p:spPr bwMode="auto">
          <a:xfrm>
            <a:off x="4867711" y="5300663"/>
            <a:ext cx="69762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600" dirty="0">
                <a:solidFill>
                  <a:srgbClr val="996633"/>
                </a:solidFill>
              </a:rPr>
              <a:t>63</a:t>
            </a:r>
            <a:endParaRPr lang="en-US" altLang="zh-CN" sz="3600" dirty="0">
              <a:solidFill>
                <a:srgbClr val="996633"/>
              </a:solidFill>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2629"/>
                                        </p:tgtEl>
                                        <p:attrNameLst>
                                          <p:attrName>style.visibility</p:attrName>
                                        </p:attrNameLst>
                                      </p:cBhvr>
                                      <p:to>
                                        <p:strVal val="visible"/>
                                      </p:to>
                                    </p:set>
                                    <p:animEffect transition="in" filter="fade">
                                      <p:cBhvr>
                                        <p:cTn id="7" dur="500"/>
                                        <p:tgtEl>
                                          <p:spTgt spid="56262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88" fill="hold" nodeType="clickEffect">
                                  <p:stCondLst>
                                    <p:cond delay="0"/>
                                  </p:stCondLst>
                                  <p:childTnLst>
                                    <p:set>
                                      <p:cBhvr>
                                        <p:cTn id="11" dur="1" fill="hold">
                                          <p:stCondLst>
                                            <p:cond delay="0"/>
                                          </p:stCondLst>
                                        </p:cTn>
                                        <p:tgtEl>
                                          <p:spTgt spid="562590"/>
                                        </p:tgtEl>
                                        <p:attrNameLst>
                                          <p:attrName>style.visibility</p:attrName>
                                        </p:attrNameLst>
                                      </p:cBhvr>
                                      <p:to>
                                        <p:strVal val="visible"/>
                                      </p:to>
                                    </p:set>
                                    <p:anim calcmode="lin" valueType="num">
                                      <p:cBhvr>
                                        <p:cTn id="12" dur="500" fill="hold"/>
                                        <p:tgtEl>
                                          <p:spTgt spid="562590"/>
                                        </p:tgtEl>
                                        <p:attrNameLst>
                                          <p:attrName>ppt_w</p:attrName>
                                        </p:attrNameLst>
                                      </p:cBhvr>
                                      <p:tavLst>
                                        <p:tav tm="0">
                                          <p:val>
                                            <p:strVal val="4/3*#ppt_w"/>
                                          </p:val>
                                        </p:tav>
                                        <p:tav tm="100000">
                                          <p:val>
                                            <p:strVal val="#ppt_w"/>
                                          </p:val>
                                        </p:tav>
                                      </p:tavLst>
                                    </p:anim>
                                    <p:anim calcmode="lin" valueType="num">
                                      <p:cBhvr>
                                        <p:cTn id="13" dur="500" fill="hold"/>
                                        <p:tgtEl>
                                          <p:spTgt spid="562590"/>
                                        </p:tgtEl>
                                        <p:attrNameLst>
                                          <p:attrName>ppt_h</p:attrName>
                                        </p:attrNameLst>
                                      </p:cBhvr>
                                      <p:tavLst>
                                        <p:tav tm="0">
                                          <p:val>
                                            <p:strVal val="4/3*#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288" fill="hold" nodeType="clickEffect">
                                  <p:stCondLst>
                                    <p:cond delay="0"/>
                                  </p:stCondLst>
                                  <p:childTnLst>
                                    <p:set>
                                      <p:cBhvr>
                                        <p:cTn id="17" dur="1" fill="hold">
                                          <p:stCondLst>
                                            <p:cond delay="0"/>
                                          </p:stCondLst>
                                        </p:cTn>
                                        <p:tgtEl>
                                          <p:spTgt spid="562592"/>
                                        </p:tgtEl>
                                        <p:attrNameLst>
                                          <p:attrName>style.visibility</p:attrName>
                                        </p:attrNameLst>
                                      </p:cBhvr>
                                      <p:to>
                                        <p:strVal val="visible"/>
                                      </p:to>
                                    </p:set>
                                    <p:anim calcmode="lin" valueType="num">
                                      <p:cBhvr>
                                        <p:cTn id="18" dur="500" fill="hold"/>
                                        <p:tgtEl>
                                          <p:spTgt spid="562592"/>
                                        </p:tgtEl>
                                        <p:attrNameLst>
                                          <p:attrName>ppt_w</p:attrName>
                                        </p:attrNameLst>
                                      </p:cBhvr>
                                      <p:tavLst>
                                        <p:tav tm="0">
                                          <p:val>
                                            <p:strVal val="4/3*#ppt_w"/>
                                          </p:val>
                                        </p:tav>
                                        <p:tav tm="100000">
                                          <p:val>
                                            <p:strVal val="#ppt_w"/>
                                          </p:val>
                                        </p:tav>
                                      </p:tavLst>
                                    </p:anim>
                                    <p:anim calcmode="lin" valueType="num">
                                      <p:cBhvr>
                                        <p:cTn id="19" dur="500" fill="hold"/>
                                        <p:tgtEl>
                                          <p:spTgt spid="562592"/>
                                        </p:tgtEl>
                                        <p:attrNameLst>
                                          <p:attrName>ppt_h</p:attrName>
                                        </p:attrNameLst>
                                      </p:cBhvr>
                                      <p:tavLst>
                                        <p:tav tm="0">
                                          <p:val>
                                            <p:strVal val="4/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288" fill="hold" grpId="0" nodeType="clickEffect">
                                  <p:stCondLst>
                                    <p:cond delay="0"/>
                                  </p:stCondLst>
                                  <p:childTnLst>
                                    <p:set>
                                      <p:cBhvr>
                                        <p:cTn id="23" dur="1" fill="hold">
                                          <p:stCondLst>
                                            <p:cond delay="0"/>
                                          </p:stCondLst>
                                        </p:cTn>
                                        <p:tgtEl>
                                          <p:spTgt spid="562591"/>
                                        </p:tgtEl>
                                        <p:attrNameLst>
                                          <p:attrName>style.visibility</p:attrName>
                                        </p:attrNameLst>
                                      </p:cBhvr>
                                      <p:to>
                                        <p:strVal val="visible"/>
                                      </p:to>
                                    </p:set>
                                    <p:anim calcmode="lin" valueType="num">
                                      <p:cBhvr>
                                        <p:cTn id="24" dur="500" fill="hold"/>
                                        <p:tgtEl>
                                          <p:spTgt spid="562591"/>
                                        </p:tgtEl>
                                        <p:attrNameLst>
                                          <p:attrName>ppt_w</p:attrName>
                                        </p:attrNameLst>
                                      </p:cBhvr>
                                      <p:tavLst>
                                        <p:tav tm="0">
                                          <p:val>
                                            <p:strVal val="4/3*#ppt_w"/>
                                          </p:val>
                                        </p:tav>
                                        <p:tav tm="100000">
                                          <p:val>
                                            <p:strVal val="#ppt_w"/>
                                          </p:val>
                                        </p:tav>
                                      </p:tavLst>
                                    </p:anim>
                                    <p:anim calcmode="lin" valueType="num">
                                      <p:cBhvr>
                                        <p:cTn id="25" dur="500" fill="hold"/>
                                        <p:tgtEl>
                                          <p:spTgt spid="562591"/>
                                        </p:tgtEl>
                                        <p:attrNameLst>
                                          <p:attrName>ppt_h</p:attrName>
                                        </p:attrNameLst>
                                      </p:cBhvr>
                                      <p:tavLst>
                                        <p:tav tm="0">
                                          <p:val>
                                            <p:strVal val="4/3*#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562593"/>
                                        </p:tgtEl>
                                        <p:attrNameLst>
                                          <p:attrName>style.visibility</p:attrName>
                                        </p:attrNameLst>
                                      </p:cBhvr>
                                      <p:to>
                                        <p:strVal val="visible"/>
                                      </p:to>
                                    </p:set>
                                    <p:animEffect transition="in" filter="dissolve">
                                      <p:cBhvr>
                                        <p:cTn id="30" dur="500"/>
                                        <p:tgtEl>
                                          <p:spTgt spid="56259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562601"/>
                                        </p:tgtEl>
                                        <p:attrNameLst>
                                          <p:attrName>style.visibility</p:attrName>
                                        </p:attrNameLst>
                                      </p:cBhvr>
                                      <p:to>
                                        <p:strVal val="visible"/>
                                      </p:to>
                                    </p:set>
                                    <p:animEffect transition="in" filter="wipe(up)">
                                      <p:cBhvr>
                                        <p:cTn id="35" dur="500"/>
                                        <p:tgtEl>
                                          <p:spTgt spid="562601"/>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562603"/>
                                        </p:tgtEl>
                                        <p:attrNameLst>
                                          <p:attrName>style.visibility</p:attrName>
                                        </p:attrNameLst>
                                      </p:cBhvr>
                                      <p:to>
                                        <p:strVal val="visible"/>
                                      </p:to>
                                    </p:set>
                                    <p:animEffect transition="in" filter="wipe(up)">
                                      <p:cBhvr>
                                        <p:cTn id="38" dur="500"/>
                                        <p:tgtEl>
                                          <p:spTgt spid="562603"/>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562605"/>
                                        </p:tgtEl>
                                        <p:attrNameLst>
                                          <p:attrName>style.visibility</p:attrName>
                                        </p:attrNameLst>
                                      </p:cBhvr>
                                      <p:to>
                                        <p:strVal val="visible"/>
                                      </p:to>
                                    </p:set>
                                    <p:animEffect transition="in" filter="wipe(up)">
                                      <p:cBhvr>
                                        <p:cTn id="41" dur="500"/>
                                        <p:tgtEl>
                                          <p:spTgt spid="562605"/>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562607"/>
                                        </p:tgtEl>
                                        <p:attrNameLst>
                                          <p:attrName>style.visibility</p:attrName>
                                        </p:attrNameLst>
                                      </p:cBhvr>
                                      <p:to>
                                        <p:strVal val="visible"/>
                                      </p:to>
                                    </p:set>
                                    <p:animEffect transition="in" filter="wipe(up)">
                                      <p:cBhvr>
                                        <p:cTn id="44" dur="500"/>
                                        <p:tgtEl>
                                          <p:spTgt spid="562607"/>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562609"/>
                                        </p:tgtEl>
                                        <p:attrNameLst>
                                          <p:attrName>style.visibility</p:attrName>
                                        </p:attrNameLst>
                                      </p:cBhvr>
                                      <p:to>
                                        <p:strVal val="visible"/>
                                      </p:to>
                                    </p:set>
                                    <p:animEffect transition="in" filter="wipe(up)">
                                      <p:cBhvr>
                                        <p:cTn id="47" dur="500"/>
                                        <p:tgtEl>
                                          <p:spTgt spid="562609"/>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562611"/>
                                        </p:tgtEl>
                                        <p:attrNameLst>
                                          <p:attrName>style.visibility</p:attrName>
                                        </p:attrNameLst>
                                      </p:cBhvr>
                                      <p:to>
                                        <p:strVal val="visible"/>
                                      </p:to>
                                    </p:set>
                                    <p:animEffect transition="in" filter="wipe(up)">
                                      <p:cBhvr>
                                        <p:cTn id="50" dur="500"/>
                                        <p:tgtEl>
                                          <p:spTgt spid="56261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562613"/>
                                        </p:tgtEl>
                                        <p:attrNameLst>
                                          <p:attrName>style.visibility</p:attrName>
                                        </p:attrNameLst>
                                      </p:cBhvr>
                                      <p:to>
                                        <p:strVal val="visible"/>
                                      </p:to>
                                    </p:set>
                                    <p:animEffect transition="in" filter="wipe(up)">
                                      <p:cBhvr>
                                        <p:cTn id="53" dur="500"/>
                                        <p:tgtEl>
                                          <p:spTgt spid="562613"/>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562615"/>
                                        </p:tgtEl>
                                        <p:attrNameLst>
                                          <p:attrName>style.visibility</p:attrName>
                                        </p:attrNameLst>
                                      </p:cBhvr>
                                      <p:to>
                                        <p:strVal val="visible"/>
                                      </p:to>
                                    </p:set>
                                    <p:animEffect transition="in" filter="wipe(up)">
                                      <p:cBhvr>
                                        <p:cTn id="56" dur="500"/>
                                        <p:tgtEl>
                                          <p:spTgt spid="562615"/>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562617"/>
                                        </p:tgtEl>
                                        <p:attrNameLst>
                                          <p:attrName>style.visibility</p:attrName>
                                        </p:attrNameLst>
                                      </p:cBhvr>
                                      <p:to>
                                        <p:strVal val="visible"/>
                                      </p:to>
                                    </p:set>
                                    <p:animEffect transition="in" filter="wipe(up)">
                                      <p:cBhvr>
                                        <p:cTn id="59" dur="500"/>
                                        <p:tgtEl>
                                          <p:spTgt spid="562617"/>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562602"/>
                                        </p:tgtEl>
                                        <p:attrNameLst>
                                          <p:attrName>style.visibility</p:attrName>
                                        </p:attrNameLst>
                                      </p:cBhvr>
                                      <p:to>
                                        <p:strVal val="visible"/>
                                      </p:to>
                                    </p:set>
                                    <p:animEffect transition="in" filter="wipe(left)">
                                      <p:cBhvr>
                                        <p:cTn id="63" dur="500"/>
                                        <p:tgtEl>
                                          <p:spTgt spid="562602"/>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562604"/>
                                        </p:tgtEl>
                                        <p:attrNameLst>
                                          <p:attrName>style.visibility</p:attrName>
                                        </p:attrNameLst>
                                      </p:cBhvr>
                                      <p:to>
                                        <p:strVal val="visible"/>
                                      </p:to>
                                    </p:set>
                                    <p:animEffect transition="in" filter="wipe(left)">
                                      <p:cBhvr>
                                        <p:cTn id="66" dur="500"/>
                                        <p:tgtEl>
                                          <p:spTgt spid="562604"/>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562606"/>
                                        </p:tgtEl>
                                        <p:attrNameLst>
                                          <p:attrName>style.visibility</p:attrName>
                                        </p:attrNameLst>
                                      </p:cBhvr>
                                      <p:to>
                                        <p:strVal val="visible"/>
                                      </p:to>
                                    </p:set>
                                    <p:animEffect transition="in" filter="wipe(left)">
                                      <p:cBhvr>
                                        <p:cTn id="69" dur="500"/>
                                        <p:tgtEl>
                                          <p:spTgt spid="562606"/>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562608"/>
                                        </p:tgtEl>
                                        <p:attrNameLst>
                                          <p:attrName>style.visibility</p:attrName>
                                        </p:attrNameLst>
                                      </p:cBhvr>
                                      <p:to>
                                        <p:strVal val="visible"/>
                                      </p:to>
                                    </p:set>
                                    <p:animEffect transition="in" filter="wipe(left)">
                                      <p:cBhvr>
                                        <p:cTn id="72" dur="500"/>
                                        <p:tgtEl>
                                          <p:spTgt spid="562608"/>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562610"/>
                                        </p:tgtEl>
                                        <p:attrNameLst>
                                          <p:attrName>style.visibility</p:attrName>
                                        </p:attrNameLst>
                                      </p:cBhvr>
                                      <p:to>
                                        <p:strVal val="visible"/>
                                      </p:to>
                                    </p:set>
                                    <p:animEffect transition="in" filter="wipe(left)">
                                      <p:cBhvr>
                                        <p:cTn id="75" dur="500"/>
                                        <p:tgtEl>
                                          <p:spTgt spid="562610"/>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562612"/>
                                        </p:tgtEl>
                                        <p:attrNameLst>
                                          <p:attrName>style.visibility</p:attrName>
                                        </p:attrNameLst>
                                      </p:cBhvr>
                                      <p:to>
                                        <p:strVal val="visible"/>
                                      </p:to>
                                    </p:set>
                                    <p:animEffect transition="in" filter="wipe(left)">
                                      <p:cBhvr>
                                        <p:cTn id="78" dur="500"/>
                                        <p:tgtEl>
                                          <p:spTgt spid="562612"/>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562614"/>
                                        </p:tgtEl>
                                        <p:attrNameLst>
                                          <p:attrName>style.visibility</p:attrName>
                                        </p:attrNameLst>
                                      </p:cBhvr>
                                      <p:to>
                                        <p:strVal val="visible"/>
                                      </p:to>
                                    </p:set>
                                    <p:animEffect transition="in" filter="wipe(left)">
                                      <p:cBhvr>
                                        <p:cTn id="81" dur="500"/>
                                        <p:tgtEl>
                                          <p:spTgt spid="562614"/>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562616"/>
                                        </p:tgtEl>
                                        <p:attrNameLst>
                                          <p:attrName>style.visibility</p:attrName>
                                        </p:attrNameLst>
                                      </p:cBhvr>
                                      <p:to>
                                        <p:strVal val="visible"/>
                                      </p:to>
                                    </p:set>
                                    <p:animEffect transition="in" filter="wipe(left)">
                                      <p:cBhvr>
                                        <p:cTn id="84" dur="500"/>
                                        <p:tgtEl>
                                          <p:spTgt spid="562616"/>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562618"/>
                                        </p:tgtEl>
                                        <p:attrNameLst>
                                          <p:attrName>style.visibility</p:attrName>
                                        </p:attrNameLst>
                                      </p:cBhvr>
                                      <p:to>
                                        <p:strVal val="visible"/>
                                      </p:to>
                                    </p:set>
                                    <p:animEffect transition="in" filter="wipe(left)">
                                      <p:cBhvr>
                                        <p:cTn id="87" dur="500"/>
                                        <p:tgtEl>
                                          <p:spTgt spid="56261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562619"/>
                                        </p:tgtEl>
                                        <p:attrNameLst>
                                          <p:attrName>style.visibility</p:attrName>
                                        </p:attrNameLst>
                                      </p:cBhvr>
                                      <p:to>
                                        <p:strVal val="visible"/>
                                      </p:to>
                                    </p:set>
                                    <p:animEffect transition="in" filter="wipe(up)">
                                      <p:cBhvr>
                                        <p:cTn id="92" dur="500"/>
                                        <p:tgtEl>
                                          <p:spTgt spid="562619"/>
                                        </p:tgtEl>
                                      </p:cBhvr>
                                    </p:animEffect>
                                  </p:childTnLst>
                                </p:cTn>
                              </p:par>
                            </p:childTnLst>
                          </p:cTn>
                        </p:par>
                        <p:par>
                          <p:cTn id="93" fill="hold">
                            <p:stCondLst>
                              <p:cond delay="500"/>
                            </p:stCondLst>
                            <p:childTnLst>
                              <p:par>
                                <p:cTn id="94" presetID="22" presetClass="entr" presetSubtype="1" fill="hold" nodeType="afterEffect">
                                  <p:stCondLst>
                                    <p:cond delay="0"/>
                                  </p:stCondLst>
                                  <p:childTnLst>
                                    <p:set>
                                      <p:cBhvr>
                                        <p:cTn id="95" dur="1" fill="hold">
                                          <p:stCondLst>
                                            <p:cond delay="0"/>
                                          </p:stCondLst>
                                        </p:cTn>
                                        <p:tgtEl>
                                          <p:spTgt spid="562620"/>
                                        </p:tgtEl>
                                        <p:attrNameLst>
                                          <p:attrName>style.visibility</p:attrName>
                                        </p:attrNameLst>
                                      </p:cBhvr>
                                      <p:to>
                                        <p:strVal val="visible"/>
                                      </p:to>
                                    </p:set>
                                    <p:animEffect transition="in" filter="wipe(up)">
                                      <p:cBhvr>
                                        <p:cTn id="96" dur="500"/>
                                        <p:tgtEl>
                                          <p:spTgt spid="562620"/>
                                        </p:tgtEl>
                                      </p:cBhvr>
                                    </p:animEffect>
                                  </p:childTnLst>
                                </p:cTn>
                              </p:par>
                            </p:childTnLst>
                          </p:cTn>
                        </p:par>
                        <p:par>
                          <p:cTn id="97" fill="hold">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562623"/>
                                        </p:tgtEl>
                                        <p:attrNameLst>
                                          <p:attrName>style.visibility</p:attrName>
                                        </p:attrNameLst>
                                      </p:cBhvr>
                                      <p:to>
                                        <p:strVal val="visible"/>
                                      </p:to>
                                    </p:set>
                                    <p:animEffect transition="in" filter="wipe(left)">
                                      <p:cBhvr>
                                        <p:cTn id="100" dur="500"/>
                                        <p:tgtEl>
                                          <p:spTgt spid="562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591" grpId="0"/>
      <p:bldP spid="562601" grpId="0"/>
      <p:bldP spid="562602" grpId="0"/>
      <p:bldP spid="562603" grpId="0"/>
      <p:bldP spid="562604" grpId="0"/>
      <p:bldP spid="562605" grpId="0"/>
      <p:bldP spid="562606" grpId="0"/>
      <p:bldP spid="562607" grpId="0"/>
      <p:bldP spid="562608" grpId="0"/>
      <p:bldP spid="562609" grpId="0"/>
      <p:bldP spid="562610" grpId="0"/>
      <p:bldP spid="562611" grpId="0"/>
      <p:bldP spid="562612" grpId="0"/>
      <p:bldP spid="562613" grpId="0"/>
      <p:bldP spid="562614" grpId="0"/>
      <p:bldP spid="562615" grpId="0"/>
      <p:bldP spid="562616" grpId="0"/>
      <p:bldP spid="562617" grpId="0"/>
      <p:bldP spid="562618" grpId="0"/>
      <p:bldP spid="56262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395536" y="167370"/>
            <a:ext cx="8229600" cy="884238"/>
          </a:xfrm>
        </p:spPr>
        <p:txBody>
          <a:bodyPr/>
          <a:lstStyle/>
          <a:p>
            <a:r>
              <a:rPr lang="zh-CN" altLang="en-US" sz="3200" dirty="0"/>
              <a:t>用期望值看体系结构风格的表现</a:t>
            </a:r>
            <a:endParaRPr lang="zh-CN" altLang="en-US" sz="3200" dirty="0"/>
          </a:p>
        </p:txBody>
      </p:sp>
      <p:sp>
        <p:nvSpPr>
          <p:cNvPr id="26625" name="灯片编号占位符 3"/>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50A59FF-2EAD-4F25-BEEF-AAA6858F2E3F}"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6626" name="日期占位符 4"/>
          <p:cNvSpPr>
            <a:spLocks noGrp="1" noChangeArrowheads="1"/>
          </p:cNvSpPr>
          <p:nvPr>
            <p:ph type="dt" sz="half"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0129FED-49AB-4867-81EF-1DA8720E3C93}" type="datetime1">
              <a:rPr lang="zh-CN" altLang="en-US"/>
            </a:fld>
            <a:endParaRPr lang="zh-CN" altLang="en-US"/>
          </a:p>
        </p:txBody>
      </p:sp>
      <p:graphicFrame>
        <p:nvGraphicFramePr>
          <p:cNvPr id="563203" name="Group 3"/>
          <p:cNvGraphicFramePr>
            <a:graphicFrameLocks noGrp="1"/>
          </p:cNvGraphicFramePr>
          <p:nvPr/>
        </p:nvGraphicFramePr>
        <p:xfrm>
          <a:off x="468313" y="1816100"/>
          <a:ext cx="8224837" cy="4273547"/>
        </p:xfrm>
        <a:graphic>
          <a:graphicData uri="http://schemas.openxmlformats.org/drawingml/2006/table">
            <a:tbl>
              <a:tblPr/>
              <a:tblGrid>
                <a:gridCol w="1309687"/>
                <a:gridCol w="768350"/>
                <a:gridCol w="768350"/>
                <a:gridCol w="768350"/>
                <a:gridCol w="768350"/>
                <a:gridCol w="768350"/>
                <a:gridCol w="768350"/>
                <a:gridCol w="768350"/>
                <a:gridCol w="768350"/>
                <a:gridCol w="768350"/>
              </a:tblGrid>
              <a:tr h="706595">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组件重用</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组件更换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组件移位</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组件无关</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组件互通</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接口变换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计算性能</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节省空间</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容错</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期望值</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管道</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结构化</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面向对象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事件驱动</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层次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仓库</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客户</a:t>
                      </a:r>
                      <a:r>
                        <a:rPr kumimoji="0" lang="en-US" altLang="zh-CN"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a:t>
                      </a:r>
                      <a:r>
                        <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服务器</a:t>
                      </a:r>
                      <a:endPar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对等</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63361" name="Rectangle 161"/>
          <p:cNvSpPr>
            <a:spLocks noChangeArrowheads="1"/>
          </p:cNvSpPr>
          <p:nvPr/>
        </p:nvSpPr>
        <p:spPr bwMode="auto">
          <a:xfrm>
            <a:off x="1763713" y="2924175"/>
            <a:ext cx="6911975" cy="3138488"/>
          </a:xfrm>
          <a:prstGeom prst="rect">
            <a:avLst/>
          </a:prstGeom>
          <a:noFill/>
          <a:ln w="57150">
            <a:solidFill>
              <a:srgbClr val="00FFFF"/>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3362" name="Text Box 162"/>
          <p:cNvSpPr txBox="1">
            <a:spLocks noChangeArrowheads="1"/>
          </p:cNvSpPr>
          <p:nvPr/>
        </p:nvSpPr>
        <p:spPr bwMode="auto">
          <a:xfrm>
            <a:off x="4656138" y="3429000"/>
            <a:ext cx="93027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800">
                <a:solidFill>
                  <a:srgbClr val="FF0000"/>
                </a:solidFill>
              </a:rPr>
              <a:t>A</a:t>
            </a:r>
            <a:endParaRPr lang="en-US" altLang="zh-CN" sz="8800">
              <a:solidFill>
                <a:srgbClr val="FF0000"/>
              </a:solidFill>
            </a:endParaRPr>
          </a:p>
        </p:txBody>
      </p:sp>
      <p:sp>
        <p:nvSpPr>
          <p:cNvPr id="563363" name="Rectangle 163"/>
          <p:cNvSpPr>
            <a:spLocks noChangeArrowheads="1"/>
          </p:cNvSpPr>
          <p:nvPr/>
        </p:nvSpPr>
        <p:spPr bwMode="auto">
          <a:xfrm>
            <a:off x="1763713" y="2524125"/>
            <a:ext cx="6911975" cy="376238"/>
          </a:xfrm>
          <a:prstGeom prst="rect">
            <a:avLst/>
          </a:prstGeom>
          <a:noFill/>
          <a:ln w="57150">
            <a:solidFill>
              <a:srgbClr val="FFFF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3364" name="Text Box 164"/>
          <p:cNvSpPr txBox="1">
            <a:spLocks noChangeArrowheads="1"/>
          </p:cNvSpPr>
          <p:nvPr/>
        </p:nvSpPr>
        <p:spPr bwMode="auto">
          <a:xfrm>
            <a:off x="4643438" y="1419225"/>
            <a:ext cx="93027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800">
                <a:solidFill>
                  <a:srgbClr val="FF0000"/>
                </a:solidFill>
              </a:rPr>
              <a:t>B</a:t>
            </a:r>
            <a:endParaRPr lang="en-US" altLang="zh-CN" sz="8800">
              <a:solidFill>
                <a:srgbClr val="FF0000"/>
              </a:solidFill>
            </a:endParaRPr>
          </a:p>
        </p:txBody>
      </p:sp>
      <p:sp>
        <p:nvSpPr>
          <p:cNvPr id="563365" name="Text Box 165"/>
          <p:cNvSpPr txBox="1">
            <a:spLocks noChangeArrowheads="1"/>
          </p:cNvSpPr>
          <p:nvPr/>
        </p:nvSpPr>
        <p:spPr bwMode="auto">
          <a:xfrm>
            <a:off x="3203575" y="4941888"/>
            <a:ext cx="3905250" cy="1433512"/>
          </a:xfrm>
          <a:prstGeom prst="rect">
            <a:avLst/>
          </a:prstGeom>
          <a:solidFill>
            <a:schemeClr val="tx1">
              <a:alpha val="56862"/>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ctr" hangingPunct="1"/>
            <a:r>
              <a:rPr lang="en-US" altLang="zh-CN" sz="8800">
                <a:solidFill>
                  <a:srgbClr val="00FF00"/>
                </a:solidFill>
              </a:rPr>
              <a:t>C</a:t>
            </a:r>
            <a:r>
              <a:rPr lang="en-US" altLang="zh-CN" sz="4800">
                <a:solidFill>
                  <a:srgbClr val="00FF00"/>
                </a:solidFill>
              </a:rPr>
              <a:t>=</a:t>
            </a:r>
            <a:r>
              <a:rPr lang="en-US" altLang="zh-CN" sz="8800">
                <a:solidFill>
                  <a:srgbClr val="00FF00"/>
                </a:solidFill>
              </a:rPr>
              <a:t>A</a:t>
            </a:r>
            <a:r>
              <a:rPr lang="en-US" altLang="zh-CN" sz="4800">
                <a:solidFill>
                  <a:srgbClr val="00FF00"/>
                </a:solidFill>
              </a:rPr>
              <a:t>×</a:t>
            </a:r>
            <a:r>
              <a:rPr lang="en-US" altLang="zh-CN" sz="8800">
                <a:solidFill>
                  <a:srgbClr val="00FF00"/>
                </a:solidFill>
              </a:rPr>
              <a:t>B</a:t>
            </a:r>
            <a:r>
              <a:rPr lang="en-US" altLang="zh-CN" sz="8800" baseline="30000">
                <a:solidFill>
                  <a:srgbClr val="00FF00"/>
                </a:solidFill>
              </a:rPr>
              <a:t>T</a:t>
            </a:r>
            <a:endParaRPr lang="en-US" altLang="zh-CN" sz="8800" baseline="30000">
              <a:solidFill>
                <a:srgbClr val="00FF00"/>
              </a:solidFill>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563361"/>
                                        </p:tgtEl>
                                        <p:attrNameLst>
                                          <p:attrName>style.visibility</p:attrName>
                                        </p:attrNameLst>
                                      </p:cBhvr>
                                      <p:to>
                                        <p:strVal val="visible"/>
                                      </p:to>
                                    </p:set>
                                    <p:anim calcmode="lin" valueType="num">
                                      <p:cBhvr>
                                        <p:cTn id="7" dur="500" fill="hold"/>
                                        <p:tgtEl>
                                          <p:spTgt spid="563361"/>
                                        </p:tgtEl>
                                        <p:attrNameLst>
                                          <p:attrName>ppt_w</p:attrName>
                                        </p:attrNameLst>
                                      </p:cBhvr>
                                      <p:tavLst>
                                        <p:tav tm="0">
                                          <p:val>
                                            <p:strVal val="4/3*#ppt_w"/>
                                          </p:val>
                                        </p:tav>
                                        <p:tav tm="100000">
                                          <p:val>
                                            <p:strVal val="#ppt_w"/>
                                          </p:val>
                                        </p:tav>
                                      </p:tavLst>
                                    </p:anim>
                                    <p:anim calcmode="lin" valueType="num">
                                      <p:cBhvr>
                                        <p:cTn id="8" dur="500" fill="hold"/>
                                        <p:tgtEl>
                                          <p:spTgt spid="563361"/>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56336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3" presetClass="entr" presetSubtype="288" fill="hold" nodeType="clickEffect">
                                  <p:stCondLst>
                                    <p:cond delay="0"/>
                                  </p:stCondLst>
                                  <p:childTnLst>
                                    <p:set>
                                      <p:cBhvr>
                                        <p:cTn id="15" dur="1" fill="hold">
                                          <p:stCondLst>
                                            <p:cond delay="0"/>
                                          </p:stCondLst>
                                        </p:cTn>
                                        <p:tgtEl>
                                          <p:spTgt spid="563363"/>
                                        </p:tgtEl>
                                        <p:attrNameLst>
                                          <p:attrName>style.visibility</p:attrName>
                                        </p:attrNameLst>
                                      </p:cBhvr>
                                      <p:to>
                                        <p:strVal val="visible"/>
                                      </p:to>
                                    </p:set>
                                    <p:anim calcmode="lin" valueType="num">
                                      <p:cBhvr>
                                        <p:cTn id="16" dur="500" fill="hold"/>
                                        <p:tgtEl>
                                          <p:spTgt spid="563363"/>
                                        </p:tgtEl>
                                        <p:attrNameLst>
                                          <p:attrName>ppt_w</p:attrName>
                                        </p:attrNameLst>
                                      </p:cBhvr>
                                      <p:tavLst>
                                        <p:tav tm="0">
                                          <p:val>
                                            <p:strVal val="4/3*#ppt_w"/>
                                          </p:val>
                                        </p:tav>
                                        <p:tav tm="100000">
                                          <p:val>
                                            <p:strVal val="#ppt_w"/>
                                          </p:val>
                                        </p:tav>
                                      </p:tavLst>
                                    </p:anim>
                                    <p:anim calcmode="lin" valueType="num">
                                      <p:cBhvr>
                                        <p:cTn id="17" dur="500" fill="hold"/>
                                        <p:tgtEl>
                                          <p:spTgt spid="563363"/>
                                        </p:tgtEl>
                                        <p:attrNameLst>
                                          <p:attrName>ppt_h</p:attrName>
                                        </p:attrNameLst>
                                      </p:cBhvr>
                                      <p:tavLst>
                                        <p:tav tm="0">
                                          <p:val>
                                            <p:strVal val="4/3*#ppt_h"/>
                                          </p:val>
                                        </p:tav>
                                        <p:tav tm="100000">
                                          <p:val>
                                            <p:strVal val="#ppt_h"/>
                                          </p:val>
                                        </p:tav>
                                      </p:tavLst>
                                    </p:anim>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56336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633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62" grpId="0"/>
      <p:bldP spid="563364" grpId="0"/>
      <p:bldP spid="56336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a:xfrm>
            <a:off x="446088" y="161397"/>
            <a:ext cx="8229600" cy="884238"/>
          </a:xfrm>
        </p:spPr>
        <p:txBody>
          <a:bodyPr/>
          <a:lstStyle/>
          <a:p>
            <a:r>
              <a:rPr lang="zh-CN" altLang="en-US" dirty="0"/>
              <a:t>体系选择矩阵法</a:t>
            </a:r>
            <a:endParaRPr lang="zh-CN" altLang="en-US" dirty="0"/>
          </a:p>
        </p:txBody>
      </p:sp>
      <p:sp>
        <p:nvSpPr>
          <p:cNvPr id="27649" name="灯片编号占位符 3"/>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AE7853E-43BD-4525-A329-76A4CF10A040}"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7650" name="日期占位符 4"/>
          <p:cNvSpPr>
            <a:spLocks noGrp="1" noChangeArrowheads="1"/>
          </p:cNvSpPr>
          <p:nvPr>
            <p:ph type="dt" sz="half"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06BE341-8A40-4FA0-8F93-09453A2CFA25}" type="datetime1">
              <a:rPr lang="zh-CN" altLang="en-US"/>
            </a:fld>
            <a:endParaRPr lang="zh-CN" altLang="en-US"/>
          </a:p>
        </p:txBody>
      </p:sp>
      <p:graphicFrame>
        <p:nvGraphicFramePr>
          <p:cNvPr id="564227" name="Group 3"/>
          <p:cNvGraphicFramePr>
            <a:graphicFrameLocks noGrp="1"/>
          </p:cNvGraphicFramePr>
          <p:nvPr/>
        </p:nvGraphicFramePr>
        <p:xfrm>
          <a:off x="468313" y="1816100"/>
          <a:ext cx="8224837" cy="4273547"/>
        </p:xfrm>
        <a:graphic>
          <a:graphicData uri="http://schemas.openxmlformats.org/drawingml/2006/table">
            <a:tbl>
              <a:tblPr/>
              <a:tblGrid>
                <a:gridCol w="1309687"/>
                <a:gridCol w="768350"/>
                <a:gridCol w="768350"/>
                <a:gridCol w="768350"/>
                <a:gridCol w="768350"/>
                <a:gridCol w="768350"/>
                <a:gridCol w="768350"/>
                <a:gridCol w="768350"/>
                <a:gridCol w="768350"/>
                <a:gridCol w="768350"/>
              </a:tblGrid>
              <a:tr h="706595">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组件重用</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组件更换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组件移位</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组件无关</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组件互通</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接口变换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计算性能</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节省空间</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容错</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期望值</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管道</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结构化</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面向对象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事件驱动</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层次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仓库</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客户</a:t>
                      </a:r>
                      <a:r>
                        <a:rPr kumimoji="0" lang="en-US" altLang="zh-CN"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a:t>
                      </a:r>
                      <a:r>
                        <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服务器</a:t>
                      </a:r>
                      <a:endPar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对等</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7775" name="Rectangle 126"/>
          <p:cNvSpPr>
            <a:spLocks noChangeArrowheads="1"/>
          </p:cNvSpPr>
          <p:nvPr/>
        </p:nvSpPr>
        <p:spPr bwMode="auto">
          <a:xfrm>
            <a:off x="1763713" y="2924175"/>
            <a:ext cx="6911975" cy="3138488"/>
          </a:xfrm>
          <a:prstGeom prst="rect">
            <a:avLst/>
          </a:prstGeom>
          <a:noFill/>
          <a:ln w="57150">
            <a:solidFill>
              <a:srgbClr val="00FFFF"/>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7776" name="Text Box 127"/>
          <p:cNvSpPr txBox="1">
            <a:spLocks noChangeArrowheads="1"/>
          </p:cNvSpPr>
          <p:nvPr/>
        </p:nvSpPr>
        <p:spPr bwMode="auto">
          <a:xfrm>
            <a:off x="4656138" y="3429000"/>
            <a:ext cx="93027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800">
                <a:solidFill>
                  <a:srgbClr val="FF0000"/>
                </a:solidFill>
              </a:rPr>
              <a:t>A</a:t>
            </a:r>
            <a:endParaRPr lang="en-US" altLang="zh-CN" sz="8800">
              <a:solidFill>
                <a:srgbClr val="FF0000"/>
              </a:solidFill>
            </a:endParaRPr>
          </a:p>
        </p:txBody>
      </p:sp>
      <p:sp>
        <p:nvSpPr>
          <p:cNvPr id="27777" name="Rectangle 128"/>
          <p:cNvSpPr>
            <a:spLocks noChangeArrowheads="1"/>
          </p:cNvSpPr>
          <p:nvPr/>
        </p:nvSpPr>
        <p:spPr bwMode="auto">
          <a:xfrm>
            <a:off x="1763713" y="2524125"/>
            <a:ext cx="6911975" cy="376238"/>
          </a:xfrm>
          <a:prstGeom prst="rect">
            <a:avLst/>
          </a:prstGeom>
          <a:noFill/>
          <a:ln w="57150">
            <a:solidFill>
              <a:srgbClr val="FFFF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7778" name="Text Box 129"/>
          <p:cNvSpPr txBox="1">
            <a:spLocks noChangeArrowheads="1"/>
          </p:cNvSpPr>
          <p:nvPr/>
        </p:nvSpPr>
        <p:spPr bwMode="auto">
          <a:xfrm>
            <a:off x="4643438" y="1419225"/>
            <a:ext cx="93027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800">
                <a:solidFill>
                  <a:srgbClr val="FF0000"/>
                </a:solidFill>
              </a:rPr>
              <a:t>B</a:t>
            </a:r>
            <a:endParaRPr lang="en-US" altLang="zh-CN" sz="8800">
              <a:solidFill>
                <a:srgbClr val="FF0000"/>
              </a:solidFill>
            </a:endParaRPr>
          </a:p>
        </p:txBody>
      </p:sp>
      <p:sp>
        <p:nvSpPr>
          <p:cNvPr id="27779" name="Text Box 130"/>
          <p:cNvSpPr txBox="1">
            <a:spLocks noChangeArrowheads="1"/>
          </p:cNvSpPr>
          <p:nvPr/>
        </p:nvSpPr>
        <p:spPr bwMode="auto">
          <a:xfrm>
            <a:off x="3203575" y="4941888"/>
            <a:ext cx="3905250" cy="1433512"/>
          </a:xfrm>
          <a:prstGeom prst="rect">
            <a:avLst/>
          </a:prstGeom>
          <a:solidFill>
            <a:schemeClr val="tx1">
              <a:alpha val="56862"/>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ctr" hangingPunct="1"/>
            <a:r>
              <a:rPr lang="en-US" altLang="zh-CN" sz="8800">
                <a:solidFill>
                  <a:srgbClr val="00FF00"/>
                </a:solidFill>
              </a:rPr>
              <a:t>C</a:t>
            </a:r>
            <a:r>
              <a:rPr lang="en-US" altLang="zh-CN" sz="4800">
                <a:solidFill>
                  <a:srgbClr val="00FF00"/>
                </a:solidFill>
              </a:rPr>
              <a:t>=</a:t>
            </a:r>
            <a:r>
              <a:rPr lang="en-US" altLang="zh-CN" sz="8800">
                <a:solidFill>
                  <a:srgbClr val="00FF00"/>
                </a:solidFill>
              </a:rPr>
              <a:t>A</a:t>
            </a:r>
            <a:r>
              <a:rPr lang="en-US" altLang="zh-CN" sz="4800">
                <a:solidFill>
                  <a:srgbClr val="00FF00"/>
                </a:solidFill>
              </a:rPr>
              <a:t>×</a:t>
            </a:r>
            <a:r>
              <a:rPr lang="en-US" altLang="zh-CN" sz="8800">
                <a:solidFill>
                  <a:srgbClr val="00FF00"/>
                </a:solidFill>
              </a:rPr>
              <a:t>B</a:t>
            </a:r>
            <a:r>
              <a:rPr lang="en-US" altLang="zh-CN" sz="8800" baseline="30000">
                <a:solidFill>
                  <a:srgbClr val="00FF00"/>
                </a:solidFill>
              </a:rPr>
              <a:t>T</a:t>
            </a:r>
            <a:endParaRPr lang="en-US" altLang="zh-CN" sz="8800" baseline="30000">
              <a:solidFill>
                <a:srgbClr val="00FF00"/>
              </a:solidFill>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64226"/>
                                        </p:tgtEl>
                                        <p:attrNameLst>
                                          <p:attrName>style.visibility</p:attrName>
                                        </p:attrNameLst>
                                      </p:cBhvr>
                                      <p:to>
                                        <p:strVal val="visible"/>
                                      </p:to>
                                    </p:set>
                                    <p:anim calcmode="lin" valueType="num">
                                      <p:cBhvr>
                                        <p:cTn id="7" dur="1000" fill="hold"/>
                                        <p:tgtEl>
                                          <p:spTgt spid="564226"/>
                                        </p:tgtEl>
                                        <p:attrNameLst>
                                          <p:attrName>ppt_w</p:attrName>
                                        </p:attrNameLst>
                                      </p:cBhvr>
                                      <p:tavLst>
                                        <p:tav tm="0">
                                          <p:val>
                                            <p:fltVal val="0"/>
                                          </p:val>
                                        </p:tav>
                                        <p:tav tm="100000">
                                          <p:val>
                                            <p:strVal val="#ppt_w"/>
                                          </p:val>
                                        </p:tav>
                                      </p:tavLst>
                                    </p:anim>
                                    <p:anim calcmode="lin" valueType="num">
                                      <p:cBhvr>
                                        <p:cTn id="8" dur="1000" fill="hold"/>
                                        <p:tgtEl>
                                          <p:spTgt spid="564226"/>
                                        </p:tgtEl>
                                        <p:attrNameLst>
                                          <p:attrName>ppt_h</p:attrName>
                                        </p:attrNameLst>
                                      </p:cBhvr>
                                      <p:tavLst>
                                        <p:tav tm="0">
                                          <p:val>
                                            <p:fltVal val="0"/>
                                          </p:val>
                                        </p:tav>
                                        <p:tav tm="100000">
                                          <p:val>
                                            <p:strVal val="#ppt_h"/>
                                          </p:val>
                                        </p:tav>
                                      </p:tavLst>
                                    </p:anim>
                                    <p:anim calcmode="lin" valueType="num">
                                      <p:cBhvr>
                                        <p:cTn id="9" dur="1000" fill="hold"/>
                                        <p:tgtEl>
                                          <p:spTgt spid="56422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6422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a:t>对编译器采用体系选择矩阵法</a:t>
            </a:r>
            <a:endParaRPr lang="zh-CN" altLang="en-US"/>
          </a:p>
        </p:txBody>
      </p:sp>
      <p:sp>
        <p:nvSpPr>
          <p:cNvPr id="2867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1CF8BD6-53C9-4279-BC25-859CAC2BD97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867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EFF309C-D9D4-4CFA-A067-CF0E4D12787E}" type="datetime1">
              <a:rPr lang="zh-CN" altLang="en-US"/>
            </a:fld>
            <a:endParaRPr lang="zh-CN" altLang="en-US"/>
          </a:p>
        </p:txBody>
      </p:sp>
      <p:graphicFrame>
        <p:nvGraphicFramePr>
          <p:cNvPr id="28676" name="Object 73"/>
          <p:cNvGraphicFramePr>
            <a:graphicFrameLocks noChangeAspect="1"/>
          </p:cNvGraphicFramePr>
          <p:nvPr/>
        </p:nvGraphicFramePr>
        <p:xfrm>
          <a:off x="539750" y="1700213"/>
          <a:ext cx="5957888" cy="4321175"/>
        </p:xfrm>
        <a:graphic>
          <a:graphicData uri="http://schemas.openxmlformats.org/presentationml/2006/ole">
            <mc:AlternateContent xmlns:mc="http://schemas.openxmlformats.org/markup-compatibility/2006">
              <mc:Choice xmlns:v="urn:schemas-microsoft-com:vml" Requires="v">
                <p:oleObj spid="_x0000_s28758" name="" r:id="rId1" imgW="2806700" imgH="2057400" progId="Equation.DSMT4">
                  <p:embed/>
                </p:oleObj>
              </mc:Choice>
              <mc:Fallback>
                <p:oleObj name="" r:id="rId1" imgW="2806700" imgH="2057400" progId="Equation.DSMT4">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700213"/>
                        <a:ext cx="5957888"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8677" name="Group 74"/>
          <p:cNvGrpSpPr/>
          <p:nvPr/>
        </p:nvGrpSpPr>
        <p:grpSpPr bwMode="auto">
          <a:xfrm>
            <a:off x="6443663" y="1700213"/>
            <a:ext cx="2160587" cy="4321175"/>
            <a:chOff x="4059" y="1071"/>
            <a:chExt cx="1361" cy="2747"/>
          </a:xfrm>
        </p:grpSpPr>
        <p:sp>
          <p:nvSpPr>
            <p:cNvPr id="28678" name="Rectangle 75"/>
            <p:cNvSpPr>
              <a:spLocks noChangeArrowheads="1"/>
            </p:cNvSpPr>
            <p:nvPr/>
          </p:nvSpPr>
          <p:spPr bwMode="auto">
            <a:xfrm>
              <a:off x="4059" y="1071"/>
              <a:ext cx="1361" cy="2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8679" name="Rectangle 76"/>
            <p:cNvSpPr>
              <a:spLocks noChangeArrowheads="1"/>
            </p:cNvSpPr>
            <p:nvPr/>
          </p:nvSpPr>
          <p:spPr bwMode="auto">
            <a:xfrm>
              <a:off x="4105" y="3351"/>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对等风格</a:t>
              </a:r>
              <a:endParaRPr lang="zh-CN" altLang="en-US" sz="2400" b="1">
                <a:solidFill>
                  <a:srgbClr val="000000"/>
                </a:solidFill>
              </a:endParaRPr>
            </a:p>
          </p:txBody>
        </p:sp>
        <p:sp>
          <p:nvSpPr>
            <p:cNvPr id="28680" name="Rectangle 77"/>
            <p:cNvSpPr>
              <a:spLocks noChangeArrowheads="1"/>
            </p:cNvSpPr>
            <p:nvPr/>
          </p:nvSpPr>
          <p:spPr bwMode="auto">
            <a:xfrm>
              <a:off x="4105" y="3045"/>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客户</a:t>
              </a:r>
              <a:r>
                <a:rPr lang="en-US" altLang="zh-CN" sz="2400" b="1">
                  <a:solidFill>
                    <a:srgbClr val="000000"/>
                  </a:solidFill>
                </a:rPr>
                <a:t>—</a:t>
              </a:r>
              <a:r>
                <a:rPr lang="zh-CN" altLang="en-US" sz="2400" b="1">
                  <a:solidFill>
                    <a:srgbClr val="000000"/>
                  </a:solidFill>
                </a:rPr>
                <a:t>服务器</a:t>
              </a:r>
              <a:endParaRPr lang="zh-CN" altLang="en-US" sz="2400" b="1">
                <a:solidFill>
                  <a:srgbClr val="000000"/>
                </a:solidFill>
              </a:endParaRPr>
            </a:p>
          </p:txBody>
        </p:sp>
        <p:sp>
          <p:nvSpPr>
            <p:cNvPr id="28681" name="Rectangle 78"/>
            <p:cNvSpPr>
              <a:spLocks noChangeArrowheads="1"/>
            </p:cNvSpPr>
            <p:nvPr/>
          </p:nvSpPr>
          <p:spPr bwMode="auto">
            <a:xfrm>
              <a:off x="4105" y="2738"/>
              <a:ext cx="12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仓库风格</a:t>
              </a:r>
              <a:endParaRPr lang="zh-CN" altLang="en-US" sz="2400" b="1">
                <a:solidFill>
                  <a:srgbClr val="000000"/>
                </a:solidFill>
              </a:endParaRPr>
            </a:p>
          </p:txBody>
        </p:sp>
        <p:sp>
          <p:nvSpPr>
            <p:cNvPr id="28682" name="Rectangle 79"/>
            <p:cNvSpPr>
              <a:spLocks noChangeArrowheads="1"/>
            </p:cNvSpPr>
            <p:nvPr/>
          </p:nvSpPr>
          <p:spPr bwMode="auto">
            <a:xfrm>
              <a:off x="4105" y="2432"/>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层次风格</a:t>
              </a:r>
              <a:endParaRPr lang="zh-CN" altLang="en-US" sz="2400" b="1">
                <a:solidFill>
                  <a:srgbClr val="000000"/>
                </a:solidFill>
              </a:endParaRPr>
            </a:p>
          </p:txBody>
        </p:sp>
        <p:sp>
          <p:nvSpPr>
            <p:cNvPr id="28683" name="Rectangle 80"/>
            <p:cNvSpPr>
              <a:spLocks noChangeArrowheads="1"/>
            </p:cNvSpPr>
            <p:nvPr/>
          </p:nvSpPr>
          <p:spPr bwMode="auto">
            <a:xfrm>
              <a:off x="4105" y="2126"/>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事件驱动风格</a:t>
              </a:r>
              <a:endParaRPr lang="zh-CN" altLang="en-US" sz="2400" b="1">
                <a:solidFill>
                  <a:srgbClr val="000000"/>
                </a:solidFill>
              </a:endParaRPr>
            </a:p>
          </p:txBody>
        </p:sp>
        <p:sp>
          <p:nvSpPr>
            <p:cNvPr id="28684" name="Rectangle 81"/>
            <p:cNvSpPr>
              <a:spLocks noChangeArrowheads="1"/>
            </p:cNvSpPr>
            <p:nvPr/>
          </p:nvSpPr>
          <p:spPr bwMode="auto">
            <a:xfrm>
              <a:off x="4105" y="1820"/>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面向对象风格</a:t>
              </a:r>
              <a:endParaRPr lang="zh-CN" altLang="en-US" sz="2400" b="1">
                <a:solidFill>
                  <a:srgbClr val="000000"/>
                </a:solidFill>
              </a:endParaRPr>
            </a:p>
          </p:txBody>
        </p:sp>
        <p:sp>
          <p:nvSpPr>
            <p:cNvPr id="28685" name="Rectangle 82"/>
            <p:cNvSpPr>
              <a:spLocks noChangeArrowheads="1"/>
            </p:cNvSpPr>
            <p:nvPr/>
          </p:nvSpPr>
          <p:spPr bwMode="auto">
            <a:xfrm>
              <a:off x="4105" y="1513"/>
              <a:ext cx="12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结构化风格</a:t>
              </a:r>
              <a:endParaRPr lang="zh-CN" altLang="en-US" sz="2400" b="1">
                <a:solidFill>
                  <a:srgbClr val="000000"/>
                </a:solidFill>
              </a:endParaRPr>
            </a:p>
          </p:txBody>
        </p:sp>
        <p:sp>
          <p:nvSpPr>
            <p:cNvPr id="28686" name="Rectangle 83"/>
            <p:cNvSpPr>
              <a:spLocks noChangeArrowheads="1"/>
            </p:cNvSpPr>
            <p:nvPr/>
          </p:nvSpPr>
          <p:spPr bwMode="auto">
            <a:xfrm>
              <a:off x="4105" y="1207"/>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管道风格</a:t>
              </a:r>
              <a:endParaRPr lang="zh-CN" altLang="en-US" sz="2400" b="1">
                <a:solidFill>
                  <a:srgbClr val="000000"/>
                </a:solidFill>
              </a:endParaRPr>
            </a:p>
          </p:txBody>
        </p:sp>
        <p:sp>
          <p:nvSpPr>
            <p:cNvPr id="28687" name="Line 84"/>
            <p:cNvSpPr>
              <a:spLocks noChangeShapeType="1"/>
            </p:cNvSpPr>
            <p:nvPr/>
          </p:nvSpPr>
          <p:spPr bwMode="auto">
            <a:xfrm>
              <a:off x="4105" y="1207"/>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sp>
          <p:nvSpPr>
            <p:cNvPr id="28688" name="Line 85"/>
            <p:cNvSpPr>
              <a:spLocks noChangeShapeType="1"/>
            </p:cNvSpPr>
            <p:nvPr/>
          </p:nvSpPr>
          <p:spPr bwMode="auto">
            <a:xfrm>
              <a:off x="4105" y="1513"/>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28689" name="Line 86"/>
            <p:cNvSpPr>
              <a:spLocks noChangeShapeType="1"/>
            </p:cNvSpPr>
            <p:nvPr/>
          </p:nvSpPr>
          <p:spPr bwMode="auto">
            <a:xfrm>
              <a:off x="4105" y="1820"/>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28690" name="Line 87"/>
            <p:cNvSpPr>
              <a:spLocks noChangeShapeType="1"/>
            </p:cNvSpPr>
            <p:nvPr/>
          </p:nvSpPr>
          <p:spPr bwMode="auto">
            <a:xfrm>
              <a:off x="4105" y="2126"/>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28691" name="Line 88"/>
            <p:cNvSpPr>
              <a:spLocks noChangeShapeType="1"/>
            </p:cNvSpPr>
            <p:nvPr/>
          </p:nvSpPr>
          <p:spPr bwMode="auto">
            <a:xfrm>
              <a:off x="4105" y="2432"/>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28692" name="Line 89"/>
            <p:cNvSpPr>
              <a:spLocks noChangeShapeType="1"/>
            </p:cNvSpPr>
            <p:nvPr/>
          </p:nvSpPr>
          <p:spPr bwMode="auto">
            <a:xfrm>
              <a:off x="4105" y="2738"/>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28693" name="Line 90"/>
            <p:cNvSpPr>
              <a:spLocks noChangeShapeType="1"/>
            </p:cNvSpPr>
            <p:nvPr/>
          </p:nvSpPr>
          <p:spPr bwMode="auto">
            <a:xfrm>
              <a:off x="4105" y="3045"/>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28694" name="Line 91"/>
            <p:cNvSpPr>
              <a:spLocks noChangeShapeType="1"/>
            </p:cNvSpPr>
            <p:nvPr/>
          </p:nvSpPr>
          <p:spPr bwMode="auto">
            <a:xfrm>
              <a:off x="4105" y="3351"/>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28695" name="Line 92"/>
            <p:cNvSpPr>
              <a:spLocks noChangeShapeType="1"/>
            </p:cNvSpPr>
            <p:nvPr/>
          </p:nvSpPr>
          <p:spPr bwMode="auto">
            <a:xfrm>
              <a:off x="4105" y="3657"/>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sp>
          <p:nvSpPr>
            <p:cNvPr id="28696" name="Line 93"/>
            <p:cNvSpPr>
              <a:spLocks noChangeShapeType="1"/>
            </p:cNvSpPr>
            <p:nvPr/>
          </p:nvSpPr>
          <p:spPr bwMode="auto">
            <a:xfrm>
              <a:off x="4105" y="1207"/>
              <a:ext cx="0" cy="24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sp>
          <p:nvSpPr>
            <p:cNvPr id="28697" name="Line 94"/>
            <p:cNvSpPr>
              <a:spLocks noChangeShapeType="1"/>
            </p:cNvSpPr>
            <p:nvPr/>
          </p:nvSpPr>
          <p:spPr bwMode="auto">
            <a:xfrm>
              <a:off x="5390" y="1207"/>
              <a:ext cx="0" cy="24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grpSp>
      <p:sp>
        <p:nvSpPr>
          <p:cNvPr id="565343" name="AutoShape 95"/>
          <p:cNvSpPr>
            <a:spLocks noChangeArrowheads="1"/>
          </p:cNvSpPr>
          <p:nvPr/>
        </p:nvSpPr>
        <p:spPr bwMode="auto">
          <a:xfrm>
            <a:off x="5835650" y="1868488"/>
            <a:ext cx="2160588" cy="574675"/>
          </a:xfrm>
          <a:prstGeom prst="roundRect">
            <a:avLst>
              <a:gd name="adj" fmla="val 16667"/>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5344" name="AutoShape 96"/>
          <p:cNvSpPr>
            <a:spLocks noChangeArrowheads="1"/>
          </p:cNvSpPr>
          <p:nvPr/>
        </p:nvSpPr>
        <p:spPr bwMode="auto">
          <a:xfrm>
            <a:off x="5795963" y="3789363"/>
            <a:ext cx="2160587" cy="574675"/>
          </a:xfrm>
          <a:prstGeom prst="roundRect">
            <a:avLst>
              <a:gd name="adj" fmla="val 16667"/>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5345" name="AutoShape 97"/>
          <p:cNvSpPr>
            <a:spLocks noChangeArrowheads="1"/>
          </p:cNvSpPr>
          <p:nvPr/>
        </p:nvSpPr>
        <p:spPr bwMode="auto">
          <a:xfrm>
            <a:off x="5795963" y="5229225"/>
            <a:ext cx="2160587" cy="574675"/>
          </a:xfrm>
          <a:prstGeom prst="roundRect">
            <a:avLst>
              <a:gd name="adj" fmla="val 16667"/>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 name="文本框 1"/>
          <p:cNvSpPr txBox="1"/>
          <p:nvPr/>
        </p:nvSpPr>
        <p:spPr>
          <a:xfrm>
            <a:off x="5905500" y="2033905"/>
            <a:ext cx="413385" cy="337185"/>
          </a:xfrm>
          <a:prstGeom prst="rect">
            <a:avLst/>
          </a:prstGeom>
          <a:solidFill>
            <a:schemeClr val="bg1"/>
          </a:solidFill>
        </p:spPr>
        <p:txBody>
          <a:bodyPr>
            <a:spAutoFit/>
          </a:bodyPr>
          <a:lstStyle/>
          <a:p>
            <a:pPr eaLnBrk="0" hangingPunct="0"/>
            <a:r>
              <a:rPr lang="en-US" altLang="zh-CN" sz="1600" noProof="1">
                <a:ln>
                  <a:solidFill>
                    <a:schemeClr val="tx1"/>
                  </a:solidFill>
                </a:ln>
                <a:sym typeface="+mn-ea"/>
              </a:rPr>
              <a:t>63</a:t>
            </a:r>
            <a:endParaRPr lang="en-US" altLang="zh-CN" sz="1600" noProof="1">
              <a:ln>
                <a:solidFill>
                  <a:schemeClr val="tx1"/>
                </a:solidFill>
              </a:ln>
              <a:sym typeface="+mn-ea"/>
            </a:endParaRPr>
          </a:p>
        </p:txBody>
      </p:sp>
      <p:sp>
        <p:nvSpPr>
          <p:cNvPr id="3" name="文本框 2"/>
          <p:cNvSpPr txBox="1"/>
          <p:nvPr/>
        </p:nvSpPr>
        <p:spPr>
          <a:xfrm>
            <a:off x="2483768" y="1926305"/>
            <a:ext cx="360040" cy="461665"/>
          </a:xfrm>
          <a:prstGeom prst="rect">
            <a:avLst/>
          </a:prstGeom>
          <a:solidFill>
            <a:schemeClr val="bg1"/>
          </a:solid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5</a:t>
            </a:r>
            <a:endParaRPr lang="zh-CN" altLang="en-US" sz="2400" dirty="0">
              <a:latin typeface="Times New Roman" panose="02020603050405020304" pitchFamily="18" charset="0"/>
              <a:cs typeface="Times New Roman" panose="02020603050405020304" pitchFamily="18" charset="0"/>
            </a:endParaRPr>
          </a:p>
        </p:txBody>
      </p:sp>
      <p:sp>
        <p:nvSpPr>
          <p:cNvPr id="32" name="文本框 31"/>
          <p:cNvSpPr txBox="1"/>
          <p:nvPr/>
        </p:nvSpPr>
        <p:spPr>
          <a:xfrm>
            <a:off x="3439948" y="1933837"/>
            <a:ext cx="360040" cy="461665"/>
          </a:xfrm>
          <a:prstGeom prst="rect">
            <a:avLst/>
          </a:prstGeom>
          <a:solidFill>
            <a:schemeClr val="bg1"/>
          </a:solid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5</a:t>
            </a:r>
            <a:endParaRPr lang="zh-CN" altLang="en-US" sz="2400" dirty="0">
              <a:latin typeface="Times New Roman" panose="02020603050405020304" pitchFamily="18" charset="0"/>
              <a:cs typeface="Times New Roman" panose="02020603050405020304" pitchFamily="18" charset="0"/>
            </a:endParaRPr>
          </a:p>
        </p:txBody>
      </p:sp>
      <p:sp>
        <p:nvSpPr>
          <p:cNvPr id="34" name="文本框 33"/>
          <p:cNvSpPr txBox="1"/>
          <p:nvPr/>
        </p:nvSpPr>
        <p:spPr>
          <a:xfrm>
            <a:off x="1515716" y="1923992"/>
            <a:ext cx="360040" cy="461665"/>
          </a:xfrm>
          <a:prstGeom prst="rect">
            <a:avLst/>
          </a:prstGeom>
          <a:solidFill>
            <a:schemeClr val="bg1"/>
          </a:solid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565343"/>
                                        </p:tgtEl>
                                        <p:attrNameLst>
                                          <p:attrName>style.visibility</p:attrName>
                                        </p:attrNameLst>
                                      </p:cBhvr>
                                      <p:to>
                                        <p:strVal val="visible"/>
                                      </p:to>
                                    </p:set>
                                    <p:anim calcmode="lin" valueType="num">
                                      <p:cBhvr>
                                        <p:cTn id="7" dur="500" fill="hold"/>
                                        <p:tgtEl>
                                          <p:spTgt spid="565343"/>
                                        </p:tgtEl>
                                        <p:attrNameLst>
                                          <p:attrName>ppt_w</p:attrName>
                                        </p:attrNameLst>
                                      </p:cBhvr>
                                      <p:tavLst>
                                        <p:tav tm="0">
                                          <p:val>
                                            <p:strVal val="4/3*#ppt_w"/>
                                          </p:val>
                                        </p:tav>
                                        <p:tav tm="100000">
                                          <p:val>
                                            <p:strVal val="#ppt_w"/>
                                          </p:val>
                                        </p:tav>
                                      </p:tavLst>
                                    </p:anim>
                                    <p:anim calcmode="lin" valueType="num">
                                      <p:cBhvr>
                                        <p:cTn id="8" dur="500" fill="hold"/>
                                        <p:tgtEl>
                                          <p:spTgt spid="565343"/>
                                        </p:tgtEl>
                                        <p:attrNameLst>
                                          <p:attrName>ppt_h</p:attrName>
                                        </p:attrNameLst>
                                      </p:cBhvr>
                                      <p:tavLst>
                                        <p:tav tm="0">
                                          <p:val>
                                            <p:strVal val="4/3*#ppt_h"/>
                                          </p:val>
                                        </p:tav>
                                        <p:tav tm="100000">
                                          <p:val>
                                            <p:strVal val="#ppt_h"/>
                                          </p:val>
                                        </p:tav>
                                      </p:tavLst>
                                    </p:anim>
                                  </p:childTnLst>
                                </p:cTn>
                              </p:par>
                              <p:par>
                                <p:cTn id="9" presetID="23" presetClass="entr" presetSubtype="288" fill="hold" nodeType="withEffect">
                                  <p:stCondLst>
                                    <p:cond delay="0"/>
                                  </p:stCondLst>
                                  <p:childTnLst>
                                    <p:set>
                                      <p:cBhvr>
                                        <p:cTn id="10" dur="1" fill="hold">
                                          <p:stCondLst>
                                            <p:cond delay="0"/>
                                          </p:stCondLst>
                                        </p:cTn>
                                        <p:tgtEl>
                                          <p:spTgt spid="565344"/>
                                        </p:tgtEl>
                                        <p:attrNameLst>
                                          <p:attrName>style.visibility</p:attrName>
                                        </p:attrNameLst>
                                      </p:cBhvr>
                                      <p:to>
                                        <p:strVal val="visible"/>
                                      </p:to>
                                    </p:set>
                                    <p:anim calcmode="lin" valueType="num">
                                      <p:cBhvr>
                                        <p:cTn id="11" dur="500" fill="hold"/>
                                        <p:tgtEl>
                                          <p:spTgt spid="565344"/>
                                        </p:tgtEl>
                                        <p:attrNameLst>
                                          <p:attrName>ppt_w</p:attrName>
                                        </p:attrNameLst>
                                      </p:cBhvr>
                                      <p:tavLst>
                                        <p:tav tm="0">
                                          <p:val>
                                            <p:strVal val="4/3*#ppt_w"/>
                                          </p:val>
                                        </p:tav>
                                        <p:tav tm="100000">
                                          <p:val>
                                            <p:strVal val="#ppt_w"/>
                                          </p:val>
                                        </p:tav>
                                      </p:tavLst>
                                    </p:anim>
                                    <p:anim calcmode="lin" valueType="num">
                                      <p:cBhvr>
                                        <p:cTn id="12" dur="500" fill="hold"/>
                                        <p:tgtEl>
                                          <p:spTgt spid="565344"/>
                                        </p:tgtEl>
                                        <p:attrNameLst>
                                          <p:attrName>ppt_h</p:attrName>
                                        </p:attrNameLst>
                                      </p:cBhvr>
                                      <p:tavLst>
                                        <p:tav tm="0">
                                          <p:val>
                                            <p:strVal val="4/3*#ppt_h"/>
                                          </p:val>
                                        </p:tav>
                                        <p:tav tm="100000">
                                          <p:val>
                                            <p:strVal val="#ppt_h"/>
                                          </p:val>
                                        </p:tav>
                                      </p:tavLst>
                                    </p:anim>
                                  </p:childTnLst>
                                </p:cTn>
                              </p:par>
                              <p:par>
                                <p:cTn id="13" presetID="23" presetClass="entr" presetSubtype="288" fill="hold" nodeType="withEffect">
                                  <p:stCondLst>
                                    <p:cond delay="0"/>
                                  </p:stCondLst>
                                  <p:childTnLst>
                                    <p:set>
                                      <p:cBhvr>
                                        <p:cTn id="14" dur="1" fill="hold">
                                          <p:stCondLst>
                                            <p:cond delay="0"/>
                                          </p:stCondLst>
                                        </p:cTn>
                                        <p:tgtEl>
                                          <p:spTgt spid="565345"/>
                                        </p:tgtEl>
                                        <p:attrNameLst>
                                          <p:attrName>style.visibility</p:attrName>
                                        </p:attrNameLst>
                                      </p:cBhvr>
                                      <p:to>
                                        <p:strVal val="visible"/>
                                      </p:to>
                                    </p:set>
                                    <p:anim calcmode="lin" valueType="num">
                                      <p:cBhvr>
                                        <p:cTn id="15" dur="500" fill="hold"/>
                                        <p:tgtEl>
                                          <p:spTgt spid="565345"/>
                                        </p:tgtEl>
                                        <p:attrNameLst>
                                          <p:attrName>ppt_w</p:attrName>
                                        </p:attrNameLst>
                                      </p:cBhvr>
                                      <p:tavLst>
                                        <p:tav tm="0">
                                          <p:val>
                                            <p:strVal val="4/3*#ppt_w"/>
                                          </p:val>
                                        </p:tav>
                                        <p:tav tm="100000">
                                          <p:val>
                                            <p:strVal val="#ppt_w"/>
                                          </p:val>
                                        </p:tav>
                                      </p:tavLst>
                                    </p:anim>
                                    <p:anim calcmode="lin" valueType="num">
                                      <p:cBhvr>
                                        <p:cTn id="16" dur="500" fill="hold"/>
                                        <p:tgtEl>
                                          <p:spTgt spid="565345"/>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a:t>对编译器采用体系选择矩阵法</a:t>
            </a:r>
            <a:endParaRPr lang="zh-CN" altLang="en-US"/>
          </a:p>
        </p:txBody>
      </p:sp>
      <p:sp>
        <p:nvSpPr>
          <p:cNvPr id="29697" name="灯片编号占位符 3"/>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68DDB86-5F29-4CE9-9908-789C28022E05}"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29698" name="日期占位符 4"/>
          <p:cNvSpPr>
            <a:spLocks noGrp="1" noChangeArrowheads="1"/>
          </p:cNvSpPr>
          <p:nvPr>
            <p:ph type="dt" sz="half"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8F20A53-9141-46FD-A07C-0EF73587C2C7}" type="datetime1">
              <a:rPr lang="zh-CN" altLang="en-US"/>
            </a:fld>
            <a:endParaRPr lang="zh-CN" altLang="en-US"/>
          </a:p>
        </p:txBody>
      </p:sp>
      <p:graphicFrame>
        <p:nvGraphicFramePr>
          <p:cNvPr id="569483" name="Group 139"/>
          <p:cNvGraphicFramePr>
            <a:graphicFrameLocks noGrp="1"/>
          </p:cNvGraphicFramePr>
          <p:nvPr/>
        </p:nvGraphicFramePr>
        <p:xfrm>
          <a:off x="468313" y="1844675"/>
          <a:ext cx="8224837" cy="4244976"/>
        </p:xfrm>
        <a:graphic>
          <a:graphicData uri="http://schemas.openxmlformats.org/drawingml/2006/table">
            <a:tbl>
              <a:tblPr/>
              <a:tblGrid>
                <a:gridCol w="1309687"/>
                <a:gridCol w="768350"/>
                <a:gridCol w="768350"/>
                <a:gridCol w="768350"/>
                <a:gridCol w="768350"/>
                <a:gridCol w="768350"/>
                <a:gridCol w="768350"/>
                <a:gridCol w="768350"/>
                <a:gridCol w="768350"/>
                <a:gridCol w="768350"/>
              </a:tblGrid>
              <a:tr h="678015">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dirty="0">
                          <a:ln>
                            <a:noFill/>
                          </a:ln>
                          <a:solidFill>
                            <a:srgbClr val="3333FF"/>
                          </a:solidFill>
                          <a:effectLst/>
                          <a:latin typeface="Arial" panose="020B0604020202020204" pitchFamily="34" charset="0"/>
                          <a:ea typeface="宋体" panose="02010600030101010101" pitchFamily="2" charset="-122"/>
                        </a:rPr>
                        <a:t>组件重用</a:t>
                      </a:r>
                      <a:endParaRPr kumimoji="0" lang="zh-CN" altLang="en-US" sz="1800" b="1" i="0" u="none" strike="noStrike" cap="none" normalizeH="0" baseline="0" dirty="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组件更换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组件移位</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组件无关</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组件互通</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接口变换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计算性能</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节省空间</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容错</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期望值</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dirty="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管道</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结构化</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面向对象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事件驱动</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层次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仓库</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客户</a:t>
                      </a:r>
                      <a:r>
                        <a:rPr kumimoji="0" lang="en-US" altLang="zh-CN"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a:t>
                      </a:r>
                      <a:r>
                        <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rPr>
                        <a:t>服务器</a:t>
                      </a:r>
                      <a:endParaRPr kumimoji="0" lang="zh-CN" altLang="en-US" sz="15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29">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对等</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69475" name="Rectangle 131"/>
          <p:cNvSpPr>
            <a:spLocks noChangeArrowheads="1"/>
          </p:cNvSpPr>
          <p:nvPr/>
        </p:nvSpPr>
        <p:spPr bwMode="auto">
          <a:xfrm>
            <a:off x="468313" y="3322638"/>
            <a:ext cx="8207375" cy="1171575"/>
          </a:xfrm>
          <a:prstGeom prst="rect">
            <a:avLst/>
          </a:prstGeom>
          <a:solidFill>
            <a:srgbClr val="000000">
              <a:alpha val="5999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9476" name="Rectangle 132"/>
          <p:cNvSpPr>
            <a:spLocks noChangeArrowheads="1"/>
          </p:cNvSpPr>
          <p:nvPr/>
        </p:nvSpPr>
        <p:spPr bwMode="auto">
          <a:xfrm>
            <a:off x="484188" y="4903788"/>
            <a:ext cx="8207375" cy="777875"/>
          </a:xfrm>
          <a:prstGeom prst="rect">
            <a:avLst/>
          </a:prstGeom>
          <a:solidFill>
            <a:srgbClr val="000000">
              <a:alpha val="5999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9477" name="Rectangle 133"/>
          <p:cNvSpPr>
            <a:spLocks noChangeArrowheads="1"/>
          </p:cNvSpPr>
          <p:nvPr/>
        </p:nvSpPr>
        <p:spPr bwMode="auto">
          <a:xfrm>
            <a:off x="3292475" y="2544763"/>
            <a:ext cx="1566863" cy="3548062"/>
          </a:xfrm>
          <a:prstGeom prst="rect">
            <a:avLst/>
          </a:prstGeom>
          <a:solidFill>
            <a:srgbClr val="000000">
              <a:alpha val="5999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sp>
        <p:nvSpPr>
          <p:cNvPr id="569478" name="Rectangle 134"/>
          <p:cNvSpPr>
            <a:spLocks noChangeArrowheads="1"/>
          </p:cNvSpPr>
          <p:nvPr/>
        </p:nvSpPr>
        <p:spPr bwMode="auto">
          <a:xfrm>
            <a:off x="7164388" y="2549525"/>
            <a:ext cx="1566862" cy="3527425"/>
          </a:xfrm>
          <a:prstGeom prst="rect">
            <a:avLst/>
          </a:prstGeom>
          <a:solidFill>
            <a:srgbClr val="000000">
              <a:alpha val="5999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9479" name="Rectangle 135"/>
          <p:cNvSpPr>
            <a:spLocks noChangeArrowheads="1"/>
          </p:cNvSpPr>
          <p:nvPr/>
        </p:nvSpPr>
        <p:spPr bwMode="auto">
          <a:xfrm>
            <a:off x="2555875" y="2492375"/>
            <a:ext cx="741363" cy="3548063"/>
          </a:xfrm>
          <a:prstGeom prst="rect">
            <a:avLst/>
          </a:prstGeom>
          <a:solidFill>
            <a:srgbClr val="800000">
              <a:alpha val="5999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9480" name="Rectangle 136"/>
          <p:cNvSpPr>
            <a:spLocks noChangeArrowheads="1"/>
          </p:cNvSpPr>
          <p:nvPr/>
        </p:nvSpPr>
        <p:spPr bwMode="auto">
          <a:xfrm>
            <a:off x="4859338" y="2540000"/>
            <a:ext cx="741362" cy="3548063"/>
          </a:xfrm>
          <a:prstGeom prst="rect">
            <a:avLst/>
          </a:prstGeom>
          <a:solidFill>
            <a:srgbClr val="800000">
              <a:alpha val="5999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9481" name="Rectangle 137"/>
          <p:cNvSpPr>
            <a:spLocks noChangeArrowheads="1"/>
          </p:cNvSpPr>
          <p:nvPr/>
        </p:nvSpPr>
        <p:spPr bwMode="auto">
          <a:xfrm>
            <a:off x="6403975" y="2549525"/>
            <a:ext cx="741363" cy="3548063"/>
          </a:xfrm>
          <a:prstGeom prst="rect">
            <a:avLst/>
          </a:prstGeom>
          <a:solidFill>
            <a:srgbClr val="800000">
              <a:alpha val="5999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69482" name="Rectangle 138"/>
          <p:cNvSpPr>
            <a:spLocks noChangeArrowheads="1"/>
          </p:cNvSpPr>
          <p:nvPr/>
        </p:nvSpPr>
        <p:spPr bwMode="auto">
          <a:xfrm>
            <a:off x="468313" y="5686425"/>
            <a:ext cx="8207375" cy="406400"/>
          </a:xfrm>
          <a:prstGeom prst="rect">
            <a:avLst/>
          </a:prstGeom>
          <a:solidFill>
            <a:srgbClr val="333399">
              <a:alpha val="59999"/>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69475"/>
                                        </p:tgtEl>
                                        <p:attrNameLst>
                                          <p:attrName>style.visibility</p:attrName>
                                        </p:attrNameLst>
                                      </p:cBhvr>
                                      <p:to>
                                        <p:strVal val="visible"/>
                                      </p:to>
                                    </p:set>
                                    <p:animEffect transition="in" filter="wipe(left)">
                                      <p:cBhvr>
                                        <p:cTn id="7" dur="500"/>
                                        <p:tgtEl>
                                          <p:spTgt spid="569475"/>
                                        </p:tgtEl>
                                      </p:cBhvr>
                                    </p:animEffect>
                                  </p:childTnLst>
                                </p:cTn>
                              </p:par>
                              <p:par>
                                <p:cTn id="8" presetID="22" presetClass="entr" presetSubtype="8" fill="hold" nodeType="withEffect">
                                  <p:stCondLst>
                                    <p:cond delay="0"/>
                                  </p:stCondLst>
                                  <p:childTnLst>
                                    <p:set>
                                      <p:cBhvr>
                                        <p:cTn id="9" dur="1" fill="hold">
                                          <p:stCondLst>
                                            <p:cond delay="0"/>
                                          </p:stCondLst>
                                        </p:cTn>
                                        <p:tgtEl>
                                          <p:spTgt spid="569476"/>
                                        </p:tgtEl>
                                        <p:attrNameLst>
                                          <p:attrName>style.visibility</p:attrName>
                                        </p:attrNameLst>
                                      </p:cBhvr>
                                      <p:to>
                                        <p:strVal val="visible"/>
                                      </p:to>
                                    </p:set>
                                    <p:animEffect transition="in" filter="wipe(left)">
                                      <p:cBhvr>
                                        <p:cTn id="10" dur="500"/>
                                        <p:tgtEl>
                                          <p:spTgt spid="56947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69477"/>
                                        </p:tgtEl>
                                        <p:attrNameLst>
                                          <p:attrName>style.visibility</p:attrName>
                                        </p:attrNameLst>
                                      </p:cBhvr>
                                      <p:to>
                                        <p:strVal val="visible"/>
                                      </p:to>
                                    </p:set>
                                    <p:animEffect transition="in" filter="wipe(up)">
                                      <p:cBhvr>
                                        <p:cTn id="15" dur="500"/>
                                        <p:tgtEl>
                                          <p:spTgt spid="569477"/>
                                        </p:tgtEl>
                                      </p:cBhvr>
                                    </p:animEffect>
                                  </p:childTnLst>
                                </p:cTn>
                              </p:par>
                              <p:par>
                                <p:cTn id="16" presetID="22" presetClass="entr" presetSubtype="1" fill="hold" nodeType="withEffect">
                                  <p:stCondLst>
                                    <p:cond delay="0"/>
                                  </p:stCondLst>
                                  <p:childTnLst>
                                    <p:set>
                                      <p:cBhvr>
                                        <p:cTn id="17" dur="1" fill="hold">
                                          <p:stCondLst>
                                            <p:cond delay="0"/>
                                          </p:stCondLst>
                                        </p:cTn>
                                        <p:tgtEl>
                                          <p:spTgt spid="569478"/>
                                        </p:tgtEl>
                                        <p:attrNameLst>
                                          <p:attrName>style.visibility</p:attrName>
                                        </p:attrNameLst>
                                      </p:cBhvr>
                                      <p:to>
                                        <p:strVal val="visible"/>
                                      </p:to>
                                    </p:set>
                                    <p:animEffect transition="in" filter="wipe(up)">
                                      <p:cBhvr>
                                        <p:cTn id="18" dur="500"/>
                                        <p:tgtEl>
                                          <p:spTgt spid="56947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569479"/>
                                        </p:tgtEl>
                                        <p:attrNameLst>
                                          <p:attrName>style.visibility</p:attrName>
                                        </p:attrNameLst>
                                      </p:cBhvr>
                                      <p:to>
                                        <p:strVal val="visible"/>
                                      </p:to>
                                    </p:set>
                                    <p:animEffect transition="in" filter="wipe(up)">
                                      <p:cBhvr>
                                        <p:cTn id="23" dur="500"/>
                                        <p:tgtEl>
                                          <p:spTgt spid="56947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569480"/>
                                        </p:tgtEl>
                                        <p:attrNameLst>
                                          <p:attrName>style.visibility</p:attrName>
                                        </p:attrNameLst>
                                      </p:cBhvr>
                                      <p:to>
                                        <p:strVal val="visible"/>
                                      </p:to>
                                    </p:set>
                                    <p:animEffect transition="in" filter="wipe(up)">
                                      <p:cBhvr>
                                        <p:cTn id="28" dur="500"/>
                                        <p:tgtEl>
                                          <p:spTgt spid="56948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569481"/>
                                        </p:tgtEl>
                                        <p:attrNameLst>
                                          <p:attrName>style.visibility</p:attrName>
                                        </p:attrNameLst>
                                      </p:cBhvr>
                                      <p:to>
                                        <p:strVal val="visible"/>
                                      </p:to>
                                    </p:set>
                                    <p:animEffect transition="in" filter="wipe(up)">
                                      <p:cBhvr>
                                        <p:cTn id="33" dur="500"/>
                                        <p:tgtEl>
                                          <p:spTgt spid="56948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69482"/>
                                        </p:tgtEl>
                                        <p:attrNameLst>
                                          <p:attrName>style.visibility</p:attrName>
                                        </p:attrNameLst>
                                      </p:cBhvr>
                                      <p:to>
                                        <p:strVal val="visible"/>
                                      </p:to>
                                    </p:set>
                                    <p:animEffect transition="in" filter="wipe(left)">
                                      <p:cBhvr>
                                        <p:cTn id="38" dur="500"/>
                                        <p:tgtEl>
                                          <p:spTgt spid="569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zh-CN" altLang="en-US"/>
              <a:t>对编译器采用体系选择矩阵法</a:t>
            </a:r>
            <a:endParaRPr lang="zh-CN" altLang="en-US"/>
          </a:p>
        </p:txBody>
      </p:sp>
      <p:sp>
        <p:nvSpPr>
          <p:cNvPr id="30724" name="Rectangle 135"/>
          <p:cNvSpPr>
            <a:spLocks noGrp="1" noChangeArrowheads="1"/>
          </p:cNvSpPr>
          <p:nvPr>
            <p:ph idx="1"/>
          </p:nvPr>
        </p:nvSpPr>
        <p:spPr/>
        <p:txBody>
          <a:bodyPr/>
          <a:lstStyle/>
          <a:p>
            <a:pPr>
              <a:lnSpc>
                <a:spcPct val="90000"/>
              </a:lnSpc>
            </a:pPr>
            <a:r>
              <a:rPr lang="zh-CN" altLang="en-US" dirty="0"/>
              <a:t>最后决定的体系结构的体系分为</a:t>
            </a:r>
            <a:endParaRPr lang="zh-CN" altLang="en-US" dirty="0"/>
          </a:p>
          <a:p>
            <a:pPr>
              <a:lnSpc>
                <a:spcPct val="90000"/>
              </a:lnSpc>
            </a:pPr>
            <a:endParaRPr lang="zh-CN" altLang="en-US" dirty="0"/>
          </a:p>
          <a:p>
            <a:pPr>
              <a:lnSpc>
                <a:spcPct val="90000"/>
              </a:lnSpc>
            </a:pPr>
            <a:endParaRPr lang="zh-CN" altLang="en-US" dirty="0"/>
          </a:p>
          <a:p>
            <a:pPr>
              <a:lnSpc>
                <a:spcPct val="90000"/>
              </a:lnSpc>
            </a:pPr>
            <a:endParaRPr lang="zh-CN" altLang="en-US" dirty="0"/>
          </a:p>
          <a:p>
            <a:pPr>
              <a:lnSpc>
                <a:spcPct val="90000"/>
              </a:lnSpc>
            </a:pPr>
            <a:endParaRPr lang="zh-CN" altLang="en-US" dirty="0"/>
          </a:p>
          <a:p>
            <a:pPr>
              <a:lnSpc>
                <a:spcPct val="90000"/>
              </a:lnSpc>
            </a:pPr>
            <a:endParaRPr lang="zh-CN" altLang="en-US" dirty="0"/>
          </a:p>
          <a:p>
            <a:pPr>
              <a:lnSpc>
                <a:spcPct val="90000"/>
              </a:lnSpc>
            </a:pPr>
            <a:r>
              <a:rPr lang="zh-CN" altLang="en-US" dirty="0"/>
              <a:t>选择分：</a:t>
            </a:r>
            <a:r>
              <a:rPr lang="en-US" altLang="zh-CN" dirty="0"/>
              <a:t>63</a:t>
            </a:r>
            <a:endParaRPr lang="en-US" altLang="zh-CN" dirty="0"/>
          </a:p>
          <a:p>
            <a:pPr>
              <a:lnSpc>
                <a:spcPct val="90000"/>
              </a:lnSpc>
            </a:pPr>
            <a:r>
              <a:rPr lang="zh-CN" altLang="en-US" i="1" dirty="0"/>
              <a:t>在接口变换方面多加小心</a:t>
            </a:r>
            <a:endParaRPr lang="zh-CN" altLang="en-US" i="1" dirty="0"/>
          </a:p>
        </p:txBody>
      </p:sp>
      <p:sp>
        <p:nvSpPr>
          <p:cNvPr id="30721"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C55C770-7069-4898-A7A6-372452B78FA6}"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0722"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4CBB313-0461-4818-8B5B-221DAA8BC79E}" type="datetime1">
              <a:rPr lang="zh-CN" altLang="en-US"/>
            </a:fld>
            <a:endParaRPr lang="zh-CN" altLang="en-US"/>
          </a:p>
        </p:txBody>
      </p:sp>
      <p:graphicFrame>
        <p:nvGraphicFramePr>
          <p:cNvPr id="571798" name="Group 406"/>
          <p:cNvGraphicFramePr>
            <a:graphicFrameLocks noGrp="1"/>
          </p:cNvGraphicFramePr>
          <p:nvPr/>
        </p:nvGraphicFramePr>
        <p:xfrm>
          <a:off x="458788" y="2492375"/>
          <a:ext cx="8224837" cy="2263776"/>
        </p:xfrm>
        <a:graphic>
          <a:graphicData uri="http://schemas.openxmlformats.org/drawingml/2006/table">
            <a:tbl>
              <a:tblPr/>
              <a:tblGrid>
                <a:gridCol w="1309687"/>
                <a:gridCol w="768350"/>
                <a:gridCol w="768350"/>
                <a:gridCol w="768350"/>
                <a:gridCol w="768350"/>
                <a:gridCol w="768350"/>
                <a:gridCol w="768350"/>
                <a:gridCol w="768350"/>
                <a:gridCol w="768350"/>
                <a:gridCol w="768350"/>
              </a:tblGrid>
              <a:tr h="678148">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组件重用</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组件更换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组件移位</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组件无关</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组件互通</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接口变换</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计算性能</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节省空间</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容错</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54000" marR="5400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407">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期望值</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rgbClr val="008000"/>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tr>
              <a:tr h="396407">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管道</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407">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层次</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407">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rPr>
                        <a:t>最后选择</a:t>
                      </a:r>
                      <a:endParaRPr kumimoji="0" lang="zh-CN" altLang="en-US" sz="1800" b="1" i="0" u="none" strike="noStrike" cap="none" normalizeH="0" baseline="0">
                        <a:ln>
                          <a:noFill/>
                        </a:ln>
                        <a:solidFill>
                          <a:srgbClr val="3333FF"/>
                        </a:solidFill>
                        <a:effectLst/>
                        <a:latin typeface="Arial" panose="020B0604020202020204" pitchFamily="34" charset="0"/>
                        <a:ea typeface="宋体" panose="02010600030101010101" pitchFamily="2"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lgn="l">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lgn="l">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lgn="l">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dirty="0">
                        <a:ln>
                          <a:noFill/>
                        </a:ln>
                        <a:solidFill>
                          <a:srgbClr val="FF3399"/>
                        </a:solidFill>
                        <a:effectLst/>
                        <a:latin typeface="Arial" panose="020B0604020202020204" pitchFamily="34" charset="0"/>
                        <a:ea typeface="宋体" panose="02010600030101010101" pitchFamily="2" charset="-122"/>
                      </a:endParaRPr>
                    </a:p>
                  </a:txBody>
                  <a:tcPr marT="45739" marB="4573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wipe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zh-CN" altLang="en-US"/>
              <a:t>完美分</a:t>
            </a:r>
            <a:endParaRPr lang="zh-CN" altLang="en-US"/>
          </a:p>
        </p:txBody>
      </p:sp>
      <p:sp>
        <p:nvSpPr>
          <p:cNvPr id="3174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29497E1-DBAB-4B28-A1B8-B1D00182C120}"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174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8748847-EC40-48A6-9E32-BE98BF89FB78}" type="datetime1">
              <a:rPr lang="zh-CN" altLang="en-US"/>
            </a:fld>
            <a:endParaRPr lang="zh-CN" altLang="en-US"/>
          </a:p>
        </p:txBody>
      </p:sp>
      <p:graphicFrame>
        <p:nvGraphicFramePr>
          <p:cNvPr id="31748" name="Object 4"/>
          <p:cNvGraphicFramePr>
            <a:graphicFrameLocks noChangeAspect="1"/>
          </p:cNvGraphicFramePr>
          <p:nvPr/>
        </p:nvGraphicFramePr>
        <p:xfrm>
          <a:off x="973138" y="1700213"/>
          <a:ext cx="5759450" cy="4406900"/>
        </p:xfrm>
        <a:graphic>
          <a:graphicData uri="http://schemas.openxmlformats.org/presentationml/2006/ole">
            <mc:AlternateContent xmlns:mc="http://schemas.openxmlformats.org/markup-compatibility/2006">
              <mc:Choice xmlns:v="urn:schemas-microsoft-com:vml" Requires="v">
                <p:oleObj spid="_x0000_s31808" name="" r:id="rId1" imgW="2692400" imgH="2057400" progId="Equation.DSMT4">
                  <p:embed/>
                </p:oleObj>
              </mc:Choice>
              <mc:Fallback>
                <p:oleObj name="" r:id="rId1" imgW="2692400" imgH="20574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138" y="1700213"/>
                        <a:ext cx="575945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49" name="AutoShape 5"/>
          <p:cNvSpPr/>
          <p:nvPr/>
        </p:nvSpPr>
        <p:spPr bwMode="auto">
          <a:xfrm>
            <a:off x="1277938" y="4471988"/>
            <a:ext cx="1422400" cy="1266825"/>
          </a:xfrm>
          <a:prstGeom prst="borderCallout1">
            <a:avLst>
              <a:gd name="adj1" fmla="val 9023"/>
              <a:gd name="adj2" fmla="val 105356"/>
              <a:gd name="adj3" fmla="val -37218"/>
              <a:gd name="adj4" fmla="val 138949"/>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FF0000"/>
                </a:solidFill>
              </a:rPr>
              <a:t>完美地支持各种质量需求的最理想的体系结构</a:t>
            </a:r>
            <a:endParaRPr lang="zh-CN" altLang="en-US" b="1">
              <a:solidFill>
                <a:srgbClr val="FF0000"/>
              </a:solidFill>
            </a:endParaRPr>
          </a:p>
        </p:txBody>
      </p:sp>
      <p:sp>
        <p:nvSpPr>
          <p:cNvPr id="31750" name="AutoShape 6"/>
          <p:cNvSpPr/>
          <p:nvPr/>
        </p:nvSpPr>
        <p:spPr bwMode="auto">
          <a:xfrm>
            <a:off x="6796088" y="4508500"/>
            <a:ext cx="1089025" cy="936625"/>
          </a:xfrm>
          <a:prstGeom prst="borderCallout1">
            <a:avLst>
              <a:gd name="adj1" fmla="val 12204"/>
              <a:gd name="adj2" fmla="val -6995"/>
              <a:gd name="adj3" fmla="val -44574"/>
              <a:gd name="adj4" fmla="val -40671"/>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b="1">
              <a:solidFill>
                <a:srgbClr val="FF0000"/>
              </a:solidFill>
            </a:endParaRPr>
          </a:p>
          <a:p>
            <a:pPr algn="ctr" eaLnBrk="1" hangingPunct="1"/>
            <a:r>
              <a:rPr lang="zh-CN" altLang="en-US" b="1">
                <a:solidFill>
                  <a:srgbClr val="FF0000"/>
                </a:solidFill>
              </a:rPr>
              <a:t>完美分</a:t>
            </a:r>
            <a:endParaRPr lang="zh-CN" altLang="en-US" b="1">
              <a:solidFill>
                <a:srgbClr val="FF0000"/>
              </a:solidFill>
            </a:endParaRPr>
          </a:p>
        </p:txBody>
      </p:sp>
      <p:sp>
        <p:nvSpPr>
          <p:cNvPr id="31751" name="AutoShape 7"/>
          <p:cNvSpPr/>
          <p:nvPr/>
        </p:nvSpPr>
        <p:spPr bwMode="auto">
          <a:xfrm>
            <a:off x="3636963" y="2133600"/>
            <a:ext cx="774700" cy="719138"/>
          </a:xfrm>
          <a:prstGeom prst="borderCallout1">
            <a:avLst>
              <a:gd name="adj1" fmla="val 15894"/>
              <a:gd name="adj2" fmla="val 109838"/>
              <a:gd name="adj3" fmla="val 130241"/>
              <a:gd name="adj4" fmla="val 226639"/>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FF0000"/>
                </a:solidFill>
              </a:rPr>
              <a:t>当前需求</a:t>
            </a:r>
            <a:endParaRPr lang="zh-CN" altLang="en-US" b="1">
              <a:solidFill>
                <a:srgbClr val="FF0000"/>
              </a:solidFill>
            </a:endParaRPr>
          </a:p>
        </p:txBody>
      </p:sp>
    </p:spTree>
  </p:cSld>
  <p:clrMapOvr>
    <a:masterClrMapping/>
  </p:clrMapOvr>
  <p:transition>
    <p:wipe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zh-CN" altLang="en-US"/>
              <a:t>结果评价</a:t>
            </a:r>
            <a:endParaRPr lang="zh-CN" altLang="en-US"/>
          </a:p>
        </p:txBody>
      </p:sp>
      <p:sp>
        <p:nvSpPr>
          <p:cNvPr id="32772" name="Rectangle 3"/>
          <p:cNvSpPr>
            <a:spLocks noGrp="1" noChangeArrowheads="1"/>
          </p:cNvSpPr>
          <p:nvPr>
            <p:ph idx="1"/>
          </p:nvPr>
        </p:nvSpPr>
        <p:spPr>
          <a:xfrm>
            <a:off x="457200" y="1412875"/>
            <a:ext cx="8229600" cy="4752975"/>
          </a:xfrm>
        </p:spPr>
        <p:txBody>
          <a:bodyPr/>
          <a:lstStyle/>
          <a:p>
            <a:r>
              <a:rPr lang="zh-CN" altLang="en-US"/>
              <a:t>等级</a:t>
            </a:r>
            <a:r>
              <a:rPr lang="en-US" altLang="zh-CN"/>
              <a:t>=</a:t>
            </a:r>
            <a:r>
              <a:rPr lang="zh-CN" altLang="en-US"/>
              <a:t>选择分</a:t>
            </a:r>
            <a:r>
              <a:rPr lang="en-US" altLang="zh-CN"/>
              <a:t>/</a:t>
            </a:r>
            <a:r>
              <a:rPr lang="zh-CN" altLang="en-US"/>
              <a:t>完美分*</a:t>
            </a:r>
            <a:r>
              <a:rPr lang="en-US" altLang="zh-CN"/>
              <a:t>100</a:t>
            </a:r>
            <a:endParaRPr lang="en-US" altLang="zh-CN"/>
          </a:p>
          <a:p>
            <a:endParaRPr lang="en-US" altLang="zh-CN"/>
          </a:p>
          <a:p>
            <a:r>
              <a:rPr lang="zh-CN" altLang="en-US"/>
              <a:t>编译器等级</a:t>
            </a:r>
            <a:r>
              <a:rPr lang="en-US" altLang="zh-CN"/>
              <a:t>=63/75*100=84</a:t>
            </a:r>
            <a:endParaRPr lang="en-US" altLang="zh-CN"/>
          </a:p>
        </p:txBody>
      </p:sp>
      <p:sp>
        <p:nvSpPr>
          <p:cNvPr id="3276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FFB0D1C-56F3-4DF4-92A7-2501E613E588}"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277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D293C7E-609E-4972-8C53-A4CBDE6FE13C}" type="datetime1">
              <a:rPr lang="zh-CN" altLang="en-US"/>
            </a:fld>
            <a:endParaRPr lang="zh-CN" altLang="en-US"/>
          </a:p>
        </p:txBody>
      </p:sp>
    </p:spTree>
  </p:cSld>
  <p:clrMapOvr>
    <a:masterClrMapping/>
  </p:clrMapOvr>
  <p:transition>
    <p:wipe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en-US" altLang="zh-CN"/>
              <a:t>“</a:t>
            </a:r>
            <a:r>
              <a:rPr lang="zh-CN" altLang="en-US"/>
              <a:t>体系选择矩阵法”的优点</a:t>
            </a:r>
            <a:endParaRPr lang="zh-CN" altLang="en-US"/>
          </a:p>
        </p:txBody>
      </p:sp>
      <p:sp>
        <p:nvSpPr>
          <p:cNvPr id="33796" name="Rectangle 3"/>
          <p:cNvSpPr>
            <a:spLocks noGrp="1" noChangeArrowheads="1"/>
          </p:cNvSpPr>
          <p:nvPr>
            <p:ph idx="1"/>
          </p:nvPr>
        </p:nvSpPr>
        <p:spPr/>
        <p:txBody>
          <a:bodyPr/>
          <a:lstStyle/>
          <a:p>
            <a:r>
              <a:rPr lang="zh-CN" altLang="en-US"/>
              <a:t>支持体系结构风格的混合；</a:t>
            </a:r>
            <a:endParaRPr lang="zh-CN" altLang="en-US"/>
          </a:p>
          <a:p>
            <a:r>
              <a:rPr lang="zh-CN" altLang="en-US"/>
              <a:t>使选择体系结构的过程变得科学；</a:t>
            </a:r>
            <a:endParaRPr lang="zh-CN" altLang="en-US"/>
          </a:p>
          <a:p>
            <a:r>
              <a:rPr lang="zh-CN" altLang="en-US"/>
              <a:t>便于学习，易于掌握；</a:t>
            </a:r>
            <a:endParaRPr lang="zh-CN" altLang="en-US"/>
          </a:p>
          <a:p>
            <a:r>
              <a:rPr lang="zh-CN" altLang="en-US"/>
              <a:t>评价各种体系结构风格，提示开发中将遇到的问题；</a:t>
            </a:r>
            <a:endParaRPr lang="zh-CN" altLang="en-US"/>
          </a:p>
          <a:p>
            <a:r>
              <a:rPr lang="zh-CN" altLang="en-US"/>
              <a:t>对寻找新的体系结构有引导作用；</a:t>
            </a:r>
            <a:endParaRPr lang="zh-CN" altLang="en-US"/>
          </a:p>
          <a:p>
            <a:r>
              <a:rPr lang="zh-CN" altLang="en-US"/>
              <a:t>适合用</a:t>
            </a:r>
            <a:r>
              <a:rPr lang="en-US" altLang="zh-CN"/>
              <a:t>CASE</a:t>
            </a:r>
            <a:r>
              <a:rPr lang="zh-CN" altLang="en-US"/>
              <a:t>工具实现。</a:t>
            </a:r>
            <a:endParaRPr lang="zh-CN" altLang="en-US"/>
          </a:p>
        </p:txBody>
      </p:sp>
      <p:sp>
        <p:nvSpPr>
          <p:cNvPr id="33793"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0E2A55E-46FD-41B0-A187-73884A28947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3794"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8411274-29CA-49B0-84DC-EFC46D0F5E95}" type="datetime1">
              <a:rPr lang="zh-CN" altLang="en-US"/>
            </a:fld>
            <a:endParaRPr lang="zh-CN" altLang="en-US"/>
          </a:p>
        </p:txBody>
      </p:sp>
    </p:spTree>
  </p:cSld>
  <p:clrMapOvr>
    <a:masterClrMapping/>
  </p:clrMapOvr>
  <p:transition>
    <p:wipe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a:t>实例：可穿戴计算机</a:t>
            </a:r>
            <a:endParaRPr lang="zh-CN" altLang="en-US"/>
          </a:p>
        </p:txBody>
      </p:sp>
      <p:sp>
        <p:nvSpPr>
          <p:cNvPr id="34820" name="Rectangle 3"/>
          <p:cNvSpPr>
            <a:spLocks noGrp="1" noChangeArrowheads="1"/>
          </p:cNvSpPr>
          <p:nvPr>
            <p:ph sz="half" idx="1"/>
          </p:nvPr>
        </p:nvSpPr>
        <p:spPr/>
        <p:txBody>
          <a:bodyPr/>
          <a:lstStyle/>
          <a:p>
            <a:r>
              <a:rPr lang="zh-CN" altLang="en-US" sz="2800"/>
              <a:t>组件重用：</a:t>
            </a:r>
            <a:r>
              <a:rPr lang="en-US" altLang="zh-CN" sz="2800"/>
              <a:t>4</a:t>
            </a:r>
            <a:endParaRPr lang="en-US" altLang="zh-CN" sz="2800"/>
          </a:p>
          <a:p>
            <a:r>
              <a:rPr lang="zh-CN" altLang="en-US" sz="2800"/>
              <a:t>组件更换：</a:t>
            </a:r>
            <a:r>
              <a:rPr lang="en-US" altLang="zh-CN" sz="2800"/>
              <a:t>4</a:t>
            </a:r>
            <a:endParaRPr lang="en-US" altLang="zh-CN" sz="2800"/>
          </a:p>
          <a:p>
            <a:r>
              <a:rPr lang="zh-CN" altLang="en-US" sz="2800"/>
              <a:t>组件移位：</a:t>
            </a:r>
            <a:r>
              <a:rPr lang="en-US" altLang="zh-CN" sz="2800"/>
              <a:t>4</a:t>
            </a:r>
            <a:endParaRPr lang="en-US" altLang="zh-CN" sz="2800"/>
          </a:p>
          <a:p>
            <a:r>
              <a:rPr lang="zh-CN" altLang="en-US" sz="2800"/>
              <a:t>组件无关：</a:t>
            </a:r>
            <a:r>
              <a:rPr lang="en-US" altLang="zh-CN" sz="2800"/>
              <a:t>0</a:t>
            </a:r>
            <a:endParaRPr lang="en-US" altLang="zh-CN" sz="2800"/>
          </a:p>
          <a:p>
            <a:r>
              <a:rPr lang="zh-CN" altLang="en-US" sz="2800"/>
              <a:t>组件互通：</a:t>
            </a:r>
            <a:r>
              <a:rPr lang="en-US" altLang="zh-CN" sz="2800"/>
              <a:t>4</a:t>
            </a:r>
            <a:endParaRPr lang="en-US" altLang="zh-CN" sz="2800"/>
          </a:p>
        </p:txBody>
      </p:sp>
      <p:sp>
        <p:nvSpPr>
          <p:cNvPr id="34821" name="Rectangle 4"/>
          <p:cNvSpPr>
            <a:spLocks noGrp="1" noChangeArrowheads="1"/>
          </p:cNvSpPr>
          <p:nvPr>
            <p:ph sz="half" idx="2"/>
          </p:nvPr>
        </p:nvSpPr>
        <p:spPr/>
        <p:txBody>
          <a:bodyPr/>
          <a:lstStyle/>
          <a:p>
            <a:r>
              <a:rPr lang="zh-CN" altLang="en-US" sz="2800"/>
              <a:t>接口变换：</a:t>
            </a:r>
            <a:r>
              <a:rPr lang="en-US" altLang="zh-CN" sz="2800"/>
              <a:t>4</a:t>
            </a:r>
            <a:endParaRPr lang="en-US" altLang="zh-CN" sz="2800"/>
          </a:p>
          <a:p>
            <a:r>
              <a:rPr lang="zh-CN" altLang="en-US" sz="2800"/>
              <a:t>计算性能：</a:t>
            </a:r>
            <a:r>
              <a:rPr lang="en-US" altLang="zh-CN" sz="2800"/>
              <a:t>4</a:t>
            </a:r>
            <a:endParaRPr lang="en-US" altLang="zh-CN" sz="2800"/>
          </a:p>
          <a:p>
            <a:r>
              <a:rPr lang="zh-CN" altLang="en-US" sz="2800"/>
              <a:t>节省空间：</a:t>
            </a:r>
            <a:r>
              <a:rPr lang="en-US" altLang="zh-CN" sz="2800"/>
              <a:t>2</a:t>
            </a:r>
            <a:endParaRPr lang="en-US" altLang="zh-CN" sz="2800"/>
          </a:p>
          <a:p>
            <a:r>
              <a:rPr lang="zh-CN" altLang="en-US" sz="2800"/>
              <a:t>容错：</a:t>
            </a:r>
            <a:r>
              <a:rPr lang="en-US" altLang="zh-CN" sz="2800"/>
              <a:t>4</a:t>
            </a:r>
            <a:endParaRPr lang="en-US" altLang="zh-CN" sz="2800"/>
          </a:p>
          <a:p>
            <a:endParaRPr lang="en-US" altLang="zh-CN" sz="2800"/>
          </a:p>
        </p:txBody>
      </p:sp>
      <p:sp>
        <p:nvSpPr>
          <p:cNvPr id="34818" name="日期占位符 5"/>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80EA9F5-EEB2-4C8B-9074-A41972D676D6}" type="datetime1">
              <a:rPr lang="zh-CN" altLang="en-US"/>
            </a:fld>
            <a:endParaRPr lang="zh-CN" altLang="en-US"/>
          </a:p>
        </p:txBody>
      </p:sp>
      <p:sp>
        <p:nvSpPr>
          <p:cNvPr id="3481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86692AE-1809-4B0A-BBDA-BA2113F3CC17}" type="slidenum">
              <a:rPr lang="en-US" altLang="zh-CN">
                <a:latin typeface="Arial Black" panose="020B0A04020102020204" pitchFamily="34" charset="0"/>
              </a:rPr>
            </a:fld>
            <a:endParaRPr lang="en-US" altLang="zh-CN">
              <a:latin typeface="Arial Black" panose="020B0A04020102020204" pitchFamily="34" charset="0"/>
            </a:endParaRPr>
          </a:p>
        </p:txBody>
      </p:sp>
    </p:spTree>
  </p:cSld>
  <p:clrMapOvr>
    <a:masterClrMapping/>
  </p:clrMapOvr>
  <p:transition>
    <p:wipe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zh-CN" altLang="en-US"/>
              <a:t>实例：可穿戴计算机</a:t>
            </a:r>
            <a:endParaRPr lang="zh-CN" altLang="en-US"/>
          </a:p>
        </p:txBody>
      </p:sp>
      <p:sp>
        <p:nvSpPr>
          <p:cNvPr id="35842" name="日期占位符 5"/>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EB2D205-87C9-4270-9957-52565EB148B5}" type="datetime1">
              <a:rPr lang="zh-CN" altLang="en-US"/>
            </a:fld>
            <a:endParaRPr lang="zh-CN" altLang="en-US"/>
          </a:p>
        </p:txBody>
      </p:sp>
      <p:sp>
        <p:nvSpPr>
          <p:cNvPr id="3584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2FFD202-8B58-49F6-A1C8-1C81F95FB8B3}" type="slidenum">
              <a:rPr lang="en-US" altLang="zh-CN">
                <a:latin typeface="Arial Black" panose="020B0A04020102020204" pitchFamily="34" charset="0"/>
              </a:rPr>
            </a:fld>
            <a:endParaRPr lang="en-US" altLang="zh-CN">
              <a:latin typeface="Arial Black" panose="020B0A04020102020204" pitchFamily="34" charset="0"/>
            </a:endParaRPr>
          </a:p>
        </p:txBody>
      </p:sp>
      <p:graphicFrame>
        <p:nvGraphicFramePr>
          <p:cNvPr id="35844" name="Object 3"/>
          <p:cNvGraphicFramePr>
            <a:graphicFrameLocks noChangeAspect="1"/>
          </p:cNvGraphicFramePr>
          <p:nvPr/>
        </p:nvGraphicFramePr>
        <p:xfrm>
          <a:off x="501650" y="1680549"/>
          <a:ext cx="6092825" cy="4321175"/>
        </p:xfrm>
        <a:graphic>
          <a:graphicData uri="http://schemas.openxmlformats.org/presentationml/2006/ole">
            <mc:AlternateContent xmlns:mc="http://schemas.openxmlformats.org/markup-compatibility/2006">
              <mc:Choice xmlns:v="urn:schemas-microsoft-com:vml" Requires="v">
                <p:oleObj spid="_x0000_s35923" name="" r:id="rId1" imgW="2870200" imgH="2057400" progId="Equation.DSMT4">
                  <p:embed/>
                </p:oleObj>
              </mc:Choice>
              <mc:Fallback>
                <p:oleObj name="" r:id="rId1" imgW="2870200" imgH="20574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650" y="1680549"/>
                        <a:ext cx="609282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5845" name="Group 4"/>
          <p:cNvGrpSpPr/>
          <p:nvPr/>
        </p:nvGrpSpPr>
        <p:grpSpPr bwMode="auto">
          <a:xfrm>
            <a:off x="6443663" y="1700213"/>
            <a:ext cx="2160587" cy="4321175"/>
            <a:chOff x="4059" y="1071"/>
            <a:chExt cx="1361" cy="2747"/>
          </a:xfrm>
        </p:grpSpPr>
        <p:sp>
          <p:nvSpPr>
            <p:cNvPr id="35846" name="Rectangle 5"/>
            <p:cNvSpPr>
              <a:spLocks noChangeArrowheads="1"/>
            </p:cNvSpPr>
            <p:nvPr/>
          </p:nvSpPr>
          <p:spPr bwMode="auto">
            <a:xfrm>
              <a:off x="4059" y="1071"/>
              <a:ext cx="1361" cy="2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35847" name="Rectangle 6"/>
            <p:cNvSpPr>
              <a:spLocks noChangeArrowheads="1"/>
            </p:cNvSpPr>
            <p:nvPr/>
          </p:nvSpPr>
          <p:spPr bwMode="auto">
            <a:xfrm>
              <a:off x="4105" y="3351"/>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对等风格</a:t>
              </a:r>
              <a:endParaRPr lang="zh-CN" altLang="en-US" sz="2400" b="1">
                <a:solidFill>
                  <a:srgbClr val="000000"/>
                </a:solidFill>
              </a:endParaRPr>
            </a:p>
          </p:txBody>
        </p:sp>
        <p:sp>
          <p:nvSpPr>
            <p:cNvPr id="35848" name="Rectangle 7"/>
            <p:cNvSpPr>
              <a:spLocks noChangeArrowheads="1"/>
            </p:cNvSpPr>
            <p:nvPr/>
          </p:nvSpPr>
          <p:spPr bwMode="auto">
            <a:xfrm>
              <a:off x="4105" y="3045"/>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客户</a:t>
              </a:r>
              <a:r>
                <a:rPr lang="en-US" altLang="zh-CN" sz="2400" b="1">
                  <a:solidFill>
                    <a:srgbClr val="000000"/>
                  </a:solidFill>
                </a:rPr>
                <a:t>—</a:t>
              </a:r>
              <a:r>
                <a:rPr lang="zh-CN" altLang="en-US" sz="2400" b="1">
                  <a:solidFill>
                    <a:srgbClr val="000000"/>
                  </a:solidFill>
                </a:rPr>
                <a:t>服务器</a:t>
              </a:r>
              <a:endParaRPr lang="zh-CN" altLang="en-US" sz="2400" b="1">
                <a:solidFill>
                  <a:srgbClr val="000000"/>
                </a:solidFill>
              </a:endParaRPr>
            </a:p>
          </p:txBody>
        </p:sp>
        <p:sp>
          <p:nvSpPr>
            <p:cNvPr id="35849" name="Rectangle 8"/>
            <p:cNvSpPr>
              <a:spLocks noChangeArrowheads="1"/>
            </p:cNvSpPr>
            <p:nvPr/>
          </p:nvSpPr>
          <p:spPr bwMode="auto">
            <a:xfrm>
              <a:off x="4105" y="2738"/>
              <a:ext cx="12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仓库风格</a:t>
              </a:r>
              <a:endParaRPr lang="zh-CN" altLang="en-US" sz="2400" b="1">
                <a:solidFill>
                  <a:srgbClr val="000000"/>
                </a:solidFill>
              </a:endParaRPr>
            </a:p>
          </p:txBody>
        </p:sp>
        <p:sp>
          <p:nvSpPr>
            <p:cNvPr id="35850" name="Rectangle 9"/>
            <p:cNvSpPr>
              <a:spLocks noChangeArrowheads="1"/>
            </p:cNvSpPr>
            <p:nvPr/>
          </p:nvSpPr>
          <p:spPr bwMode="auto">
            <a:xfrm>
              <a:off x="4105" y="2432"/>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层次风格</a:t>
              </a:r>
              <a:endParaRPr lang="zh-CN" altLang="en-US" sz="2400" b="1">
                <a:solidFill>
                  <a:srgbClr val="000000"/>
                </a:solidFill>
              </a:endParaRPr>
            </a:p>
          </p:txBody>
        </p:sp>
        <p:sp>
          <p:nvSpPr>
            <p:cNvPr id="35851" name="Rectangle 10"/>
            <p:cNvSpPr>
              <a:spLocks noChangeArrowheads="1"/>
            </p:cNvSpPr>
            <p:nvPr/>
          </p:nvSpPr>
          <p:spPr bwMode="auto">
            <a:xfrm>
              <a:off x="4105" y="2126"/>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事件驱动风格</a:t>
              </a:r>
              <a:endParaRPr lang="zh-CN" altLang="en-US" sz="2400" b="1">
                <a:solidFill>
                  <a:srgbClr val="000000"/>
                </a:solidFill>
              </a:endParaRPr>
            </a:p>
          </p:txBody>
        </p:sp>
        <p:sp>
          <p:nvSpPr>
            <p:cNvPr id="35852" name="Rectangle 11"/>
            <p:cNvSpPr>
              <a:spLocks noChangeArrowheads="1"/>
            </p:cNvSpPr>
            <p:nvPr/>
          </p:nvSpPr>
          <p:spPr bwMode="auto">
            <a:xfrm>
              <a:off x="4105" y="1820"/>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面向对象风格</a:t>
              </a:r>
              <a:endParaRPr lang="zh-CN" altLang="en-US" sz="2400" b="1">
                <a:solidFill>
                  <a:srgbClr val="000000"/>
                </a:solidFill>
              </a:endParaRPr>
            </a:p>
          </p:txBody>
        </p:sp>
        <p:sp>
          <p:nvSpPr>
            <p:cNvPr id="35853" name="Rectangle 12"/>
            <p:cNvSpPr>
              <a:spLocks noChangeArrowheads="1"/>
            </p:cNvSpPr>
            <p:nvPr/>
          </p:nvSpPr>
          <p:spPr bwMode="auto">
            <a:xfrm>
              <a:off x="4105" y="1513"/>
              <a:ext cx="12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结构化风格</a:t>
              </a:r>
              <a:endParaRPr lang="zh-CN" altLang="en-US" sz="2400" b="1">
                <a:solidFill>
                  <a:srgbClr val="000000"/>
                </a:solidFill>
              </a:endParaRPr>
            </a:p>
          </p:txBody>
        </p:sp>
        <p:sp>
          <p:nvSpPr>
            <p:cNvPr id="35854" name="Rectangle 13"/>
            <p:cNvSpPr>
              <a:spLocks noChangeArrowheads="1"/>
            </p:cNvSpPr>
            <p:nvPr/>
          </p:nvSpPr>
          <p:spPr bwMode="auto">
            <a:xfrm>
              <a:off x="4105" y="1207"/>
              <a:ext cx="12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zh-CN" altLang="en-US" sz="2400" b="1">
                  <a:solidFill>
                    <a:srgbClr val="000000"/>
                  </a:solidFill>
                </a:rPr>
                <a:t>管道风格</a:t>
              </a:r>
              <a:endParaRPr lang="zh-CN" altLang="en-US" sz="2400" b="1">
                <a:solidFill>
                  <a:srgbClr val="000000"/>
                </a:solidFill>
              </a:endParaRPr>
            </a:p>
          </p:txBody>
        </p:sp>
        <p:sp>
          <p:nvSpPr>
            <p:cNvPr id="35855" name="Line 14"/>
            <p:cNvSpPr>
              <a:spLocks noChangeShapeType="1"/>
            </p:cNvSpPr>
            <p:nvPr/>
          </p:nvSpPr>
          <p:spPr bwMode="auto">
            <a:xfrm>
              <a:off x="4105" y="1207"/>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sp>
          <p:nvSpPr>
            <p:cNvPr id="35856" name="Line 15"/>
            <p:cNvSpPr>
              <a:spLocks noChangeShapeType="1"/>
            </p:cNvSpPr>
            <p:nvPr/>
          </p:nvSpPr>
          <p:spPr bwMode="auto">
            <a:xfrm>
              <a:off x="4105" y="1513"/>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35857" name="Line 16"/>
            <p:cNvSpPr>
              <a:spLocks noChangeShapeType="1"/>
            </p:cNvSpPr>
            <p:nvPr/>
          </p:nvSpPr>
          <p:spPr bwMode="auto">
            <a:xfrm>
              <a:off x="4105" y="1820"/>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35858" name="Line 17"/>
            <p:cNvSpPr>
              <a:spLocks noChangeShapeType="1"/>
            </p:cNvSpPr>
            <p:nvPr/>
          </p:nvSpPr>
          <p:spPr bwMode="auto">
            <a:xfrm>
              <a:off x="4105" y="2126"/>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35859" name="Line 18"/>
            <p:cNvSpPr>
              <a:spLocks noChangeShapeType="1"/>
            </p:cNvSpPr>
            <p:nvPr/>
          </p:nvSpPr>
          <p:spPr bwMode="auto">
            <a:xfrm>
              <a:off x="4105" y="2432"/>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35860" name="Line 19"/>
            <p:cNvSpPr>
              <a:spLocks noChangeShapeType="1"/>
            </p:cNvSpPr>
            <p:nvPr/>
          </p:nvSpPr>
          <p:spPr bwMode="auto">
            <a:xfrm>
              <a:off x="4105" y="2738"/>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35861" name="Line 20"/>
            <p:cNvSpPr>
              <a:spLocks noChangeShapeType="1"/>
            </p:cNvSpPr>
            <p:nvPr/>
          </p:nvSpPr>
          <p:spPr bwMode="auto">
            <a:xfrm>
              <a:off x="4105" y="3045"/>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35862" name="Line 21"/>
            <p:cNvSpPr>
              <a:spLocks noChangeShapeType="1"/>
            </p:cNvSpPr>
            <p:nvPr/>
          </p:nvSpPr>
          <p:spPr bwMode="auto">
            <a:xfrm>
              <a:off x="4105" y="3351"/>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a:lstStyle/>
            <a:p>
              <a:endParaRPr lang="zh-CN" altLang="en-US"/>
            </a:p>
          </p:txBody>
        </p:sp>
        <p:sp>
          <p:nvSpPr>
            <p:cNvPr id="35863" name="Line 22"/>
            <p:cNvSpPr>
              <a:spLocks noChangeShapeType="1"/>
            </p:cNvSpPr>
            <p:nvPr/>
          </p:nvSpPr>
          <p:spPr bwMode="auto">
            <a:xfrm>
              <a:off x="4105" y="3657"/>
              <a:ext cx="128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sp>
          <p:nvSpPr>
            <p:cNvPr id="35864" name="Line 23"/>
            <p:cNvSpPr>
              <a:spLocks noChangeShapeType="1"/>
            </p:cNvSpPr>
            <p:nvPr/>
          </p:nvSpPr>
          <p:spPr bwMode="auto">
            <a:xfrm>
              <a:off x="4105" y="1207"/>
              <a:ext cx="0" cy="24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sp>
          <p:nvSpPr>
            <p:cNvPr id="35865" name="Line 24"/>
            <p:cNvSpPr>
              <a:spLocks noChangeShapeType="1"/>
            </p:cNvSpPr>
            <p:nvPr/>
          </p:nvSpPr>
          <p:spPr bwMode="auto">
            <a:xfrm>
              <a:off x="5390" y="1207"/>
              <a:ext cx="0" cy="24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grpSp>
      <p:sp>
        <p:nvSpPr>
          <p:cNvPr id="605209" name="AutoShape 25"/>
          <p:cNvSpPr>
            <a:spLocks noChangeArrowheads="1"/>
          </p:cNvSpPr>
          <p:nvPr/>
        </p:nvSpPr>
        <p:spPr bwMode="auto">
          <a:xfrm>
            <a:off x="5795963" y="5229225"/>
            <a:ext cx="2160587" cy="574675"/>
          </a:xfrm>
          <a:prstGeom prst="roundRect">
            <a:avLst>
              <a:gd name="adj" fmla="val 16667"/>
            </a:avLst>
          </a:pr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8" name="文本框 27"/>
          <p:cNvSpPr txBox="1"/>
          <p:nvPr/>
        </p:nvSpPr>
        <p:spPr>
          <a:xfrm>
            <a:off x="2444459" y="1928197"/>
            <a:ext cx="360040" cy="461665"/>
          </a:xfrm>
          <a:prstGeom prst="rect">
            <a:avLst/>
          </a:prstGeom>
          <a:solidFill>
            <a:schemeClr val="bg1"/>
          </a:solid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5</a:t>
            </a:r>
            <a:endParaRPr lang="zh-CN" altLang="en-US" sz="2400" dirty="0">
              <a:latin typeface="Times New Roman" panose="02020603050405020304" pitchFamily="18" charset="0"/>
              <a:cs typeface="Times New Roman" panose="02020603050405020304" pitchFamily="18" charset="0"/>
            </a:endParaRPr>
          </a:p>
        </p:txBody>
      </p:sp>
      <p:sp>
        <p:nvSpPr>
          <p:cNvPr id="29" name="文本框 28"/>
          <p:cNvSpPr txBox="1"/>
          <p:nvPr/>
        </p:nvSpPr>
        <p:spPr>
          <a:xfrm>
            <a:off x="3361494" y="1923991"/>
            <a:ext cx="360040" cy="461665"/>
          </a:xfrm>
          <a:prstGeom prst="rect">
            <a:avLst/>
          </a:prstGeom>
          <a:solidFill>
            <a:schemeClr val="bg1"/>
          </a:solid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5</a:t>
            </a:r>
            <a:endParaRPr lang="zh-CN" altLang="en-US" sz="2400" dirty="0">
              <a:latin typeface="Times New Roman" panose="02020603050405020304" pitchFamily="18" charset="0"/>
              <a:cs typeface="Times New Roman" panose="02020603050405020304" pitchFamily="18" charset="0"/>
            </a:endParaRPr>
          </a:p>
        </p:txBody>
      </p:sp>
      <p:sp>
        <p:nvSpPr>
          <p:cNvPr id="30" name="文本框 29"/>
          <p:cNvSpPr txBox="1"/>
          <p:nvPr/>
        </p:nvSpPr>
        <p:spPr>
          <a:xfrm>
            <a:off x="1515716" y="1923992"/>
            <a:ext cx="360040" cy="461665"/>
          </a:xfrm>
          <a:prstGeom prst="rect">
            <a:avLst/>
          </a:prstGeom>
          <a:solidFill>
            <a:schemeClr val="bg1"/>
          </a:solid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a:t>
            </a:r>
            <a:endParaRPr lang="zh-CN" altLang="en-US" sz="2400" dirty="0">
              <a:latin typeface="Times New Roman" panose="02020603050405020304" pitchFamily="18" charset="0"/>
              <a:cs typeface="Times New Roman" panose="02020603050405020304" pitchFamily="18" charset="0"/>
            </a:endParaRPr>
          </a:p>
        </p:txBody>
      </p:sp>
      <p:sp>
        <p:nvSpPr>
          <p:cNvPr id="31" name="文本框 30"/>
          <p:cNvSpPr txBox="1"/>
          <p:nvPr/>
        </p:nvSpPr>
        <p:spPr>
          <a:xfrm>
            <a:off x="5885768" y="1914148"/>
            <a:ext cx="553133" cy="461665"/>
          </a:xfrm>
          <a:prstGeom prst="rect">
            <a:avLst/>
          </a:prstGeom>
          <a:solidFill>
            <a:schemeClr val="bg1"/>
          </a:solid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98</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605209"/>
                                        </p:tgtEl>
                                        <p:attrNameLst>
                                          <p:attrName>style.visibility</p:attrName>
                                        </p:attrNameLst>
                                      </p:cBhvr>
                                      <p:to>
                                        <p:strVal val="visible"/>
                                      </p:to>
                                    </p:set>
                                    <p:anim calcmode="lin" valueType="num">
                                      <p:cBhvr>
                                        <p:cTn id="7" dur="500" fill="hold"/>
                                        <p:tgtEl>
                                          <p:spTgt spid="605209"/>
                                        </p:tgtEl>
                                        <p:attrNameLst>
                                          <p:attrName>ppt_w</p:attrName>
                                        </p:attrNameLst>
                                      </p:cBhvr>
                                      <p:tavLst>
                                        <p:tav tm="0">
                                          <p:val>
                                            <p:strVal val="4/3*#ppt_w"/>
                                          </p:val>
                                        </p:tav>
                                        <p:tav tm="100000">
                                          <p:val>
                                            <p:strVal val="#ppt_w"/>
                                          </p:val>
                                        </p:tav>
                                      </p:tavLst>
                                    </p:anim>
                                    <p:anim calcmode="lin" valueType="num">
                                      <p:cBhvr>
                                        <p:cTn id="8" dur="500" fill="hold"/>
                                        <p:tgtEl>
                                          <p:spTgt spid="605209"/>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a:t>实例：可穿戴计算机</a:t>
            </a:r>
            <a:endParaRPr lang="zh-CN" altLang="en-US"/>
          </a:p>
        </p:txBody>
      </p:sp>
      <p:sp>
        <p:nvSpPr>
          <p:cNvPr id="36868" name="Rectangle 3"/>
          <p:cNvSpPr>
            <a:spLocks noGrp="1" noChangeArrowheads="1"/>
          </p:cNvSpPr>
          <p:nvPr>
            <p:ph idx="1"/>
          </p:nvPr>
        </p:nvSpPr>
        <p:spPr/>
        <p:txBody>
          <a:bodyPr/>
          <a:lstStyle/>
          <a:p>
            <a:r>
              <a:rPr lang="zh-CN" altLang="en-US"/>
              <a:t>完美分</a:t>
            </a:r>
            <a:r>
              <a:rPr lang="en-US" altLang="zh-CN"/>
              <a:t>=150</a:t>
            </a:r>
            <a:endParaRPr lang="en-US" altLang="zh-CN"/>
          </a:p>
          <a:p>
            <a:r>
              <a:rPr lang="zh-CN" altLang="en-US"/>
              <a:t>等级</a:t>
            </a:r>
            <a:r>
              <a:rPr lang="en-US" altLang="zh-CN"/>
              <a:t>=126/150*100=84</a:t>
            </a:r>
            <a:endParaRPr lang="en-US" altLang="zh-CN"/>
          </a:p>
          <a:p>
            <a:r>
              <a:rPr lang="zh-CN" altLang="en-US"/>
              <a:t>需要当心接口变换问题</a:t>
            </a:r>
            <a:endParaRPr lang="zh-CN" altLang="en-US"/>
          </a:p>
          <a:p>
            <a:r>
              <a:rPr lang="zh-CN" altLang="en-US"/>
              <a:t>可以继续用此方法选择每台计算机上软件的体系结构</a:t>
            </a:r>
            <a:endParaRPr lang="zh-CN" altLang="en-US"/>
          </a:p>
        </p:txBody>
      </p:sp>
      <p:sp>
        <p:nvSpPr>
          <p:cNvPr id="36865"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D8A105D-3161-4975-B4B9-99FD33D9D5DD}"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6866"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672F77B-84E2-44B6-AC5C-2E18999662C5}" type="datetime1">
              <a:rPr lang="zh-CN" altLang="en-US"/>
            </a:fld>
            <a:endParaRPr lang="zh-CN" altLang="en-US"/>
          </a:p>
        </p:txBody>
      </p:sp>
    </p:spTree>
  </p:cSld>
  <p:clrMapOvr>
    <a:masterClrMapping/>
  </p:clrMapOvr>
  <p:transition>
    <p:wipe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en-US" altLang="zh-CN"/>
              <a:t>“</a:t>
            </a:r>
            <a:r>
              <a:rPr lang="zh-CN" altLang="en-US"/>
              <a:t>体系选择矩阵法”的缺点</a:t>
            </a:r>
            <a:endParaRPr lang="zh-CN" altLang="en-US"/>
          </a:p>
        </p:txBody>
      </p:sp>
      <p:sp>
        <p:nvSpPr>
          <p:cNvPr id="37892" name="Rectangle 3"/>
          <p:cNvSpPr>
            <a:spLocks noGrp="1" noChangeArrowheads="1"/>
          </p:cNvSpPr>
          <p:nvPr>
            <p:ph idx="1"/>
          </p:nvPr>
        </p:nvSpPr>
        <p:spPr/>
        <p:txBody>
          <a:bodyPr/>
          <a:lstStyle/>
          <a:p>
            <a:r>
              <a:rPr lang="zh-CN" altLang="en-US"/>
              <a:t>一定程度上限制了创新；</a:t>
            </a:r>
            <a:endParaRPr lang="zh-CN" altLang="en-US"/>
          </a:p>
          <a:p>
            <a:r>
              <a:rPr lang="zh-CN" altLang="en-US"/>
              <a:t>很多问题还有待进一步细化；</a:t>
            </a:r>
            <a:endParaRPr lang="zh-CN" altLang="en-US"/>
          </a:p>
          <a:p>
            <a:r>
              <a:rPr lang="zh-CN" altLang="en-US"/>
              <a:t>没有理论证明；</a:t>
            </a:r>
            <a:endParaRPr lang="zh-CN" altLang="en-US"/>
          </a:p>
          <a:p>
            <a:r>
              <a:rPr lang="zh-CN" altLang="en-US"/>
              <a:t>缺少大量的实践考验。</a:t>
            </a:r>
            <a:endParaRPr lang="zh-CN" altLang="en-US"/>
          </a:p>
        </p:txBody>
      </p:sp>
      <p:sp>
        <p:nvSpPr>
          <p:cNvPr id="37889" name="灯片编号占位符 3"/>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0A7614B-D654-4BF7-A1DF-8562E6817EF2}" type="slidenum">
              <a:rPr lang="en-US" altLang="zh-CN">
                <a:latin typeface="Arial Black" panose="020B0A04020102020204" pitchFamily="34" charset="0"/>
              </a:rPr>
            </a:fld>
            <a:endParaRPr lang="en-US" altLang="zh-CN">
              <a:latin typeface="Arial Black" panose="020B0A04020102020204" pitchFamily="34" charset="0"/>
            </a:endParaRPr>
          </a:p>
        </p:txBody>
      </p:sp>
      <p:sp>
        <p:nvSpPr>
          <p:cNvPr id="37890" name="日期占位符 4"/>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20CB7F3-13AB-45AA-9AFB-A1B92203AF32}" type="datetime1">
              <a:rPr lang="zh-CN" altLang="en-US"/>
            </a:fld>
            <a:endParaRPr lang="zh-CN" altLang="en-US"/>
          </a:p>
        </p:txBody>
      </p:sp>
    </p:spTree>
  </p:cSld>
  <p:clrMapOvr>
    <a:masterClrMapping/>
  </p:clrMapOvr>
  <p:transition>
    <p:wipe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bwMode="auto"/>
        <p:txBody>
          <a:bodyPr vert="horz" wrap="square" lIns="91440" tIns="45720" rIns="91440" bIns="45720" numCol="1" anchorCtr="0" compatLnSpc="1"/>
          <a:lstStyle/>
          <a:p>
            <a:pPr>
              <a:defRPr/>
            </a:pPr>
            <a:r>
              <a:rPr lang="zh-CN" altLang="en-US" dirty="0">
                <a:effectLst>
                  <a:outerShdw blurRad="38100" dist="38100" dir="2700000" algn="tl">
                    <a:srgbClr val="000000">
                      <a:alpha val="43137"/>
                    </a:srgbClr>
                  </a:outerShdw>
                </a:effectLst>
              </a:rPr>
              <a:t>体系结构的实现与维护</a:t>
            </a:r>
            <a:endParaRPr lang="zh-CN" altLang="en-US" dirty="0">
              <a:effectLst>
                <a:outerShdw blurRad="38100" dist="38100" dir="2700000" algn="tl">
                  <a:srgbClr val="000000">
                    <a:alpha val="43137"/>
                  </a:srgbClr>
                </a:outerShdw>
              </a:effectLst>
            </a:endParaRPr>
          </a:p>
        </p:txBody>
      </p:sp>
      <p:sp>
        <p:nvSpPr>
          <p:cNvPr id="46083" name="内容占位符 2"/>
          <p:cNvSpPr>
            <a:spLocks noGrp="1"/>
          </p:cNvSpPr>
          <p:nvPr>
            <p:ph idx="1"/>
          </p:nvPr>
        </p:nvSpPr>
        <p:spPr/>
        <p:txBody>
          <a:bodyPr/>
          <a:lstStyle/>
          <a:p>
            <a:r>
              <a:rPr lang="zh-CN" altLang="en-US" dirty="0"/>
              <a:t>体系结构驱动的软件开发的特点之一是软件体系结构与开发团队组织结构具有一致性。</a:t>
            </a:r>
            <a:endParaRPr lang="en-US" altLang="zh-CN" dirty="0"/>
          </a:p>
          <a:p>
            <a:r>
              <a:rPr lang="zh-CN" altLang="en-US" dirty="0"/>
              <a:t>开发团队的组织结构必须反映到</a:t>
            </a:r>
            <a:r>
              <a:rPr lang="zh-CN" altLang="en-US"/>
              <a:t>软件体系结构</a:t>
            </a:r>
            <a:r>
              <a:rPr lang="zh-CN" altLang="en-US" dirty="0"/>
              <a:t>上，反之亦然。</a:t>
            </a:r>
            <a:endParaRPr lang="en-US" altLang="zh-CN" dirty="0"/>
          </a:p>
        </p:txBody>
      </p:sp>
      <p:sp>
        <p:nvSpPr>
          <p:cNvPr id="46084"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23811098-75C4-4B29-BAAB-830A400E8C4E}" type="slidenum">
              <a:rPr lang="en-US" altLang="zh-CN">
                <a:solidFill>
                  <a:srgbClr val="B5A788"/>
                </a:solidFill>
              </a:rPr>
            </a:fld>
            <a:endParaRPr lang="en-US" altLang="zh-CN">
              <a:solidFill>
                <a:srgbClr val="B5A788"/>
              </a:solidFill>
            </a:endParaRPr>
          </a:p>
        </p:txBody>
      </p:sp>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1概述</Template>
  <TotalTime>0</TotalTime>
  <Words>8874</Words>
  <Application>WPS 演示</Application>
  <PresentationFormat>全屏显示(4:3)</PresentationFormat>
  <Paragraphs>1942</Paragraphs>
  <Slides>66</Slides>
  <Notes>3</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10</vt:i4>
      </vt:variant>
      <vt:variant>
        <vt:lpstr>幻灯片标题</vt:lpstr>
      </vt:variant>
      <vt:variant>
        <vt:i4>66</vt:i4>
      </vt:variant>
    </vt:vector>
  </HeadingPairs>
  <TitlesOfParts>
    <vt:vector size="95" baseType="lpstr">
      <vt:lpstr>Arial</vt:lpstr>
      <vt:lpstr>宋体</vt:lpstr>
      <vt:lpstr>Wingdings</vt:lpstr>
      <vt:lpstr>Calibri Light</vt:lpstr>
      <vt:lpstr>Times New Roman</vt:lpstr>
      <vt:lpstr>黑体</vt:lpstr>
      <vt:lpstr>华文中宋</vt:lpstr>
      <vt:lpstr>楷体_GB2312</vt:lpstr>
      <vt:lpstr>新宋体</vt:lpstr>
      <vt:lpstr>Garamond</vt:lpstr>
      <vt:lpstr>Calibri</vt:lpstr>
      <vt:lpstr>微软雅黑</vt:lpstr>
      <vt:lpstr>Arial Unicode MS</vt:lpstr>
      <vt:lpstr>Calibri</vt:lpstr>
      <vt:lpstr>Times New Roman</vt:lpstr>
      <vt:lpstr>Arial Black</vt:lpstr>
      <vt:lpstr>华文新魏</vt:lpstr>
      <vt:lpstr>Comic Sans MS</vt:lpstr>
      <vt:lpstr>Office 主题</vt:lpstr>
      <vt:lpstr>Visio.Drawing.11</vt:lpstr>
      <vt:lpstr>Equation.DSMT4</vt:lpstr>
      <vt:lpstr>Visio.Drawing.11</vt:lpstr>
      <vt:lpstr>Visio.Drawing.11</vt:lpstr>
      <vt:lpstr>Visio.Drawing.11</vt:lpstr>
      <vt:lpstr>Visio.Drawing.11</vt:lpstr>
      <vt:lpstr>Visio.Drawing.11</vt:lpstr>
      <vt:lpstr>Visio.Drawing.11</vt:lpstr>
      <vt:lpstr>Equation.DSMT4</vt:lpstr>
      <vt:lpstr>Equation.DSMT4</vt:lpstr>
      <vt:lpstr>软件体系结构 </vt:lpstr>
      <vt:lpstr>体系结构驱动的软件开发简介（1）</vt:lpstr>
      <vt:lpstr>体系结构驱动的软件开发简介（2）</vt:lpstr>
      <vt:lpstr>体系结构需求获取（1）</vt:lpstr>
      <vt:lpstr>PowerPoint 演示文稿</vt:lpstr>
      <vt:lpstr>PowerPoint 演示文稿</vt:lpstr>
      <vt:lpstr>体系结构需求获取（4）</vt:lpstr>
      <vt:lpstr>PowerPoint 演示文稿</vt:lpstr>
      <vt:lpstr>体系结构需求获取（6）</vt:lpstr>
      <vt:lpstr>体系结构需求获取（7）</vt:lpstr>
      <vt:lpstr>体系结构需求获取（8）</vt:lpstr>
      <vt:lpstr>体系结构需求获取（9）</vt:lpstr>
      <vt:lpstr>PowerPoint 演示文稿</vt:lpstr>
      <vt:lpstr>体系结构设计、文档化和评估</vt:lpstr>
      <vt:lpstr>迭代过程（1）</vt:lpstr>
      <vt:lpstr>迭代过程（2）</vt:lpstr>
      <vt:lpstr>迭代过程（3）</vt:lpstr>
      <vt:lpstr>什么是体系结构的结构（1）</vt:lpstr>
      <vt:lpstr>什么是体系结构的结构（2）</vt:lpstr>
      <vt:lpstr>什么是体系结构的结构（3）</vt:lpstr>
      <vt:lpstr>什么是体系结构的结构（4）</vt:lpstr>
      <vt:lpstr>什么是体系结构的结构（5）</vt:lpstr>
      <vt:lpstr>什么是体系结构的结构（6）</vt:lpstr>
      <vt:lpstr>什么是体系结构的结构（7）</vt:lpstr>
      <vt:lpstr>什么是体系结构的结构（8）</vt:lpstr>
      <vt:lpstr>从体系结构需求出发的评估（1）</vt:lpstr>
      <vt:lpstr>从体系结构需求出发的评估（2）</vt:lpstr>
      <vt:lpstr>寻找ATAM中的“权衡点”和“敏感点”（1）</vt:lpstr>
      <vt:lpstr>寻找ATAM中的“权衡点”和“敏感点”（2）</vt:lpstr>
      <vt:lpstr>寻找ATAM中的“权衡点”和“敏感点”（3）</vt:lpstr>
      <vt:lpstr>寻找ATAM中的“权衡点”和“敏感点”（4）</vt:lpstr>
      <vt:lpstr>寻找ATAM中的“权衡点”和“敏感点”（5）</vt:lpstr>
      <vt:lpstr>寻找ATAM中的“权衡点”和“敏感点”（6）</vt:lpstr>
      <vt:lpstr>寻找ATAM中的“权衡点”和“敏感点”（7）</vt:lpstr>
      <vt:lpstr>目前软件设计方法的主要缺点</vt:lpstr>
      <vt:lpstr>目前最常见的体系结构: 分层+OO</vt:lpstr>
      <vt:lpstr>体系结构风格的选择次序</vt:lpstr>
      <vt:lpstr>风格选择的基本思想： 由粗到细的分解</vt:lpstr>
      <vt:lpstr>SA风格选择需考虑的因素</vt:lpstr>
      <vt:lpstr>SA风格选择需考虑的因素 </vt:lpstr>
      <vt:lpstr>基于经验的SA风格选择原则</vt:lpstr>
      <vt:lpstr>基于经验的SA风格选择原则</vt:lpstr>
      <vt:lpstr>基于经验的SA风格选择原则</vt:lpstr>
      <vt:lpstr>基于经验的SA风格选择原则</vt:lpstr>
      <vt:lpstr>基于经验的SA风格选择原则</vt:lpstr>
      <vt:lpstr>“经验决定一切”带来的问题</vt:lpstr>
      <vt:lpstr>“体系选择矩阵法”的目标</vt:lpstr>
      <vt:lpstr>“体系选择矩阵法”的基本思想</vt:lpstr>
      <vt:lpstr>软件体系结构影响质量的两种方式</vt:lpstr>
      <vt:lpstr>受体系结构影响的质量需求</vt:lpstr>
      <vt:lpstr>各种体系风格对质量需求的影响</vt:lpstr>
      <vt:lpstr>编译器对体系结构质量的期望值</vt:lpstr>
      <vt:lpstr>用期望值看体系结构风格的表现</vt:lpstr>
      <vt:lpstr>用期望值看体系结构风格的表现</vt:lpstr>
      <vt:lpstr>体系选择矩阵法</vt:lpstr>
      <vt:lpstr>对编译器采用体系选择矩阵法</vt:lpstr>
      <vt:lpstr>对编译器采用体系选择矩阵法</vt:lpstr>
      <vt:lpstr>对编译器采用体系选择矩阵法</vt:lpstr>
      <vt:lpstr>完美分</vt:lpstr>
      <vt:lpstr>结果评价</vt:lpstr>
      <vt:lpstr>“体系选择矩阵法”的优点</vt:lpstr>
      <vt:lpstr>实例：可穿戴计算机</vt:lpstr>
      <vt:lpstr>实例：可穿戴计算机</vt:lpstr>
      <vt:lpstr>实例：可穿戴计算机</vt:lpstr>
      <vt:lpstr>“体系选择矩阵法”的缺点</vt:lpstr>
      <vt:lpstr>体系结构的实现与维护</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介绍</dc:title>
  <dc:creator>zhao</dc:creator>
  <cp:lastModifiedBy>赵庆玲</cp:lastModifiedBy>
  <cp:revision>967</cp:revision>
  <dcterms:created xsi:type="dcterms:W3CDTF">2018-04-12T00:15:00Z</dcterms:created>
  <dcterms:modified xsi:type="dcterms:W3CDTF">2026-06-03T03:43:28Z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A88BBF03304143F8852FF3D40CBCEB66_13</vt:lpwstr>
  </property>
</Properties>
</file>