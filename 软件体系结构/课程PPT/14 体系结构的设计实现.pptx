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
  </p:notesMasterIdLst>
  <p:handoutMasterIdLst>
    <p:handoutMasterId r:id="rId53"/>
  </p:handoutMasterIdLst>
  <p:sldIdLst>
    <p:sldId id="304" r:id="rId3"/>
    <p:sldId id="459" r:id="rId4"/>
    <p:sldId id="261" r:id="rId5"/>
    <p:sldId id="460" r:id="rId6"/>
    <p:sldId id="462" r:id="rId8"/>
    <p:sldId id="463" r:id="rId9"/>
    <p:sldId id="461" r:id="rId10"/>
    <p:sldId id="465" r:id="rId11"/>
    <p:sldId id="464" r:id="rId12"/>
    <p:sldId id="374" r:id="rId13"/>
    <p:sldId id="466" r:id="rId14"/>
    <p:sldId id="453" r:id="rId15"/>
    <p:sldId id="467" r:id="rId16"/>
    <p:sldId id="375" r:id="rId17"/>
    <p:sldId id="376" r:id="rId18"/>
    <p:sldId id="468" r:id="rId19"/>
    <p:sldId id="377" r:id="rId20"/>
    <p:sldId id="378" r:id="rId21"/>
    <p:sldId id="379" r:id="rId22"/>
    <p:sldId id="380" r:id="rId23"/>
    <p:sldId id="381" r:id="rId24"/>
    <p:sldId id="469" r:id="rId25"/>
    <p:sldId id="382" r:id="rId26"/>
    <p:sldId id="383" r:id="rId27"/>
    <p:sldId id="384" r:id="rId28"/>
    <p:sldId id="385" r:id="rId29"/>
    <p:sldId id="264" r:id="rId30"/>
    <p:sldId id="267" r:id="rId31"/>
    <p:sldId id="470" r:id="rId32"/>
    <p:sldId id="471" r:id="rId33"/>
    <p:sldId id="268" r:id="rId34"/>
    <p:sldId id="472" r:id="rId35"/>
    <p:sldId id="473" r:id="rId36"/>
    <p:sldId id="474" r:id="rId37"/>
    <p:sldId id="475" r:id="rId38"/>
    <p:sldId id="476" r:id="rId39"/>
    <p:sldId id="265" r:id="rId40"/>
    <p:sldId id="266" r:id="rId41"/>
    <p:sldId id="457" r:id="rId42"/>
    <p:sldId id="396" r:id="rId43"/>
    <p:sldId id="397" r:id="rId44"/>
    <p:sldId id="478" r:id="rId45"/>
    <p:sldId id="446" r:id="rId46"/>
    <p:sldId id="447" r:id="rId47"/>
    <p:sldId id="448" r:id="rId48"/>
    <p:sldId id="449" r:id="rId49"/>
    <p:sldId id="450" r:id="rId50"/>
    <p:sldId id="451" r:id="rId51"/>
    <p:sldId id="452" r:id="rId52"/>
  </p:sldIdLst>
  <p:sldSz cx="9144000" cy="6858000" type="screen4x3"/>
  <p:notesSz cx="6858000" cy="9144000"/>
  <p:custDataLst>
    <p:tags r:id="rId57"/>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996633"/>
    <a:srgbClr val="FFFF00"/>
    <a:srgbClr val="008000"/>
    <a:srgbClr val="FF3399"/>
    <a:srgbClr val="3333FF"/>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9" autoAdjust="0"/>
    <p:restoredTop sz="77977" autoAdjust="0"/>
  </p:normalViewPr>
  <p:slideViewPr>
    <p:cSldViewPr showGuides="1">
      <p:cViewPr varScale="1">
        <p:scale>
          <a:sx n="89" d="100"/>
          <a:sy n="89" d="100"/>
        </p:scale>
        <p:origin x="2184"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7" Type="http://schemas.openxmlformats.org/officeDocument/2006/relationships/tags" Target="tags/tag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dirty="0"/>
              <a:t>沈军书</a:t>
            </a:r>
            <a:r>
              <a:rPr lang="en-US" altLang="zh-CN" dirty="0"/>
              <a:t>P5</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dirty="0"/>
              <a:t>沈军书</a:t>
            </a:r>
            <a:r>
              <a:rPr lang="en-US" altLang="zh-CN" dirty="0"/>
              <a:t>P5</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dirty="0"/>
              <a:t>沈军书</a:t>
            </a:r>
            <a:r>
              <a:rPr lang="en-US" altLang="zh-CN" dirty="0"/>
              <a:t>P5</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dirty="0"/>
              <a:t>沈军书</a:t>
            </a:r>
            <a:r>
              <a:rPr lang="en-US" altLang="zh-CN" dirty="0"/>
              <a:t>P5</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dirty="0"/>
              <a:t>沈军书</a:t>
            </a:r>
            <a:r>
              <a:rPr lang="en-US" altLang="zh-CN" dirty="0"/>
              <a:t>P5</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自定应用领域容易更新</a:t>
            </a:r>
            <a:endParaRPr lang="en-US" altLang="zh-CN" dirty="0"/>
          </a:p>
          <a:p>
            <a:r>
              <a:rPr lang="zh-CN" altLang="en-US" dirty="0"/>
              <a:t>已有知识可以评估</a:t>
            </a:r>
            <a:endParaRPr lang="en-US" altLang="zh-CN" dirty="0"/>
          </a:p>
          <a:p>
            <a:r>
              <a:rPr lang="zh-CN" altLang="en-US" dirty="0"/>
              <a:t>对知识的评估帮助我们定义需求和架构属性的关系</a:t>
            </a:r>
            <a:endParaRPr lang="en-US" altLang="zh-CN" dirty="0"/>
          </a:p>
          <a:p>
            <a:r>
              <a:rPr lang="zh-CN" altLang="en-US" dirty="0"/>
              <a:t>较高自动化程度，一次性覆盖所有决策策略</a:t>
            </a:r>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需求规约和应用程序架构之间的桥梁，灵活、可重用、可追述</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模型转换一致性检查，状态图元语言，系统场景</a:t>
            </a:r>
            <a:r>
              <a:rPr lang="en-US" altLang="zh-CN" dirty="0"/>
              <a:t>LTL</a:t>
            </a:r>
            <a:r>
              <a:rPr lang="zh-CN" altLang="en-US" dirty="0"/>
              <a:t>表示 </a:t>
            </a:r>
            <a:r>
              <a:rPr lang="en-US" altLang="zh-CN" dirty="0"/>
              <a:t>SPIN</a:t>
            </a:r>
            <a:r>
              <a:rPr lang="zh-CN" altLang="en-US" dirty="0"/>
              <a:t>开源工具</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启发式地转成组件连接件配置等</a:t>
            </a:r>
            <a:endParaRPr lang="en-US" altLang="zh-CN" dirty="0"/>
          </a:p>
          <a:p>
            <a:endParaRPr lang="en-US" altLang="zh-CN" dirty="0"/>
          </a:p>
          <a:p>
            <a:r>
              <a:rPr lang="zh-CN" altLang="en-US" dirty="0"/>
              <a:t>货物运输网络系统</a:t>
            </a:r>
            <a:endParaRPr lang="en-US" altLang="zh-CN" dirty="0"/>
          </a:p>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当我看到它我才知道它</a:t>
            </a:r>
            <a:endParaRPr lang="en-US" altLang="zh-CN" dirty="0"/>
          </a:p>
          <a:p>
            <a:r>
              <a:rPr lang="zh-CN" altLang="en-US" dirty="0"/>
              <a:t>如何选择商业软件</a:t>
            </a:r>
            <a:endParaRPr lang="en-US" altLang="zh-CN" dirty="0"/>
          </a:p>
          <a:p>
            <a:r>
              <a:rPr lang="zh-CN" altLang="en-US" dirty="0"/>
              <a:t>如何适应快速改变</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sz="1200" dirty="0">
                <a:ea typeface="仿宋_GB2312" pitchFamily="49" charset="-122"/>
              </a:rPr>
              <a:t>逻辑视图主要支持系统功能需求</a:t>
            </a:r>
            <a:r>
              <a:rPr lang="en-US" altLang="zh-CN" sz="1200" dirty="0">
                <a:ea typeface="仿宋_GB2312" pitchFamily="49" charset="-122"/>
              </a:rPr>
              <a:t>, </a:t>
            </a:r>
            <a:r>
              <a:rPr lang="zh-CN" altLang="en-US" sz="1200" dirty="0">
                <a:ea typeface="仿宋_GB2312" pitchFamily="49" charset="-122"/>
              </a:rPr>
              <a:t>即系统提供最终用户的服务</a:t>
            </a:r>
            <a:r>
              <a:rPr lang="en-US" altLang="zh-CN" sz="1200" dirty="0">
                <a:ea typeface="仿宋_GB2312" pitchFamily="49" charset="-122"/>
              </a:rPr>
              <a:t>. </a:t>
            </a:r>
            <a:endParaRPr lang="en-US" altLang="zh-CN" sz="1200" dirty="0">
              <a:ea typeface="仿宋_GB2312" pitchFamily="49" charset="-122"/>
            </a:endParaRPr>
          </a:p>
          <a:p>
            <a:r>
              <a:rPr lang="zh-CN" altLang="en-US" sz="1200" dirty="0">
                <a:latin typeface="仿宋_GB2312" pitchFamily="49" charset="-122"/>
                <a:ea typeface="仿宋_GB2312" pitchFamily="49" charset="-122"/>
              </a:rPr>
              <a:t>开发视图主要侧重于软件模块的组织和管理</a:t>
            </a:r>
            <a:endParaRPr lang="en-US" altLang="zh-CN" sz="1200" dirty="0">
              <a:latin typeface="仿宋_GB2312" pitchFamily="49" charset="-122"/>
              <a:ea typeface="仿宋_GB2312" pitchFamily="49" charset="-122"/>
            </a:endParaRPr>
          </a:p>
          <a:p>
            <a:r>
              <a:rPr lang="zh-CN" altLang="en-US" sz="1200" dirty="0">
                <a:ea typeface="仿宋_GB2312" pitchFamily="49" charset="-122"/>
              </a:rPr>
              <a:t>进程视图侧重于系统的</a:t>
            </a:r>
            <a:r>
              <a:rPr lang="zh-CN" altLang="en-US" sz="1200" b="1" dirty="0">
                <a:ea typeface="仿宋_GB2312" pitchFamily="49" charset="-122"/>
              </a:rPr>
              <a:t>运行特性</a:t>
            </a:r>
            <a:r>
              <a:rPr lang="zh-CN" altLang="en-US" sz="1200" dirty="0">
                <a:ea typeface="仿宋_GB2312" pitchFamily="49" charset="-122"/>
              </a:rPr>
              <a:t>，主要关注一些非功能性的需求，</a:t>
            </a:r>
            <a:endParaRPr lang="en-US" altLang="zh-CN" sz="1200" dirty="0">
              <a:ea typeface="仿宋_GB2312" pitchFamily="49" charset="-122"/>
            </a:endParaRPr>
          </a:p>
          <a:p>
            <a:r>
              <a:rPr lang="zh-CN" altLang="en-US" sz="1200" dirty="0">
                <a:latin typeface="仿宋_GB2312" pitchFamily="49" charset="-122"/>
                <a:ea typeface="仿宋_GB2312" pitchFamily="49" charset="-122"/>
              </a:rPr>
              <a:t>物理视图主要考虑如何把软件映射到硬件上，</a:t>
            </a:r>
            <a:r>
              <a:rPr lang="zh-CN" altLang="en-US" sz="1200" b="1" dirty="0">
                <a:latin typeface="仿宋_GB2312" pitchFamily="49" charset="-122"/>
                <a:ea typeface="仿宋_GB2312" pitchFamily="49" charset="-122"/>
              </a:rPr>
              <a:t>解决系统拓扑结构、系统安装、通信等问题</a:t>
            </a:r>
            <a:r>
              <a:rPr lang="zh-CN" altLang="en-US" sz="1200" dirty="0">
                <a:latin typeface="仿宋_GB2312" pitchFamily="49" charset="-122"/>
                <a:ea typeface="仿宋_GB2312" pitchFamily="49" charset="-122"/>
              </a:rPr>
              <a:t>。</a:t>
            </a:r>
            <a:endParaRPr lang="en-US" altLang="zh-CN" sz="1200" dirty="0">
              <a:latin typeface="仿宋_GB2312" pitchFamily="49" charset="-122"/>
              <a:ea typeface="仿宋_GB2312" pitchFamily="49" charset="-122"/>
            </a:endParaRPr>
          </a:p>
          <a:p>
            <a:r>
              <a:rPr lang="zh-CN" altLang="en-US" sz="1200" dirty="0">
                <a:ea typeface="仿宋_GB2312" pitchFamily="49" charset="-122"/>
              </a:rPr>
              <a:t>场景视图可以看做重要系统活动的抽象，是其他</a:t>
            </a:r>
            <a:r>
              <a:rPr lang="en-US" altLang="zh-CN" sz="1200" dirty="0">
                <a:ea typeface="仿宋_GB2312" pitchFamily="49" charset="-122"/>
              </a:rPr>
              <a:t>4</a:t>
            </a:r>
            <a:r>
              <a:rPr lang="zh-CN" altLang="en-US" sz="1200" dirty="0">
                <a:ea typeface="仿宋_GB2312" pitchFamily="49" charset="-122"/>
              </a:rPr>
              <a:t>个视图有机联系起来</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sz="1200" dirty="0">
                <a:ea typeface="仿宋_GB2312" pitchFamily="49" charset="-122"/>
              </a:rPr>
              <a:t>逻辑视图主要支持系统功能需求</a:t>
            </a:r>
            <a:r>
              <a:rPr lang="en-US" altLang="zh-CN" sz="1200" dirty="0">
                <a:ea typeface="仿宋_GB2312" pitchFamily="49" charset="-122"/>
              </a:rPr>
              <a:t>, </a:t>
            </a:r>
            <a:r>
              <a:rPr lang="zh-CN" altLang="en-US" sz="1200" dirty="0">
                <a:ea typeface="仿宋_GB2312" pitchFamily="49" charset="-122"/>
              </a:rPr>
              <a:t>即系统提供最终用户的服务</a:t>
            </a:r>
            <a:r>
              <a:rPr lang="en-US" altLang="zh-CN" sz="1200" dirty="0">
                <a:ea typeface="仿宋_GB2312" pitchFamily="49" charset="-122"/>
              </a:rPr>
              <a:t>. </a:t>
            </a:r>
            <a:endParaRPr lang="en-US" altLang="zh-CN" sz="1200" dirty="0">
              <a:ea typeface="仿宋_GB2312" pitchFamily="49" charset="-122"/>
            </a:endParaRPr>
          </a:p>
          <a:p>
            <a:r>
              <a:rPr lang="zh-CN" altLang="en-US" sz="1200" dirty="0">
                <a:latin typeface="仿宋_GB2312" pitchFamily="49" charset="-122"/>
                <a:ea typeface="仿宋_GB2312" pitchFamily="49" charset="-122"/>
              </a:rPr>
              <a:t>开发视图主要侧重于软件模块的组织和管理</a:t>
            </a:r>
            <a:endParaRPr lang="en-US" altLang="zh-CN" sz="1200" dirty="0">
              <a:latin typeface="仿宋_GB2312" pitchFamily="49" charset="-122"/>
              <a:ea typeface="仿宋_GB2312" pitchFamily="49" charset="-122"/>
            </a:endParaRPr>
          </a:p>
          <a:p>
            <a:r>
              <a:rPr lang="zh-CN" altLang="en-US" sz="1200" dirty="0">
                <a:ea typeface="仿宋_GB2312" pitchFamily="49" charset="-122"/>
              </a:rPr>
              <a:t>进程视图侧重于系统的</a:t>
            </a:r>
            <a:r>
              <a:rPr lang="zh-CN" altLang="en-US" sz="1200" b="1" dirty="0">
                <a:ea typeface="仿宋_GB2312" pitchFamily="49" charset="-122"/>
              </a:rPr>
              <a:t>运行特性</a:t>
            </a:r>
            <a:r>
              <a:rPr lang="zh-CN" altLang="en-US" sz="1200" dirty="0">
                <a:ea typeface="仿宋_GB2312" pitchFamily="49" charset="-122"/>
              </a:rPr>
              <a:t>，主要关注一些非功能性的需求，</a:t>
            </a:r>
            <a:endParaRPr lang="en-US" altLang="zh-CN" sz="1200" dirty="0">
              <a:ea typeface="仿宋_GB2312" pitchFamily="49" charset="-122"/>
            </a:endParaRPr>
          </a:p>
          <a:p>
            <a:r>
              <a:rPr lang="zh-CN" altLang="en-US" sz="1200" dirty="0">
                <a:latin typeface="仿宋_GB2312" pitchFamily="49" charset="-122"/>
                <a:ea typeface="仿宋_GB2312" pitchFamily="49" charset="-122"/>
              </a:rPr>
              <a:t>物理视图主要考虑如何把软件映射到硬件上，</a:t>
            </a:r>
            <a:r>
              <a:rPr lang="zh-CN" altLang="en-US" sz="1200" b="1" dirty="0">
                <a:latin typeface="仿宋_GB2312" pitchFamily="49" charset="-122"/>
                <a:ea typeface="仿宋_GB2312" pitchFamily="49" charset="-122"/>
              </a:rPr>
              <a:t>解决系统拓扑结构、系统安装、通信等问题</a:t>
            </a:r>
            <a:r>
              <a:rPr lang="zh-CN" altLang="en-US" sz="1200" dirty="0">
                <a:latin typeface="仿宋_GB2312" pitchFamily="49" charset="-122"/>
                <a:ea typeface="仿宋_GB2312" pitchFamily="49" charset="-122"/>
              </a:rPr>
              <a:t>。</a:t>
            </a:r>
            <a:endParaRPr lang="en-US" altLang="zh-CN" sz="1200" dirty="0">
              <a:latin typeface="仿宋_GB2312" pitchFamily="49" charset="-122"/>
              <a:ea typeface="仿宋_GB2312" pitchFamily="49" charset="-122"/>
            </a:endParaRPr>
          </a:p>
          <a:p>
            <a:r>
              <a:rPr lang="zh-CN" altLang="en-US" sz="1200" dirty="0">
                <a:ea typeface="仿宋_GB2312" pitchFamily="49" charset="-122"/>
              </a:rPr>
              <a:t>场景视图可以看做重要系统活动的抽象，是其他</a:t>
            </a:r>
            <a:r>
              <a:rPr lang="en-US" altLang="zh-CN" sz="1200" dirty="0">
                <a:ea typeface="仿宋_GB2312" pitchFamily="49" charset="-122"/>
              </a:rPr>
              <a:t>4</a:t>
            </a:r>
            <a:r>
              <a:rPr lang="zh-CN" altLang="en-US" sz="1200" dirty="0">
                <a:ea typeface="仿宋_GB2312" pitchFamily="49" charset="-122"/>
              </a:rPr>
              <a:t>个视图有机联系起来</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r>
              <a:rPr lang="zh-CN" altLang="en-US" sz="1200" dirty="0">
                <a:ea typeface="仿宋_GB2312" pitchFamily="49" charset="-122"/>
              </a:rPr>
              <a:t>逻辑视图主要支持系统功能需求</a:t>
            </a:r>
            <a:r>
              <a:rPr lang="en-US" altLang="zh-CN" sz="1200" dirty="0">
                <a:ea typeface="仿宋_GB2312" pitchFamily="49" charset="-122"/>
              </a:rPr>
              <a:t>, </a:t>
            </a:r>
            <a:r>
              <a:rPr lang="zh-CN" altLang="en-US" sz="1200" dirty="0">
                <a:ea typeface="仿宋_GB2312" pitchFamily="49" charset="-122"/>
              </a:rPr>
              <a:t>即系统提供最终用户的服务</a:t>
            </a:r>
            <a:r>
              <a:rPr lang="en-US" altLang="zh-CN" sz="1200" dirty="0">
                <a:ea typeface="仿宋_GB2312" pitchFamily="49" charset="-122"/>
              </a:rPr>
              <a:t>. </a:t>
            </a:r>
            <a:endParaRPr lang="en-US" altLang="zh-CN" sz="1200" dirty="0">
              <a:ea typeface="仿宋_GB2312" pitchFamily="49" charset="-122"/>
            </a:endParaRPr>
          </a:p>
          <a:p>
            <a:r>
              <a:rPr lang="zh-CN" altLang="en-US" sz="1200" dirty="0">
                <a:latin typeface="仿宋_GB2312" pitchFamily="49" charset="-122"/>
                <a:ea typeface="仿宋_GB2312" pitchFamily="49" charset="-122"/>
              </a:rPr>
              <a:t>开发视图主要侧重于软件模块的组织和管理</a:t>
            </a:r>
            <a:endParaRPr lang="en-US" altLang="zh-CN" sz="1200" dirty="0">
              <a:latin typeface="仿宋_GB2312" pitchFamily="49" charset="-122"/>
              <a:ea typeface="仿宋_GB2312" pitchFamily="49" charset="-122"/>
            </a:endParaRPr>
          </a:p>
          <a:p>
            <a:r>
              <a:rPr lang="zh-CN" altLang="en-US" sz="1200" dirty="0">
                <a:ea typeface="仿宋_GB2312" pitchFamily="49" charset="-122"/>
              </a:rPr>
              <a:t>进程视图侧重于系统的</a:t>
            </a:r>
            <a:r>
              <a:rPr lang="zh-CN" altLang="en-US" sz="1200" b="1" dirty="0">
                <a:ea typeface="仿宋_GB2312" pitchFamily="49" charset="-122"/>
              </a:rPr>
              <a:t>运行特性</a:t>
            </a:r>
            <a:r>
              <a:rPr lang="zh-CN" altLang="en-US" sz="1200" dirty="0">
                <a:ea typeface="仿宋_GB2312" pitchFamily="49" charset="-122"/>
              </a:rPr>
              <a:t>，主要关注一些非功能性的需求，</a:t>
            </a:r>
            <a:endParaRPr lang="en-US" altLang="zh-CN" sz="1200" dirty="0">
              <a:ea typeface="仿宋_GB2312" pitchFamily="49" charset="-122"/>
            </a:endParaRPr>
          </a:p>
          <a:p>
            <a:r>
              <a:rPr lang="zh-CN" altLang="en-US" sz="1200" dirty="0">
                <a:latin typeface="仿宋_GB2312" pitchFamily="49" charset="-122"/>
                <a:ea typeface="仿宋_GB2312" pitchFamily="49" charset="-122"/>
              </a:rPr>
              <a:t>物理视图主要考虑如何把软件映射到硬件上，</a:t>
            </a:r>
            <a:r>
              <a:rPr lang="zh-CN" altLang="en-US" sz="1200" b="1" dirty="0">
                <a:latin typeface="仿宋_GB2312" pitchFamily="49" charset="-122"/>
                <a:ea typeface="仿宋_GB2312" pitchFamily="49" charset="-122"/>
              </a:rPr>
              <a:t>解决系统拓扑结构、系统安装、通信等问题</a:t>
            </a:r>
            <a:r>
              <a:rPr lang="zh-CN" altLang="en-US" sz="1200" dirty="0">
                <a:latin typeface="仿宋_GB2312" pitchFamily="49" charset="-122"/>
                <a:ea typeface="仿宋_GB2312" pitchFamily="49" charset="-122"/>
              </a:rPr>
              <a:t>。</a:t>
            </a:r>
            <a:endParaRPr lang="en-US" altLang="zh-CN" sz="1200" dirty="0">
              <a:latin typeface="仿宋_GB2312" pitchFamily="49" charset="-122"/>
              <a:ea typeface="仿宋_GB2312" pitchFamily="49" charset="-122"/>
            </a:endParaRPr>
          </a:p>
          <a:p>
            <a:r>
              <a:rPr lang="zh-CN" altLang="en-US" sz="1200" dirty="0">
                <a:ea typeface="仿宋_GB2312" pitchFamily="49" charset="-122"/>
              </a:rPr>
              <a:t>场景视图可以看做重要系统活动的抽象，是其他</a:t>
            </a:r>
            <a:r>
              <a:rPr lang="en-US" altLang="zh-CN" sz="1200" dirty="0">
                <a:ea typeface="仿宋_GB2312" pitchFamily="49" charset="-122"/>
              </a:rPr>
              <a:t>4</a:t>
            </a:r>
            <a:r>
              <a:rPr lang="zh-CN" altLang="en-US" sz="1200" dirty="0">
                <a:ea typeface="仿宋_GB2312" pitchFamily="49" charset="-122"/>
              </a:rPr>
              <a:t>个视图有机联系起来</a:t>
            </a:r>
            <a:endParaRPr lang="zh-CN" altLang="en-US" dirty="0"/>
          </a:p>
        </p:txBody>
      </p:sp>
      <p:sp>
        <p:nvSpPr>
          <p:cNvPr id="4" name="灯片编号占位符 3"/>
          <p:cNvSpPr>
            <a:spLocks noGrp="1"/>
          </p:cNvSpPr>
          <p:nvPr>
            <p:ph type="sldNum" sz="quarter" idx="10"/>
          </p:nvPr>
        </p:nvSpPr>
        <p:spPr/>
        <p:txBody>
          <a:bodyPr/>
          <a:lstStyle/>
          <a:p>
            <a:fld id="{5B83A940-67E2-4B26-B059-ED1CCE50982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3ED9C8B5-EB7B-4FEA-A332-D0CBA283E2A8}"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047B18A9-A7B2-436D-9715-F121338552C2}"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62C3491F-691D-4575-8AC2-E0C55FF2B629}"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DCB17B38-C1D1-4670-BCF1-30296FC5A89E}"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21A839C6-3BAA-4C66-A727-DADE2FFBFEAE}"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891376F0-8DE9-461D-A699-EFDDCD9598EB}"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A6C0D6E0-2CD9-4560-87CB-5532435AD155}"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4ECB97C2-3E47-4CBF-90A1-5340A09C16FC}"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B8C7D90-FD96-409B-BD93-F501CD3C9185}"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CB173229-7D95-46F8-A9A3-6A7FA4ABD241}"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DE73D4E1-2CB8-41AE-807E-2DB423F18134}"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CB173229-7D95-46F8-A9A3-6A7FA4ABD241}"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DE73D4E1-2CB8-41AE-807E-2DB423F18134}"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CB173229-7D95-46F8-A9A3-6A7FA4ABD241}" type="slidenum">
              <a:rPr lang="en-US" altLang="zh-CN" smtClean="0"/>
            </a:fld>
            <a:endParaRPr lang="en-US" altLang="zh-CN"/>
          </a:p>
        </p:txBody>
      </p:sp>
      <p:pic>
        <p:nvPicPr>
          <p:cNvPr id="1030" name="Picture 2" descr="未标题-2 - 副本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520662"/>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a:ea typeface="黑体" panose="02010609060101010101" pitchFamily="49" charset="-122"/>
              </a:rPr>
              <a:t>14</a:t>
            </a:r>
            <a:r>
              <a:rPr lang="zh-CN" altLang="en-US" sz="4000">
                <a:ea typeface="黑体" panose="02010609060101010101" pitchFamily="49" charset="-122"/>
              </a:rPr>
              <a:t>章 </a:t>
            </a:r>
            <a:r>
              <a:rPr lang="zh-CN" altLang="en-US" sz="4000" dirty="0">
                <a:latin typeface="黑体" panose="02010609060101010101" pitchFamily="49" charset="-122"/>
                <a:ea typeface="黑体" panose="02010609060101010101" pitchFamily="49" charset="-122"/>
              </a:rPr>
              <a:t>体系结构的设计实现</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b="1" dirty="0">
                <a:latin typeface="Times New Roman" panose="02020603050405020304" pitchFamily="18" charset="0"/>
              </a:rPr>
              <a:t>软件体系结构设计和实现</a:t>
            </a:r>
            <a:endParaRPr lang="zh-CN" altLang="en-US" dirty="0"/>
          </a:p>
        </p:txBody>
      </p:sp>
      <p:sp>
        <p:nvSpPr>
          <p:cNvPr id="3" name="内容占位符 2"/>
          <p:cNvSpPr>
            <a:spLocks noGrp="1"/>
          </p:cNvSpPr>
          <p:nvPr>
            <p:ph idx="1"/>
          </p:nvPr>
        </p:nvSpPr>
        <p:spPr>
          <a:xfrm>
            <a:off x="1071538" y="1357298"/>
            <a:ext cx="7862150" cy="4891102"/>
          </a:xfrm>
        </p:spPr>
        <p:txBody>
          <a:bodyPr>
            <a:normAutofit/>
          </a:bodyPr>
          <a:lstStyle/>
          <a:p>
            <a:r>
              <a:rPr lang="zh-CN" altLang="en-US" dirty="0"/>
              <a:t>软件体系结构是软件系统质量的核心</a:t>
            </a:r>
            <a:endParaRPr lang="en-US" altLang="zh-CN" dirty="0"/>
          </a:p>
          <a:p>
            <a:r>
              <a:rPr lang="zh-CN" altLang="en-US" dirty="0"/>
              <a:t>成功的软件体系结构应具有以下品质</a:t>
            </a:r>
            <a:endParaRPr lang="en-US" altLang="zh-CN" dirty="0"/>
          </a:p>
          <a:p>
            <a:pPr lvl="1"/>
            <a:r>
              <a:rPr lang="zh-CN" altLang="en-US" dirty="0"/>
              <a:t>（</a:t>
            </a:r>
            <a:r>
              <a:rPr lang="en-US" dirty="0"/>
              <a:t>1</a:t>
            </a:r>
            <a:r>
              <a:rPr lang="zh-CN" altLang="en-US" dirty="0"/>
              <a:t>）良好的模块化</a:t>
            </a:r>
            <a:endParaRPr lang="en-US" altLang="zh-CN" dirty="0"/>
          </a:p>
          <a:p>
            <a:pPr lvl="1"/>
            <a:r>
              <a:rPr lang="zh-CN" altLang="en-US" dirty="0"/>
              <a:t>（</a:t>
            </a:r>
            <a:r>
              <a:rPr lang="en-US" dirty="0"/>
              <a:t>2</a:t>
            </a:r>
            <a:r>
              <a:rPr lang="zh-CN" altLang="en-US" dirty="0"/>
              <a:t>）适应功能需求的变化，适应技术的变化</a:t>
            </a:r>
            <a:endParaRPr lang="en-US" altLang="zh-CN" dirty="0"/>
          </a:p>
          <a:p>
            <a:pPr lvl="1"/>
            <a:r>
              <a:rPr lang="zh-CN" altLang="en-US" dirty="0"/>
              <a:t>（</a:t>
            </a:r>
            <a:r>
              <a:rPr lang="en-US" dirty="0"/>
              <a:t>3</a:t>
            </a:r>
            <a:r>
              <a:rPr lang="zh-CN" altLang="en-US" dirty="0"/>
              <a:t>）对系统的动态运行有良好的规划</a:t>
            </a:r>
            <a:endParaRPr lang="en-US" altLang="zh-CN" dirty="0"/>
          </a:p>
          <a:p>
            <a:pPr lvl="1"/>
            <a:r>
              <a:rPr lang="zh-CN" altLang="en-US" dirty="0"/>
              <a:t>（</a:t>
            </a:r>
            <a:r>
              <a:rPr lang="en-US" dirty="0"/>
              <a:t>4</a:t>
            </a:r>
            <a:r>
              <a:rPr lang="zh-CN" altLang="en-US" dirty="0"/>
              <a:t>）对数据的良好规划</a:t>
            </a:r>
            <a:endParaRPr lang="en-US" altLang="zh-CN" dirty="0"/>
          </a:p>
          <a:p>
            <a:pPr lvl="1"/>
            <a:r>
              <a:rPr lang="zh-CN" altLang="en-US" dirty="0"/>
              <a:t>（</a:t>
            </a:r>
            <a:r>
              <a:rPr lang="en-US" dirty="0"/>
              <a:t>5</a:t>
            </a:r>
            <a:r>
              <a:rPr lang="zh-CN" altLang="en-US" dirty="0"/>
              <a:t>）明确、灵活的部署规划</a:t>
            </a:r>
            <a:endParaRPr lang="zh-CN" altLang="en-US" dirty="0"/>
          </a:p>
        </p:txBody>
      </p:sp>
      <p:sp>
        <p:nvSpPr>
          <p:cNvPr id="4" name="灯片编号占位符 3"/>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1027"/>
          <p:cNvSpPr>
            <a:spLocks noGrp="1" noChangeArrowheads="1"/>
          </p:cNvSpPr>
          <p:nvPr>
            <p:ph type="body" idx="1"/>
          </p:nvPr>
        </p:nvSpPr>
        <p:spPr>
          <a:xfrm>
            <a:off x="1000100" y="1785926"/>
            <a:ext cx="7772400" cy="4114800"/>
          </a:xfrm>
          <a:noFill/>
        </p:spPr>
        <p:txBody>
          <a:bodyPr/>
          <a:lstStyle/>
          <a:p>
            <a:pPr eaLnBrk="1" hangingPunct="1">
              <a:buFont typeface="Wingdings" panose="05000000000000000000" pitchFamily="2" charset="2"/>
              <a:buNone/>
            </a:pPr>
            <a:r>
              <a:rPr lang="zh-CN" altLang="en-US" sz="2800" b="1" dirty="0">
                <a:latin typeface="仿宋_GB2312" pitchFamily="49" charset="-122"/>
                <a:ea typeface="仿宋_GB2312" pitchFamily="49" charset="-122"/>
              </a:rPr>
              <a:t>从需求分析到体系结构设计</a:t>
            </a:r>
            <a:endParaRPr lang="zh-CN" altLang="en-US" sz="28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2800" b="1" dirty="0">
                <a:latin typeface="仿宋_GB2312" pitchFamily="49" charset="-122"/>
                <a:ea typeface="仿宋_GB2312" pitchFamily="49" charset="-122"/>
              </a:rPr>
              <a:t>从软件体系结构到详细设计</a:t>
            </a:r>
            <a:endParaRPr lang="zh-CN" altLang="en-US" sz="28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2800" b="1" dirty="0">
                <a:latin typeface="仿宋_GB2312" pitchFamily="49" charset="-122"/>
                <a:ea typeface="仿宋_GB2312" pitchFamily="49" charset="-122"/>
              </a:rPr>
              <a:t>体系结构设计原则</a:t>
            </a:r>
            <a:endParaRPr lang="zh-CN" altLang="en-US" sz="28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2800" b="1" dirty="0">
                <a:latin typeface="仿宋_GB2312" pitchFamily="49" charset="-122"/>
                <a:ea typeface="仿宋_GB2312" pitchFamily="49" charset="-122"/>
              </a:rPr>
              <a:t>软件体系结构设计面临的主要威胁及其对策</a:t>
            </a:r>
            <a:endParaRPr lang="zh-CN" altLang="en-US" sz="2800" b="1" dirty="0">
              <a:latin typeface="仿宋_GB2312" pitchFamily="49" charset="-122"/>
              <a:ea typeface="仿宋_GB2312" pitchFamily="49" charset="-122"/>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标题 1"/>
          <p:cNvSpPr>
            <a:spLocks noGrp="1"/>
          </p:cNvSpPr>
          <p:nvPr>
            <p:ph type="title"/>
          </p:nvPr>
        </p:nvSpPr>
        <p:spPr>
          <a:xfrm>
            <a:off x="467544" y="116632"/>
            <a:ext cx="7498080" cy="1143000"/>
          </a:xfrm>
        </p:spPr>
        <p:txBody>
          <a:bodyPr>
            <a:normAutofit/>
          </a:bodyPr>
          <a:lstStyle/>
          <a:p>
            <a:r>
              <a:rPr lang="zh-CN" altLang="en-US" sz="4000" dirty="0">
                <a:effectLst/>
                <a:latin typeface="Times New Roman" panose="02020603050405020304" pitchFamily="18" charset="0"/>
              </a:rPr>
              <a:t>软件体系结构设计和实现</a:t>
            </a:r>
            <a:endParaRPr lang="zh-CN" altLang="en-US" dirty="0">
              <a:effectLst/>
            </a:endParaRP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4"/>
          <p:cNvSpPr>
            <a:spLocks noChangeArrowheads="1"/>
          </p:cNvSpPr>
          <p:nvPr/>
        </p:nvSpPr>
        <p:spPr bwMode="auto">
          <a:xfrm>
            <a:off x="323528" y="266700"/>
            <a:ext cx="7772400" cy="685800"/>
          </a:xfrm>
          <a:prstGeom prst="rect">
            <a:avLst/>
          </a:prstGeom>
          <a:noFill/>
          <a:ln w="9525">
            <a:noFill/>
            <a:miter lim="800000"/>
          </a:ln>
        </p:spPr>
        <p:txBody>
          <a:bodyPr/>
          <a:lstStyle/>
          <a:p>
            <a:pPr>
              <a:spcBef>
                <a:spcPct val="0"/>
              </a:spcBef>
            </a:pP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从需求分析到体系结构设计（</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1</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内容占位符 4"/>
          <p:cNvSpPr>
            <a:spLocks noGrp="1"/>
          </p:cNvSpPr>
          <p:nvPr>
            <p:ph idx="1"/>
          </p:nvPr>
        </p:nvSpPr>
        <p:spPr>
          <a:xfrm>
            <a:off x="539552" y="1393558"/>
            <a:ext cx="7790712" cy="5176854"/>
          </a:xfrm>
        </p:spPr>
        <p:txBody>
          <a:bodyPr>
            <a:normAutofit/>
          </a:bodyPr>
          <a:lstStyle/>
          <a:p>
            <a:r>
              <a:rPr lang="zh-CN" altLang="en-US" dirty="0"/>
              <a:t>需求分析和软件体系结构设计是软件全生命周期中两个关键活动。</a:t>
            </a:r>
            <a:endParaRPr lang="en-US" altLang="zh-CN" dirty="0"/>
          </a:p>
          <a:p>
            <a:r>
              <a:rPr lang="zh-CN" altLang="en-US" dirty="0"/>
              <a:t>需求分析主要考虑问题域和系统责任，其目的是得到一个正确、一致并且无二义的需求规约，作为后续开发、验证及系统演化的基础。</a:t>
            </a:r>
            <a:endParaRPr lang="en-US" altLang="zh-CN" dirty="0"/>
          </a:p>
          <a:p>
            <a:r>
              <a:rPr lang="zh-CN" altLang="en-US" dirty="0"/>
              <a:t>软件体系结构设计是一个体系结构的定义、文档编写、维护、改进和验证正确实现的活动。它的目的是将系统的高层结构显式地表达出来，在较高的抽象层次上为后续的开发活动提供</a:t>
            </a:r>
            <a:r>
              <a:rPr lang="en-US" dirty="0"/>
              <a:t>“</a:t>
            </a:r>
            <a:r>
              <a:rPr lang="zh-CN" altLang="en-US" dirty="0"/>
              <a:t>蓝图</a:t>
            </a:r>
            <a:r>
              <a:rPr lang="en-US" dirty="0"/>
              <a:t>”</a:t>
            </a:r>
            <a:r>
              <a:rPr lang="zh-CN" altLang="en-US" dirty="0"/>
              <a:t>。</a:t>
            </a:r>
            <a:endParaRPr lang="zh-CN" altLang="en-US" dirty="0"/>
          </a:p>
        </p:txBody>
      </p:sp>
    </p:spTree>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4"/>
          <p:cNvSpPr>
            <a:spLocks noChangeArrowheads="1"/>
          </p:cNvSpPr>
          <p:nvPr/>
        </p:nvSpPr>
        <p:spPr bwMode="auto">
          <a:xfrm>
            <a:off x="467544" y="260648"/>
            <a:ext cx="7772400" cy="685800"/>
          </a:xfrm>
          <a:prstGeom prst="rect">
            <a:avLst/>
          </a:prstGeom>
          <a:noFill/>
          <a:ln w="9525">
            <a:noFill/>
            <a:miter lim="800000"/>
          </a:ln>
        </p:spPr>
        <p:txBody>
          <a:bodyPr/>
          <a:lstStyle/>
          <a:p>
            <a:pPr>
              <a:spcBef>
                <a:spcPct val="0"/>
              </a:spcBef>
            </a:pP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从需求分析到体系结构设计（</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2</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内容占位符 4"/>
          <p:cNvSpPr>
            <a:spLocks noGrp="1"/>
          </p:cNvSpPr>
          <p:nvPr>
            <p:ph idx="1"/>
          </p:nvPr>
        </p:nvSpPr>
        <p:spPr>
          <a:xfrm>
            <a:off x="539552" y="1538294"/>
            <a:ext cx="7790712" cy="5176854"/>
          </a:xfrm>
        </p:spPr>
        <p:txBody>
          <a:bodyPr>
            <a:normAutofit/>
          </a:bodyPr>
          <a:lstStyle/>
          <a:p>
            <a:r>
              <a:rPr lang="zh-CN" altLang="en-US" dirty="0"/>
              <a:t>需求到软件体系结构的映射是一个既复杂又细致的工作，对相同的需求采用不同的映射机制会得到不同风格的体系结构。</a:t>
            </a:r>
            <a:endParaRPr lang="en-US" altLang="zh-CN" dirty="0"/>
          </a:p>
          <a:p>
            <a:r>
              <a:rPr lang="en-US" dirty="0"/>
              <a:t>Paul </a:t>
            </a:r>
            <a:r>
              <a:rPr lang="en-US" dirty="0" err="1"/>
              <a:t>Grunbacher</a:t>
            </a:r>
            <a:r>
              <a:rPr lang="zh-CN" altLang="en-US" dirty="0"/>
              <a:t>认为有下面两个概念能够有效指导如何从需求向体系结构进行映射</a:t>
            </a:r>
            <a:endParaRPr lang="en-US" altLang="zh-CN" dirty="0"/>
          </a:p>
          <a:p>
            <a:pPr lvl="1"/>
            <a:r>
              <a:rPr lang="zh-CN" altLang="en-US" dirty="0"/>
              <a:t>（</a:t>
            </a:r>
            <a:r>
              <a:rPr lang="en-US" dirty="0"/>
              <a:t>1</a:t>
            </a:r>
            <a:r>
              <a:rPr lang="zh-CN" altLang="en-US" dirty="0"/>
              <a:t>）体系结构风格（</a:t>
            </a:r>
            <a:r>
              <a:rPr lang="en-US" dirty="0"/>
              <a:t>architecture style</a:t>
            </a:r>
            <a:r>
              <a:rPr lang="zh-CN" altLang="en-US" dirty="0"/>
              <a:t>）：它可以捕获结构、行为和交互模式等；</a:t>
            </a:r>
            <a:endParaRPr lang="en-US" altLang="zh-CN" dirty="0"/>
          </a:p>
          <a:p>
            <a:pPr lvl="1"/>
            <a:r>
              <a:rPr lang="zh-CN" altLang="en-US" dirty="0"/>
              <a:t>（</a:t>
            </a:r>
            <a:r>
              <a:rPr lang="en-US" dirty="0"/>
              <a:t>2</a:t>
            </a:r>
            <a:r>
              <a:rPr lang="zh-CN" altLang="en-US" dirty="0"/>
              <a:t>）特定领域的软件体系结构（</a:t>
            </a:r>
            <a:r>
              <a:rPr lang="en-US" dirty="0"/>
              <a:t>DSSA, domain-specific software architecture</a:t>
            </a:r>
            <a:r>
              <a:rPr lang="zh-CN" altLang="en-US" dirty="0"/>
              <a:t>）：关联模型和它的应用领域。</a:t>
            </a:r>
            <a:endParaRPr lang="zh-CN" altLang="en-US" dirty="0"/>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4"/>
          <p:cNvSpPr>
            <a:spLocks noChangeArrowheads="1"/>
          </p:cNvSpPr>
          <p:nvPr/>
        </p:nvSpPr>
        <p:spPr bwMode="auto">
          <a:xfrm>
            <a:off x="539552" y="188640"/>
            <a:ext cx="7772400" cy="685800"/>
          </a:xfrm>
          <a:prstGeom prst="rect">
            <a:avLst/>
          </a:prstGeom>
          <a:noFill/>
          <a:ln w="9525">
            <a:noFill/>
            <a:miter lim="800000"/>
          </a:ln>
        </p:spPr>
        <p:txBody>
          <a:bodyPr/>
          <a:lstStyle/>
          <a:p>
            <a:pPr>
              <a:spcBef>
                <a:spcPct val="0"/>
              </a:spcBef>
            </a:pP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从需求分析到体系结构设计（</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3</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内容占位符 4"/>
          <p:cNvSpPr>
            <a:spLocks noGrp="1"/>
          </p:cNvSpPr>
          <p:nvPr>
            <p:ph idx="1"/>
          </p:nvPr>
        </p:nvSpPr>
        <p:spPr>
          <a:xfrm>
            <a:off x="755576" y="1628800"/>
            <a:ext cx="7790712" cy="5176854"/>
          </a:xfrm>
        </p:spPr>
        <p:txBody>
          <a:bodyPr>
            <a:normAutofit/>
          </a:bodyPr>
          <a:lstStyle/>
          <a:p>
            <a:r>
              <a:rPr lang="zh-CN" altLang="en-US" dirty="0"/>
              <a:t>在从用户需求获取软件体系结构的过程中，有两件事情必须要做的：</a:t>
            </a:r>
            <a:endParaRPr lang="en-US" altLang="zh-CN" dirty="0"/>
          </a:p>
          <a:p>
            <a:r>
              <a:rPr lang="zh-CN" altLang="en-US" dirty="0"/>
              <a:t>（</a:t>
            </a:r>
            <a:r>
              <a:rPr lang="en-US" dirty="0"/>
              <a:t>1</a:t>
            </a:r>
            <a:r>
              <a:rPr lang="zh-CN" altLang="en-US" dirty="0"/>
              <a:t>）探索如何用软件体系结构的概念和描述手段在较高抽象层次上刻画问题空间（用户需求）的软件需求，获得软件需求规约说明书；</a:t>
            </a:r>
            <a:endParaRPr lang="en-US" altLang="zh-CN" dirty="0"/>
          </a:p>
          <a:p>
            <a:r>
              <a:rPr lang="zh-CN" altLang="en-US" dirty="0"/>
              <a:t>（</a:t>
            </a:r>
            <a:r>
              <a:rPr lang="en-US" dirty="0"/>
              <a:t>2</a:t>
            </a:r>
            <a:r>
              <a:rPr lang="zh-CN" altLang="en-US" dirty="0"/>
              <a:t>）探讨如何从软件需求规约说明书自动或半自动地变换到软件体系结构设计。</a:t>
            </a:r>
            <a:endParaRPr lang="zh-CN" altLang="en-US" dirty="0"/>
          </a:p>
        </p:txBody>
      </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4"/>
          <p:cNvSpPr>
            <a:spLocks noChangeArrowheads="1"/>
          </p:cNvSpPr>
          <p:nvPr/>
        </p:nvSpPr>
        <p:spPr bwMode="auto">
          <a:xfrm>
            <a:off x="395536" y="260648"/>
            <a:ext cx="7772400" cy="685800"/>
          </a:xfrm>
          <a:prstGeom prst="rect">
            <a:avLst/>
          </a:prstGeom>
          <a:noFill/>
          <a:ln w="9525">
            <a:noFill/>
            <a:miter lim="800000"/>
          </a:ln>
        </p:spPr>
        <p:txBody>
          <a:bodyPr/>
          <a:lstStyle/>
          <a:p>
            <a:pPr>
              <a:spcBef>
                <a:spcPct val="0"/>
              </a:spcBef>
            </a:pP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软件体系结构对需求的影响（</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1</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en-US" altLang="zh-CN" sz="3900" dirty="0">
              <a:solidFill>
                <a:schemeClr val="bg1"/>
              </a:solidFill>
              <a:effectLst>
                <a:outerShdw blurRad="50000" dist="30000" dir="5400000" algn="tl" rotWithShape="0">
                  <a:srgbClr val="000000">
                    <a:alpha val="30000"/>
                  </a:srgbClr>
                </a:outerShdw>
              </a:effectLst>
              <a:latin typeface="+mj-lt"/>
              <a:ea typeface="+mj-ea"/>
              <a:cs typeface="+mj-cs"/>
            </a:endParaRPr>
          </a:p>
          <a:p>
            <a:pPr>
              <a:spcBef>
                <a:spcPct val="0"/>
              </a:spcBef>
            </a:pP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内容占位符 4"/>
          <p:cNvSpPr>
            <a:spLocks noGrp="1"/>
          </p:cNvSpPr>
          <p:nvPr>
            <p:ph idx="1"/>
          </p:nvPr>
        </p:nvSpPr>
        <p:spPr>
          <a:xfrm>
            <a:off x="467544" y="1628800"/>
            <a:ext cx="7790712" cy="5176854"/>
          </a:xfrm>
        </p:spPr>
        <p:txBody>
          <a:bodyPr>
            <a:normAutofit/>
          </a:bodyPr>
          <a:lstStyle/>
          <a:p>
            <a:r>
              <a:rPr lang="zh-CN" altLang="en-US" dirty="0"/>
              <a:t>用传统的方法产生需求规约，不考虑软件体系结构概念和原则，则在软件体系结构设计阶段建立需求规约与体系结构的映射将相对困难。</a:t>
            </a:r>
            <a:endParaRPr lang="en-US" altLang="zh-CN" dirty="0"/>
          </a:p>
          <a:p>
            <a:r>
              <a:rPr lang="zh-CN" altLang="en-US" dirty="0"/>
              <a:t>若把体系结构概念引入需求分析阶段，有助于保证需求规约、系统设计之间的可追踪性和一致性，有效保持软件质量。</a:t>
            </a:r>
            <a:endParaRPr lang="en-US" altLang="zh-CN" dirty="0"/>
          </a:p>
          <a:p>
            <a:r>
              <a:rPr lang="zh-CN" altLang="en-US" dirty="0"/>
              <a:t>将软件体系结构概念和原则引入需求分析，也可以让我们获得更有结构性和可重用的需求规约。</a:t>
            </a:r>
            <a:endParaRPr lang="zh-CN" altLang="en-US" dirty="0"/>
          </a:p>
        </p:txBody>
      </p:sp>
    </p:spTree>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Rectangle 4"/>
          <p:cNvSpPr>
            <a:spLocks noChangeArrowheads="1"/>
          </p:cNvSpPr>
          <p:nvPr/>
        </p:nvSpPr>
        <p:spPr bwMode="auto">
          <a:xfrm>
            <a:off x="350699" y="260648"/>
            <a:ext cx="7772400" cy="685800"/>
          </a:xfrm>
          <a:prstGeom prst="rect">
            <a:avLst/>
          </a:prstGeom>
          <a:noFill/>
          <a:ln w="9525">
            <a:noFill/>
            <a:miter lim="800000"/>
          </a:ln>
        </p:spPr>
        <p:txBody>
          <a:bodyPr/>
          <a:lstStyle/>
          <a:p>
            <a:pPr>
              <a:spcBef>
                <a:spcPct val="0"/>
              </a:spcBef>
            </a:pP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软件体系结构对需求的影响（</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2</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en-US" altLang="zh-CN" sz="3900" dirty="0">
              <a:solidFill>
                <a:schemeClr val="bg1"/>
              </a:solidFill>
              <a:effectLst>
                <a:outerShdw blurRad="50000" dist="30000" dir="5400000" algn="tl" rotWithShape="0">
                  <a:srgbClr val="000000">
                    <a:alpha val="30000"/>
                  </a:srgbClr>
                </a:outerShdw>
              </a:effectLst>
              <a:latin typeface="+mj-lt"/>
              <a:ea typeface="+mj-ea"/>
              <a:cs typeface="+mj-cs"/>
            </a:endParaRPr>
          </a:p>
          <a:p>
            <a:pPr>
              <a:spcBef>
                <a:spcPct val="0"/>
              </a:spcBef>
            </a:pP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
        <p:nvSpPr>
          <p:cNvPr id="5" name="内容占位符 4"/>
          <p:cNvSpPr>
            <a:spLocks noGrp="1"/>
          </p:cNvSpPr>
          <p:nvPr>
            <p:ph idx="1"/>
          </p:nvPr>
        </p:nvSpPr>
        <p:spPr>
          <a:xfrm>
            <a:off x="323528" y="1285836"/>
            <a:ext cx="8359580" cy="5572164"/>
          </a:xfrm>
        </p:spPr>
        <p:txBody>
          <a:bodyPr>
            <a:normAutofit/>
          </a:bodyPr>
          <a:lstStyle/>
          <a:p>
            <a:r>
              <a:rPr lang="zh-CN" altLang="en-US" dirty="0"/>
              <a:t>梅宏等提出的一种面向软件体系结构的需求工程方法步骤</a:t>
            </a:r>
            <a:endParaRPr lang="en-US" altLang="zh-CN" dirty="0"/>
          </a:p>
          <a:p>
            <a:pPr lvl="1"/>
            <a:r>
              <a:rPr lang="zh-CN" altLang="en-US" dirty="0"/>
              <a:t>（</a:t>
            </a:r>
            <a:r>
              <a:rPr lang="en-US" dirty="0"/>
              <a:t>1</a:t>
            </a:r>
            <a:r>
              <a:rPr lang="zh-CN" altLang="en-US" dirty="0"/>
              <a:t>）确定问题空间范围。</a:t>
            </a:r>
            <a:endParaRPr lang="en-US" altLang="zh-CN" dirty="0"/>
          </a:p>
          <a:p>
            <a:pPr lvl="1"/>
            <a:r>
              <a:rPr lang="zh-CN" altLang="en-US" dirty="0"/>
              <a:t>（</a:t>
            </a:r>
            <a:r>
              <a:rPr lang="en-US" dirty="0"/>
              <a:t>2</a:t>
            </a:r>
            <a:r>
              <a:rPr lang="zh-CN" altLang="en-US" dirty="0"/>
              <a:t>）确定系统用户及他们的职责。</a:t>
            </a:r>
            <a:endParaRPr lang="en-US" altLang="zh-CN" dirty="0"/>
          </a:p>
          <a:p>
            <a:pPr lvl="1"/>
            <a:r>
              <a:rPr lang="zh-CN" altLang="en-US" dirty="0"/>
              <a:t>（</a:t>
            </a:r>
            <a:r>
              <a:rPr lang="en-US" dirty="0"/>
              <a:t>3</a:t>
            </a:r>
            <a:r>
              <a:rPr lang="zh-CN" altLang="en-US" dirty="0"/>
              <a:t>）从用户角度探索整体外部行为，产生系统的顶层模型；</a:t>
            </a:r>
            <a:endParaRPr lang="en-US" altLang="zh-CN" dirty="0"/>
          </a:p>
          <a:p>
            <a:pPr lvl="1"/>
            <a:r>
              <a:rPr lang="zh-CN" altLang="en-US" dirty="0"/>
              <a:t>（</a:t>
            </a:r>
            <a:r>
              <a:rPr lang="en-US" dirty="0"/>
              <a:t>4</a:t>
            </a:r>
            <a:r>
              <a:rPr lang="zh-CN" altLang="en-US" dirty="0"/>
              <a:t>）确定组件和连接件</a:t>
            </a:r>
            <a:r>
              <a:rPr lang="en-US" dirty="0"/>
              <a:t> </a:t>
            </a:r>
            <a:r>
              <a:rPr lang="zh-CN" altLang="en-US" dirty="0"/>
              <a:t>。</a:t>
            </a:r>
            <a:endParaRPr lang="en-US" altLang="zh-CN" dirty="0"/>
          </a:p>
          <a:p>
            <a:pPr lvl="1"/>
            <a:r>
              <a:rPr lang="zh-CN" altLang="en-US" dirty="0"/>
              <a:t>（</a:t>
            </a:r>
            <a:r>
              <a:rPr lang="en-US" dirty="0"/>
              <a:t>5</a:t>
            </a:r>
            <a:r>
              <a:rPr lang="zh-CN" altLang="en-US" dirty="0"/>
              <a:t>）规约组件和连接件。</a:t>
            </a:r>
            <a:endParaRPr lang="en-US" altLang="zh-CN" dirty="0"/>
          </a:p>
          <a:p>
            <a:pPr lvl="1"/>
            <a:r>
              <a:rPr lang="zh-CN" altLang="en-US" dirty="0"/>
              <a:t>（</a:t>
            </a:r>
            <a:r>
              <a:rPr lang="en-US" dirty="0"/>
              <a:t>6</a:t>
            </a:r>
            <a:r>
              <a:rPr lang="zh-CN" altLang="en-US" dirty="0"/>
              <a:t>）建立面向软件体系结构的高层需求规约。所得到的需求规约包括组件的需求规约、连接件的需求规约及约束需求规约等。</a:t>
            </a:r>
            <a:endParaRPr lang="en-US" altLang="zh-CN" dirty="0"/>
          </a:p>
          <a:p>
            <a:pPr lvl="1"/>
            <a:r>
              <a:rPr lang="zh-CN" altLang="en-US" dirty="0"/>
              <a:t>（</a:t>
            </a:r>
            <a:r>
              <a:rPr lang="en-US" dirty="0"/>
              <a:t>7</a:t>
            </a:r>
            <a:r>
              <a:rPr lang="zh-CN" altLang="en-US" dirty="0"/>
              <a:t>）检查面向软件体系结构需求规约，包括完整性、一致性和死锁等。</a:t>
            </a:r>
            <a:endParaRPr lang="zh-CN" altLang="en-US" dirty="0"/>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4" y="44624"/>
            <a:ext cx="8429684" cy="1143000"/>
          </a:xfrm>
        </p:spPr>
        <p:txBody>
          <a:bodyPr>
            <a:normAutofit/>
          </a:bodyPr>
          <a:lstStyle/>
          <a:p>
            <a:r>
              <a:rPr lang="zh-CN" altLang="en-US" sz="3600" dirty="0">
                <a:latin typeface="+mj-ea"/>
              </a:rPr>
              <a:t>基于软件需求的软件体系结构设计（</a:t>
            </a:r>
            <a:r>
              <a:rPr lang="en-US" altLang="zh-CN" sz="3600" dirty="0">
                <a:latin typeface="+mj-ea"/>
              </a:rPr>
              <a:t>1</a:t>
            </a:r>
            <a:r>
              <a:rPr lang="zh-CN" altLang="en-US" sz="3600" dirty="0">
                <a:latin typeface="+mj-ea"/>
              </a:rPr>
              <a:t>）</a:t>
            </a:r>
            <a:r>
              <a:rPr lang="en-US" altLang="zh-CN" sz="3600" dirty="0">
                <a:latin typeface="+mj-ea"/>
              </a:rPr>
              <a:t>   </a:t>
            </a:r>
            <a:endParaRPr lang="zh-CN" altLang="en-US" sz="3600" dirty="0">
              <a:latin typeface="+mj-ea"/>
            </a:endParaRPr>
          </a:p>
        </p:txBody>
      </p:sp>
      <p:sp>
        <p:nvSpPr>
          <p:cNvPr id="3" name="内容占位符 2"/>
          <p:cNvSpPr>
            <a:spLocks noGrp="1"/>
          </p:cNvSpPr>
          <p:nvPr>
            <p:ph idx="1"/>
          </p:nvPr>
        </p:nvSpPr>
        <p:spPr>
          <a:xfrm>
            <a:off x="237483" y="1340768"/>
            <a:ext cx="8610160" cy="5857892"/>
          </a:xfrm>
        </p:spPr>
        <p:txBody>
          <a:bodyPr>
            <a:normAutofit/>
          </a:bodyPr>
          <a:lstStyle/>
          <a:p>
            <a:r>
              <a:rPr lang="zh-CN" altLang="en-US" dirty="0"/>
              <a:t>从软件需求到软件体系结构存在的难点</a:t>
            </a:r>
            <a:endParaRPr lang="en-US" altLang="zh-CN" dirty="0"/>
          </a:p>
          <a:p>
            <a:pPr lvl="1"/>
            <a:r>
              <a:rPr lang="zh-CN" altLang="en-US" dirty="0"/>
              <a:t>（</a:t>
            </a:r>
            <a:r>
              <a:rPr lang="en-US" dirty="0"/>
              <a:t>1</a:t>
            </a:r>
            <a:r>
              <a:rPr lang="zh-CN" altLang="en-US" dirty="0"/>
              <a:t>）软件需求是频繁获取的非正规的自然语言，而软件体系结构规约常常是一种正式的语言。</a:t>
            </a:r>
            <a:endParaRPr lang="en-US" altLang="zh-CN" dirty="0"/>
          </a:p>
          <a:p>
            <a:pPr lvl="1"/>
            <a:r>
              <a:rPr lang="zh-CN" altLang="en-US" dirty="0"/>
              <a:t>（</a:t>
            </a:r>
            <a:r>
              <a:rPr lang="en-US" dirty="0"/>
              <a:t>2</a:t>
            </a:r>
            <a:r>
              <a:rPr lang="zh-CN" altLang="en-US" dirty="0"/>
              <a:t>）系统属性中描述的非功能性需求通常很难在体系结构模型中形成规约。</a:t>
            </a:r>
            <a:endParaRPr lang="en-US" altLang="zh-CN" dirty="0"/>
          </a:p>
          <a:p>
            <a:pPr lvl="1"/>
            <a:r>
              <a:rPr lang="zh-CN" altLang="en-US" dirty="0"/>
              <a:t>（</a:t>
            </a:r>
            <a:r>
              <a:rPr lang="en-US" dirty="0"/>
              <a:t>3</a:t>
            </a:r>
            <a:r>
              <a:rPr lang="zh-CN" altLang="en-US" dirty="0"/>
              <a:t>）需要以迭代和同步演化的方式进行软件需求理解和软件体系结构开发。</a:t>
            </a:r>
            <a:endParaRPr lang="en-US" altLang="zh-CN" dirty="0"/>
          </a:p>
          <a:p>
            <a:pPr lvl="1"/>
            <a:r>
              <a:rPr lang="zh-CN" altLang="en-US" dirty="0"/>
              <a:t>（</a:t>
            </a:r>
            <a:r>
              <a:rPr lang="en-US" dirty="0"/>
              <a:t>4</a:t>
            </a:r>
            <a:r>
              <a:rPr lang="zh-CN" altLang="en-US" dirty="0"/>
              <a:t>）在从软件需求映射到软件体系结构的过程中，保持一致性和可追溯性很难，且复杂程度很高。</a:t>
            </a:r>
            <a:endParaRPr lang="en-US" altLang="zh-CN" dirty="0"/>
          </a:p>
          <a:p>
            <a:pPr lvl="1"/>
            <a:r>
              <a:rPr lang="zh-CN" altLang="en-US" dirty="0"/>
              <a:t>（</a:t>
            </a:r>
            <a:r>
              <a:rPr lang="en-US" dirty="0"/>
              <a:t>5</a:t>
            </a:r>
            <a:r>
              <a:rPr lang="zh-CN" altLang="en-US" dirty="0"/>
              <a:t>）大规模系统必须满足数以千计的需求，从而导致很难确定和细化包含这些需求的体系结构相关信息。</a:t>
            </a:r>
            <a:endParaRPr lang="en-US" altLang="zh-CN" dirty="0"/>
          </a:p>
          <a:p>
            <a:pPr lvl="1"/>
            <a:r>
              <a:rPr lang="zh-CN" altLang="en-US" dirty="0"/>
              <a:t>（</a:t>
            </a:r>
            <a:r>
              <a:rPr lang="en-US" dirty="0"/>
              <a:t>6</a:t>
            </a:r>
            <a:r>
              <a:rPr lang="zh-CN" altLang="en-US" dirty="0"/>
              <a:t>）软件需求和软件体系结构需要满足不同的利益相关者的需求，很难在这些不同利益中找正确的平衡点。</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3"/>
          <p:cNvSpPr>
            <a:spLocks noGrp="1" noChangeArrowheads="1"/>
          </p:cNvSpPr>
          <p:nvPr>
            <p:ph type="body" idx="1"/>
          </p:nvPr>
        </p:nvSpPr>
        <p:spPr>
          <a:xfrm>
            <a:off x="2465" y="1196752"/>
            <a:ext cx="9144000" cy="5500702"/>
          </a:xfrm>
          <a:noFill/>
        </p:spPr>
        <p:txBody>
          <a:bodyPr>
            <a:noAutofit/>
          </a:bodyPr>
          <a:lstStyle/>
          <a:p>
            <a:pPr marL="596900" indent="-514350">
              <a:lnSpc>
                <a:spcPct val="90000"/>
              </a:lnSpc>
            </a:pPr>
            <a:r>
              <a:rPr lang="zh-CN" altLang="en-US" sz="2800" b="1" dirty="0">
                <a:latin typeface="宋体" panose="02010600030101010101" pitchFamily="2" charset="-122"/>
                <a:ea typeface="宋体" panose="02010600030101010101" pitchFamily="2" charset="-122"/>
              </a:rPr>
              <a:t>把软件需求模型转换为软件体系结构模型的代表性方法</a:t>
            </a:r>
            <a:r>
              <a:rPr lang="zh-CN" altLang="en-US"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a:p>
            <a:pPr marL="596900" indent="-514350">
              <a:lnSpc>
                <a:spcPct val="90000"/>
              </a:lnSpc>
              <a:buNone/>
            </a:pPr>
            <a:r>
              <a:rPr lang="zh-CN" altLang="en-US" sz="28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a:t>
            </a:r>
            <a:r>
              <a:rPr lang="zh-CN" altLang="en-US" sz="2400" dirty="0"/>
              <a:t>面向目标和场景的软件体系结构设计方法</a:t>
            </a:r>
            <a:endParaRPr lang="en-US" altLang="zh-CN" sz="2400" dirty="0">
              <a:latin typeface="宋体" panose="02010600030101010101" pitchFamily="2" charset="-122"/>
              <a:ea typeface="宋体" panose="02010600030101010101" pitchFamily="2" charset="-122"/>
            </a:endParaRPr>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a:t>
            </a:r>
            <a:r>
              <a:rPr lang="zh-CN" altLang="en-US" sz="2400" dirty="0"/>
              <a:t>基于</a:t>
            </a:r>
            <a:r>
              <a:rPr lang="en-US" sz="2400" dirty="0"/>
              <a:t>APL</a:t>
            </a:r>
            <a:r>
              <a:rPr lang="zh-CN" altLang="en-US" sz="2400" dirty="0"/>
              <a:t>（ </a:t>
            </a:r>
            <a:r>
              <a:rPr lang="en-US" sz="2400" dirty="0"/>
              <a:t>architecture prescription language</a:t>
            </a:r>
            <a:r>
              <a:rPr lang="zh-CN" altLang="en-US" sz="2400" dirty="0"/>
              <a:t>）软件体系结构设计方法</a:t>
            </a:r>
            <a:endParaRPr lang="en-US" altLang="zh-CN" sz="2400" dirty="0"/>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a:t>
            </a:r>
            <a:r>
              <a:rPr lang="zh-CN" altLang="en-US" sz="2400" dirty="0"/>
              <a:t>基于规则的体系结构决策诱导框架的软件体系结构设计方法</a:t>
            </a:r>
            <a:endParaRPr lang="en-US" altLang="zh-CN" sz="2400" dirty="0"/>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a:t>
            </a:r>
            <a:r>
              <a:rPr lang="zh-CN" altLang="en-US" sz="2400" dirty="0"/>
              <a:t>基于全局分析的体系结构形成方法</a:t>
            </a:r>
            <a:endParaRPr lang="en-US" altLang="zh-CN" sz="2400" dirty="0"/>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5</a:t>
            </a:r>
            <a:r>
              <a:rPr lang="zh-CN" altLang="en-US" sz="2400" dirty="0">
                <a:latin typeface="宋体" panose="02010600030101010101" pitchFamily="2" charset="-122"/>
                <a:ea typeface="宋体" panose="02010600030101010101" pitchFamily="2" charset="-122"/>
              </a:rPr>
              <a:t>）</a:t>
            </a:r>
            <a:r>
              <a:rPr lang="zh-CN" altLang="en-US" sz="2400" dirty="0"/>
              <a:t>面向模式的体系结构形成方法</a:t>
            </a:r>
            <a:endParaRPr lang="en-US" altLang="zh-CN" sz="2400" dirty="0"/>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a:t>
            </a:r>
            <a:r>
              <a:rPr lang="zh-CN" altLang="en-US" sz="2400" dirty="0"/>
              <a:t>需求与体系结构协同演化方法</a:t>
            </a:r>
            <a:endParaRPr lang="en-US" altLang="zh-CN" sz="2400" dirty="0"/>
          </a:p>
          <a:p>
            <a:pPr marL="596900" indent="-514350">
              <a:lnSpc>
                <a:spcPct val="9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a:t>
            </a:r>
            <a:r>
              <a:rPr lang="zh-CN" altLang="en-US" sz="2400" dirty="0"/>
              <a:t>基于</a:t>
            </a:r>
            <a:r>
              <a:rPr lang="en-US" sz="2400" dirty="0"/>
              <a:t>CBSP</a:t>
            </a:r>
            <a:r>
              <a:rPr lang="zh-CN" altLang="en-US" sz="2400" dirty="0"/>
              <a:t>的体系结构形成方法</a:t>
            </a:r>
            <a:endParaRPr lang="en-US" altLang="zh-CN" sz="2400" dirty="0"/>
          </a:p>
          <a:p>
            <a:pPr marL="596900" indent="-514350">
              <a:lnSpc>
                <a:spcPct val="90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a:t>
            </a:r>
            <a:r>
              <a:rPr lang="zh-CN" altLang="en-US" sz="2400" dirty="0"/>
              <a:t>基于</a:t>
            </a:r>
            <a:r>
              <a:rPr lang="en-US" sz="2400" dirty="0" err="1"/>
              <a:t>WinWin</a:t>
            </a:r>
            <a:r>
              <a:rPr lang="zh-CN" altLang="en-US" sz="2400" dirty="0"/>
              <a:t>模型与</a:t>
            </a:r>
            <a:r>
              <a:rPr lang="en-US" sz="2400" dirty="0"/>
              <a:t>CBSP</a:t>
            </a:r>
            <a:r>
              <a:rPr lang="zh-CN" altLang="en-US" sz="2400" dirty="0"/>
              <a:t>结合的体系结构形成方法</a:t>
            </a:r>
            <a:endParaRPr lang="en-US" altLang="zh-CN" sz="2400" dirty="0"/>
          </a:p>
          <a:p>
            <a:pPr marL="596900" indent="-514350">
              <a:lnSpc>
                <a:spcPct val="90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9</a:t>
            </a:r>
            <a:r>
              <a:rPr lang="zh-CN" altLang="en-US" sz="2400" dirty="0">
                <a:latin typeface="宋体" panose="02010600030101010101" pitchFamily="2" charset="-122"/>
                <a:ea typeface="宋体" panose="02010600030101010101" pitchFamily="2" charset="-122"/>
              </a:rPr>
              <a:t>）</a:t>
            </a:r>
            <a:r>
              <a:rPr lang="zh-CN" altLang="en-US" sz="2400" dirty="0"/>
              <a:t>面向特征的映射和转换方法</a:t>
            </a:r>
            <a:endParaRPr lang="zh-CN" altLang="en-US" sz="2400" dirty="0">
              <a:latin typeface="宋体" panose="02010600030101010101" pitchFamily="2" charset="-122"/>
              <a:ea typeface="宋体" panose="02010600030101010101" pitchFamily="2" charset="-122"/>
            </a:endParaRPr>
          </a:p>
        </p:txBody>
      </p:sp>
      <p:sp>
        <p:nvSpPr>
          <p:cNvPr id="16390" name="Rectangle 4"/>
          <p:cNvSpPr>
            <a:spLocks noChangeArrowheads="1"/>
          </p:cNvSpPr>
          <p:nvPr/>
        </p:nvSpPr>
        <p:spPr bwMode="auto">
          <a:xfrm>
            <a:off x="323528" y="260648"/>
            <a:ext cx="8558218" cy="685800"/>
          </a:xfrm>
          <a:prstGeom prst="rect">
            <a:avLst/>
          </a:prstGeom>
          <a:noFill/>
          <a:ln w="9525">
            <a:noFill/>
            <a:miter lim="800000"/>
          </a:ln>
        </p:spPr>
        <p:txBody>
          <a:bodyPr/>
          <a:lstStyle/>
          <a:p>
            <a:pPr>
              <a:spcBef>
                <a:spcPct val="0"/>
              </a:spcBef>
            </a:pPr>
            <a:r>
              <a:rPr lang="zh-CN" altLang="en-US" sz="3600" dirty="0">
                <a:solidFill>
                  <a:schemeClr val="bg1"/>
                </a:solidFill>
                <a:effectLst>
                  <a:outerShdw blurRad="50000" dist="30000" dir="5400000" algn="tl" rotWithShape="0">
                    <a:srgbClr val="000000">
                      <a:alpha val="30000"/>
                    </a:srgbClr>
                  </a:outerShdw>
                </a:effectLst>
                <a:latin typeface="+mj-lt"/>
                <a:ea typeface="+mj-ea"/>
                <a:cs typeface="+mj-cs"/>
              </a:rPr>
              <a:t>基于软件需求的软件体系结构设计（</a:t>
            </a:r>
            <a:r>
              <a:rPr lang="en-US" altLang="zh-CN" sz="3600" dirty="0">
                <a:solidFill>
                  <a:schemeClr val="bg1"/>
                </a:solidFill>
                <a:effectLst>
                  <a:outerShdw blurRad="50000" dist="30000" dir="5400000" algn="tl" rotWithShape="0">
                    <a:srgbClr val="000000">
                      <a:alpha val="30000"/>
                    </a:srgbClr>
                  </a:outerShdw>
                </a:effectLst>
                <a:latin typeface="+mj-lt"/>
                <a:ea typeface="+mj-ea"/>
                <a:cs typeface="+mj-cs"/>
              </a:rPr>
              <a:t>2</a:t>
            </a:r>
            <a:r>
              <a:rPr lang="zh-CN" altLang="en-US" sz="36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600" b="1" dirty="0">
                <a:solidFill>
                  <a:schemeClr val="bg1"/>
                </a:solidFill>
                <a:latin typeface="宋体" panose="02010600030101010101" pitchFamily="2" charset="-122"/>
                <a:ea typeface="宋体" panose="02010600030101010101" pitchFamily="2" charset="-122"/>
              </a:rPr>
              <a:t>    </a:t>
            </a:r>
            <a:endParaRPr lang="en-US" altLang="zh-CN" sz="3600" b="1" dirty="0">
              <a:solidFill>
                <a:schemeClr val="bg1"/>
              </a:solidFill>
              <a:latin typeface="宋体" panose="02010600030101010101" pitchFamily="2" charset="-122"/>
              <a:ea typeface="宋体" panose="02010600030101010101" pitchFamily="2" charset="-122"/>
            </a:endParaRPr>
          </a:p>
          <a:p>
            <a:pPr>
              <a:spcBef>
                <a:spcPct val="0"/>
              </a:spcBef>
            </a:pPr>
            <a:endParaRPr lang="zh-CN" altLang="en-US" sz="36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灯片编号占位符 6"/>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44624"/>
            <a:ext cx="7128792" cy="1143000"/>
          </a:xfrm>
        </p:spPr>
        <p:txBody>
          <a:bodyPr>
            <a:noAutofit/>
          </a:bodyPr>
          <a:lstStyle/>
          <a:p>
            <a:r>
              <a:rPr lang="zh-CN" altLang="en-US" sz="3200" dirty="0"/>
              <a:t>（</a:t>
            </a:r>
            <a:r>
              <a:rPr lang="en-US" altLang="zh-CN" sz="3200" dirty="0"/>
              <a:t>1</a:t>
            </a:r>
            <a:r>
              <a:rPr lang="zh-CN" altLang="en-US" sz="3200" dirty="0"/>
              <a:t>）面向目标和场景的软件体系结构设计方法</a:t>
            </a:r>
            <a:endParaRPr lang="zh-CN" altLang="en-US" sz="3200" dirty="0"/>
          </a:p>
        </p:txBody>
      </p:sp>
      <p:sp>
        <p:nvSpPr>
          <p:cNvPr id="3" name="内容占位符 2"/>
          <p:cNvSpPr>
            <a:spLocks noGrp="1"/>
          </p:cNvSpPr>
          <p:nvPr>
            <p:ph idx="1"/>
          </p:nvPr>
        </p:nvSpPr>
        <p:spPr>
          <a:xfrm>
            <a:off x="712363" y="1412776"/>
            <a:ext cx="7719274" cy="5124472"/>
          </a:xfrm>
        </p:spPr>
        <p:txBody>
          <a:bodyPr>
            <a:normAutofit/>
          </a:bodyPr>
          <a:lstStyle/>
          <a:p>
            <a:r>
              <a:rPr lang="en-US" dirty="0"/>
              <a:t>Lin Liu</a:t>
            </a:r>
            <a:r>
              <a:rPr lang="zh-CN" altLang="en-US" dirty="0"/>
              <a:t>等提出了一种面向目标的需求语言</a:t>
            </a:r>
            <a:r>
              <a:rPr lang="en-US" dirty="0"/>
              <a:t>GRL(Goal-oriented Requirement Language)</a:t>
            </a:r>
            <a:r>
              <a:rPr lang="zh-CN" altLang="en-US" dirty="0"/>
              <a:t>和一种面向场景的体系结构符号</a:t>
            </a:r>
            <a:r>
              <a:rPr lang="en-US" dirty="0"/>
              <a:t>UCM(Use Case Maps)</a:t>
            </a:r>
            <a:r>
              <a:rPr lang="zh-CN" altLang="en-US" dirty="0"/>
              <a:t>，支持面向目标和代理的建模和论证，并指导体系结构设计过程。</a:t>
            </a:r>
            <a:endParaRPr lang="en-US" altLang="zh-CN" dirty="0"/>
          </a:p>
          <a:p>
            <a:pPr lvl="1"/>
            <a:r>
              <a:rPr lang="en-US" dirty="0"/>
              <a:t>GRL</a:t>
            </a:r>
            <a:r>
              <a:rPr lang="zh-CN" altLang="en-US" dirty="0"/>
              <a:t>是一种支持目标和代理目标建模、推导需求的语言，特别是处理非功能需求。</a:t>
            </a:r>
            <a:endParaRPr lang="en-US" altLang="zh-CN" dirty="0"/>
          </a:p>
          <a:p>
            <a:pPr lvl="1"/>
            <a:r>
              <a:rPr lang="en-US" dirty="0"/>
              <a:t>UCM</a:t>
            </a:r>
            <a:r>
              <a:rPr lang="zh-CN" altLang="en-US" dirty="0"/>
              <a:t>提供一种场景可视化符号，描述和推导系统中大粒度行为模式。</a:t>
            </a:r>
            <a:endParaRPr lang="en-US" altLang="zh-CN" dirty="0"/>
          </a:p>
          <a:p>
            <a:r>
              <a:rPr lang="zh-CN" altLang="en-US" dirty="0"/>
              <a:t>该建模方法旨在对需求进行启发、求精和实现，直到得到一个满意的体系结构设计方案。</a:t>
            </a:r>
            <a:endParaRPr lang="zh-CN" altLang="en-US"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16632"/>
            <a:ext cx="6912768" cy="1143000"/>
          </a:xfrm>
        </p:spPr>
        <p:txBody>
          <a:bodyPr>
            <a:noAutofit/>
          </a:bodyPr>
          <a:lstStyle/>
          <a:p>
            <a:r>
              <a:rPr lang="zh-CN" altLang="en-US" sz="3200" dirty="0"/>
              <a:t>（</a:t>
            </a:r>
            <a:r>
              <a:rPr lang="en-US" altLang="zh-CN" sz="3200" dirty="0"/>
              <a:t>1</a:t>
            </a:r>
            <a:r>
              <a:rPr lang="zh-CN" altLang="en-US" sz="3200" dirty="0"/>
              <a:t>）面向目标和场景的软件体系结构设计方法</a:t>
            </a:r>
            <a:endParaRPr lang="zh-CN" altLang="en-US" sz="3200" dirty="0"/>
          </a:p>
        </p:txBody>
      </p:sp>
      <p:sp>
        <p:nvSpPr>
          <p:cNvPr id="3" name="内容占位符 2"/>
          <p:cNvSpPr>
            <a:spLocks noGrp="1"/>
          </p:cNvSpPr>
          <p:nvPr>
            <p:ph idx="1"/>
          </p:nvPr>
        </p:nvSpPr>
        <p:spPr>
          <a:xfrm>
            <a:off x="1214414" y="1447800"/>
            <a:ext cx="7719274" cy="5124472"/>
          </a:xfrm>
        </p:spPr>
        <p:txBody>
          <a:bodyPr>
            <a:noAutofit/>
          </a:bodyPr>
          <a:lstStyle/>
          <a:p>
            <a:r>
              <a:rPr lang="zh-CN" altLang="en-US" sz="2600" dirty="0"/>
              <a:t>步骤：</a:t>
            </a:r>
            <a:endParaRPr lang="en-US" altLang="zh-CN" sz="2600" dirty="0"/>
          </a:p>
          <a:p>
            <a:pPr lvl="1"/>
            <a:r>
              <a:rPr lang="zh-CN" altLang="en-US" sz="2600" dirty="0"/>
              <a:t>（</a:t>
            </a:r>
            <a:r>
              <a:rPr lang="en-US" altLang="en-US" sz="2600" dirty="0"/>
              <a:t>1</a:t>
            </a:r>
            <a:r>
              <a:rPr lang="zh-CN" altLang="en-US" sz="2600" dirty="0"/>
              <a:t>）建立面向目标的需求模型。</a:t>
            </a:r>
            <a:endParaRPr lang="en-US" altLang="zh-CN" sz="2600" dirty="0"/>
          </a:p>
          <a:p>
            <a:pPr lvl="1"/>
            <a:r>
              <a:rPr lang="zh-CN" altLang="en-US" sz="2600" dirty="0"/>
              <a:t>（</a:t>
            </a:r>
            <a:r>
              <a:rPr lang="en-US" altLang="en-US" sz="2600" dirty="0"/>
              <a:t>2</a:t>
            </a:r>
            <a:r>
              <a:rPr lang="zh-CN" altLang="en-US" sz="2600" dirty="0"/>
              <a:t>）建立用例图模型。</a:t>
            </a:r>
            <a:endParaRPr lang="en-US" altLang="zh-CN" sz="2600" dirty="0"/>
          </a:p>
          <a:p>
            <a:pPr lvl="1"/>
            <a:r>
              <a:rPr lang="zh-CN" altLang="en-US" sz="2600" dirty="0"/>
              <a:t>（</a:t>
            </a:r>
            <a:r>
              <a:rPr lang="en-US" altLang="en-US" sz="2600" dirty="0"/>
              <a:t>3</a:t>
            </a:r>
            <a:r>
              <a:rPr lang="zh-CN" altLang="en-US" sz="2600" dirty="0"/>
              <a:t>）在用例图中划分部件，得到一个参考的体系结构设计方案。</a:t>
            </a:r>
            <a:endParaRPr lang="en-US" altLang="zh-CN" sz="2600" dirty="0"/>
          </a:p>
          <a:p>
            <a:pPr lvl="1"/>
            <a:r>
              <a:rPr lang="zh-CN" altLang="en-US" sz="2600" dirty="0"/>
              <a:t>（</a:t>
            </a:r>
            <a:r>
              <a:rPr lang="en-US" altLang="en-US" sz="2600" dirty="0"/>
              <a:t>4</a:t>
            </a:r>
            <a:r>
              <a:rPr lang="zh-CN" altLang="en-US" sz="2600" dirty="0"/>
              <a:t>）在需求模型中对目标进行求精细化并评估其非功能目标，如果满足则转入步骤</a:t>
            </a:r>
            <a:r>
              <a:rPr lang="en-US" altLang="en-US" sz="2600" dirty="0"/>
              <a:t>6</a:t>
            </a:r>
            <a:r>
              <a:rPr lang="zh-CN" altLang="en-US" sz="2600" dirty="0"/>
              <a:t>。</a:t>
            </a:r>
            <a:endParaRPr lang="en-US" altLang="zh-CN" sz="2600" dirty="0"/>
          </a:p>
          <a:p>
            <a:pPr lvl="1"/>
            <a:r>
              <a:rPr lang="zh-CN" altLang="en-US" sz="2600" dirty="0"/>
              <a:t>（</a:t>
            </a:r>
            <a:r>
              <a:rPr lang="en-US" altLang="en-US" sz="2600" dirty="0"/>
              <a:t>5</a:t>
            </a:r>
            <a:r>
              <a:rPr lang="zh-CN" altLang="en-US" sz="2600" dirty="0"/>
              <a:t>）若设计无法满足系统的非功能性目标，则分析找出新的目标和需求，寻求其他的解决方案。再返回步骤</a:t>
            </a:r>
            <a:r>
              <a:rPr lang="en-US" altLang="zh-CN" sz="2600" dirty="0"/>
              <a:t>4</a:t>
            </a:r>
            <a:endParaRPr lang="en-US" altLang="zh-CN" sz="2600" dirty="0"/>
          </a:p>
          <a:p>
            <a:pPr lvl="1"/>
            <a:r>
              <a:rPr lang="zh-CN" altLang="en-US" sz="2600" dirty="0"/>
              <a:t>（</a:t>
            </a:r>
            <a:r>
              <a:rPr lang="en-US" altLang="en-US" sz="2600" dirty="0"/>
              <a:t>6</a:t>
            </a:r>
            <a:r>
              <a:rPr lang="zh-CN" altLang="en-US" sz="2600" dirty="0"/>
              <a:t>）考虑其他的可行方案，再利用系统的非功能目标进行权衡，找出最佳的体系结构设计方案。</a:t>
            </a:r>
            <a:endParaRPr lang="zh-CN" altLang="en-US" sz="2600" dirty="0"/>
          </a:p>
          <a:p>
            <a:endParaRPr lang="zh-CN" altLang="en-US" sz="2600" dirty="0"/>
          </a:p>
        </p:txBody>
      </p:sp>
      <p:sp>
        <p:nvSpPr>
          <p:cNvPr id="4" name="灯片编号占位符 3"/>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408712" cy="1143000"/>
          </a:xfrm>
        </p:spPr>
        <p:txBody>
          <a:bodyPr>
            <a:normAutofit fontScale="90000"/>
          </a:bodyPr>
          <a:lstStyle/>
          <a:p>
            <a:r>
              <a:rPr lang="zh-CN" altLang="en-US" sz="4400" dirty="0"/>
              <a:t>（</a:t>
            </a:r>
            <a:r>
              <a:rPr lang="en-US" altLang="zh-CN" sz="4400" dirty="0"/>
              <a:t>2</a:t>
            </a:r>
            <a:r>
              <a:rPr lang="zh-CN" altLang="en-US" sz="4400" dirty="0"/>
              <a:t>）基于</a:t>
            </a:r>
            <a:r>
              <a:rPr lang="en-US" altLang="zh-CN" sz="4400" dirty="0"/>
              <a:t>APL</a:t>
            </a:r>
            <a:r>
              <a:rPr lang="zh-CN" altLang="en-US" sz="4400" dirty="0"/>
              <a:t>软件体系结构设计方法</a:t>
            </a:r>
            <a:endParaRPr lang="zh-CN" altLang="en-US" dirty="0"/>
          </a:p>
        </p:txBody>
      </p:sp>
      <p:sp>
        <p:nvSpPr>
          <p:cNvPr id="3" name="内容占位符 2"/>
          <p:cNvSpPr>
            <a:spLocks noGrp="1"/>
          </p:cNvSpPr>
          <p:nvPr>
            <p:ph idx="1"/>
          </p:nvPr>
        </p:nvSpPr>
        <p:spPr>
          <a:xfrm>
            <a:off x="755576" y="1484784"/>
            <a:ext cx="7719274" cy="5124472"/>
          </a:xfrm>
        </p:spPr>
        <p:txBody>
          <a:bodyPr>
            <a:noAutofit/>
          </a:bodyPr>
          <a:lstStyle/>
          <a:p>
            <a:r>
              <a:rPr lang="en-US" sz="2800" dirty="0" err="1"/>
              <a:t>Brandozzi</a:t>
            </a:r>
            <a:r>
              <a:rPr lang="zh-CN" altLang="en-US" sz="2800" dirty="0"/>
              <a:t>和</a:t>
            </a:r>
            <a:r>
              <a:rPr lang="en-US" sz="2800" dirty="0"/>
              <a:t>Perry</a:t>
            </a:r>
            <a:r>
              <a:rPr lang="zh-CN" altLang="en-US" sz="2800" dirty="0"/>
              <a:t>介绍了一种体系结构规约语言（</a:t>
            </a:r>
            <a:r>
              <a:rPr lang="en-US" sz="2800" dirty="0"/>
              <a:t>APL</a:t>
            </a:r>
            <a:r>
              <a:rPr lang="zh-CN" altLang="en-US" sz="2800" dirty="0"/>
              <a:t>， </a:t>
            </a:r>
            <a:r>
              <a:rPr lang="en-US" sz="2800" dirty="0"/>
              <a:t>architecture prescription language</a:t>
            </a:r>
            <a:r>
              <a:rPr lang="zh-CN" altLang="en-US" sz="2800" dirty="0"/>
              <a:t>）用于指定体系结构及其组件在应用领域的描述</a:t>
            </a:r>
            <a:r>
              <a:rPr lang="zh-CN" altLang="en-US" sz="2600" dirty="0"/>
              <a:t>。</a:t>
            </a:r>
            <a:endParaRPr lang="zh-CN" altLang="en-US" sz="2600" dirty="0"/>
          </a:p>
          <a:p>
            <a:r>
              <a:rPr lang="zh-CN" altLang="en-US" sz="2800" dirty="0"/>
              <a:t>体系结构规约通过限制体系结构元素（流程、数据、连接件）、交互关系、约束关系展现系统结构空间。</a:t>
            </a:r>
            <a:endParaRPr lang="en-US" altLang="zh-CN" sz="2800" dirty="0"/>
          </a:p>
          <a:p>
            <a:r>
              <a:rPr lang="zh-CN" altLang="en-US" sz="2800" dirty="0"/>
              <a:t>步骤：</a:t>
            </a:r>
            <a:endParaRPr lang="en-US" altLang="zh-CN" sz="2800" dirty="0"/>
          </a:p>
          <a:p>
            <a:pPr lvl="1"/>
            <a:r>
              <a:rPr lang="zh-CN" altLang="en-US" sz="2400" dirty="0"/>
              <a:t>（1）将需求转变成KAOS（</a:t>
            </a:r>
            <a:r>
              <a:rPr lang="en-US" sz="2400" dirty="0"/>
              <a:t>knowledge acquisition in automated specification</a:t>
            </a:r>
            <a:r>
              <a:rPr lang="zh-CN" altLang="en-US" sz="2400" dirty="0"/>
              <a:t>）需求规约</a:t>
            </a:r>
            <a:endParaRPr lang="en-US" altLang="zh-CN" sz="2400" dirty="0"/>
          </a:p>
          <a:p>
            <a:pPr lvl="1"/>
            <a:r>
              <a:rPr lang="zh-CN" altLang="en-US" sz="2400" dirty="0"/>
              <a:t>（2）KAOS需求规约到软件系统体系结构规范</a:t>
            </a:r>
            <a:endParaRPr lang="en-US" altLang="zh-CN" sz="2400" dirty="0"/>
          </a:p>
          <a:p>
            <a:pPr lvl="1"/>
            <a:r>
              <a:rPr lang="zh-CN" altLang="en-US" sz="2400" dirty="0"/>
              <a:t>（3）建立体系结构细化树。</a:t>
            </a:r>
            <a:endParaRPr lang="zh-CN" altLang="en-US" sz="2400" dirty="0"/>
          </a:p>
          <a:p>
            <a:endParaRPr lang="en-US" altLang="zh-CN" sz="2800" dirty="0"/>
          </a:p>
          <a:p>
            <a:endParaRPr lang="zh-CN" altLang="en-US" sz="2600" dirty="0"/>
          </a:p>
        </p:txBody>
      </p:sp>
      <p:sp>
        <p:nvSpPr>
          <p:cNvPr id="4" name="灯片编号占位符 3"/>
          <p:cNvSpPr>
            <a:spLocks noGrp="1"/>
          </p:cNvSpPr>
          <p:nvPr>
            <p:ph type="sldNum" sz="quarter" idx="12"/>
          </p:nvPr>
        </p:nvSpPr>
        <p:spPr/>
        <p:txBody>
          <a:bodyPr/>
          <a:lstStyle/>
          <a:p>
            <a:fld id="{BDCDCA1E-D02A-443E-BCF9-39FEB24A1E79}" type="slidenum">
              <a:rPr lang="zh-CN" altLang="en-US" smtClean="0"/>
            </a:fld>
            <a:endParaRPr lang="zh-CN" altLang="en-US"/>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275830" y="0"/>
            <a:ext cx="6960466"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3</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）基于规则的体系结构决策诱导框架</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a:p>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17414" name="Text Box 1045"/>
          <p:cNvSpPr txBox="1">
            <a:spLocks noChangeArrowheads="1"/>
          </p:cNvSpPr>
          <p:nvPr/>
        </p:nvSpPr>
        <p:spPr bwMode="auto">
          <a:xfrm>
            <a:off x="539552" y="1171508"/>
            <a:ext cx="8390166" cy="2031325"/>
          </a:xfrm>
          <a:prstGeom prst="rect">
            <a:avLst/>
          </a:prstGeom>
          <a:noFill/>
          <a:ln w="9525">
            <a:noFill/>
            <a:miter lim="800000"/>
          </a:ln>
        </p:spPr>
        <p:txBody>
          <a:bodyPr wrap="square">
            <a:spAutoFit/>
          </a:bodyPr>
          <a:lstStyle/>
          <a:p>
            <a:pPr indent="0">
              <a:spcBef>
                <a:spcPct val="50000"/>
              </a:spcBef>
            </a:pP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Liu wenqian和Steve Easterbrook提出了一个基于规则的体系结构决策诱导框架（ADEF ，architectural decision elicitation framework）</a:t>
            </a: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2" name="对象 -2147482624"/>
          <p:cNvGraphicFramePr/>
          <p:nvPr/>
        </p:nvGraphicFramePr>
        <p:xfrm>
          <a:off x="1547664" y="2671706"/>
          <a:ext cx="6850211" cy="4357694"/>
        </p:xfrm>
        <a:graphic>
          <a:graphicData uri="http://schemas.openxmlformats.org/presentationml/2006/ole">
            <mc:AlternateContent xmlns:mc="http://schemas.openxmlformats.org/markup-compatibility/2006">
              <mc:Choice xmlns:v="urn:schemas-microsoft-com:vml" Requires="v">
                <p:oleObj spid="_x0000_s44089" name="" r:id="rId1" imgW="7632700" imgH="5372100" progId="Visio.Drawing.11">
                  <p:embed/>
                </p:oleObj>
              </mc:Choice>
              <mc:Fallback>
                <p:oleObj name="" r:id="rId1" imgW="7632700" imgH="5372100" progId="Visio.Drawing.11">
                  <p:embed/>
                  <p:pic>
                    <p:nvPicPr>
                      <p:cNvPr id="0" name="对象 -21474826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671706"/>
                        <a:ext cx="6850211" cy="4357694"/>
                      </a:xfrm>
                      <a:prstGeom prst="rect">
                        <a:avLst/>
                      </a:prstGeom>
                      <a:noFill/>
                      <a:ln>
                        <a:noFill/>
                      </a:ln>
                    </p:spPr>
                  </p:pic>
                </p:oleObj>
              </mc:Fallback>
            </mc:AlternateContent>
          </a:graphicData>
        </a:graphic>
      </p:graphicFrame>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4" name="Text Box 1045"/>
          <p:cNvSpPr txBox="1">
            <a:spLocks noChangeArrowheads="1"/>
          </p:cNvSpPr>
          <p:nvPr/>
        </p:nvSpPr>
        <p:spPr bwMode="auto">
          <a:xfrm>
            <a:off x="467544" y="1556792"/>
            <a:ext cx="7889530" cy="4401205"/>
          </a:xfrm>
          <a:prstGeom prst="rect">
            <a:avLst/>
          </a:prstGeom>
          <a:noFill/>
          <a:ln w="9525">
            <a:noFill/>
            <a:miter lim="800000"/>
          </a:ln>
        </p:spPr>
        <p:txBody>
          <a:bodyPr wrap="square">
            <a:spAutoFit/>
          </a:bodyPr>
          <a:lstStyle/>
          <a:p>
            <a:pPr indent="0">
              <a:spcBef>
                <a:spcPct val="50000"/>
              </a:spcBef>
              <a:buFont typeface="Arial" panose="020B0604020202020204" pitchFamily="34" charset="0"/>
              <a:buChar char="•"/>
            </a:pPr>
            <a:r>
              <a:rPr lang="zh-CN" sz="2800" dirty="0">
                <a:latin typeface="华文中宋" panose="02010600040101010101" pitchFamily="2" charset="-122"/>
                <a:ea typeface="华文中宋" panose="02010600040101010101" pitchFamily="2" charset="-122"/>
                <a:cs typeface="Times New Roman" panose="02020603050405020304" pitchFamily="18" charset="0"/>
              </a:rPr>
              <a:t>步骤：</a:t>
            </a: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r>
              <a:rPr lang="zh-CN" sz="2800" dirty="0">
                <a:latin typeface="华文中宋" panose="02010600040101010101" pitchFamily="2" charset="-122"/>
                <a:ea typeface="华文中宋" panose="02010600040101010101" pitchFamily="2" charset="-122"/>
                <a:cs typeface="Times New Roman" panose="02020603050405020304" pitchFamily="18" charset="0"/>
              </a:rPr>
              <a:t>（1）借助映射子模块对</a:t>
            </a: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体系结构</a:t>
            </a:r>
            <a:r>
              <a:rPr lang="zh-CN" sz="2800" dirty="0">
                <a:latin typeface="华文中宋" panose="02010600040101010101" pitchFamily="2" charset="-122"/>
                <a:ea typeface="华文中宋" panose="02010600040101010101" pitchFamily="2" charset="-122"/>
                <a:cs typeface="Times New Roman" panose="02020603050405020304" pitchFamily="18" charset="0"/>
              </a:rPr>
              <a:t>特征属性进行诱导。</a:t>
            </a: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r>
              <a:rPr lang="zh-CN" sz="2800" dirty="0">
                <a:latin typeface="华文中宋" panose="02010600040101010101" pitchFamily="2" charset="-122"/>
                <a:ea typeface="华文中宋" panose="02010600040101010101" pitchFamily="2" charset="-122"/>
                <a:cs typeface="Times New Roman" panose="02020603050405020304" pitchFamily="18" charset="0"/>
              </a:rPr>
              <a:t>（2）转化成可分析的描述方法。</a:t>
            </a: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r>
              <a:rPr lang="zh-CN" sz="2800" dirty="0">
                <a:latin typeface="华文中宋" panose="02010600040101010101" pitchFamily="2" charset="-122"/>
                <a:ea typeface="华文中宋" panose="02010600040101010101" pitchFamily="2" charset="-122"/>
                <a:cs typeface="Times New Roman" panose="02020603050405020304" pitchFamily="18" charset="0"/>
              </a:rPr>
              <a:t>（3）借助分析模块提供自动化推导，制定</a:t>
            </a: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体系结构</a:t>
            </a:r>
            <a:r>
              <a:rPr lang="zh-CN" sz="2800" dirty="0">
                <a:latin typeface="华文中宋" panose="02010600040101010101" pitchFamily="2" charset="-122"/>
                <a:ea typeface="华文中宋" panose="02010600040101010101" pitchFamily="2" charset="-122"/>
                <a:cs typeface="Times New Roman" panose="02020603050405020304" pitchFamily="18" charset="0"/>
              </a:rPr>
              <a:t>决策以及解决冲突决策。</a:t>
            </a: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r>
              <a:rPr lang="zh-CN" sz="2800" dirty="0">
                <a:latin typeface="华文中宋" panose="02010600040101010101" pitchFamily="2" charset="-122"/>
                <a:ea typeface="华文中宋" panose="02010600040101010101" pitchFamily="2" charset="-122"/>
                <a:cs typeface="Times New Roman" panose="02020603050405020304" pitchFamily="18" charset="0"/>
              </a:rPr>
              <a:t>（4）显示</a:t>
            </a: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体系结构</a:t>
            </a:r>
            <a:r>
              <a:rPr lang="zh-CN" sz="2800" dirty="0">
                <a:latin typeface="华文中宋" panose="02010600040101010101" pitchFamily="2" charset="-122"/>
                <a:ea typeface="华文中宋" panose="02010600040101010101" pitchFamily="2" charset="-122"/>
                <a:cs typeface="Times New Roman" panose="02020603050405020304" pitchFamily="18" charset="0"/>
              </a:rPr>
              <a:t>决策，并更新以前的结果，然后反复进行生成另外的需求规约。</a:t>
            </a: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1029"/>
          <p:cNvSpPr>
            <a:spLocks noChangeArrowheads="1"/>
          </p:cNvSpPr>
          <p:nvPr/>
        </p:nvSpPr>
        <p:spPr bwMode="auto">
          <a:xfrm>
            <a:off x="364486" y="0"/>
            <a:ext cx="6943818"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3</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）基于规则的体系结构决策诱导框架</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a:p>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Tree>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179512" y="44624"/>
            <a:ext cx="720080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4</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）基于全局分析的体系结构形成方法</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设计</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5" name="内容占位符 2"/>
          <p:cNvSpPr>
            <a:spLocks noGrp="1"/>
          </p:cNvSpPr>
          <p:nvPr>
            <p:ph idx="1"/>
          </p:nvPr>
        </p:nvSpPr>
        <p:spPr>
          <a:xfrm>
            <a:off x="1214414" y="1447800"/>
            <a:ext cx="7719274" cy="5124472"/>
          </a:xfrm>
        </p:spPr>
        <p:txBody>
          <a:bodyPr>
            <a:noAutofit/>
          </a:bodyPr>
          <a:lstStyle/>
          <a:p>
            <a:r>
              <a:rPr lang="en-US" dirty="0" err="1"/>
              <a:t>Hofmeister</a:t>
            </a:r>
            <a:r>
              <a:rPr lang="en-US" dirty="0"/>
              <a:t> Christine</a:t>
            </a:r>
            <a:r>
              <a:rPr lang="zh-CN" altLang="en-US" dirty="0"/>
              <a:t>等人提出了一种更为</a:t>
            </a:r>
            <a:r>
              <a:rPr lang="zh-CN" altLang="en-US" dirty="0">
                <a:solidFill>
                  <a:srgbClr val="FF0000"/>
                </a:solidFill>
              </a:rPr>
              <a:t>通用</a:t>
            </a:r>
            <a:r>
              <a:rPr lang="zh-CN" altLang="en-US" dirty="0"/>
              <a:t>的方法，通过</a:t>
            </a:r>
            <a:r>
              <a:rPr lang="en-US" dirty="0"/>
              <a:t>“</a:t>
            </a:r>
            <a:r>
              <a:rPr lang="zh-CN" altLang="en-US" dirty="0"/>
              <a:t>全局分析</a:t>
            </a:r>
            <a:r>
              <a:rPr lang="en-US" dirty="0"/>
              <a:t>”</a:t>
            </a:r>
            <a:r>
              <a:rPr lang="zh-CN" altLang="en-US" dirty="0"/>
              <a:t>实现从需求模型到软件体系结构模型的转化。</a:t>
            </a:r>
            <a:endParaRPr lang="en-US" altLang="zh-CN" dirty="0"/>
          </a:p>
          <a:p>
            <a:pPr lvl="1"/>
            <a:r>
              <a:rPr lang="zh-CN" altLang="en-US" dirty="0"/>
              <a:t>其中全局分析包括</a:t>
            </a:r>
            <a:r>
              <a:rPr lang="zh-CN" altLang="en-US" sz="2400" dirty="0"/>
              <a:t>：</a:t>
            </a:r>
            <a:endParaRPr lang="en-US" altLang="zh-CN" sz="2400" dirty="0"/>
          </a:p>
          <a:p>
            <a:pPr lvl="2"/>
            <a:r>
              <a:rPr lang="zh-CN" altLang="en-US" dirty="0"/>
              <a:t>（</a:t>
            </a:r>
            <a:r>
              <a:rPr lang="en-US" dirty="0"/>
              <a:t>1</a:t>
            </a:r>
            <a:r>
              <a:rPr lang="zh-CN" altLang="en-US" dirty="0"/>
              <a:t>）分析影响因素；</a:t>
            </a:r>
            <a:endParaRPr lang="en-US" altLang="zh-CN" dirty="0"/>
          </a:p>
          <a:p>
            <a:pPr lvl="2"/>
            <a:r>
              <a:rPr lang="zh-CN" altLang="en-US" dirty="0"/>
              <a:t>（</a:t>
            </a:r>
            <a:r>
              <a:rPr lang="en-US" dirty="0"/>
              <a:t>2</a:t>
            </a:r>
            <a:r>
              <a:rPr lang="zh-CN" altLang="en-US" dirty="0"/>
              <a:t>）定义问题和制定策略</a:t>
            </a:r>
            <a:endParaRPr lang="en-US" altLang="zh-CN" dirty="0"/>
          </a:p>
          <a:p>
            <a:r>
              <a:rPr lang="zh-CN" altLang="en-US" dirty="0"/>
              <a:t>该方法通过影响因素表、问题卡等记录全局分析过程并维护一致性。</a:t>
            </a:r>
            <a:endParaRPr lang="en-US" altLang="zh-CN" dirty="0"/>
          </a:p>
          <a:p>
            <a:endParaRPr lang="zh-CN" altLang="en-US" sz="2600" dirty="0"/>
          </a:p>
        </p:txBody>
      </p: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323528" y="0"/>
            <a:ext cx="6950576"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4</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）基于全局分析的体系结构形成方法</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设计</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2" name="文本框 1"/>
          <p:cNvSpPr txBox="1"/>
          <p:nvPr/>
        </p:nvSpPr>
        <p:spPr>
          <a:xfrm>
            <a:off x="863625" y="1556792"/>
            <a:ext cx="7416750" cy="4401205"/>
          </a:xfrm>
          <a:prstGeom prst="rect">
            <a:avLst/>
          </a:prstGeom>
          <a:noFill/>
        </p:spPr>
        <p:txBody>
          <a:bodyPr wrap="square" rtlCol="0">
            <a:spAutoFit/>
          </a:bodyPr>
          <a:lstStyle/>
          <a:p>
            <a:r>
              <a:rPr lang="zh-CN" altLang="en-US" sz="2800" dirty="0"/>
              <a:t>步骤：</a:t>
            </a:r>
            <a:endParaRPr lang="en-US" altLang="zh-CN" sz="2800" dirty="0"/>
          </a:p>
          <a:p>
            <a:r>
              <a:rPr lang="zh-CN" altLang="en-US" sz="2800" dirty="0"/>
              <a:t>（1）检查产品需求、使用情况、系统需求及交互，确保理解环境、用户及与该系统交互的其他系统的接口。</a:t>
            </a:r>
            <a:endParaRPr lang="zh-CN" altLang="en-US" sz="2800" dirty="0"/>
          </a:p>
          <a:p>
            <a:r>
              <a:rPr lang="zh-CN" altLang="en-US" sz="2800" dirty="0"/>
              <a:t>（2）分析产品、技术及组织因素，并为这3类因素生成因素表。</a:t>
            </a:r>
            <a:endParaRPr lang="zh-CN" altLang="en-US" sz="2800" dirty="0"/>
          </a:p>
          <a:p>
            <a:r>
              <a:rPr lang="zh-CN" altLang="en-US" sz="2800" dirty="0"/>
              <a:t>（3）识别问题并开发相关策略以解决这些问题。</a:t>
            </a:r>
            <a:endParaRPr lang="zh-CN" altLang="en-US" sz="2800" dirty="0"/>
          </a:p>
          <a:p>
            <a:r>
              <a:rPr lang="zh-CN" altLang="en-US" sz="2800" dirty="0"/>
              <a:t>（4）使用全局分析中生成的策略指导决策，并改进系统的应变能力。</a:t>
            </a:r>
            <a:endParaRPr lang="zh-CN" altLang="en-US" sz="2800" dirty="0"/>
          </a:p>
        </p:txBody>
      </p:sp>
    </p:spTree>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323528" y="44624"/>
            <a:ext cx="6912768"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5</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）面向模式的体系结构形成方法</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17414" name="Text Box 1045"/>
          <p:cNvSpPr txBox="1">
            <a:spLocks noChangeArrowheads="1"/>
          </p:cNvSpPr>
          <p:nvPr/>
        </p:nvSpPr>
        <p:spPr bwMode="auto">
          <a:xfrm>
            <a:off x="971600" y="1484784"/>
            <a:ext cx="7429552" cy="5047536"/>
          </a:xfrm>
          <a:prstGeom prst="rect">
            <a:avLst/>
          </a:prstGeom>
          <a:noFill/>
          <a:ln w="9525">
            <a:noFill/>
            <a:miter lim="800000"/>
          </a:ln>
        </p:spPr>
        <p:txBody>
          <a:bodyPr wrap="square">
            <a:spAutoFit/>
          </a:bodyPr>
          <a:lstStyle/>
          <a:p>
            <a:pPr indent="0">
              <a:spcBef>
                <a:spcPct val="50000"/>
              </a:spcBef>
              <a:buFont typeface="Arial" panose="020B0604020202020204" pitchFamily="34" charset="0"/>
              <a:buNone/>
            </a:pPr>
            <a:r>
              <a:rPr lang="zh-CN" altLang="en-US" sz="2800" dirty="0"/>
              <a:t>MS Rajasree等人提出一种面向模式的软件开发方法。通过这种方法，应用程序框架可以通过先前确定的模式知识来感知，对应的功能需求可进一步围绕这个基本结构进行演化。</a:t>
            </a:r>
            <a:endParaRPr lang="en-US" altLang="zh-CN" sz="2800" dirty="0"/>
          </a:p>
          <a:p>
            <a:endParaRPr lang="en-US" altLang="zh-CN" sz="2800" dirty="0"/>
          </a:p>
          <a:p>
            <a:endParaRPr lang="en-US" altLang="zh-CN" sz="2800" dirty="0"/>
          </a:p>
          <a:p>
            <a:r>
              <a:rPr lang="zh-CN" altLang="en-US" sz="2800" dirty="0"/>
              <a:t>步骤：</a:t>
            </a:r>
            <a:endParaRPr lang="en-US" altLang="zh-CN" sz="2800" dirty="0"/>
          </a:p>
          <a:p>
            <a:r>
              <a:rPr lang="zh-CN" altLang="en-US" sz="2800" dirty="0"/>
              <a:t>（1）基于整体计算和交互模型，建立应用程序的一个全局性软件体系结构。</a:t>
            </a:r>
            <a:endParaRPr lang="zh-CN" altLang="en-US" sz="2800" dirty="0"/>
          </a:p>
          <a:p>
            <a:r>
              <a:rPr lang="zh-CN" altLang="en-US" sz="2800" dirty="0"/>
              <a:t>（2）细化这个软件体系结构，并进行设计。</a:t>
            </a:r>
            <a:endParaRPr lang="zh-CN" altLang="en-US" sz="2800" dirty="0"/>
          </a:p>
          <a:p>
            <a:pPr indent="0">
              <a:spcBef>
                <a:spcPct val="50000"/>
              </a:spcBef>
              <a:buFont typeface="Arial" panose="020B0604020202020204" pitchFamily="34" charset="0"/>
              <a:buNone/>
            </a:pPr>
            <a:endParaRPr lang="zh-CN" sz="2800" dirty="0">
              <a:latin typeface="Times New Roman" panose="02020603050405020304" pitchFamily="18" charset="0"/>
              <a:ea typeface="仿宋_GB2312" pitchFamily="49" charset="-122"/>
              <a:cs typeface="Times New Roman" panose="02020603050405020304" pitchFamily="18" charset="0"/>
            </a:endParaRPr>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endParaRPr lang="en-US" altLang="zh-CN" dirty="0">
              <a:ea typeface="宋体" panose="02010600030101010101" pitchFamily="2" charset="-122"/>
            </a:endParaRPr>
          </a:p>
        </p:txBody>
      </p:sp>
      <p:sp>
        <p:nvSpPr>
          <p:cNvPr id="17413" name="Rectangle 1029"/>
          <p:cNvSpPr>
            <a:spLocks noChangeArrowheads="1"/>
          </p:cNvSpPr>
          <p:nvPr/>
        </p:nvSpPr>
        <p:spPr bwMode="auto">
          <a:xfrm>
            <a:off x="395536" y="44624"/>
            <a:ext cx="6552728"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6</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）需求与体系结构协同演化方法：</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17414" name="Text Box 1045"/>
          <p:cNvSpPr txBox="1">
            <a:spLocks noChangeArrowheads="1"/>
          </p:cNvSpPr>
          <p:nvPr/>
        </p:nvSpPr>
        <p:spPr bwMode="auto">
          <a:xfrm>
            <a:off x="827584" y="1340768"/>
            <a:ext cx="7920880" cy="5909310"/>
          </a:xfrm>
          <a:prstGeom prst="rect">
            <a:avLst/>
          </a:prstGeom>
          <a:noFill/>
          <a:ln w="9525">
            <a:noFill/>
            <a:miter lim="800000"/>
          </a:ln>
        </p:spPr>
        <p:txBody>
          <a:bodyPr wrap="square">
            <a:spAutoFit/>
          </a:bodyPr>
          <a:lstStyle/>
          <a:p>
            <a:pPr indent="0">
              <a:spcBef>
                <a:spcPct val="50000"/>
              </a:spcBef>
              <a:buFont typeface="Arial" panose="020B0604020202020204" pitchFamily="34" charset="0"/>
              <a:buNone/>
            </a:pPr>
            <a:r>
              <a:rPr lang="zh-CN" sz="2800" dirty="0">
                <a:latin typeface="华文中宋" panose="02010600040101010101" pitchFamily="2" charset="-122"/>
                <a:ea typeface="华文中宋" panose="02010600040101010101" pitchFamily="2" charset="-122"/>
                <a:cs typeface="Times New Roman" panose="02020603050405020304" pitchFamily="18" charset="0"/>
              </a:rPr>
              <a:t>Paola Inverardi等人提出了一种需求与</a:t>
            </a:r>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体系结构</a:t>
            </a:r>
            <a:r>
              <a:rPr lang="zh-CN" sz="2800" dirty="0">
                <a:latin typeface="华文中宋" panose="02010600040101010101" pitchFamily="2" charset="-122"/>
                <a:ea typeface="华文中宋" panose="02010600040101010101" pitchFamily="2" charset="-122"/>
                <a:cs typeface="Times New Roman" panose="02020603050405020304" pitchFamily="18" charset="0"/>
              </a:rPr>
              <a:t>协同演化方法，并讨论了模型间一致性检查方法。</a:t>
            </a:r>
            <a:endParaRPr lang="en-US" altLang="zh-CN" sz="2800" dirty="0">
              <a:latin typeface="华文中宋" panose="02010600040101010101" pitchFamily="2" charset="-122"/>
              <a:ea typeface="华文中宋" panose="02010600040101010101" pitchFamily="2" charset="-122"/>
              <a:cs typeface="Times New Roman" panose="02020603050405020304" pitchFamily="18" charset="0"/>
            </a:endParaRPr>
          </a:p>
          <a:p>
            <a:r>
              <a:rPr lang="zh-CN" altLang="en-US" sz="2800" dirty="0">
                <a:latin typeface="华文中宋" panose="02010600040101010101" pitchFamily="2" charset="-122"/>
                <a:ea typeface="华文中宋" panose="02010600040101010101" pitchFamily="2" charset="-122"/>
              </a:rPr>
              <a:t>步骤：</a:t>
            </a:r>
            <a:endParaRPr lang="en-US" altLang="zh-CN" sz="2800" dirty="0">
              <a:latin typeface="华文中宋" panose="02010600040101010101" pitchFamily="2" charset="-122"/>
              <a:ea typeface="华文中宋" panose="02010600040101010101" pitchFamily="2" charset="-122"/>
            </a:endParaRPr>
          </a:p>
          <a:p>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（1）基于UML的开发过程，通过用例和交互图在需求层面捕获协同策略。</a:t>
            </a: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a:p>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（2）从UML图到体系结构模型。分析步骤1建立的交互图，了解体系结构组件的动态交互关系，通过体系结构语言表述系统行为。</a:t>
            </a: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a:p>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（3）验证软件体系结构动态模型的交互关系。</a:t>
            </a: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a:p>
            <a:r>
              <a:rPr lang="zh-CN" altLang="en-US" sz="2800" dirty="0">
                <a:latin typeface="华文中宋" panose="02010600040101010101" pitchFamily="2" charset="-122"/>
                <a:ea typeface="华文中宋" panose="02010600040101010101" pitchFamily="2" charset="-122"/>
                <a:cs typeface="Times New Roman" panose="02020603050405020304" pitchFamily="18" charset="0"/>
              </a:rPr>
              <a:t>（4）从软件体系结构模型到IWIM（Idealized Worker Idealized Manager）模型。</a:t>
            </a:r>
            <a:endParaRPr lang="zh-CN" altLang="en-US" sz="2800" dirty="0">
              <a:latin typeface="华文中宋" panose="02010600040101010101" pitchFamily="2" charset="-122"/>
              <a:ea typeface="华文中宋" panose="02010600040101010101" pitchFamily="2" charset="-122"/>
              <a:cs typeface="Times New Roman" panose="02020603050405020304" pitchFamily="18" charset="0"/>
            </a:endParaRPr>
          </a:p>
          <a:p>
            <a:pPr indent="0">
              <a:spcBef>
                <a:spcPct val="50000"/>
              </a:spcBef>
              <a:buFont typeface="Arial" panose="020B0604020202020204" pitchFamily="34" charset="0"/>
              <a:buNone/>
            </a:pPr>
            <a:endParaRPr lang="zh-CN" sz="2800" dirty="0">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4" name="文本框 3"/>
          <p:cNvSpPr txBox="1"/>
          <p:nvPr/>
        </p:nvSpPr>
        <p:spPr>
          <a:xfrm>
            <a:off x="1331640" y="1196752"/>
            <a:ext cx="7079955" cy="830997"/>
          </a:xfrm>
          <a:prstGeom prst="rect">
            <a:avLst/>
          </a:prstGeom>
          <a:noFill/>
        </p:spPr>
        <p:txBody>
          <a:bodyPr wrap="square" rtlCol="0">
            <a:spAutoFit/>
          </a:bodyPr>
          <a:lstStyle/>
          <a:p>
            <a:r>
              <a:rPr lang="zh-CN" altLang="en-US" sz="2400" dirty="0"/>
              <a:t>      这种方法应用于电信业务和远程医疗保健系统（TRMCS），并得到了很好的发挥。</a:t>
            </a:r>
            <a:endParaRPr lang="zh-CN" altLang="en-US" sz="2400" dirty="0"/>
          </a:p>
        </p:txBody>
      </p:sp>
      <p:graphicFrame>
        <p:nvGraphicFramePr>
          <p:cNvPr id="2" name="对象 -2147482623"/>
          <p:cNvGraphicFramePr/>
          <p:nvPr/>
        </p:nvGraphicFramePr>
        <p:xfrm>
          <a:off x="357158" y="2214554"/>
          <a:ext cx="8786842" cy="3446694"/>
        </p:xfrm>
        <a:graphic>
          <a:graphicData uri="http://schemas.openxmlformats.org/presentationml/2006/ole">
            <mc:AlternateContent xmlns:mc="http://schemas.openxmlformats.org/markup-compatibility/2006">
              <mc:Choice xmlns:v="urn:schemas-microsoft-com:vml" Requires="v">
                <p:oleObj spid="_x0000_s45113" name="" r:id="rId1" imgW="10325100" imgH="3784600" progId="Visio.Drawing.11">
                  <p:embed/>
                </p:oleObj>
              </mc:Choice>
              <mc:Fallback>
                <p:oleObj name="" r:id="rId1" imgW="10325100" imgH="3784600" progId="Visio.Drawing.11">
                  <p:embed/>
                  <p:pic>
                    <p:nvPicPr>
                      <p:cNvPr id="0" name="对象 -21474826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2214554"/>
                        <a:ext cx="8786842" cy="3446694"/>
                      </a:xfrm>
                      <a:prstGeom prst="rect">
                        <a:avLst/>
                      </a:prstGeom>
                      <a:noFill/>
                      <a:ln>
                        <a:noFill/>
                      </a:ln>
                    </p:spPr>
                  </p:pic>
                </p:oleObj>
              </mc:Fallback>
            </mc:AlternateContent>
          </a:graphicData>
        </a:graphic>
      </p:graphicFrame>
      <p:sp>
        <p:nvSpPr>
          <p:cNvPr id="6" name="Rectangle 1029"/>
          <p:cNvSpPr>
            <a:spLocks noChangeArrowheads="1"/>
          </p:cNvSpPr>
          <p:nvPr/>
        </p:nvSpPr>
        <p:spPr bwMode="auto">
          <a:xfrm>
            <a:off x="539552" y="0"/>
            <a:ext cx="6596236" cy="685800"/>
          </a:xfrm>
          <a:prstGeom prst="rect">
            <a:avLst/>
          </a:prstGeom>
          <a:noFill/>
          <a:ln w="9525">
            <a:noFill/>
            <a:miter lim="800000"/>
          </a:ln>
        </p:spPr>
        <p:txBody>
          <a:bodyPr/>
          <a:lstStyle/>
          <a:p>
            <a:r>
              <a:rPr lang="zh-CN" altLang="en-US" sz="4000" dirty="0">
                <a:solidFill>
                  <a:schemeClr val="bg1"/>
                </a:solidFill>
                <a:effectLst>
                  <a:outerShdw blurRad="50000" dist="30000" dir="5400000" algn="tl" rotWithShape="0">
                    <a:srgbClr val="000000">
                      <a:alpha val="30000"/>
                    </a:srgbClr>
                  </a:outerShdw>
                </a:effectLst>
              </a:rPr>
              <a:t>（</a:t>
            </a:r>
            <a:r>
              <a:rPr lang="en-US" altLang="zh-CN" sz="4000" dirty="0">
                <a:solidFill>
                  <a:schemeClr val="bg1"/>
                </a:solidFill>
                <a:effectLst>
                  <a:outerShdw blurRad="50000" dist="30000" dir="5400000" algn="tl" rotWithShape="0">
                    <a:srgbClr val="000000">
                      <a:alpha val="30000"/>
                    </a:srgbClr>
                  </a:outerShdw>
                </a:effectLst>
              </a:rPr>
              <a:t>6</a:t>
            </a:r>
            <a:r>
              <a:rPr lang="zh-CN" altLang="en-US" sz="4000" dirty="0">
                <a:solidFill>
                  <a:schemeClr val="bg1"/>
                </a:solidFill>
                <a:effectLst>
                  <a:outerShdw blurRad="50000" dist="30000" dir="5400000" algn="tl" rotWithShape="0">
                    <a:srgbClr val="000000">
                      <a:alpha val="30000"/>
                    </a:srgbClr>
                  </a:outerShdw>
                </a:effectLst>
              </a:rPr>
              <a:t>）需求与体系结构协同演化方法：</a:t>
            </a:r>
            <a:endParaRPr lang="zh-CN" altLang="zh-CN" sz="4000" dirty="0">
              <a:solidFill>
                <a:schemeClr val="bg1"/>
              </a:solidFill>
              <a:effectLst>
                <a:outerShdw blurRad="50000" dist="30000" dir="5400000" algn="tl" rotWithShape="0">
                  <a:srgbClr val="000000">
                    <a:alpha val="30000"/>
                  </a:srgbClr>
                </a:outerShdw>
              </a:effectLst>
            </a:endParaRPr>
          </a:p>
        </p:txBody>
      </p:sp>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251520" y="29416"/>
            <a:ext cx="6984776"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7</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CBSP</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的体系结构形成方法</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a:p>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a:spLocks noGrp="1"/>
          </p:cNvSpPr>
          <p:nvPr>
            <p:ph idx="1"/>
          </p:nvPr>
        </p:nvSpPr>
        <p:spPr>
          <a:xfrm>
            <a:off x="611560" y="1556792"/>
            <a:ext cx="8322128" cy="5015480"/>
          </a:xfrm>
        </p:spPr>
        <p:txBody>
          <a:bodyPr>
            <a:noAutofit/>
          </a:bodyPr>
          <a:lstStyle/>
          <a:p>
            <a:r>
              <a:rPr lang="zh-CN" altLang="en-US" sz="2800" dirty="0"/>
              <a:t>Paul Grunbacher等人提出了一种保持软件需求与体系结构一致性的组件-总线-系统-特性方法（CBSP，Component-Bus-System-Property） 方法。</a:t>
            </a:r>
            <a:endParaRPr lang="zh-CN" altLang="en-US" sz="2800" dirty="0"/>
          </a:p>
          <a:p>
            <a:r>
              <a:rPr lang="zh-CN" altLang="en-US" sz="2800" dirty="0"/>
              <a:t>步骤：</a:t>
            </a:r>
            <a:endParaRPr lang="zh-CN" altLang="en-US" sz="2800" dirty="0"/>
          </a:p>
          <a:p>
            <a:pPr lvl="1"/>
            <a:r>
              <a:rPr lang="zh-CN" altLang="en-US" sz="2400" dirty="0"/>
              <a:t>（1）首先定义CBSP分类法</a:t>
            </a:r>
            <a:endParaRPr lang="zh-CN" altLang="en-US" sz="2400" dirty="0"/>
          </a:p>
          <a:p>
            <a:pPr lvl="1"/>
            <a:r>
              <a:rPr lang="zh-CN" altLang="en-US" sz="2400" dirty="0"/>
              <a:t>（2）进一步选择需求</a:t>
            </a:r>
            <a:endParaRPr lang="zh-CN" altLang="en-US" sz="2400" dirty="0"/>
          </a:p>
          <a:p>
            <a:pPr lvl="1"/>
            <a:r>
              <a:rPr lang="zh-CN" altLang="en-US" sz="2400" dirty="0"/>
              <a:t>（3）分类需求</a:t>
            </a:r>
            <a:endParaRPr lang="zh-CN" altLang="en-US" sz="2400" dirty="0"/>
          </a:p>
          <a:p>
            <a:pPr lvl="1"/>
            <a:r>
              <a:rPr lang="zh-CN" altLang="en-US" sz="2400" dirty="0"/>
              <a:t>（4）识别和解决分类中的冲突</a:t>
            </a:r>
            <a:endParaRPr lang="zh-CN" altLang="en-US" sz="2400" dirty="0"/>
          </a:p>
          <a:p>
            <a:pPr lvl="1"/>
            <a:r>
              <a:rPr lang="zh-CN" altLang="en-US" sz="2400" dirty="0"/>
              <a:t>（5）细化需求</a:t>
            </a:r>
            <a:endParaRPr lang="zh-CN" altLang="en-US" sz="2400" dirty="0"/>
          </a:p>
          <a:p>
            <a:pPr lvl="1"/>
            <a:r>
              <a:rPr lang="zh-CN" altLang="en-US" sz="2400" dirty="0"/>
              <a:t>（6）派生体系结构风格</a:t>
            </a:r>
            <a:endParaRPr lang="zh-CN" altLang="en-US" sz="2200" dirty="0"/>
          </a:p>
        </p:txBody>
      </p:sp>
    </p:spTree>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107504" y="0"/>
            <a:ext cx="709228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7</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CBSP</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的体系结构形成方法</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a:p>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graphicFrame>
        <p:nvGraphicFramePr>
          <p:cNvPr id="2" name="对象 -2147482622"/>
          <p:cNvGraphicFramePr/>
          <p:nvPr/>
        </p:nvGraphicFramePr>
        <p:xfrm>
          <a:off x="4644008" y="857232"/>
          <a:ext cx="4499992" cy="6000768"/>
        </p:xfrm>
        <a:graphic>
          <a:graphicData uri="http://schemas.openxmlformats.org/presentationml/2006/ole">
            <mc:AlternateContent xmlns:mc="http://schemas.openxmlformats.org/markup-compatibility/2006">
              <mc:Choice xmlns:v="urn:schemas-microsoft-com:vml" Requires="v">
                <p:oleObj spid="_x0000_s46137" name="" r:id="rId1" imgW="5664200" imgH="6794500" progId="Visio.Drawing.11">
                  <p:embed/>
                </p:oleObj>
              </mc:Choice>
              <mc:Fallback>
                <p:oleObj name="" r:id="rId1" imgW="5664200" imgH="6794500" progId="Visio.Drawing.11">
                  <p:embed/>
                  <p:pic>
                    <p:nvPicPr>
                      <p:cNvPr id="0" name="对象 -214748262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857232"/>
                        <a:ext cx="4499992" cy="6000768"/>
                      </a:xfrm>
                      <a:prstGeom prst="rect">
                        <a:avLst/>
                      </a:prstGeom>
                      <a:noFill/>
                      <a:ln>
                        <a:noFill/>
                      </a:ln>
                    </p:spPr>
                  </p:pic>
                </p:oleObj>
              </mc:Fallback>
            </mc:AlternateContent>
          </a:graphicData>
        </a:graphic>
      </p:graphicFrame>
    </p:spTree>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400048" y="2901"/>
            <a:ext cx="6620224"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8</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）基于</a:t>
            </a:r>
            <a:r>
              <a:rPr lang="en-US" altLang="zh-CN" sz="3900" dirty="0" err="1">
                <a:solidFill>
                  <a:schemeClr val="bg1"/>
                </a:solidFill>
                <a:effectLst>
                  <a:outerShdw blurRad="50000" dist="30000" dir="5400000" algn="tl" rotWithShape="0">
                    <a:srgbClr val="000000">
                      <a:alpha val="30000"/>
                    </a:srgbClr>
                  </a:outerShdw>
                </a:effectLst>
                <a:latin typeface="+mj-lt"/>
                <a:ea typeface="+mj-ea"/>
                <a:cs typeface="+mj-cs"/>
              </a:rPr>
              <a:t>WinWin</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模型与</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CBSP</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结合的体系结构形成方法</a:t>
            </a:r>
            <a:endParaRPr lang="zh-CN" altLang="en-US" sz="3900" dirty="0">
              <a:solidFill>
                <a:schemeClr val="bg1"/>
              </a:solidFill>
              <a:effectLst>
                <a:outerShdw blurRad="50000" dist="30000" dir="5400000" algn="tl" rotWithShape="0">
                  <a:srgbClr val="000000">
                    <a:alpha val="30000"/>
                  </a:srgbClr>
                </a:outerShdw>
              </a:effectLst>
              <a:latin typeface="+mj-lt"/>
              <a:ea typeface="+mj-ea"/>
              <a:cs typeface="+mj-cs"/>
            </a:endParaRPr>
          </a:p>
          <a:p>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6" name="内容占位符 2"/>
          <p:cNvSpPr>
            <a:spLocks noGrp="1"/>
          </p:cNvSpPr>
          <p:nvPr>
            <p:ph idx="1"/>
          </p:nvPr>
        </p:nvSpPr>
        <p:spPr>
          <a:xfrm>
            <a:off x="611560" y="1500150"/>
            <a:ext cx="8179252" cy="5357850"/>
          </a:xfrm>
        </p:spPr>
        <p:txBody>
          <a:bodyPr>
            <a:noAutofit/>
          </a:bodyPr>
          <a:lstStyle/>
          <a:p>
            <a:r>
              <a:rPr lang="zh-CN" altLang="en-US" sz="2800" dirty="0"/>
              <a:t>Nenad Medvidovic等人首先开发了WinWin模型用于协助需求协商。</a:t>
            </a:r>
            <a:endParaRPr lang="en-US" altLang="zh-CN" sz="2800" dirty="0"/>
          </a:p>
          <a:p>
            <a:r>
              <a:rPr lang="en-US" sz="2800" dirty="0" err="1"/>
              <a:t>WinWin</a:t>
            </a:r>
            <a:r>
              <a:rPr lang="zh-CN" altLang="en-US" sz="2800" dirty="0"/>
              <a:t>定义了一个模型用于指导协商过程：利益相关者的目标被表述为胜利条件，通过捕获已知的约束、问题、冲突进行分析并提供解决方案，如果开发人员与利益相关者达成共识，则方案将被确定。</a:t>
            </a:r>
            <a:endParaRPr lang="zh-CN" altLang="en-US" sz="2800" dirty="0"/>
          </a:p>
          <a:p>
            <a:r>
              <a:rPr lang="zh-CN" altLang="en-US" sz="2800" dirty="0"/>
              <a:t>步骤：</a:t>
            </a:r>
            <a:endParaRPr lang="en-US" altLang="zh-CN" sz="2800" dirty="0"/>
          </a:p>
          <a:p>
            <a:pPr lvl="1"/>
            <a:r>
              <a:rPr lang="zh-CN" altLang="en-US" sz="2400" dirty="0"/>
              <a:t>（1）用</a:t>
            </a:r>
            <a:r>
              <a:rPr lang="en-US" sz="2400" dirty="0" err="1"/>
              <a:t>WinWin</a:t>
            </a:r>
            <a:r>
              <a:rPr lang="zh-CN" altLang="en-US" sz="2400" dirty="0"/>
              <a:t>模型对软件需求进行建模。</a:t>
            </a:r>
            <a:endParaRPr lang="zh-CN" altLang="en-US" sz="2400" dirty="0"/>
          </a:p>
          <a:p>
            <a:pPr lvl="1"/>
            <a:r>
              <a:rPr lang="zh-CN" altLang="en-US" sz="2400" dirty="0"/>
              <a:t>（2）用</a:t>
            </a:r>
            <a:r>
              <a:rPr lang="en-US" sz="2400" dirty="0"/>
              <a:t>CBSP</a:t>
            </a:r>
            <a:r>
              <a:rPr lang="zh-CN" altLang="en-US" sz="2400" dirty="0"/>
              <a:t>模型建立需求到体系结构的模型连接器。</a:t>
            </a:r>
            <a:endParaRPr lang="zh-CN" altLang="en-US" sz="2400" dirty="0"/>
          </a:p>
          <a:p>
            <a:pPr lvl="1"/>
            <a:r>
              <a:rPr lang="zh-CN" altLang="en-US" sz="2400" dirty="0"/>
              <a:t>（3）对软件体系结构进行建模，根据开发情况，选择满足条件的最优软件体系结构风格。</a:t>
            </a:r>
            <a:endParaRPr lang="zh-CN" altLang="en-US" sz="2400" dirty="0"/>
          </a:p>
          <a:p>
            <a:endParaRPr lang="zh-CN" altLang="en-US" sz="2800" dirty="0"/>
          </a:p>
        </p:txBody>
      </p:sp>
    </p:spTree>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35496" y="260648"/>
            <a:ext cx="777240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9</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）面向特征的映射和转换方法</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6" name="内容占位符 2"/>
          <p:cNvSpPr>
            <a:spLocks noGrp="1"/>
          </p:cNvSpPr>
          <p:nvPr>
            <p:ph idx="1"/>
          </p:nvPr>
        </p:nvSpPr>
        <p:spPr>
          <a:xfrm>
            <a:off x="712363" y="1357298"/>
            <a:ext cx="7719274" cy="5357850"/>
          </a:xfrm>
        </p:spPr>
        <p:txBody>
          <a:bodyPr>
            <a:noAutofit/>
          </a:bodyPr>
          <a:lstStyle/>
          <a:p>
            <a:r>
              <a:rPr lang="zh-CN" altLang="en-US" sz="2800" dirty="0"/>
              <a:t>刘冬云和梅宏探讨了一种面向特征的映射和转换方法，通过在需求工程和体系结构设计中引入“面向特征”风范，改善了需求模型与软件体系结构之间的映射关系和可追踪性。</a:t>
            </a:r>
            <a:endParaRPr lang="en-US" altLang="zh-CN" sz="2800" dirty="0"/>
          </a:p>
          <a:p>
            <a:r>
              <a:rPr lang="zh-CN" altLang="en-US" sz="2800" dirty="0"/>
              <a:t>该方法可适合于迭代的、增量的或演化的开发范型。</a:t>
            </a:r>
            <a:endParaRPr lang="zh-CN" altLang="en-US" sz="2800" dirty="0"/>
          </a:p>
          <a:p>
            <a:r>
              <a:rPr lang="zh-CN" altLang="en-US" sz="2800" dirty="0"/>
              <a:t>步骤：</a:t>
            </a:r>
            <a:endParaRPr lang="zh-CN" altLang="en-US" sz="2800" dirty="0"/>
          </a:p>
          <a:p>
            <a:pPr lvl="1"/>
            <a:r>
              <a:rPr lang="zh-CN" altLang="en-US" sz="2400" dirty="0"/>
              <a:t>（1）面向特征的需求建模。</a:t>
            </a:r>
            <a:endParaRPr lang="zh-CN" altLang="en-US" sz="2400" dirty="0"/>
          </a:p>
          <a:p>
            <a:pPr lvl="1"/>
            <a:r>
              <a:rPr lang="zh-CN" altLang="en-US" sz="2400" dirty="0"/>
              <a:t>（2）概念体系结构建模。</a:t>
            </a:r>
            <a:endParaRPr lang="zh-CN" altLang="en-US" sz="2400" dirty="0"/>
          </a:p>
          <a:p>
            <a:pPr lvl="1"/>
            <a:r>
              <a:rPr lang="zh-CN" altLang="en-US" sz="2400" dirty="0"/>
              <a:t>（3）逻辑体系结构建模。</a:t>
            </a:r>
            <a:endParaRPr lang="zh-CN" altLang="en-US" sz="2400" dirty="0"/>
          </a:p>
          <a:p>
            <a:pPr lvl="1"/>
            <a:r>
              <a:rPr lang="zh-CN" altLang="en-US" sz="2400" dirty="0"/>
              <a:t>（4）部署体系结构建模。</a:t>
            </a:r>
            <a:endParaRPr lang="zh-CN" altLang="en-US" sz="2400" dirty="0"/>
          </a:p>
          <a:p>
            <a:endParaRPr lang="zh-CN" altLang="en-US" sz="2800" dirty="0"/>
          </a:p>
        </p:txBody>
      </p:sp>
    </p:spTree>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395536" y="260648"/>
            <a:ext cx="777240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sym typeface="+mn-ea"/>
              </a:rPr>
              <a:t>需求与体系结构的协同演化</a:t>
            </a:r>
            <a:endParaRPr lang="zh-CN" alt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6" name="内容占位符 2"/>
          <p:cNvSpPr>
            <a:spLocks noGrp="1"/>
          </p:cNvSpPr>
          <p:nvPr>
            <p:ph idx="1"/>
          </p:nvPr>
        </p:nvSpPr>
        <p:spPr>
          <a:xfrm>
            <a:off x="712363" y="1357298"/>
            <a:ext cx="7719274" cy="5357850"/>
          </a:xfrm>
        </p:spPr>
        <p:txBody>
          <a:bodyPr>
            <a:noAutofit/>
          </a:bodyPr>
          <a:lstStyle/>
          <a:p>
            <a:r>
              <a:rPr lang="zh-CN" altLang="en-US" sz="2800" dirty="0"/>
              <a:t>软件需求和软件体系结构两者是相辅相成的关系，一方面软件需求影响软件体系结构设计，另一方面软件体系结构帮助需求分析的明确和细化。</a:t>
            </a:r>
            <a:endParaRPr lang="en-US" altLang="zh-CN" sz="2800" dirty="0"/>
          </a:p>
          <a:p>
            <a:r>
              <a:rPr lang="zh-CN" altLang="en-US" sz="2800" dirty="0"/>
              <a:t>需求与体系结构的互相影响可以看成一个螺旋的过程，也是一个双峰的过程。</a:t>
            </a:r>
            <a:endParaRPr lang="en-US" altLang="zh-CN" sz="2800" dirty="0"/>
          </a:p>
          <a:p>
            <a:pPr lvl="1"/>
            <a:r>
              <a:rPr lang="zh-CN" altLang="en-US" sz="2400" dirty="0"/>
              <a:t>双峰模型强调软件需求和软件体系结构的平等性，它是简化版的螺旋模型，在发展需求和体系结构规约同时，继续从解决方案的结构和规约中分离问题的结构和规约，在一个反复的过程中，产生更详细的需求规约和设计规约，最终把交织在软件开发过程中的设计规约和需求规约分离开来。</a:t>
            </a:r>
            <a:endParaRPr lang="zh-CN" altLang="en-US" sz="2400" dirty="0"/>
          </a:p>
          <a:p>
            <a:endParaRPr lang="en-US" altLang="zh-CN" sz="2800" dirty="0"/>
          </a:p>
          <a:p>
            <a:endParaRPr lang="zh-CN" altLang="en-US" sz="2800" dirty="0"/>
          </a:p>
        </p:txBody>
      </p:sp>
    </p:spTree>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灯片编号占位符 5"/>
          <p:cNvSpPr>
            <a:spLocks noGrp="1"/>
          </p:cNvSpPr>
          <p:nvPr>
            <p:ph type="sldNum" sz="quarter" idx="12"/>
          </p:nvPr>
        </p:nvSpPr>
        <p:spPr>
          <a:noFill/>
        </p:spPr>
        <p:txBody>
          <a:bodyPr/>
          <a:lstStyle/>
          <a:p>
            <a:fld id="{3F2E1CB9-5EF4-44B5-93B7-6701863F375F}"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7413" name="Rectangle 1029"/>
          <p:cNvSpPr>
            <a:spLocks noChangeArrowheads="1"/>
          </p:cNvSpPr>
          <p:nvPr/>
        </p:nvSpPr>
        <p:spPr bwMode="auto">
          <a:xfrm>
            <a:off x="395536" y="188640"/>
            <a:ext cx="777240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sym typeface="+mn-ea"/>
              </a:rPr>
              <a:t>需求与体系结构的协同演化</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graphicFrame>
        <p:nvGraphicFramePr>
          <p:cNvPr id="2" name="对象 -2147482621"/>
          <p:cNvGraphicFramePr/>
          <p:nvPr/>
        </p:nvGraphicFramePr>
        <p:xfrm>
          <a:off x="107504" y="1484784"/>
          <a:ext cx="8715404" cy="5143536"/>
        </p:xfrm>
        <a:graphic>
          <a:graphicData uri="http://schemas.openxmlformats.org/presentationml/2006/ole">
            <mc:AlternateContent xmlns:mc="http://schemas.openxmlformats.org/markup-compatibility/2006">
              <mc:Choice xmlns:v="urn:schemas-microsoft-com:vml" Requires="v">
                <p:oleObj spid="_x0000_s47161" name="" r:id="rId1" imgW="12141200" imgH="6959600" progId="Visio.Drawing.11">
                  <p:embed/>
                </p:oleObj>
              </mc:Choice>
              <mc:Fallback>
                <p:oleObj name="" r:id="rId1" imgW="12141200" imgH="6959600" progId="Visio.Drawing.11">
                  <p:embed/>
                  <p:pic>
                    <p:nvPicPr>
                      <p:cNvPr id="0" name="对象 -21474826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84784"/>
                        <a:ext cx="8715404" cy="514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灯片编号占位符 5"/>
          <p:cNvSpPr>
            <a:spLocks noGrp="1"/>
          </p:cNvSpPr>
          <p:nvPr>
            <p:ph type="sldNum" sz="quarter" idx="12"/>
          </p:nvPr>
        </p:nvSpPr>
        <p:spPr>
          <a:noFill/>
        </p:spPr>
        <p:txBody>
          <a:bodyPr/>
          <a:lstStyle/>
          <a:p>
            <a:fld id="{F28DEE46-9FDF-4880-BA6A-2BA9DA8DC462}"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 name="Rectangle 1029"/>
          <p:cNvSpPr>
            <a:spLocks noChangeArrowheads="1"/>
          </p:cNvSpPr>
          <p:nvPr/>
        </p:nvSpPr>
        <p:spPr bwMode="auto">
          <a:xfrm>
            <a:off x="467544" y="188640"/>
            <a:ext cx="7772400"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到详细设计</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graphicFrame>
        <p:nvGraphicFramePr>
          <p:cNvPr id="2" name="对象 1"/>
          <p:cNvGraphicFramePr/>
          <p:nvPr/>
        </p:nvGraphicFramePr>
        <p:xfrm>
          <a:off x="1071538" y="1214422"/>
          <a:ext cx="7358114" cy="5357849"/>
        </p:xfrm>
        <a:graphic>
          <a:graphicData uri="http://schemas.openxmlformats.org/presentationml/2006/ole">
            <mc:AlternateContent xmlns:mc="http://schemas.openxmlformats.org/markup-compatibility/2006">
              <mc:Choice xmlns:v="urn:schemas-microsoft-com:vml" Requires="v">
                <p:oleObj spid="_x0000_s48185" name="Visio" r:id="rId1" imgW="4410710" imgH="3399790" progId="Visio.Drawing.11">
                  <p:embed/>
                </p:oleObj>
              </mc:Choice>
              <mc:Fallback>
                <p:oleObj name="Visio" r:id="rId1" imgW="4410710" imgH="3399790" progId="Visio.Drawing.11">
                  <p:embed/>
                  <p:pic>
                    <p:nvPicPr>
                      <p:cNvPr id="0" name="对象 1"/>
                      <p:cNvPicPr>
                        <a:picLocks noChangeArrowheads="1"/>
                      </p:cNvPicPr>
                      <p:nvPr/>
                    </p:nvPicPr>
                    <p:blipFill>
                      <a:blip r:embed="rId2"/>
                      <a:srcRect/>
                      <a:stretch>
                        <a:fillRect/>
                      </a:stretch>
                    </p:blipFill>
                    <p:spPr bwMode="auto">
                      <a:xfrm>
                        <a:off x="1071538" y="1214422"/>
                        <a:ext cx="7358114" cy="535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灯片编号占位符 3"/>
          <p:cNvSpPr>
            <a:spLocks noGrp="1"/>
          </p:cNvSpPr>
          <p:nvPr>
            <p:ph type="sldNum" sz="quarter" idx="12"/>
          </p:nvPr>
        </p:nvSpPr>
        <p:spPr>
          <a:noFill/>
        </p:spPr>
        <p:txBody>
          <a:bodyPr/>
          <a:lstStyle/>
          <a:p>
            <a:fld id="{1E9FA019-7042-42C4-8D38-BDE54EEB962C}"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 name="Rectangle 1029"/>
          <p:cNvSpPr>
            <a:spLocks noChangeArrowheads="1"/>
          </p:cNvSpPr>
          <p:nvPr/>
        </p:nvSpPr>
        <p:spPr bwMode="auto">
          <a:xfrm>
            <a:off x="642910" y="0"/>
            <a:ext cx="581504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详细设计对软件体系结构的影响（</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1</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9" name="内容占位符 2"/>
          <p:cNvSpPr txBox="1"/>
          <p:nvPr/>
        </p:nvSpPr>
        <p:spPr>
          <a:xfrm>
            <a:off x="1424726" y="1500150"/>
            <a:ext cx="7719274" cy="5357850"/>
          </a:xfrm>
          <a:prstGeom prst="rect">
            <a:avLst/>
          </a:prstGeom>
        </p:spPr>
        <p:txBody>
          <a:bodyPr>
            <a:no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内容占位符 2"/>
          <p:cNvSpPr txBox="1"/>
          <p:nvPr/>
        </p:nvSpPr>
        <p:spPr>
          <a:xfrm>
            <a:off x="712363" y="1344763"/>
            <a:ext cx="7719274" cy="5357850"/>
          </a:xfrm>
          <a:prstGeom prst="rect">
            <a:avLst/>
          </a:prstGeom>
        </p:spPr>
        <p:txBody>
          <a:bodyPr>
            <a:no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r>
              <a:rPr lang="zh-CN" altLang="en-US" sz="2800" dirty="0">
                <a:latin typeface="+mn-ea"/>
              </a:rPr>
              <a:t>详细设计主要集中在体系结构表达式的细化，选择详细的数据结构和算法。</a:t>
            </a:r>
            <a:endParaRPr lang="en-US" altLang="zh-CN" sz="2800" dirty="0">
              <a:latin typeface="+mn-ea"/>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r>
              <a:rPr lang="zh-CN" altLang="en-US" sz="2800" dirty="0">
                <a:latin typeface="+mn-ea"/>
              </a:rPr>
              <a:t>具体的说，详细设计阶段就是确定如何具体实现所需的系统，得到一个接近源代码的软件表示。</a:t>
            </a:r>
            <a:endParaRPr lang="en-US" altLang="zh-CN" sz="2800" dirty="0">
              <a:latin typeface="+mn-ea"/>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r>
              <a:rPr lang="zh-CN" altLang="en-US" sz="2800" dirty="0">
                <a:latin typeface="+mn-ea"/>
              </a:rPr>
              <a:t>为了促进从体系结构向详细设计的转化，可以在软件体系结构设计中引入详细设计的概念，即在软件体系结构描述语言中引入与实现相关的元素。</a:t>
            </a:r>
            <a:endParaRPr lang="en-US" altLang="zh-CN" sz="2800" dirty="0">
              <a:latin typeface="+mn-ea"/>
            </a:endParaRPr>
          </a:p>
          <a:p>
            <a:pPr marL="822960" lvl="1" indent="-283210">
              <a:spcBef>
                <a:spcPts val="600"/>
              </a:spcBef>
              <a:buClr>
                <a:schemeClr val="accent1"/>
              </a:buClr>
              <a:buSzPct val="80000"/>
              <a:buFont typeface="Wingdings 2" panose="05020102010507070707"/>
              <a:buChar char=""/>
            </a:pPr>
            <a:r>
              <a:rPr lang="zh-CN" altLang="en-US" sz="2400" dirty="0">
                <a:latin typeface="+mn-ea"/>
              </a:rPr>
              <a:t>如：把</a:t>
            </a:r>
            <a:r>
              <a:rPr lang="en-US" sz="2400" dirty="0">
                <a:latin typeface="+mn-ea"/>
              </a:rPr>
              <a:t>Java</a:t>
            </a:r>
            <a:r>
              <a:rPr lang="zh-CN" altLang="en-US" sz="2400" dirty="0">
                <a:latin typeface="+mn-ea"/>
              </a:rPr>
              <a:t>语言扩展到支持软件体系结构描述的</a:t>
            </a:r>
            <a:r>
              <a:rPr lang="en-US" sz="2400" dirty="0" err="1">
                <a:latin typeface="+mn-ea"/>
              </a:rPr>
              <a:t>ArchJava</a:t>
            </a:r>
            <a:r>
              <a:rPr lang="en-US" sz="2400" dirty="0">
                <a:latin typeface="+mn-ea"/>
              </a:rPr>
              <a:t> </a:t>
            </a:r>
            <a:r>
              <a:rPr lang="zh-CN" altLang="en-US" sz="2400" dirty="0">
                <a:latin typeface="+mn-ea"/>
              </a:rPr>
              <a:t>；在</a:t>
            </a:r>
            <a:r>
              <a:rPr lang="en-US" sz="2400" dirty="0">
                <a:latin typeface="+mn-ea"/>
              </a:rPr>
              <a:t>ADL</a:t>
            </a:r>
            <a:r>
              <a:rPr lang="zh-CN" altLang="en-US" sz="2400" dirty="0">
                <a:latin typeface="+mn-ea"/>
              </a:rPr>
              <a:t>中引入数据类型和函数等支持详细设计</a:t>
            </a:r>
            <a:endParaRPr lang="zh-CN" altLang="en-US" sz="2400" dirty="0">
              <a:latin typeface="+mn-ea"/>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zh-CN" altLang="en-US" sz="2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灯片编号占位符 3"/>
          <p:cNvSpPr>
            <a:spLocks noGrp="1"/>
          </p:cNvSpPr>
          <p:nvPr>
            <p:ph type="sldNum" sz="quarter" idx="12"/>
          </p:nvPr>
        </p:nvSpPr>
        <p:spPr>
          <a:noFill/>
        </p:spPr>
        <p:txBody>
          <a:bodyPr/>
          <a:lstStyle/>
          <a:p>
            <a:fld id="{1E9FA019-7042-42C4-8D38-BDE54EEB962C}"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 name="Rectangle 1029"/>
          <p:cNvSpPr>
            <a:spLocks noChangeArrowheads="1"/>
          </p:cNvSpPr>
          <p:nvPr/>
        </p:nvSpPr>
        <p:spPr bwMode="auto">
          <a:xfrm>
            <a:off x="615352" y="0"/>
            <a:ext cx="581504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详细设计对软件体系结构的影响（</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2</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9" name="内容占位符 2"/>
          <p:cNvSpPr txBox="1"/>
          <p:nvPr/>
        </p:nvSpPr>
        <p:spPr>
          <a:xfrm>
            <a:off x="1424726" y="1500150"/>
            <a:ext cx="7719274" cy="5357850"/>
          </a:xfrm>
          <a:prstGeom prst="rect">
            <a:avLst/>
          </a:prstGeom>
        </p:spPr>
        <p:txBody>
          <a:bodyPr>
            <a:no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内容占位符 2"/>
          <p:cNvSpPr txBox="1"/>
          <p:nvPr/>
        </p:nvSpPr>
        <p:spPr>
          <a:xfrm>
            <a:off x="755576" y="1495637"/>
            <a:ext cx="7935298" cy="5357850"/>
          </a:xfrm>
          <a:prstGeom prst="rect">
            <a:avLst/>
          </a:prstGeom>
        </p:spPr>
        <p:txBody>
          <a:bodyPr>
            <a:noAutofit/>
          </a:bodyPr>
          <a:lstStyle/>
          <a:p>
            <a:pPr marL="365760" indent="-283210">
              <a:spcBef>
                <a:spcPts val="600"/>
              </a:spcBef>
              <a:buClr>
                <a:schemeClr val="accent1"/>
              </a:buClr>
              <a:buSzPct val="80000"/>
              <a:buFont typeface="Wingdings 2" panose="05020102010507070707"/>
              <a:buChar char=""/>
            </a:pPr>
            <a:r>
              <a:rPr lang="zh-CN" altLang="en-US" sz="2800" dirty="0">
                <a:latin typeface="+mn-ea"/>
              </a:rPr>
              <a:t>如：</a:t>
            </a:r>
            <a:r>
              <a:rPr lang="en-US" sz="2800" dirty="0" err="1">
                <a:latin typeface="+mn-ea"/>
              </a:rPr>
              <a:t>ArchJava</a:t>
            </a:r>
            <a:endParaRPr lang="en-US" sz="2800" dirty="0">
              <a:latin typeface="+mn-ea"/>
            </a:endParaRPr>
          </a:p>
          <a:p>
            <a:pPr marL="822960" lvl="1" indent="-283210">
              <a:spcBef>
                <a:spcPts val="600"/>
              </a:spcBef>
              <a:buClr>
                <a:schemeClr val="accent1"/>
              </a:buClr>
              <a:buSzPct val="80000"/>
              <a:buFont typeface="Wingdings 2" panose="05020102010507070707"/>
              <a:buChar char=""/>
            </a:pPr>
            <a:r>
              <a:rPr lang="en-US" sz="2800" dirty="0"/>
              <a:t>Jonathan Aldrich</a:t>
            </a:r>
            <a:r>
              <a:rPr lang="zh-CN" altLang="en-US" sz="2800" dirty="0"/>
              <a:t>等人提出</a:t>
            </a:r>
            <a:r>
              <a:rPr lang="en-US" altLang="zh-CN" sz="2800" dirty="0"/>
              <a:t>, </a:t>
            </a:r>
            <a:r>
              <a:rPr lang="zh-CN" altLang="en-US" sz="2800" dirty="0"/>
              <a:t>一种新型的软件体系结构描述语言</a:t>
            </a:r>
            <a:r>
              <a:rPr lang="en-US" sz="2800" dirty="0" err="1"/>
              <a:t>ArchJava</a:t>
            </a:r>
            <a:endParaRPr lang="en-US" sz="2800" dirty="0"/>
          </a:p>
          <a:p>
            <a:pPr marL="822960" lvl="1" indent="-283210">
              <a:spcBef>
                <a:spcPts val="600"/>
              </a:spcBef>
              <a:buClr>
                <a:schemeClr val="accent1"/>
              </a:buClr>
              <a:buSzPct val="80000"/>
              <a:buFont typeface="Wingdings 2" panose="05020102010507070707"/>
              <a:buChar char=""/>
            </a:pPr>
            <a:r>
              <a:rPr lang="zh-CN" altLang="en-US" sz="2800" dirty="0"/>
              <a:t>在</a:t>
            </a:r>
            <a:r>
              <a:rPr lang="en-US" sz="2800" dirty="0"/>
              <a:t>Java</a:t>
            </a:r>
            <a:r>
              <a:rPr lang="zh-CN" altLang="en-US" sz="2800" dirty="0"/>
              <a:t>语言中增加了组件、连接件、端口等建模元素用于描述软件体系结构模型。</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它将软件体系结构与实现完美的统一起来，确保实现符合体系结构的限制，支持体系结构和实现共同开发。</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灯片编号占位符 3"/>
          <p:cNvSpPr>
            <a:spLocks noGrp="1"/>
          </p:cNvSpPr>
          <p:nvPr>
            <p:ph type="sldNum" sz="quarter" idx="12"/>
          </p:nvPr>
        </p:nvSpPr>
        <p:spPr>
          <a:noFill/>
        </p:spPr>
        <p:txBody>
          <a:bodyPr/>
          <a:lstStyle/>
          <a:p>
            <a:fld id="{1E9FA019-7042-42C4-8D38-BDE54EEB962C}"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 name="Rectangle 1029"/>
          <p:cNvSpPr>
            <a:spLocks noChangeArrowheads="1"/>
          </p:cNvSpPr>
          <p:nvPr/>
        </p:nvSpPr>
        <p:spPr bwMode="auto">
          <a:xfrm>
            <a:off x="539552" y="7450"/>
            <a:ext cx="5688632"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详细设计对软件体系结构的影响（</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3</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alt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9" name="内容占位符 2"/>
          <p:cNvSpPr txBox="1"/>
          <p:nvPr/>
        </p:nvSpPr>
        <p:spPr>
          <a:xfrm>
            <a:off x="1142976" y="1142984"/>
            <a:ext cx="7719274" cy="5357850"/>
          </a:xfrm>
          <a:prstGeom prst="rect">
            <a:avLst/>
          </a:prstGeom>
        </p:spPr>
        <p:txBody>
          <a:bodyPr>
            <a:no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内容占位符 2"/>
          <p:cNvSpPr txBox="1"/>
          <p:nvPr/>
        </p:nvSpPr>
        <p:spPr>
          <a:xfrm>
            <a:off x="1214414" y="1214422"/>
            <a:ext cx="7719274" cy="5357850"/>
          </a:xfrm>
          <a:prstGeom prst="rect">
            <a:avLst/>
          </a:prstGeom>
        </p:spPr>
        <p:txBody>
          <a:bodyPr>
            <a:noAutofit/>
          </a:bodyPr>
          <a:lstStyle/>
          <a:p>
            <a:r>
              <a:rPr lang="en-US" sz="2800" dirty="0"/>
              <a:t> </a:t>
            </a:r>
            <a:endParaRPr lang="en-US" sz="2800" dirty="0">
              <a:latin typeface="+mn-ea"/>
            </a:endParaRPr>
          </a:p>
          <a:p>
            <a:pPr marL="365760" indent="-283210">
              <a:spcBef>
                <a:spcPts val="600"/>
              </a:spcBef>
              <a:buClr>
                <a:schemeClr val="accent1"/>
              </a:buClr>
              <a:buSzPct val="80000"/>
              <a:buFont typeface="Wingdings 2" panose="05020102010507070707"/>
              <a:buChar char=""/>
            </a:pPr>
            <a:r>
              <a:rPr lang="zh-CN" altLang="en-US" sz="2800" dirty="0">
                <a:latin typeface="+mn-ea"/>
              </a:rPr>
              <a:t>再如：研究者</a:t>
            </a:r>
            <a:r>
              <a:rPr lang="zh-CN" altLang="en-US" sz="2800" dirty="0"/>
              <a:t>在</a:t>
            </a:r>
            <a:r>
              <a:rPr lang="en-US" sz="2800" dirty="0"/>
              <a:t>ADL</a:t>
            </a:r>
            <a:r>
              <a:rPr lang="zh-CN" altLang="en-US" sz="2800" dirty="0"/>
              <a:t>中引入数据类型和函数等支持详细设计</a:t>
            </a:r>
            <a:endParaRPr lang="en-US" altLang="zh-CN" sz="2800" dirty="0">
              <a:latin typeface="+mn-ea"/>
            </a:endParaRPr>
          </a:p>
          <a:p>
            <a:pPr marL="822960" lvl="1" indent="-283210">
              <a:spcBef>
                <a:spcPts val="600"/>
              </a:spcBef>
              <a:buClr>
                <a:schemeClr val="accent1"/>
              </a:buClr>
              <a:buSzPct val="80000"/>
              <a:buFont typeface="Wingdings 2" panose="05020102010507070707"/>
              <a:buChar char=""/>
            </a:pPr>
            <a:r>
              <a:rPr lang="en-US" sz="2800" dirty="0" err="1"/>
              <a:t>Nenad</a:t>
            </a:r>
            <a:r>
              <a:rPr lang="en-US" sz="2800" dirty="0"/>
              <a:t> </a:t>
            </a:r>
            <a:r>
              <a:rPr lang="en-US" sz="2800" dirty="0" err="1"/>
              <a:t>Medvidovic</a:t>
            </a:r>
            <a:r>
              <a:rPr lang="zh-CN" altLang="en-US" sz="2800" dirty="0"/>
              <a:t>等人将面向对象的类型系统引入到</a:t>
            </a:r>
            <a:r>
              <a:rPr lang="en-US" sz="2800" dirty="0"/>
              <a:t>C2</a:t>
            </a:r>
            <a:r>
              <a:rPr lang="zh-CN" altLang="en-US" sz="2800" dirty="0"/>
              <a:t>中，并可以在设计阶段通过</a:t>
            </a:r>
            <a:r>
              <a:rPr lang="en-US" sz="2800" dirty="0"/>
              <a:t>OO </a:t>
            </a:r>
            <a:r>
              <a:rPr lang="zh-CN" altLang="en-US" sz="2800" dirty="0"/>
              <a:t>的类、子类型化等概念来规约软件体系结构建模元素。</a:t>
            </a:r>
            <a:endParaRPr lang="en-US" altLang="zh-CN" sz="2800" dirty="0"/>
          </a:p>
          <a:p>
            <a:pPr marL="822960" lvl="1" indent="-283210">
              <a:spcBef>
                <a:spcPts val="600"/>
              </a:spcBef>
              <a:buClr>
                <a:schemeClr val="accent1"/>
              </a:buClr>
              <a:buSzPct val="80000"/>
              <a:buFont typeface="Wingdings 2" panose="05020102010507070707"/>
              <a:buChar char=""/>
            </a:pPr>
            <a:r>
              <a:rPr lang="en-US" sz="2800" dirty="0" err="1"/>
              <a:t>Dashofy</a:t>
            </a:r>
            <a:r>
              <a:rPr lang="zh-CN" altLang="en-US" sz="2800" dirty="0"/>
              <a:t>等人提出的</a:t>
            </a:r>
            <a:r>
              <a:rPr lang="en-US" sz="2800" dirty="0"/>
              <a:t>xADL2</a:t>
            </a:r>
            <a:r>
              <a:rPr lang="zh-CN" altLang="en-US" sz="2800" dirty="0"/>
              <a:t>中，允许软件体系结构设计人员定义与平台或语言</a:t>
            </a:r>
            <a:r>
              <a:rPr lang="en-US" sz="2800" dirty="0"/>
              <a:t>(</a:t>
            </a:r>
            <a:r>
              <a:rPr lang="zh-CN" altLang="en-US" sz="2800" dirty="0"/>
              <a:t>如</a:t>
            </a:r>
            <a:r>
              <a:rPr lang="en-US" sz="2800" dirty="0"/>
              <a:t>CORBA</a:t>
            </a:r>
            <a:r>
              <a:rPr lang="zh-CN" altLang="en-US" sz="2800" dirty="0"/>
              <a:t>，</a:t>
            </a:r>
            <a:r>
              <a:rPr lang="en-US" sz="2800" dirty="0"/>
              <a:t>Java</a:t>
            </a:r>
            <a:r>
              <a:rPr lang="zh-CN" altLang="en-US" sz="2800" dirty="0"/>
              <a:t>等</a:t>
            </a:r>
            <a:r>
              <a:rPr lang="en-US" sz="2800" dirty="0"/>
              <a:t>)</a:t>
            </a:r>
            <a:r>
              <a:rPr lang="zh-CN" altLang="en-US" sz="2800" dirty="0"/>
              <a:t>相关的数据类型、函数声明等</a:t>
            </a: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553294" y="0"/>
            <a:ext cx="5904656"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体系结构映射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详细设计</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1</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323528" y="1454888"/>
            <a:ext cx="8484180" cy="4891102"/>
          </a:xfrm>
          <a:prstGeom prst="rect">
            <a:avLst/>
          </a:prstGeom>
        </p:spPr>
        <p:txBody>
          <a:bodyPr>
            <a:normAutofit fontScale="85000" lnSpcReduction="10000"/>
          </a:bodyPr>
          <a:lstStyle/>
          <a:p>
            <a:pPr marL="365760" lvl="0" indent="-283210">
              <a:spcBef>
                <a:spcPts val="600"/>
              </a:spcBef>
              <a:buClr>
                <a:schemeClr val="accent1"/>
              </a:buClr>
              <a:buSzPct val="80000"/>
              <a:buFont typeface="Wingdings 2" panose="05020102010507070707"/>
              <a:buChar char=""/>
            </a:pPr>
            <a:r>
              <a:rPr lang="zh-CN" altLang="en-US" sz="3200" dirty="0"/>
              <a:t>从设计阶段的软件体系结构模型向代码的转换过程，是将设计阶段的软件体系结构模型逐步精化的过程。</a:t>
            </a:r>
            <a:endParaRPr lang="zh-CN" altLang="en-US" sz="3200" dirty="0"/>
          </a:p>
          <a:p>
            <a:pPr marL="365760" lvl="0" indent="-283210">
              <a:spcBef>
                <a:spcPts val="600"/>
              </a:spcBef>
              <a:buClr>
                <a:schemeClr val="accent1"/>
              </a:buClr>
              <a:buSzPct val="80000"/>
              <a:buFont typeface="Wingdings 2" panose="05020102010507070707"/>
              <a:buChar char=""/>
            </a:pPr>
            <a:r>
              <a:rPr lang="zh-CN" altLang="en-US" sz="3200" dirty="0"/>
              <a:t>软件体系结构映射到详细设计时经常出现的问题：</a:t>
            </a:r>
            <a:endParaRPr lang="zh-CN" altLang="en-US"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1</a:t>
            </a:r>
            <a:r>
              <a:rPr lang="zh-CN" altLang="en-US" sz="3200" dirty="0"/>
              <a:t>）缺失重要体系结构视图，片面强调功能需求。</a:t>
            </a:r>
            <a:endParaRPr lang="zh-CN" altLang="en-US"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2</a:t>
            </a:r>
            <a:r>
              <a:rPr lang="zh-CN" altLang="en-US" sz="3200" dirty="0"/>
              <a:t>）不够深入，停留在概念体系结构层面，遗漏了全局性设计决策。</a:t>
            </a:r>
            <a:endParaRPr lang="zh-CN" altLang="en-US"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3</a:t>
            </a:r>
            <a:r>
              <a:rPr lang="zh-CN" altLang="en-US" sz="3200" dirty="0"/>
              <a:t>）名不副实的分层体系结构，缺失层次之间的交互接口和交互机制，只进行职责划分。</a:t>
            </a:r>
            <a:endParaRPr lang="zh-CN" altLang="en-US"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4</a:t>
            </a:r>
            <a:r>
              <a:rPr lang="zh-CN" altLang="en-US" sz="3200" dirty="0"/>
              <a:t>）在某些方面过度设计。</a:t>
            </a:r>
            <a:endParaRPr lang="zh-CN" altLang="en-US" sz="3200" dirty="0"/>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panose="05020102010507070707"/>
              <a:buChar char=""/>
              <a:defRPr/>
            </a:pP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683568" y="0"/>
            <a:ext cx="5457850"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体系结构映射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详细设计</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2</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467544" y="1357298"/>
            <a:ext cx="8466144" cy="4891102"/>
          </a:xfrm>
          <a:prstGeom prst="rect">
            <a:avLst/>
          </a:prstGeom>
        </p:spPr>
        <p:txBody>
          <a:bodyPr>
            <a:normAutofit fontScale="92500" lnSpcReduction="10000"/>
          </a:bodyPr>
          <a:lstStyle/>
          <a:p>
            <a:pPr marL="365760" indent="-283210">
              <a:spcBef>
                <a:spcPts val="600"/>
              </a:spcBef>
              <a:buClr>
                <a:schemeClr val="accent1"/>
              </a:buClr>
              <a:buSzPct val="80000"/>
              <a:buFont typeface="Wingdings 2" panose="05020102010507070707"/>
              <a:buChar char=""/>
            </a:pPr>
            <a:r>
              <a:rPr lang="zh-CN" altLang="en-US" sz="3200" dirty="0"/>
              <a:t>可能的解决方法有：</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1</a:t>
            </a:r>
            <a:r>
              <a:rPr lang="zh-CN" altLang="en-US" sz="3200" dirty="0"/>
              <a:t>）对于缺失重要体系结构视图问题，可以针对遗漏的体系结构视图进行设计。</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2</a:t>
            </a:r>
            <a:r>
              <a:rPr lang="zh-CN" altLang="en-US" sz="3200" dirty="0"/>
              <a:t>）对于不够深入问题，需要将设计决策细化到和技术相关的层面。</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3</a:t>
            </a:r>
            <a:r>
              <a:rPr lang="zh-CN" altLang="en-US" sz="3200" dirty="0"/>
              <a:t>）对于名不副实的分层体系结构问题，需要步步深入，明确各层之间的交互接口和交互机制。</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3200" dirty="0"/>
              <a:t>（</a:t>
            </a:r>
            <a:r>
              <a:rPr lang="en-US" altLang="zh-CN" sz="3200" dirty="0"/>
              <a:t>4</a:t>
            </a:r>
            <a:r>
              <a:rPr lang="zh-CN" altLang="en-US" sz="3200" dirty="0"/>
              <a:t>）虽然我们必须考虑到系统的扩展性，可维护性等，但切忌过度设计。</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742950" y="44624"/>
            <a:ext cx="5715000"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体系结构映射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详细设计</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3</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539552" y="1340768"/>
            <a:ext cx="8056609" cy="5572164"/>
          </a:xfrm>
          <a:prstGeom prst="rect">
            <a:avLst/>
          </a:prstGeom>
        </p:spPr>
        <p:txBody>
          <a:bodyPr>
            <a:normAutofit fontScale="92500" lnSpcReduction="10000"/>
          </a:bodyPr>
          <a:lstStyle/>
          <a:p>
            <a:pPr marL="365760" indent="-283210">
              <a:spcBef>
                <a:spcPts val="600"/>
              </a:spcBef>
              <a:buClr>
                <a:schemeClr val="accent1"/>
              </a:buClr>
              <a:buSzPct val="80000"/>
              <a:buFont typeface="Wingdings 2" panose="05020102010507070707"/>
              <a:buChar char=""/>
            </a:pPr>
            <a:r>
              <a:rPr lang="zh-CN" altLang="en-US" sz="3200" dirty="0"/>
              <a:t>从体系结构描述直接到语言的映射方法：</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2800" dirty="0">
                <a:latin typeface="宋体" panose="02010600030101010101" pitchFamily="2" charset="-122"/>
                <a:ea typeface="宋体" panose="02010600030101010101" pitchFamily="2" charset="-122"/>
              </a:rPr>
              <a:t>目前的解决方案或者将高层软件体系结构模型直接映射成为程序代码，或者经过一系列中间模型的转换，渐进地映射到程序代码。</a:t>
            </a:r>
            <a:endParaRPr lang="en-US" altLang="zh-CN" sz="2800" dirty="0">
              <a:latin typeface="宋体" panose="02010600030101010101" pitchFamily="2" charset="-122"/>
              <a:ea typeface="宋体" panose="02010600030101010101" pitchFamily="2" charset="-122"/>
            </a:endParaRPr>
          </a:p>
          <a:p>
            <a:pPr marL="1280160" lvl="2" indent="-283210">
              <a:spcBef>
                <a:spcPts val="600"/>
              </a:spcBef>
              <a:buClr>
                <a:schemeClr val="accent1"/>
              </a:buClr>
              <a:buSzPct val="80000"/>
              <a:buFont typeface="Wingdings 2" panose="05020102010507070707"/>
              <a:buChar char=""/>
            </a:pPr>
            <a:r>
              <a:rPr lang="zh-CN" altLang="en-US" sz="2800" dirty="0">
                <a:latin typeface="宋体" panose="02010600030101010101" pitchFamily="2" charset="-122"/>
                <a:ea typeface="宋体" panose="02010600030101010101" pitchFamily="2" charset="-122"/>
              </a:rPr>
              <a:t>如：</a:t>
            </a:r>
            <a:r>
              <a:rPr lang="en-US" altLang="en-US" sz="2800" dirty="0">
                <a:latin typeface="宋体" panose="02010600030101010101" pitchFamily="2" charset="-122"/>
                <a:ea typeface="宋体" panose="02010600030101010101" pitchFamily="2" charset="-122"/>
              </a:rPr>
              <a:t>C2 </a:t>
            </a:r>
            <a:r>
              <a:rPr lang="zh-CN" altLang="en-US" sz="2800" dirty="0">
                <a:latin typeface="宋体" panose="02010600030101010101" pitchFamily="2" charset="-122"/>
                <a:ea typeface="宋体" panose="02010600030101010101" pitchFamily="2" charset="-122"/>
              </a:rPr>
              <a:t>体系结构描述语言允许将软件体系结构设计的建模元素映射到面向对象程序设计语言代码，并提供了支持</a:t>
            </a:r>
            <a:r>
              <a:rPr lang="en-US" altLang="en-US" sz="2800" dirty="0">
                <a:latin typeface="宋体" panose="02010600030101010101" pitchFamily="2" charset="-122"/>
                <a:ea typeface="宋体" panose="02010600030101010101" pitchFamily="2" charset="-122"/>
              </a:rPr>
              <a:t>C++</a:t>
            </a:r>
            <a:r>
              <a:rPr lang="zh-CN" altLang="en-US" sz="2800" dirty="0">
                <a:latin typeface="宋体" panose="02010600030101010101" pitchFamily="2" charset="-122"/>
                <a:ea typeface="宋体" panose="02010600030101010101" pitchFamily="2" charset="-122"/>
              </a:rPr>
              <a:t>和</a:t>
            </a:r>
            <a:r>
              <a:rPr lang="en-US" altLang="en-US" sz="2800" dirty="0">
                <a:latin typeface="宋体" panose="02010600030101010101" pitchFamily="2" charset="-122"/>
                <a:ea typeface="宋体" panose="02010600030101010101" pitchFamily="2" charset="-122"/>
              </a:rPr>
              <a:t>Java</a:t>
            </a:r>
            <a:r>
              <a:rPr lang="zh-CN" altLang="en-US" sz="2800" dirty="0">
                <a:latin typeface="宋体" panose="02010600030101010101" pitchFamily="2" charset="-122"/>
                <a:ea typeface="宋体" panose="02010600030101010101" pitchFamily="2" charset="-122"/>
              </a:rPr>
              <a:t>的程序库</a:t>
            </a:r>
            <a:endParaRPr lang="zh-CN" altLang="en-US" sz="2800" dirty="0">
              <a:latin typeface="宋体" panose="02010600030101010101" pitchFamily="2" charset="-122"/>
              <a:ea typeface="宋体" panose="02010600030101010101" pitchFamily="2" charset="-122"/>
            </a:endParaRPr>
          </a:p>
          <a:p>
            <a:pPr marL="822960" lvl="1" indent="-283210">
              <a:spcBef>
                <a:spcPts val="600"/>
              </a:spcBef>
              <a:buClr>
                <a:schemeClr val="accent1"/>
              </a:buClr>
              <a:buSzPct val="80000"/>
              <a:buFont typeface="Wingdings 2" panose="05020102010507070707"/>
              <a:buChar char=""/>
            </a:pPr>
            <a:r>
              <a:rPr lang="zh-CN" altLang="en-US" sz="2800" dirty="0">
                <a:latin typeface="宋体" panose="02010600030101010101" pitchFamily="2" charset="-122"/>
                <a:ea typeface="宋体" panose="02010600030101010101" pitchFamily="2" charset="-122"/>
              </a:rPr>
              <a:t>从</a:t>
            </a:r>
            <a:r>
              <a:rPr lang="en-US" altLang="en-US" sz="2800" dirty="0">
                <a:latin typeface="宋体" panose="02010600030101010101" pitchFamily="2" charset="-122"/>
                <a:ea typeface="宋体" panose="02010600030101010101" pitchFamily="2" charset="-122"/>
              </a:rPr>
              <a:t>ADL</a:t>
            </a:r>
            <a:r>
              <a:rPr lang="zh-CN" altLang="en-US" sz="2800" dirty="0">
                <a:latin typeface="宋体" panose="02010600030101010101" pitchFamily="2" charset="-122"/>
                <a:ea typeface="宋体" panose="02010600030101010101" pitchFamily="2" charset="-122"/>
              </a:rPr>
              <a:t>向程序代码的映射需要考虑：建立从软件体系结构建模元素到目标语言元素的映射关系、确保映射过程中的语义正确性、提供自动化的转换工具或环境等问题。</a:t>
            </a:r>
            <a:endParaRPr lang="en-US" altLang="zh-CN" sz="2800" dirty="0">
              <a:latin typeface="宋体" panose="02010600030101010101" pitchFamily="2" charset="-122"/>
              <a:ea typeface="宋体" panose="02010600030101010101" pitchFamily="2" charset="-122"/>
            </a:endParaRPr>
          </a:p>
          <a:p>
            <a:pPr marL="822960" lvl="1" indent="-283210">
              <a:spcBef>
                <a:spcPts val="600"/>
              </a:spcBef>
              <a:buClr>
                <a:schemeClr val="accent1"/>
              </a:buClr>
              <a:buSzPct val="80000"/>
              <a:buFont typeface="Wingdings 2" panose="05020102010507070707"/>
              <a:buChar char=""/>
            </a:pPr>
            <a:r>
              <a:rPr lang="zh-CN" altLang="en-US" sz="2800" dirty="0"/>
              <a:t>通过直接映射将</a:t>
            </a:r>
            <a:r>
              <a:rPr lang="en-US" sz="2800" dirty="0"/>
              <a:t>ADL</a:t>
            </a:r>
            <a:r>
              <a:rPr lang="zh-CN" altLang="en-US" sz="2800" dirty="0"/>
              <a:t>转化成为程序语言往往只能生成较为简单的程序代码框架。</a:t>
            </a:r>
            <a:endParaRPr lang="en-US" altLang="zh-CN" sz="2800" dirty="0">
              <a:latin typeface="宋体" panose="02010600030101010101" pitchFamily="2" charset="-122"/>
              <a:ea typeface="宋体" panose="02010600030101010101" pitchFamily="2" charset="-122"/>
            </a:endParaRPr>
          </a:p>
        </p:txBody>
      </p:sp>
    </p:spTree>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936117" y="20318"/>
            <a:ext cx="5156076"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体系结构映射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详细设计</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4</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955225" y="1465248"/>
            <a:ext cx="7862150" cy="4891102"/>
          </a:xfrm>
          <a:prstGeom prst="rect">
            <a:avLst/>
          </a:prstGeom>
        </p:spPr>
        <p:txBody>
          <a:bodyPr>
            <a:normAutofit/>
          </a:bodyPr>
          <a:lstStyle/>
          <a:p>
            <a:pPr marL="365760" indent="-283210">
              <a:spcBef>
                <a:spcPts val="600"/>
              </a:spcBef>
              <a:buClr>
                <a:schemeClr val="accent1"/>
              </a:buClr>
              <a:buSzPct val="80000"/>
              <a:buFont typeface="Wingdings 2" panose="05020102010507070707"/>
              <a:buChar char=""/>
            </a:pPr>
            <a:r>
              <a:rPr lang="zh-CN" altLang="en-US" sz="3200" dirty="0"/>
              <a:t>基于模型驱动软件体系结构（</a:t>
            </a:r>
            <a:r>
              <a:rPr lang="en-US" sz="3200" dirty="0"/>
              <a:t>MDA</a:t>
            </a:r>
            <a:r>
              <a:rPr lang="zh-CN" altLang="en-US" sz="3200" dirty="0"/>
              <a:t>，</a:t>
            </a:r>
            <a:r>
              <a:rPr lang="en-US" sz="3200" dirty="0"/>
              <a:t> model driven architecture</a:t>
            </a:r>
            <a:r>
              <a:rPr lang="zh-CN" altLang="en-US" sz="3200" dirty="0"/>
              <a:t>）的映射方法</a:t>
            </a:r>
            <a:endParaRPr lang="en-US" altLang="zh-CN" sz="3200" dirty="0"/>
          </a:p>
          <a:p>
            <a:pPr marL="822960" lvl="1" indent="-283210">
              <a:spcBef>
                <a:spcPts val="600"/>
              </a:spcBef>
              <a:buClr>
                <a:schemeClr val="accent1"/>
              </a:buClr>
              <a:buSzPct val="80000"/>
              <a:buFont typeface="Wingdings 2" panose="05020102010507070707"/>
              <a:buChar char=""/>
            </a:pPr>
            <a:r>
              <a:rPr lang="en-US" altLang="zh-CN" sz="2800" dirty="0"/>
              <a:t>MDA</a:t>
            </a:r>
            <a:r>
              <a:rPr lang="zh-CN" altLang="en-US" sz="2800" dirty="0"/>
              <a:t>区分了三类模型：</a:t>
            </a:r>
            <a:endParaRPr lang="en-US" altLang="zh-CN" sz="2800" dirty="0"/>
          </a:p>
          <a:p>
            <a:pPr marL="1280160" lvl="2" indent="-283210">
              <a:spcBef>
                <a:spcPts val="600"/>
              </a:spcBef>
              <a:buClr>
                <a:schemeClr val="accent1"/>
              </a:buClr>
              <a:buSzPct val="80000"/>
              <a:buFont typeface="Wingdings 2" panose="05020102010507070707"/>
              <a:buChar char=""/>
            </a:pPr>
            <a:r>
              <a:rPr lang="zh-CN" altLang="en-US" sz="2800" dirty="0"/>
              <a:t>计算独立模型（</a:t>
            </a:r>
            <a:r>
              <a:rPr lang="en-US" sz="2800" dirty="0"/>
              <a:t>CIM, Computation Independent Model</a:t>
            </a:r>
            <a:r>
              <a:rPr lang="zh-CN" altLang="en-US" sz="2800" dirty="0"/>
              <a:t>）</a:t>
            </a:r>
            <a:endParaRPr lang="en-US" altLang="zh-CN" sz="2800" dirty="0"/>
          </a:p>
          <a:p>
            <a:pPr marL="1280160" lvl="2" indent="-283210">
              <a:spcBef>
                <a:spcPts val="600"/>
              </a:spcBef>
              <a:buClr>
                <a:schemeClr val="accent1"/>
              </a:buClr>
              <a:buSzPct val="80000"/>
              <a:buFont typeface="Wingdings 2" panose="05020102010507070707"/>
              <a:buChar char=""/>
            </a:pPr>
            <a:r>
              <a:rPr lang="zh-CN" altLang="en-US" sz="2800" dirty="0"/>
              <a:t>平台独立模型（</a:t>
            </a:r>
            <a:r>
              <a:rPr lang="en-US" sz="2800" dirty="0"/>
              <a:t>PIM, Platform Independent Model </a:t>
            </a:r>
            <a:r>
              <a:rPr lang="zh-CN" altLang="en-US" sz="2800" dirty="0"/>
              <a:t>）</a:t>
            </a:r>
            <a:endParaRPr lang="en-US" altLang="zh-CN" sz="2800" dirty="0"/>
          </a:p>
          <a:p>
            <a:pPr marL="1280160" lvl="2" indent="-283210">
              <a:spcBef>
                <a:spcPts val="600"/>
              </a:spcBef>
              <a:buClr>
                <a:schemeClr val="accent1"/>
              </a:buClr>
              <a:buSzPct val="80000"/>
              <a:buFont typeface="Wingdings 2" panose="05020102010507070707"/>
              <a:buChar char=""/>
            </a:pPr>
            <a:r>
              <a:rPr lang="zh-CN" altLang="en-US" sz="2800" dirty="0"/>
              <a:t>平台特定模型（</a:t>
            </a:r>
            <a:r>
              <a:rPr lang="en-US" sz="2800" dirty="0"/>
              <a:t>PSM, Platform Specific Model </a:t>
            </a:r>
            <a:r>
              <a:rPr lang="zh-CN" altLang="en-US" sz="2800" dirty="0"/>
              <a:t>）</a:t>
            </a:r>
            <a:endParaRPr lang="zh-CN" altLang="en-US" sz="2800" dirty="0"/>
          </a:p>
        </p:txBody>
      </p:sp>
    </p:spTree>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539552" y="44624"/>
            <a:ext cx="5256584" cy="685800"/>
          </a:xfrm>
          <a:prstGeom prst="rect">
            <a:avLst/>
          </a:prstGeom>
          <a:noFill/>
          <a:ln w="9525">
            <a:noFill/>
            <a:miter lim="800000"/>
          </a:ln>
        </p:spPr>
        <p:txBody>
          <a:bodyPr/>
          <a:lstStyle/>
          <a:p>
            <a:r>
              <a:rPr lang="zh-CN" sz="3900" dirty="0">
                <a:solidFill>
                  <a:schemeClr val="bg1"/>
                </a:solidFill>
                <a:effectLst>
                  <a:outerShdw blurRad="50000" dist="30000" dir="5400000" algn="tl" rotWithShape="0">
                    <a:srgbClr val="000000">
                      <a:alpha val="30000"/>
                    </a:srgbClr>
                  </a:outerShdw>
                </a:effectLst>
                <a:latin typeface="+mj-lt"/>
                <a:ea typeface="+mj-ea"/>
                <a:cs typeface="+mj-cs"/>
              </a:rPr>
              <a:t>从软件</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体系结构映射</a:t>
            </a:r>
            <a:r>
              <a:rPr lang="zh-CN" sz="3900" dirty="0">
                <a:solidFill>
                  <a:schemeClr val="bg1"/>
                </a:solidFill>
                <a:effectLst>
                  <a:outerShdw blurRad="50000" dist="30000" dir="5400000" algn="tl" rotWithShape="0">
                    <a:srgbClr val="000000">
                      <a:alpha val="30000"/>
                    </a:srgbClr>
                  </a:outerShdw>
                </a:effectLst>
                <a:latin typeface="+mj-lt"/>
                <a:ea typeface="+mj-ea"/>
                <a:cs typeface="+mj-cs"/>
              </a:rPr>
              <a:t>详细设计</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r>
              <a:rPr lang="en-US" altLang="zh-CN" sz="3900" dirty="0">
                <a:solidFill>
                  <a:schemeClr val="bg1"/>
                </a:solidFill>
                <a:effectLst>
                  <a:outerShdw blurRad="50000" dist="30000" dir="5400000" algn="tl" rotWithShape="0">
                    <a:srgbClr val="000000">
                      <a:alpha val="30000"/>
                    </a:srgbClr>
                  </a:outerShdw>
                </a:effectLst>
                <a:latin typeface="+mj-lt"/>
                <a:ea typeface="+mj-ea"/>
                <a:cs typeface="+mj-cs"/>
              </a:rPr>
              <a:t>5</a:t>
            </a:r>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a:t>
            </a:r>
            <a:endParaRPr 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827584" y="1647810"/>
            <a:ext cx="7862150" cy="4891102"/>
          </a:xfrm>
          <a:prstGeom prst="rect">
            <a:avLst/>
          </a:prstGeom>
        </p:spPr>
        <p:txBody>
          <a:bodyPr>
            <a:normAutofit/>
          </a:bodyPr>
          <a:lstStyle/>
          <a:p>
            <a:pPr marL="365760" indent="-283210">
              <a:spcBef>
                <a:spcPts val="600"/>
              </a:spcBef>
              <a:buClr>
                <a:schemeClr val="accent1"/>
              </a:buClr>
              <a:buSzPct val="80000"/>
              <a:buFont typeface="Wingdings 2" panose="05020102010507070707"/>
              <a:buChar char=""/>
            </a:pPr>
            <a:r>
              <a:rPr lang="en-US" altLang="zh-CN" sz="3200" dirty="0"/>
              <a:t>MDA</a:t>
            </a:r>
            <a:r>
              <a:rPr lang="zh-CN" altLang="en-US" sz="3200" dirty="0"/>
              <a:t>开发步骤</a:t>
            </a:r>
            <a:endParaRPr lang="en-US" altLang="zh-CN" sz="3200" dirty="0"/>
          </a:p>
          <a:p>
            <a:pPr marL="822960" lvl="1" indent="-283210">
              <a:spcBef>
                <a:spcPts val="600"/>
              </a:spcBef>
              <a:buClr>
                <a:schemeClr val="accent1"/>
              </a:buClr>
              <a:buSzPct val="80000"/>
              <a:buFont typeface="Wingdings 2" panose="05020102010507070707"/>
              <a:buChar char=""/>
            </a:pPr>
            <a:r>
              <a:rPr lang="zh-CN" altLang="en-US" sz="2800" dirty="0"/>
              <a:t>（</a:t>
            </a:r>
            <a:r>
              <a:rPr lang="en-US" sz="2800" dirty="0"/>
              <a:t>1</a:t>
            </a:r>
            <a:r>
              <a:rPr lang="zh-CN" altLang="en-US" sz="2800" dirty="0"/>
              <a:t>）用计算独立模型</a:t>
            </a:r>
            <a:r>
              <a:rPr lang="en-US" sz="2800" dirty="0"/>
              <a:t>CIM </a:t>
            </a:r>
            <a:r>
              <a:rPr lang="zh-CN" altLang="en-US" sz="2800" dirty="0"/>
              <a:t>捕获需求；</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a:t>
            </a:r>
            <a:r>
              <a:rPr lang="en-US" sz="2800" dirty="0"/>
              <a:t>2</a:t>
            </a:r>
            <a:r>
              <a:rPr lang="zh-CN" altLang="en-US" sz="2800" dirty="0"/>
              <a:t>）创建平台独立模型</a:t>
            </a:r>
            <a:r>
              <a:rPr lang="en-US" sz="2800" dirty="0"/>
              <a:t>PIM</a:t>
            </a:r>
            <a:r>
              <a:rPr lang="zh-CN" altLang="en-US" sz="2800" dirty="0"/>
              <a:t>；</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a:t>
            </a:r>
            <a:r>
              <a:rPr lang="en-US" sz="2800" dirty="0"/>
              <a:t>3</a:t>
            </a:r>
            <a:r>
              <a:rPr lang="zh-CN" altLang="en-US" sz="2800" dirty="0"/>
              <a:t>）将</a:t>
            </a:r>
            <a:r>
              <a:rPr lang="en-US" sz="2800" dirty="0"/>
              <a:t>PIM</a:t>
            </a:r>
            <a:r>
              <a:rPr lang="zh-CN" altLang="en-US" sz="2800" dirty="0"/>
              <a:t>转化成为一个或多个平台特定模型</a:t>
            </a:r>
            <a:r>
              <a:rPr lang="en-US" sz="2800" dirty="0"/>
              <a:t>PSM</a:t>
            </a:r>
            <a:r>
              <a:rPr lang="zh-CN" altLang="en-US" sz="2800" dirty="0"/>
              <a:t>，并加入平台特定的规则和代码；</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a:t>
            </a:r>
            <a:r>
              <a:rPr lang="en-US" sz="2800" dirty="0"/>
              <a:t>4</a:t>
            </a:r>
            <a:r>
              <a:rPr lang="zh-CN" altLang="en-US" sz="2800" dirty="0"/>
              <a:t>）将</a:t>
            </a:r>
            <a:r>
              <a:rPr lang="en-US" sz="2800" dirty="0"/>
              <a:t>PSM </a:t>
            </a:r>
            <a:r>
              <a:rPr lang="zh-CN" altLang="en-US" sz="2800" dirty="0"/>
              <a:t>转化为代码等。</a:t>
            </a:r>
            <a:endParaRPr lang="zh-CN" altLang="en-US" sz="2800" dirty="0"/>
          </a:p>
        </p:txBody>
      </p:sp>
    </p:spTree>
  </p:cSld>
  <p:clrMapOvr>
    <a:masterClrMapping/>
  </p:clrMapOvr>
  <p:transition spd="slow">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灯片编号占位符 3"/>
          <p:cNvSpPr>
            <a:spLocks noGrp="1"/>
          </p:cNvSpPr>
          <p:nvPr>
            <p:ph type="sldNum" sz="quarter" idx="12"/>
          </p:nvPr>
        </p:nvSpPr>
        <p:spPr>
          <a:noFill/>
        </p:spPr>
        <p:txBody>
          <a:bodyPr/>
          <a:lstStyle/>
          <a:p>
            <a:fld id="{0864F80A-7C72-4F48-9030-3FD70909A99B}"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5" name="Rectangle 1029"/>
          <p:cNvSpPr>
            <a:spLocks noChangeArrowheads="1"/>
          </p:cNvSpPr>
          <p:nvPr/>
        </p:nvSpPr>
        <p:spPr bwMode="auto">
          <a:xfrm>
            <a:off x="1000100" y="142852"/>
            <a:ext cx="7772400" cy="685800"/>
          </a:xfrm>
          <a:prstGeom prst="rect">
            <a:avLst/>
          </a:prstGeom>
          <a:noFill/>
          <a:ln w="9525">
            <a:noFill/>
            <a:miter lim="800000"/>
          </a:ln>
        </p:spPr>
        <p:txBody>
          <a:bodyPr/>
          <a:lstStyle/>
          <a:p>
            <a:r>
              <a:rPr lang="zh-CN" altLang="en-US" sz="3900" dirty="0">
                <a:solidFill>
                  <a:schemeClr val="bg1"/>
                </a:solidFill>
                <a:effectLst>
                  <a:outerShdw blurRad="50000" dist="30000" dir="5400000" algn="tl" rotWithShape="0">
                    <a:srgbClr val="000000">
                      <a:alpha val="30000"/>
                    </a:srgbClr>
                  </a:outerShdw>
                </a:effectLst>
                <a:latin typeface="+mj-lt"/>
                <a:ea typeface="+mj-ea"/>
                <a:cs typeface="+mj-cs"/>
              </a:rPr>
              <a:t>软件体系结构视图</a:t>
            </a:r>
            <a:endParaRPr lang="zh-CN" altLang="zh-CN" sz="3900" dirty="0">
              <a:solidFill>
                <a:schemeClr val="bg1"/>
              </a:solidFill>
              <a:effectLst>
                <a:outerShdw blurRad="50000" dist="30000" dir="5400000" algn="tl" rotWithShape="0">
                  <a:srgbClr val="000000">
                    <a:alpha val="30000"/>
                  </a:srgbClr>
                </a:outerShdw>
              </a:effectLst>
              <a:latin typeface="+mj-lt"/>
              <a:ea typeface="+mj-ea"/>
              <a:cs typeface="+mj-cs"/>
            </a:endParaRPr>
          </a:p>
        </p:txBody>
      </p:sp>
      <p:sp>
        <p:nvSpPr>
          <p:cNvPr id="7" name="内容占位符 2"/>
          <p:cNvSpPr txBox="1"/>
          <p:nvPr/>
        </p:nvSpPr>
        <p:spPr>
          <a:xfrm>
            <a:off x="1071538" y="1357298"/>
            <a:ext cx="7862150" cy="4891102"/>
          </a:xfrm>
          <a:prstGeom prst="rect">
            <a:avLst/>
          </a:prstGeom>
        </p:spPr>
        <p:txBody>
          <a:bodyPr>
            <a:normAutofit lnSpcReduction="10000"/>
          </a:bodyPr>
          <a:lstStyle/>
          <a:p>
            <a:pPr marL="365760" indent="-283210">
              <a:spcBef>
                <a:spcPts val="600"/>
              </a:spcBef>
              <a:buClr>
                <a:schemeClr val="accent1"/>
              </a:buClr>
              <a:buSzPct val="80000"/>
              <a:buFont typeface="Wingdings 2" panose="05020102010507070707"/>
              <a:buChar char=""/>
            </a:pPr>
            <a:r>
              <a:rPr lang="zh-CN" altLang="en-US" sz="3200" dirty="0"/>
              <a:t>为了更好地发挥软件体系结构在系统实现阶段的指导与交流作用，研究者们提出了若干针对实现阶段的软件体系结构视图</a:t>
            </a:r>
            <a:endParaRPr lang="en-US" altLang="zh-CN" sz="3200" dirty="0"/>
          </a:p>
          <a:p>
            <a:pPr marL="822960" lvl="1" indent="-283210">
              <a:spcBef>
                <a:spcPts val="600"/>
              </a:spcBef>
              <a:buClr>
                <a:schemeClr val="accent1"/>
              </a:buClr>
              <a:buSzPct val="80000"/>
              <a:buFont typeface="Wingdings 2" panose="05020102010507070707"/>
              <a:buChar char=""/>
            </a:pPr>
            <a:r>
              <a:rPr lang="en-US" sz="2800" dirty="0" err="1"/>
              <a:t>Hofmeister</a:t>
            </a:r>
            <a:r>
              <a:rPr lang="en-US" sz="2800" dirty="0"/>
              <a:t> Christine</a:t>
            </a:r>
            <a:r>
              <a:rPr lang="zh-CN" altLang="en-US" sz="2800" dirty="0"/>
              <a:t>提出的四种视图：概念视图、模块视图、执行视图、代码视图。</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执行视图描述了模块如何映射到运行时平台（</a:t>
            </a:r>
            <a:r>
              <a:rPr lang="en-US" sz="2800" dirty="0"/>
              <a:t>runtime platform</a:t>
            </a:r>
            <a:r>
              <a:rPr lang="zh-CN" altLang="en-US" sz="2800" dirty="0"/>
              <a:t>）所提供的元素，以及这些</a:t>
            </a:r>
            <a:r>
              <a:rPr lang="en-US" sz="2800" dirty="0"/>
              <a:t> </a:t>
            </a:r>
            <a:r>
              <a:rPr lang="zh-CN" altLang="en-US" sz="2800" dirty="0"/>
              <a:t>又如何映射到硬件体系结构。</a:t>
            </a:r>
            <a:endParaRPr lang="en-US" altLang="zh-CN" sz="2800" dirty="0"/>
          </a:p>
          <a:p>
            <a:pPr marL="822960" lvl="1" indent="-283210">
              <a:spcBef>
                <a:spcPts val="600"/>
              </a:spcBef>
              <a:buClr>
                <a:schemeClr val="accent1"/>
              </a:buClr>
              <a:buSzPct val="80000"/>
              <a:buFont typeface="Wingdings 2" panose="05020102010507070707"/>
              <a:buChar char=""/>
            </a:pPr>
            <a:r>
              <a:rPr lang="zh-CN" altLang="en-US" sz="2800" dirty="0"/>
              <a:t>代码视图描述了实现系统的软件是如何被组织的。</a:t>
            </a:r>
            <a:endParaRPr lang="zh-CN" altLang="en-US" sz="2800" dirty="0"/>
          </a:p>
          <a:p>
            <a:pPr marL="822960" lvl="1" indent="-283210">
              <a:spcBef>
                <a:spcPts val="600"/>
              </a:spcBef>
              <a:buClr>
                <a:schemeClr val="accent1"/>
              </a:buClr>
              <a:buSzPct val="80000"/>
              <a:buFont typeface="Wingdings 2" panose="05020102010507070707"/>
              <a:buChar char=""/>
            </a:pPr>
            <a:endParaRPr lang="en-US" altLang="zh-CN" sz="2800" dirty="0"/>
          </a:p>
        </p:txBody>
      </p:sp>
    </p:spTree>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灯片编号占位符 5"/>
          <p:cNvSpPr>
            <a:spLocks noGrp="1"/>
          </p:cNvSpPr>
          <p:nvPr>
            <p:ph type="sldNum" sz="quarter" idx="12"/>
          </p:nvPr>
        </p:nvSpPr>
        <p:spPr>
          <a:noFill/>
        </p:spPr>
        <p:txBody>
          <a:bodyPr/>
          <a:lstStyle/>
          <a:p>
            <a:fld id="{FC853CDB-1A71-4943-AE80-E493FF630F77}"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9462" name="Rectangle 3"/>
          <p:cNvSpPr>
            <a:spLocks noGrp="1" noChangeArrowheads="1"/>
          </p:cNvSpPr>
          <p:nvPr>
            <p:ph type="body" idx="1"/>
          </p:nvPr>
        </p:nvSpPr>
        <p:spPr>
          <a:xfrm>
            <a:off x="1285852" y="1428736"/>
            <a:ext cx="7500990" cy="4929222"/>
          </a:xfrm>
        </p:spPr>
        <p:txBody>
          <a:bodyPr>
            <a:normAutofit/>
          </a:bodyPr>
          <a:lstStyle/>
          <a:p>
            <a:pPr eaLnBrk="1" hangingPunct="1"/>
            <a:r>
              <a:rPr lang="en-US" altLang="zh-CN" dirty="0" err="1"/>
              <a:t>软件</a:t>
            </a:r>
            <a:r>
              <a:rPr lang="zh-CN" altLang="en-US" dirty="0"/>
              <a:t>体系结构</a:t>
            </a:r>
            <a:r>
              <a:rPr lang="en-US" altLang="zh-CN" dirty="0" err="1"/>
              <a:t>设计原则有一般设计原则和关键设计原则两类</a:t>
            </a:r>
            <a:endParaRPr lang="en-US" altLang="zh-CN" dirty="0"/>
          </a:p>
          <a:p>
            <a:pPr eaLnBrk="1" hangingPunct="1"/>
            <a:r>
              <a:rPr lang="en-US" altLang="zh-CN" dirty="0" err="1"/>
              <a:t>一般原则</a:t>
            </a:r>
            <a:endParaRPr lang="en-US" altLang="zh-CN" dirty="0"/>
          </a:p>
          <a:p>
            <a:pPr lvl="1"/>
            <a:r>
              <a:rPr lang="en-US" altLang="zh-CN" dirty="0" err="1"/>
              <a:t>包含商业原则、数据原则、应用程序原则、技术原则等</a:t>
            </a:r>
            <a:r>
              <a:rPr lang="en-US" altLang="zh-CN" dirty="0"/>
              <a:t>；</a:t>
            </a:r>
            <a:endParaRPr lang="en-US" altLang="zh-CN" dirty="0"/>
          </a:p>
          <a:p>
            <a:pPr eaLnBrk="1" hangingPunct="1"/>
            <a:r>
              <a:rPr lang="en-US" altLang="zh-CN" dirty="0" err="1"/>
              <a:t>关键设计原则</a:t>
            </a:r>
            <a:endParaRPr lang="en-US" altLang="zh-CN" dirty="0"/>
          </a:p>
          <a:p>
            <a:pPr lvl="1"/>
            <a:r>
              <a:rPr lang="en-US" altLang="zh-CN" dirty="0" err="1"/>
              <a:t>关注分离点、单一职责原则、最少知识原则等</a:t>
            </a:r>
            <a:r>
              <a:rPr lang="en-US" altLang="zh-CN" dirty="0"/>
              <a:t>。</a:t>
            </a:r>
            <a:endParaRPr lang="en-US" altLang="zh-CN" dirty="0"/>
          </a:p>
        </p:txBody>
      </p:sp>
      <p:sp>
        <p:nvSpPr>
          <p:cNvPr id="8" name="Rectangle 1029"/>
          <p:cNvSpPr>
            <a:spLocks noGrp="1" noChangeArrowheads="1"/>
          </p:cNvSpPr>
          <p:nvPr>
            <p:ph type="title"/>
          </p:nvPr>
        </p:nvSpPr>
        <p:spPr bwMode="auto">
          <a:xfrm>
            <a:off x="971600" y="-11527"/>
            <a:ext cx="7498080" cy="1143000"/>
          </a:xfrm>
          <a:prstGeom prst="rect">
            <a:avLst/>
          </a:prstGeom>
          <a:noFill/>
          <a:ln w="9525">
            <a:noFill/>
            <a:miter lim="800000"/>
          </a:ln>
        </p:spPr>
        <p:txBody>
          <a:bodyPr>
            <a:normAutofit/>
          </a:bodyPr>
          <a:lstStyle/>
          <a:p>
            <a:r>
              <a:rPr lang="zh-CN" altLang="en-US" sz="4000" dirty="0">
                <a:effectLst>
                  <a:outerShdw blurRad="50000" dist="30000" dir="5400000" algn="tl" rotWithShape="0">
                    <a:srgbClr val="000000">
                      <a:alpha val="30000"/>
                    </a:srgbClr>
                  </a:outerShdw>
                </a:effectLst>
                <a:latin typeface="+mj-lt"/>
                <a:ea typeface="+mj-ea"/>
                <a:cs typeface="+mj-cs"/>
              </a:rPr>
              <a:t>体系结构</a:t>
            </a:r>
            <a:r>
              <a:rPr lang="zh-CN" sz="4000" dirty="0">
                <a:effectLst>
                  <a:outerShdw blurRad="50000" dist="30000" dir="5400000" algn="tl" rotWithShape="0">
                    <a:srgbClr val="000000">
                      <a:alpha val="30000"/>
                    </a:srgbClr>
                  </a:outerShdw>
                </a:effectLst>
                <a:latin typeface="+mj-lt"/>
                <a:ea typeface="+mj-ea"/>
                <a:cs typeface="+mj-cs"/>
              </a:rPr>
              <a:t>设计原则</a:t>
            </a:r>
            <a:endParaRPr lang="zh-CN" sz="4000" dirty="0">
              <a:effectLst>
                <a:outerShdw blurRad="50000" dist="30000" dir="5400000" algn="tl" rotWithShape="0">
                  <a:srgbClr val="000000">
                    <a:alpha val="30000"/>
                  </a:srgbClr>
                </a:outerShdw>
              </a:effectLst>
              <a:latin typeface="+mj-lt"/>
              <a:ea typeface="+mj-ea"/>
              <a:cs typeface="+mj-cs"/>
            </a:endParaRPr>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827584" y="1628800"/>
            <a:ext cx="7615262" cy="5132405"/>
          </a:xfrm>
        </p:spPr>
        <p:txBody>
          <a:bodyPr>
            <a:normAutofit fontScale="97500"/>
          </a:bodyPr>
          <a:lstStyle/>
          <a:p>
            <a:pPr eaLnBrk="1" hangingPunct="1"/>
            <a:r>
              <a:rPr lang="zh-CN" altLang="en-US" sz="3300" dirty="0"/>
              <a:t>商业原则：</a:t>
            </a:r>
            <a:endParaRPr lang="zh-CN" altLang="en-US" sz="3300" dirty="0"/>
          </a:p>
          <a:p>
            <a:pPr lvl="1" eaLnBrk="1" hangingPunct="1"/>
            <a:r>
              <a:rPr lang="zh-CN" altLang="en-US" sz="2900" dirty="0"/>
              <a:t>企业利益最大化</a:t>
            </a:r>
            <a:endParaRPr lang="zh-CN" altLang="en-US" sz="2900" dirty="0"/>
          </a:p>
          <a:p>
            <a:pPr lvl="1" eaLnBrk="1" hangingPunct="1"/>
            <a:r>
              <a:rPr lang="zh-CN" altLang="en-US" sz="2900" dirty="0"/>
              <a:t>信息管理，人人有责</a:t>
            </a:r>
            <a:endParaRPr lang="zh-CN" altLang="en-US" sz="2900" dirty="0"/>
          </a:p>
          <a:p>
            <a:pPr lvl="1" eaLnBrk="1" hangingPunct="1"/>
            <a:r>
              <a:rPr lang="zh-CN" altLang="en-US" sz="2900" dirty="0"/>
              <a:t>事务持续性</a:t>
            </a:r>
            <a:endParaRPr lang="zh-CN" altLang="en-US" sz="2900" dirty="0"/>
          </a:p>
          <a:p>
            <a:pPr lvl="1" eaLnBrk="1" hangingPunct="1"/>
            <a:r>
              <a:rPr lang="zh-CN" altLang="en-US" sz="2900" dirty="0"/>
              <a:t>使用通用软件</a:t>
            </a:r>
            <a:endParaRPr lang="zh-CN" altLang="en-US" sz="2900" dirty="0"/>
          </a:p>
          <a:p>
            <a:pPr lvl="1" eaLnBrk="1" hangingPunct="1"/>
            <a:r>
              <a:rPr lang="zh-CN" altLang="en-US" sz="2900" dirty="0"/>
              <a:t>守法</a:t>
            </a:r>
            <a:endParaRPr lang="zh-CN" altLang="en-US" sz="2900" dirty="0"/>
          </a:p>
          <a:p>
            <a:pPr lvl="1" eaLnBrk="1" hangingPunct="1"/>
            <a:r>
              <a:rPr lang="zh-CN" altLang="en-US" sz="2900" dirty="0"/>
              <a:t>IT责任</a:t>
            </a:r>
            <a:endParaRPr lang="zh-CN" altLang="en-US" sz="2900" dirty="0"/>
          </a:p>
          <a:p>
            <a:pPr lvl="1" eaLnBrk="1" hangingPunct="1"/>
            <a:r>
              <a:rPr lang="zh-CN" altLang="en-US" sz="2900" dirty="0"/>
              <a:t>知识产权保护</a:t>
            </a:r>
            <a:endParaRPr lang="zh-CN" altLang="en-US" sz="2900" dirty="0"/>
          </a:p>
        </p:txBody>
      </p:sp>
      <p:sp>
        <p:nvSpPr>
          <p:cNvPr id="7" name="标题 6"/>
          <p:cNvSpPr>
            <a:spLocks noGrp="1"/>
          </p:cNvSpPr>
          <p:nvPr>
            <p:ph type="title"/>
          </p:nvPr>
        </p:nvSpPr>
        <p:spPr>
          <a:xfrm>
            <a:off x="467544" y="0"/>
            <a:ext cx="7498080" cy="1143000"/>
          </a:xfrm>
        </p:spPr>
        <p:txBody>
          <a:bodyPr>
            <a:normAutofit/>
          </a:bodyPr>
          <a:lstStyle/>
          <a:p>
            <a:r>
              <a:rPr lang="zh-CN" altLang="en-US" sz="4000" dirty="0"/>
              <a:t>体系结构</a:t>
            </a:r>
            <a:r>
              <a:rPr lang="zh-CN" sz="4000" dirty="0"/>
              <a:t>设计</a:t>
            </a:r>
            <a:r>
              <a:rPr lang="zh-CN" altLang="en-US" sz="4000" dirty="0"/>
              <a:t>的基本</a:t>
            </a:r>
            <a:r>
              <a:rPr lang="zh-CN" sz="4000" dirty="0"/>
              <a:t>原则</a:t>
            </a:r>
            <a:r>
              <a:rPr lang="zh-CN" altLang="en-US" sz="4000" dirty="0"/>
              <a:t>（</a:t>
            </a:r>
            <a:r>
              <a:rPr lang="en-US" altLang="zh-CN" sz="4000" dirty="0"/>
              <a:t>1</a:t>
            </a:r>
            <a:r>
              <a:rPr lang="zh-CN" altLang="en-US" sz="4000" dirty="0"/>
              <a:t>）</a:t>
            </a:r>
            <a:endParaRPr lang="zh-CN" sz="4000" dirty="0"/>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rmAutofit fontScale="97500"/>
          </a:bodyPr>
          <a:lstStyle/>
          <a:p>
            <a:pPr eaLnBrk="1" hangingPunct="1"/>
            <a:r>
              <a:rPr lang="zh-CN" altLang="en-US" sz="3300" dirty="0"/>
              <a:t>数据原则：</a:t>
            </a:r>
            <a:endParaRPr lang="zh-CN" altLang="en-US" sz="3300" dirty="0"/>
          </a:p>
          <a:p>
            <a:pPr marL="612775" lvl="1" indent="0"/>
            <a:r>
              <a:rPr lang="zh-CN" altLang="en-US" dirty="0"/>
              <a:t>数据资产</a:t>
            </a:r>
            <a:endParaRPr lang="zh-CN" altLang="en-US" dirty="0"/>
          </a:p>
          <a:p>
            <a:pPr marL="612775" lvl="1" indent="0"/>
            <a:r>
              <a:rPr lang="zh-CN" altLang="en-US" dirty="0"/>
              <a:t>数据共享</a:t>
            </a:r>
            <a:endParaRPr lang="zh-CN" altLang="en-US" dirty="0"/>
          </a:p>
          <a:p>
            <a:pPr marL="612775" lvl="1" indent="0"/>
            <a:r>
              <a:rPr lang="zh-CN" altLang="en-US" dirty="0"/>
              <a:t>数据访问</a:t>
            </a:r>
            <a:endParaRPr lang="zh-CN" altLang="en-US" dirty="0"/>
          </a:p>
          <a:p>
            <a:pPr marL="612775" lvl="1" indent="0"/>
            <a:r>
              <a:rPr lang="zh-CN" altLang="en-US" dirty="0"/>
              <a:t>数据托管</a:t>
            </a:r>
            <a:endParaRPr lang="zh-CN" altLang="en-US" dirty="0"/>
          </a:p>
          <a:p>
            <a:pPr marL="612775" lvl="1" indent="0"/>
            <a:r>
              <a:rPr lang="zh-CN" altLang="en-US" dirty="0"/>
              <a:t>使用常用词汇、有数据定义</a:t>
            </a:r>
            <a:endParaRPr lang="zh-CN" altLang="en-US" dirty="0"/>
          </a:p>
          <a:p>
            <a:pPr marL="612775" lvl="1" indent="0"/>
            <a:r>
              <a:rPr lang="zh-CN" altLang="en-US" dirty="0"/>
              <a:t>数据安全</a:t>
            </a:r>
            <a:endParaRPr lang="zh-CN" altLang="en-US" dirty="0"/>
          </a:p>
        </p:txBody>
      </p:sp>
      <p:sp>
        <p:nvSpPr>
          <p:cNvPr id="7" name="标题 6"/>
          <p:cNvSpPr>
            <a:spLocks noGrp="1"/>
          </p:cNvSpPr>
          <p:nvPr>
            <p:ph type="title"/>
          </p:nvPr>
        </p:nvSpPr>
        <p:spPr>
          <a:xfrm>
            <a:off x="611560" y="44624"/>
            <a:ext cx="7498080" cy="1143000"/>
          </a:xfrm>
        </p:spPr>
        <p:txBody>
          <a:bodyPr/>
          <a:lstStyle/>
          <a:p>
            <a:r>
              <a:rPr lang="zh-CN" altLang="en-US" sz="4000" dirty="0"/>
              <a:t>体系结构设计的基本原则（</a:t>
            </a:r>
            <a:r>
              <a:rPr lang="en-US" altLang="zh-CN" sz="4000" dirty="0"/>
              <a:t>2</a:t>
            </a:r>
            <a:r>
              <a:rPr lang="zh-CN" altLang="en-US" sz="4000" dirty="0"/>
              <a:t>）</a:t>
            </a:r>
            <a:endParaRPr lang="zh-CN" sz="4000" dirty="0"/>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971600" y="1412776"/>
            <a:ext cx="7543824" cy="4846653"/>
          </a:xfrm>
        </p:spPr>
        <p:txBody>
          <a:bodyPr>
            <a:normAutofit/>
          </a:bodyPr>
          <a:lstStyle/>
          <a:p>
            <a:pPr eaLnBrk="1" hangingPunct="1"/>
            <a:r>
              <a:rPr lang="zh-CN" altLang="en-US" dirty="0"/>
              <a:t>应用程序原则：</a:t>
            </a:r>
            <a:endParaRPr lang="zh-CN" altLang="en-US" dirty="0"/>
          </a:p>
          <a:p>
            <a:pPr lvl="1" eaLnBrk="1" hangingPunct="1"/>
            <a:r>
              <a:rPr lang="zh-CN" altLang="en-US" dirty="0"/>
              <a:t>技术独立性</a:t>
            </a:r>
            <a:endParaRPr lang="zh-CN" altLang="en-US" dirty="0"/>
          </a:p>
          <a:p>
            <a:pPr lvl="1" eaLnBrk="1" hangingPunct="1"/>
            <a:r>
              <a:rPr lang="zh-CN" altLang="en-US" dirty="0"/>
              <a:t>易用性</a:t>
            </a:r>
            <a:endParaRPr lang="zh-CN" altLang="en-US" dirty="0"/>
          </a:p>
          <a:p>
            <a:pPr marL="128270" indent="0"/>
            <a:r>
              <a:rPr lang="zh-CN" altLang="en-US" sz="2800" dirty="0"/>
              <a:t> </a:t>
            </a:r>
            <a:r>
              <a:rPr lang="zh-CN" altLang="en-US" dirty="0"/>
              <a:t>技术原则：</a:t>
            </a:r>
            <a:endParaRPr lang="zh-CN" altLang="en-US" dirty="0"/>
          </a:p>
          <a:p>
            <a:pPr marL="612775" lvl="1" indent="0"/>
            <a:r>
              <a:rPr lang="zh-CN" altLang="en-US" dirty="0"/>
              <a:t>需求变化</a:t>
            </a:r>
            <a:endParaRPr lang="zh-CN" altLang="en-US" dirty="0"/>
          </a:p>
          <a:p>
            <a:pPr marL="612775" lvl="1" indent="0"/>
            <a:r>
              <a:rPr lang="zh-CN" altLang="en-US" dirty="0"/>
              <a:t>响应变更管理</a:t>
            </a:r>
            <a:endParaRPr lang="zh-CN" altLang="en-US" dirty="0"/>
          </a:p>
          <a:p>
            <a:pPr marL="612775" lvl="1" indent="0"/>
            <a:r>
              <a:rPr lang="zh-CN" altLang="en-US" dirty="0"/>
              <a:t>控制技术多样性</a:t>
            </a:r>
            <a:endParaRPr lang="zh-CN" altLang="en-US" dirty="0"/>
          </a:p>
          <a:p>
            <a:pPr marL="612775" lvl="1" indent="0"/>
            <a:r>
              <a:rPr lang="zh-CN" altLang="en-US" dirty="0"/>
              <a:t>互操作性</a:t>
            </a:r>
            <a:endParaRPr lang="zh-CN" altLang="en-US" dirty="0"/>
          </a:p>
          <a:p>
            <a:pPr marL="859790" lvl="2" indent="0" eaLnBrk="1" hangingPunct="1">
              <a:buNone/>
            </a:pPr>
            <a:endParaRPr lang="zh-CN" altLang="en-US" sz="2800" dirty="0"/>
          </a:p>
        </p:txBody>
      </p:sp>
      <p:sp>
        <p:nvSpPr>
          <p:cNvPr id="7" name="标题 6"/>
          <p:cNvSpPr>
            <a:spLocks noGrp="1"/>
          </p:cNvSpPr>
          <p:nvPr>
            <p:ph type="title"/>
          </p:nvPr>
        </p:nvSpPr>
        <p:spPr>
          <a:xfrm>
            <a:off x="539552" y="0"/>
            <a:ext cx="7498080" cy="1143000"/>
          </a:xfrm>
        </p:spPr>
        <p:txBody>
          <a:bodyPr/>
          <a:lstStyle/>
          <a:p>
            <a:r>
              <a:rPr lang="zh-CN" altLang="en-US" sz="4000" dirty="0"/>
              <a:t>体系结构设计的基本原则（</a:t>
            </a:r>
            <a:r>
              <a:rPr lang="en-US" altLang="zh-CN" sz="4000" dirty="0"/>
              <a:t>3</a:t>
            </a:r>
            <a:r>
              <a:rPr lang="zh-CN" altLang="en-US" sz="4000" dirty="0"/>
              <a:t>）</a:t>
            </a:r>
            <a:endParaRPr lang="zh-CN" sz="4000" dirty="0"/>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Autofit/>
          </a:bodyPr>
          <a:lstStyle/>
          <a:p>
            <a:pPr lvl="0"/>
            <a:r>
              <a:rPr lang="zh-CN" altLang="en-US" dirty="0">
                <a:latin typeface="+mn-ea"/>
              </a:rPr>
              <a:t>关注分离点</a:t>
            </a:r>
            <a:endParaRPr lang="en-US" altLang="zh-CN" dirty="0">
              <a:latin typeface="+mn-ea"/>
            </a:endParaRPr>
          </a:p>
          <a:p>
            <a:pPr lvl="1"/>
            <a:r>
              <a:rPr lang="en-US" sz="2400" dirty="0"/>
              <a:t> </a:t>
            </a:r>
            <a:r>
              <a:rPr lang="zh-CN" altLang="en-US" sz="2400" dirty="0"/>
              <a:t>将程序分解为相对独立的、功能重叠部分尽可能少的一个个模块，达到高内聚和低耦合的目的。</a:t>
            </a:r>
            <a:endParaRPr lang="zh-CN" altLang="en-US" sz="2400" dirty="0"/>
          </a:p>
          <a:p>
            <a:pPr lvl="0"/>
            <a:r>
              <a:rPr lang="zh-CN" altLang="en-US" dirty="0">
                <a:latin typeface="+mn-ea"/>
              </a:rPr>
              <a:t>单一职责原则</a:t>
            </a:r>
            <a:endParaRPr lang="en-US" altLang="zh-CN" dirty="0">
              <a:latin typeface="+mn-ea"/>
            </a:endParaRPr>
          </a:p>
          <a:p>
            <a:pPr lvl="1"/>
            <a:r>
              <a:rPr lang="zh-CN" altLang="en-US" sz="2400" dirty="0"/>
              <a:t>每个组件或模块应负责一个特定特征或功能，或者内聚功能的集合。</a:t>
            </a:r>
            <a:endParaRPr lang="zh-CN" altLang="en-US" sz="2400" dirty="0"/>
          </a:p>
          <a:p>
            <a:r>
              <a:rPr lang="zh-CN" altLang="en-US" dirty="0">
                <a:latin typeface="+mn-ea"/>
              </a:rPr>
              <a:t>最少知识原则</a:t>
            </a:r>
            <a:r>
              <a:rPr lang="en-US" altLang="zh-CN" dirty="0">
                <a:latin typeface="+mn-ea"/>
              </a:rPr>
              <a:t>(</a:t>
            </a:r>
            <a:r>
              <a:rPr lang="zh-CN" altLang="en-US" dirty="0">
                <a:latin typeface="+mn-ea"/>
              </a:rPr>
              <a:t>迪米特法则，</a:t>
            </a:r>
            <a:r>
              <a:rPr lang="en-US" altLang="en-US" dirty="0" err="1">
                <a:latin typeface="+mn-ea"/>
              </a:rPr>
              <a:t>LoD</a:t>
            </a:r>
            <a:r>
              <a:rPr lang="en-US" altLang="en-US" dirty="0">
                <a:latin typeface="+mn-ea"/>
              </a:rPr>
              <a:t>)</a:t>
            </a:r>
            <a:endParaRPr lang="en-US" altLang="en-US" dirty="0">
              <a:latin typeface="+mn-ea"/>
            </a:endParaRPr>
          </a:p>
          <a:p>
            <a:pPr lvl="1"/>
            <a:r>
              <a:rPr lang="zh-CN" altLang="en-US" sz="2400" dirty="0"/>
              <a:t>一个组件或对象应该对其他组件或对象的内部细节尽可能少的了解。 </a:t>
            </a:r>
            <a:endParaRPr lang="zh-CN" altLang="en-US" sz="2400" dirty="0"/>
          </a:p>
        </p:txBody>
      </p:sp>
      <p:sp>
        <p:nvSpPr>
          <p:cNvPr id="7" name="标题 6"/>
          <p:cNvSpPr>
            <a:spLocks noGrp="1"/>
          </p:cNvSpPr>
          <p:nvPr>
            <p:ph type="title"/>
          </p:nvPr>
        </p:nvSpPr>
        <p:spPr/>
        <p:txBody>
          <a:bodyPr>
            <a:normAutofit/>
          </a:bodyPr>
          <a:lstStyle/>
          <a:p>
            <a:r>
              <a:rPr lang="zh-CN" altLang="en-US" sz="4000" dirty="0"/>
              <a:t>体系结构</a:t>
            </a:r>
            <a:r>
              <a:rPr lang="zh-CN" sz="4000" dirty="0"/>
              <a:t>设计</a:t>
            </a:r>
            <a:r>
              <a:rPr lang="zh-CN" altLang="en-US" sz="4000" dirty="0"/>
              <a:t>的关键原则（</a:t>
            </a:r>
            <a:r>
              <a:rPr lang="en-US" altLang="zh-CN" sz="4000" dirty="0"/>
              <a:t>1</a:t>
            </a:r>
            <a:r>
              <a:rPr lang="zh-CN" altLang="en-US" sz="4000" dirty="0"/>
              <a:t>）</a:t>
            </a:r>
            <a:endParaRPr lang="zh-CN" altLang="en-US" sz="4000" dirty="0"/>
          </a:p>
        </p:txBody>
      </p:sp>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Autofit/>
          </a:bodyPr>
          <a:lstStyle/>
          <a:p>
            <a:r>
              <a:rPr lang="en-US" sz="2400" dirty="0"/>
              <a:t> </a:t>
            </a:r>
            <a:r>
              <a:rPr lang="zh-CN" altLang="en-US" dirty="0"/>
              <a:t>不重复自身原则 (DRY)</a:t>
            </a:r>
            <a:r>
              <a:rPr lang="en-US" altLang="zh-CN" dirty="0"/>
              <a:t>:</a:t>
            </a:r>
            <a:endParaRPr lang="en-US" altLang="zh-CN" dirty="0"/>
          </a:p>
          <a:p>
            <a:pPr lvl="1"/>
            <a:r>
              <a:rPr lang="zh-CN" altLang="en-US" dirty="0"/>
              <a:t>只须在一个地方指定意图，例如，对于程序设计，特定功能只能在一个组件内实现，且该功能不能复制到任何其他组件内。</a:t>
            </a:r>
            <a:endParaRPr lang="en-US" altLang="zh-CN" dirty="0"/>
          </a:p>
          <a:p>
            <a:pPr>
              <a:lnSpc>
                <a:spcPct val="130000"/>
              </a:lnSpc>
            </a:pPr>
            <a:r>
              <a:rPr lang="zh-CN" altLang="en-US" dirty="0"/>
              <a:t>尽量减小前期设计</a:t>
            </a:r>
            <a:endParaRPr lang="en-US" altLang="zh-CN" dirty="0"/>
          </a:p>
          <a:p>
            <a:pPr lvl="1">
              <a:lnSpc>
                <a:spcPct val="130000"/>
              </a:lnSpc>
            </a:pPr>
            <a:r>
              <a:rPr lang="zh-CN" altLang="en-US" dirty="0"/>
              <a:t>只做必要的设计。</a:t>
            </a:r>
            <a:endParaRPr lang="zh-CN" altLang="en-US" dirty="0"/>
          </a:p>
          <a:p>
            <a:pPr marL="612775" lvl="1" indent="0">
              <a:buNone/>
            </a:pPr>
            <a:endParaRPr lang="zh-CN" altLang="en-US" sz="2400" dirty="0"/>
          </a:p>
        </p:txBody>
      </p:sp>
      <p:sp>
        <p:nvSpPr>
          <p:cNvPr id="7" name="标题 6"/>
          <p:cNvSpPr>
            <a:spLocks noGrp="1"/>
          </p:cNvSpPr>
          <p:nvPr>
            <p:ph type="title"/>
          </p:nvPr>
        </p:nvSpPr>
        <p:spPr/>
        <p:txBody>
          <a:bodyPr>
            <a:normAutofit/>
          </a:bodyPr>
          <a:lstStyle/>
          <a:p>
            <a:r>
              <a:rPr lang="zh-CN" altLang="en-US" sz="4000" dirty="0"/>
              <a:t>体系结构</a:t>
            </a:r>
            <a:r>
              <a:rPr lang="zh-CN" sz="4000" dirty="0"/>
              <a:t>设计</a:t>
            </a:r>
            <a:r>
              <a:rPr lang="zh-CN" altLang="en-US" sz="4000" dirty="0"/>
              <a:t>的关键原则（</a:t>
            </a:r>
            <a:r>
              <a:rPr lang="en-US" altLang="zh-CN" sz="4000" dirty="0"/>
              <a:t>2</a:t>
            </a:r>
            <a:r>
              <a:rPr lang="zh-CN" altLang="en-US" sz="4000" dirty="0"/>
              <a:t>）</a:t>
            </a:r>
            <a:endParaRPr lang="zh-CN" altLang="en-US" sz="4000" dirty="0"/>
          </a:p>
        </p:txBody>
      </p:sp>
    </p:spTree>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rmAutofit/>
          </a:bodyPr>
          <a:lstStyle/>
          <a:p>
            <a:pPr eaLnBrk="1" hangingPunct="1"/>
            <a:r>
              <a:rPr lang="zh-CN" altLang="en-US" sz="2800" dirty="0"/>
              <a:t>几个面临威胁的方面：</a:t>
            </a:r>
            <a:endParaRPr lang="zh-CN" altLang="en-US" sz="2800" dirty="0"/>
          </a:p>
          <a:p>
            <a:pPr lvl="1">
              <a:lnSpc>
                <a:spcPct val="150000"/>
              </a:lnSpc>
            </a:pPr>
            <a:r>
              <a:rPr lang="zh-CN" altLang="en-US" sz="2400" dirty="0"/>
              <a:t>被忽略的重要非功能需求</a:t>
            </a:r>
            <a:endParaRPr lang="zh-CN" altLang="en-US" sz="2400" dirty="0"/>
          </a:p>
          <a:p>
            <a:pPr lvl="1">
              <a:lnSpc>
                <a:spcPct val="150000"/>
              </a:lnSpc>
            </a:pPr>
            <a:r>
              <a:rPr lang="zh-CN" altLang="en-US" sz="2400" dirty="0"/>
              <a:t>频繁变化的需求</a:t>
            </a:r>
            <a:endParaRPr lang="zh-CN" altLang="en-US" sz="2400" dirty="0"/>
          </a:p>
          <a:p>
            <a:pPr lvl="1">
              <a:lnSpc>
                <a:spcPct val="150000"/>
              </a:lnSpc>
            </a:pPr>
            <a:r>
              <a:rPr lang="zh-CN" altLang="en-US" sz="2400" dirty="0"/>
              <a:t>考虑不全面的体系结构设计</a:t>
            </a:r>
            <a:endParaRPr lang="zh-CN" altLang="en-US" sz="2400" dirty="0"/>
          </a:p>
          <a:p>
            <a:pPr lvl="1">
              <a:lnSpc>
                <a:spcPct val="150000"/>
              </a:lnSpc>
            </a:pPr>
            <a:r>
              <a:rPr lang="zh-CN" altLang="en-US" sz="2400" dirty="0"/>
              <a:t>不及时的体系结构验证</a:t>
            </a:r>
            <a:endParaRPr lang="zh-CN" altLang="en-US" sz="2400" dirty="0"/>
          </a:p>
          <a:p>
            <a:pPr lvl="1">
              <a:lnSpc>
                <a:spcPct val="150000"/>
              </a:lnSpc>
            </a:pPr>
            <a:r>
              <a:rPr lang="zh-CN" altLang="en-US" sz="2400" dirty="0"/>
              <a:t>较高的创造性的体系结构比重</a:t>
            </a:r>
            <a:endParaRPr lang="zh-CN" altLang="en-US" sz="2400" dirty="0"/>
          </a:p>
          <a:p>
            <a:pPr lvl="1">
              <a:lnSpc>
                <a:spcPct val="150000"/>
              </a:lnSpc>
            </a:pPr>
            <a:r>
              <a:rPr lang="zh-CN" altLang="en-US" sz="2400" dirty="0"/>
              <a:t>体系结构的低可执行性</a:t>
            </a:r>
            <a:endParaRPr lang="zh-CN" altLang="en-US" sz="2400" dirty="0"/>
          </a:p>
          <a:p>
            <a:pPr eaLnBrk="1" hangingPunct="1"/>
            <a:endParaRPr lang="zh-CN" altLang="en-US" sz="1710" dirty="0"/>
          </a:p>
        </p:txBody>
      </p:sp>
      <p:sp>
        <p:nvSpPr>
          <p:cNvPr id="7" name="标题 6"/>
          <p:cNvSpPr>
            <a:spLocks noGrp="1"/>
          </p:cNvSpPr>
          <p:nvPr>
            <p:ph type="title"/>
          </p:nvPr>
        </p:nvSpPr>
        <p:spPr>
          <a:xfrm>
            <a:off x="501650" y="0"/>
            <a:ext cx="6662638"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1</a:t>
            </a:r>
            <a:r>
              <a:rPr lang="zh-CN" altLang="en-US" sz="4400" dirty="0"/>
              <a:t>）</a:t>
            </a:r>
            <a:endParaRPr lang="zh-CN" dirty="0"/>
          </a:p>
        </p:txBody>
      </p:sp>
    </p:spTree>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Autofit/>
          </a:bodyPr>
          <a:lstStyle/>
          <a:p>
            <a:r>
              <a:rPr lang="zh-CN" altLang="en-US" sz="2800" dirty="0"/>
              <a:t>（</a:t>
            </a:r>
            <a:r>
              <a:rPr lang="en-US" altLang="zh-CN" sz="2800" dirty="0"/>
              <a:t>1</a:t>
            </a:r>
            <a:r>
              <a:rPr lang="zh-CN" altLang="en-US" sz="2800" dirty="0"/>
              <a:t>）被忽略的重要非功能需求及其对策</a:t>
            </a:r>
            <a:endParaRPr lang="en-US" altLang="zh-CN" sz="2800" dirty="0"/>
          </a:p>
          <a:p>
            <a:pPr lvl="1"/>
            <a:r>
              <a:rPr lang="zh-CN" altLang="en-US" sz="2600" dirty="0"/>
              <a:t>从开发的角度来看，功能需求的缺陷是可以通过编程级的努力补回，而最终提供的软件系统能否达到非功能需求是无法通过编程级的努力达到的</a:t>
            </a:r>
            <a:r>
              <a:rPr lang="zh-CN" altLang="en-US" sz="2600"/>
              <a:t>，必须重构体系结构</a:t>
            </a:r>
            <a:r>
              <a:rPr lang="zh-CN" altLang="en-US" sz="2600" dirty="0"/>
              <a:t>。</a:t>
            </a:r>
            <a:endParaRPr lang="en-US" altLang="zh-CN" sz="2600" dirty="0"/>
          </a:p>
          <a:p>
            <a:pPr lvl="1"/>
            <a:r>
              <a:rPr lang="zh-CN" altLang="en-US" sz="2600" dirty="0"/>
              <a:t>对策：全面认识需求</a:t>
            </a:r>
            <a:endParaRPr lang="en-US" altLang="zh-CN" sz="2600" dirty="0"/>
          </a:p>
          <a:p>
            <a:pPr lvl="2"/>
            <a:r>
              <a:rPr lang="zh-CN" altLang="en-US" sz="2600" dirty="0"/>
              <a:t>软件体系结构强调的是整体，而整体性的设计决策必须给予对需求的全面认识。分层、分类把需求整理清楚，并进行合适的权衡和取舍。</a:t>
            </a:r>
            <a:endParaRPr lang="en-US" altLang="zh-CN" sz="2600" dirty="0"/>
          </a:p>
          <a:p>
            <a:pPr lvl="1"/>
            <a:endParaRPr lang="zh-CN" altLang="en-US" dirty="0"/>
          </a:p>
        </p:txBody>
      </p:sp>
      <p:sp>
        <p:nvSpPr>
          <p:cNvPr id="7" name="标题 6"/>
          <p:cNvSpPr>
            <a:spLocks noGrp="1"/>
          </p:cNvSpPr>
          <p:nvPr>
            <p:ph type="title"/>
          </p:nvPr>
        </p:nvSpPr>
        <p:spPr>
          <a:xfrm>
            <a:off x="501650" y="0"/>
            <a:ext cx="6590630"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2</a:t>
            </a:r>
            <a:r>
              <a:rPr lang="zh-CN" altLang="en-US" sz="4400" dirty="0"/>
              <a:t>）</a:t>
            </a:r>
            <a:endParaRPr lang="zh-CN" dirty="0"/>
          </a:p>
        </p:txBody>
      </p:sp>
    </p:spTree>
  </p:cSld>
  <p:clrMapOvr>
    <a:masterClrMapping/>
  </p:clrMapOvr>
  <p:transition>
    <p:wipe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Autofit/>
          </a:bodyPr>
          <a:lstStyle/>
          <a:p>
            <a:pPr eaLnBrk="1" hangingPunct="1">
              <a:lnSpc>
                <a:spcPct val="150000"/>
              </a:lnSpc>
            </a:pPr>
            <a:r>
              <a:rPr lang="zh-CN" altLang="en-US" sz="2800" dirty="0"/>
              <a:t>（</a:t>
            </a:r>
            <a:r>
              <a:rPr lang="en-US" altLang="zh-CN" sz="2800" dirty="0"/>
              <a:t>2</a:t>
            </a:r>
            <a:r>
              <a:rPr lang="zh-CN" altLang="en-US" sz="2800" dirty="0"/>
              <a:t>）频繁变化的需求及其对策：</a:t>
            </a:r>
            <a:endParaRPr lang="zh-CN" altLang="en-US" sz="2800" dirty="0"/>
          </a:p>
          <a:p>
            <a:pPr lvl="1"/>
            <a:r>
              <a:rPr lang="zh-CN" altLang="en-US" sz="2600" dirty="0"/>
              <a:t>任何需求变更都可能意味着时间和金钱的消耗，并且大量需求变更之后程序可能变得混乱，势必引起Bug增多，影响产品质量。</a:t>
            </a:r>
            <a:endParaRPr lang="zh-CN" altLang="en-US" sz="2600" dirty="0"/>
          </a:p>
          <a:p>
            <a:pPr lvl="1"/>
            <a:r>
              <a:rPr lang="zh-CN" altLang="en-US" sz="2600" dirty="0"/>
              <a:t>对策：关键需求决定体系结构</a:t>
            </a:r>
            <a:endParaRPr lang="zh-CN" altLang="en-US" sz="2600" dirty="0"/>
          </a:p>
          <a:p>
            <a:pPr lvl="2"/>
            <a:r>
              <a:rPr lang="zh-CN" altLang="en-US" sz="2600" dirty="0"/>
              <a:t>在软件体系结构设计中必须接受变化的普遍存在，采用以关键需求决定体系结构的策略可以有效应对频繁变化的需求。</a:t>
            </a:r>
            <a:endParaRPr lang="zh-CN" altLang="en-US" sz="2600" dirty="0"/>
          </a:p>
        </p:txBody>
      </p:sp>
      <p:sp>
        <p:nvSpPr>
          <p:cNvPr id="7" name="标题 6"/>
          <p:cNvSpPr>
            <a:spLocks noGrp="1"/>
          </p:cNvSpPr>
          <p:nvPr>
            <p:ph type="title"/>
          </p:nvPr>
        </p:nvSpPr>
        <p:spPr>
          <a:xfrm>
            <a:off x="501650" y="0"/>
            <a:ext cx="6590630"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3</a:t>
            </a:r>
            <a:r>
              <a:rPr lang="zh-CN" altLang="en-US" sz="4400" dirty="0"/>
              <a:t>）</a:t>
            </a:r>
            <a:endParaRPr lang="zh-CN" dirty="0"/>
          </a:p>
        </p:txBody>
      </p:sp>
    </p:spTree>
  </p:cSld>
  <p:clrMapOvr>
    <a:masterClrMapping/>
  </p:clrMapOvr>
  <p:transition>
    <p:wipe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5000660"/>
          </a:xfrm>
        </p:spPr>
        <p:txBody>
          <a:bodyPr>
            <a:normAutofit fontScale="92500" lnSpcReduction="10000"/>
          </a:bodyPr>
          <a:lstStyle/>
          <a:p>
            <a:pPr eaLnBrk="1" hangingPunct="1">
              <a:lnSpc>
                <a:spcPct val="150000"/>
              </a:lnSpc>
            </a:pPr>
            <a:r>
              <a:rPr lang="zh-CN" altLang="en-US" sz="3300" dirty="0"/>
              <a:t>（</a:t>
            </a:r>
            <a:r>
              <a:rPr lang="en-US" altLang="zh-CN" sz="3300" dirty="0"/>
              <a:t>3</a:t>
            </a:r>
            <a:r>
              <a:rPr lang="zh-CN" altLang="en-US" sz="3300" dirty="0"/>
              <a:t>）考虑不全面的体系结构设计：</a:t>
            </a:r>
            <a:endParaRPr lang="zh-CN" altLang="en-US" sz="3300" dirty="0"/>
          </a:p>
          <a:p>
            <a:pPr lvl="1">
              <a:lnSpc>
                <a:spcPct val="150000"/>
              </a:lnSpc>
            </a:pPr>
            <a:r>
              <a:rPr lang="zh-CN" altLang="en-US" dirty="0"/>
              <a:t>软件系统越来越复杂，软件体系结构也越来越复杂；另外，软件体系结构还应该能够反映各方涉众不同角度的关注。</a:t>
            </a:r>
            <a:endParaRPr lang="zh-CN" altLang="en-US" dirty="0"/>
          </a:p>
          <a:p>
            <a:pPr lvl="1">
              <a:lnSpc>
                <a:spcPct val="150000"/>
              </a:lnSpc>
            </a:pPr>
            <a:r>
              <a:rPr lang="zh-CN" altLang="en-US" dirty="0"/>
              <a:t>对策：多视图探寻体系结构</a:t>
            </a:r>
            <a:endParaRPr lang="en-US" altLang="zh-CN" dirty="0"/>
          </a:p>
          <a:p>
            <a:pPr lvl="2">
              <a:lnSpc>
                <a:spcPct val="150000"/>
              </a:lnSpc>
            </a:pPr>
            <a:r>
              <a:rPr lang="zh-CN" altLang="en-US" sz="2800" dirty="0"/>
              <a:t>采用分而治之的策略，基于多视图的体系结构设计方法使在设计过程中无需对所有方面同时进行考虑，而是可以按关注点每次只围绕少数概念和技术展开。</a:t>
            </a:r>
            <a:endParaRPr lang="zh-CN" altLang="en-US" sz="2800" dirty="0"/>
          </a:p>
        </p:txBody>
      </p:sp>
      <p:sp>
        <p:nvSpPr>
          <p:cNvPr id="7" name="标题 6"/>
          <p:cNvSpPr>
            <a:spLocks noGrp="1"/>
          </p:cNvSpPr>
          <p:nvPr>
            <p:ph type="title"/>
          </p:nvPr>
        </p:nvSpPr>
        <p:spPr>
          <a:xfrm>
            <a:off x="501650" y="0"/>
            <a:ext cx="6806654"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4</a:t>
            </a:r>
            <a:r>
              <a:rPr lang="zh-CN" altLang="en-US" sz="4400" dirty="0"/>
              <a:t>）</a:t>
            </a:r>
            <a:endParaRPr lang="zh-CN" dirty="0"/>
          </a:p>
        </p:txBody>
      </p:sp>
    </p:spTree>
  </p:cSld>
  <p:clrMapOvr>
    <a:masterClrMapping/>
  </p:clrMapOvr>
  <p:transition>
    <p:wipe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414" y="1571612"/>
            <a:ext cx="7472386" cy="4560901"/>
          </a:xfrm>
        </p:spPr>
        <p:txBody>
          <a:bodyPr>
            <a:noAutofit/>
          </a:bodyPr>
          <a:lstStyle/>
          <a:p>
            <a:pPr eaLnBrk="1" hangingPunct="1">
              <a:lnSpc>
                <a:spcPct val="150000"/>
              </a:lnSpc>
            </a:pPr>
            <a:r>
              <a:rPr lang="zh-CN" altLang="en-US" sz="2800" dirty="0"/>
              <a:t>（</a:t>
            </a:r>
            <a:r>
              <a:rPr lang="en-US" altLang="zh-CN" sz="2800" dirty="0"/>
              <a:t>4</a:t>
            </a:r>
            <a:r>
              <a:rPr lang="zh-CN" altLang="en-US" sz="2800" dirty="0"/>
              <a:t>）不及时的体系结构验证及其对策</a:t>
            </a:r>
            <a:endParaRPr lang="zh-CN" altLang="en-US" sz="2800" dirty="0"/>
          </a:p>
          <a:p>
            <a:pPr lvl="1">
              <a:lnSpc>
                <a:spcPct val="150000"/>
              </a:lnSpc>
            </a:pPr>
            <a:r>
              <a:rPr lang="zh-CN" altLang="en-US" sz="2400" dirty="0"/>
              <a:t>体系结构设计的合理性直接影响到软件系统最终是否能够成功，因此若未对软件体系结构合理性进行及早的验证，将为软件开发过程带来巨大的风险。</a:t>
            </a:r>
            <a:endParaRPr lang="en-US" altLang="zh-CN" sz="2400" dirty="0"/>
          </a:p>
          <a:p>
            <a:pPr lvl="1">
              <a:lnSpc>
                <a:spcPct val="150000"/>
              </a:lnSpc>
            </a:pPr>
            <a:r>
              <a:rPr lang="zh-CN" altLang="en-US" sz="2400" dirty="0"/>
              <a:t>对策：尽早验证体系结构</a:t>
            </a:r>
            <a:endParaRPr lang="zh-CN" altLang="en-US" sz="2400" dirty="0"/>
          </a:p>
          <a:p>
            <a:pPr lvl="1">
              <a:lnSpc>
                <a:spcPct val="150000"/>
              </a:lnSpc>
            </a:pPr>
            <a:r>
              <a:rPr lang="zh-CN" altLang="en-US" sz="2400" dirty="0"/>
              <a:t>应真正对早期体系结构进行编码实现，而不仅仅是评审。要对原型进行测试，重点要确保早期体系结构考虑的质量属性是否能够达到预期。</a:t>
            </a:r>
            <a:endParaRPr lang="zh-CN" altLang="en-US" sz="2400" dirty="0"/>
          </a:p>
        </p:txBody>
      </p:sp>
      <p:sp>
        <p:nvSpPr>
          <p:cNvPr id="7" name="标题 6"/>
          <p:cNvSpPr>
            <a:spLocks noGrp="1"/>
          </p:cNvSpPr>
          <p:nvPr>
            <p:ph type="title"/>
          </p:nvPr>
        </p:nvSpPr>
        <p:spPr>
          <a:xfrm>
            <a:off x="501650" y="0"/>
            <a:ext cx="6590630"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5</a:t>
            </a:r>
            <a:r>
              <a:rPr lang="zh-CN" altLang="en-US" sz="4400" dirty="0"/>
              <a:t>）</a:t>
            </a:r>
            <a:endParaRPr lang="zh-CN" dirty="0"/>
          </a:p>
        </p:txBody>
      </p:sp>
    </p:spTree>
  </p:cSld>
  <p:clrMapOvr>
    <a:masterClrMapping/>
  </p:clrMapOvr>
  <p:transition>
    <p:wipe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501650" y="1556792"/>
            <a:ext cx="7920880" cy="5040560"/>
          </a:xfrm>
        </p:spPr>
        <p:txBody>
          <a:bodyPr>
            <a:normAutofit fontScale="87500"/>
          </a:bodyPr>
          <a:lstStyle/>
          <a:p>
            <a:pPr eaLnBrk="1" hangingPunct="1">
              <a:lnSpc>
                <a:spcPct val="150000"/>
              </a:lnSpc>
            </a:pPr>
            <a:r>
              <a:rPr lang="zh-CN" altLang="en-US" sz="2400" dirty="0"/>
              <a:t>（</a:t>
            </a:r>
            <a:r>
              <a:rPr lang="en-US" altLang="zh-CN" sz="2400" dirty="0"/>
              <a:t>5</a:t>
            </a:r>
            <a:r>
              <a:rPr lang="zh-CN" altLang="en-US" sz="2400" dirty="0"/>
              <a:t>）较高的创造性的体系结构比重及其对策：</a:t>
            </a:r>
            <a:endParaRPr lang="zh-CN" altLang="en-US" sz="2400" dirty="0"/>
          </a:p>
          <a:p>
            <a:pPr lvl="1">
              <a:lnSpc>
                <a:spcPct val="150000"/>
              </a:lnSpc>
            </a:pPr>
            <a:r>
              <a:rPr lang="zh-CN" altLang="en-US" dirty="0"/>
              <a:t>有时，可能理解已有体系结构所耗费的时间比重新设计一个新的体系结构更多，在这样的情景下，设计新体系结构貌似是合理的决策。</a:t>
            </a:r>
            <a:endParaRPr lang="zh-CN" altLang="en-US" dirty="0"/>
          </a:p>
          <a:p>
            <a:pPr lvl="1">
              <a:lnSpc>
                <a:spcPct val="150000"/>
              </a:lnSpc>
            </a:pPr>
            <a:r>
              <a:rPr lang="zh-CN" altLang="en-US" dirty="0"/>
              <a:t>对策：合理分配经验体系结构与创新体系结构比重</a:t>
            </a:r>
            <a:endParaRPr lang="zh-CN" altLang="en-US" dirty="0"/>
          </a:p>
          <a:p>
            <a:pPr lvl="1">
              <a:lnSpc>
                <a:spcPct val="150000"/>
              </a:lnSpc>
            </a:pPr>
            <a:r>
              <a:rPr lang="zh-CN" altLang="en-US" dirty="0"/>
              <a:t>为了得到成功的软件体系结构，需要权衡确定经验体系结构与创新体系结构比重的分配，不仅要考虑软件开发时间，也要考虑创新体系结构可能引入的风险。调查显示，80%经验体系结构加20%创新体系结构是比较合理的分配比重</a:t>
            </a:r>
            <a:endParaRPr lang="zh-CN" altLang="en-US" dirty="0"/>
          </a:p>
        </p:txBody>
      </p:sp>
      <p:sp>
        <p:nvSpPr>
          <p:cNvPr id="7" name="标题 6"/>
          <p:cNvSpPr>
            <a:spLocks noGrp="1"/>
          </p:cNvSpPr>
          <p:nvPr>
            <p:ph type="title"/>
          </p:nvPr>
        </p:nvSpPr>
        <p:spPr>
          <a:xfrm>
            <a:off x="501650" y="0"/>
            <a:ext cx="6590630"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6</a:t>
            </a:r>
            <a:r>
              <a:rPr lang="zh-CN" altLang="en-US" sz="4400" dirty="0"/>
              <a:t>）</a:t>
            </a:r>
            <a:endParaRPr lang="zh-CN" dirty="0"/>
          </a:p>
        </p:txBody>
      </p:sp>
    </p:spTree>
  </p:cSld>
  <p:clrMapOvr>
    <a:masterClrMapping/>
  </p:clrMapOvr>
  <p:transition>
    <p:wipe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灯片编号占位符 5"/>
          <p:cNvSpPr>
            <a:spLocks noGrp="1"/>
          </p:cNvSpPr>
          <p:nvPr>
            <p:ph type="sldNum" sz="quarter" idx="12"/>
          </p:nvPr>
        </p:nvSpPr>
        <p:spPr>
          <a:noFill/>
        </p:spPr>
        <p:txBody>
          <a:bodyPr/>
          <a:lstStyle/>
          <a:p>
            <a:fld id="{80D42309-E990-4DA5-9E38-1198032118F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20486" name="Rectangle 3"/>
          <p:cNvSpPr>
            <a:spLocks noGrp="1" noChangeArrowheads="1"/>
          </p:cNvSpPr>
          <p:nvPr>
            <p:ph type="body" idx="1"/>
          </p:nvPr>
        </p:nvSpPr>
        <p:spPr>
          <a:xfrm>
            <a:off x="1214120" y="1571625"/>
            <a:ext cx="7320280" cy="4561205"/>
          </a:xfrm>
        </p:spPr>
        <p:txBody>
          <a:bodyPr>
            <a:normAutofit fontScale="90000" lnSpcReduction="20000"/>
          </a:bodyPr>
          <a:lstStyle/>
          <a:p>
            <a:pPr eaLnBrk="1" hangingPunct="1">
              <a:lnSpc>
                <a:spcPct val="150000"/>
              </a:lnSpc>
            </a:pPr>
            <a:r>
              <a:rPr lang="zh-CN" altLang="en-US" sz="3100" dirty="0"/>
              <a:t>（</a:t>
            </a:r>
            <a:r>
              <a:rPr lang="en-US" altLang="zh-CN" sz="3100" dirty="0"/>
              <a:t>6</a:t>
            </a:r>
            <a:r>
              <a:rPr lang="zh-CN" altLang="en-US" sz="3100" dirty="0"/>
              <a:t>）体系结构的低可执行性：</a:t>
            </a:r>
            <a:endParaRPr lang="zh-CN" altLang="en-US" sz="3100" dirty="0"/>
          </a:p>
          <a:p>
            <a:pPr lvl="1">
              <a:lnSpc>
                <a:spcPct val="150000"/>
              </a:lnSpc>
            </a:pPr>
            <a:r>
              <a:rPr lang="zh-CN" altLang="en-US" sz="2500" dirty="0"/>
              <a:t>软件体系结构是从较高层次对软件的抽象，但体系结构设计的本质是为了保障软件开发过程的顺利进行，所以体系结构设计并非“好的就是成功的”，而是“适合的才是成功的”。</a:t>
            </a:r>
            <a:endParaRPr lang="zh-CN" altLang="en-US" sz="2500" dirty="0"/>
          </a:p>
          <a:p>
            <a:pPr lvl="1">
              <a:lnSpc>
                <a:spcPct val="150000"/>
              </a:lnSpc>
            </a:pPr>
            <a:r>
              <a:rPr lang="zh-CN" altLang="en-US" sz="2500" dirty="0"/>
              <a:t>对策：验证体系结构的可执行性</a:t>
            </a:r>
            <a:endParaRPr lang="zh-CN" altLang="en-US" sz="2500" dirty="0"/>
          </a:p>
          <a:p>
            <a:pPr lvl="1">
              <a:lnSpc>
                <a:spcPct val="150000"/>
              </a:lnSpc>
            </a:pPr>
            <a:r>
              <a:rPr lang="zh-CN" altLang="en-US" sz="2500" dirty="0"/>
              <a:t>进行体系结构可执行性验证能够对体系结构设计过程产生约束效果，从而避免过度设计给软件项目开发带来的风险。</a:t>
            </a:r>
            <a:endParaRPr lang="zh-CN" altLang="en-US" sz="2500" dirty="0"/>
          </a:p>
        </p:txBody>
      </p:sp>
      <p:sp>
        <p:nvSpPr>
          <p:cNvPr id="7" name="标题 6"/>
          <p:cNvSpPr>
            <a:spLocks noGrp="1"/>
          </p:cNvSpPr>
          <p:nvPr>
            <p:ph type="title"/>
          </p:nvPr>
        </p:nvSpPr>
        <p:spPr>
          <a:xfrm>
            <a:off x="501650" y="0"/>
            <a:ext cx="6590630" cy="1325563"/>
          </a:xfrm>
        </p:spPr>
        <p:txBody>
          <a:bodyPr>
            <a:normAutofit/>
          </a:bodyPr>
          <a:lstStyle/>
          <a:p>
            <a:r>
              <a:rPr lang="zh-CN" sz="4400" dirty="0"/>
              <a:t>软件</a:t>
            </a:r>
            <a:r>
              <a:rPr lang="zh-CN" altLang="en-US" sz="4400" dirty="0"/>
              <a:t>体系结构</a:t>
            </a:r>
            <a:r>
              <a:rPr lang="zh-CN" sz="4400" dirty="0"/>
              <a:t>设计面临的主要威胁及其对策</a:t>
            </a:r>
            <a:r>
              <a:rPr lang="zh-CN" altLang="en-US" sz="4400" dirty="0"/>
              <a:t>（</a:t>
            </a:r>
            <a:r>
              <a:rPr lang="en-US" altLang="zh-CN" sz="4400" dirty="0"/>
              <a:t>7</a:t>
            </a:r>
            <a:r>
              <a:rPr lang="zh-CN" altLang="en-US" sz="4400" dirty="0"/>
              <a:t>）</a:t>
            </a:r>
            <a:endParaRPr lang="zh-CN" dirty="0"/>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1概述</Template>
  <TotalTime>0</TotalTime>
  <Words>7720</Words>
  <Application>WPS 演示</Application>
  <PresentationFormat>全屏显示(4:3)</PresentationFormat>
  <Paragraphs>508</Paragraphs>
  <Slides>49</Slides>
  <Notes>14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49</vt:i4>
      </vt:variant>
    </vt:vector>
  </HeadingPairs>
  <TitlesOfParts>
    <vt:vector size="68" baseType="lpstr">
      <vt:lpstr>Arial</vt:lpstr>
      <vt:lpstr>宋体</vt:lpstr>
      <vt:lpstr>Wingdings</vt:lpstr>
      <vt:lpstr>Calibri Light</vt:lpstr>
      <vt:lpstr>Times New Roman</vt:lpstr>
      <vt:lpstr>黑体</vt:lpstr>
      <vt:lpstr>仿宋_GB2312</vt:lpstr>
      <vt:lpstr>仿宋</vt:lpstr>
      <vt:lpstr>Calibri</vt:lpstr>
      <vt:lpstr>微软雅黑</vt:lpstr>
      <vt:lpstr>Arial Unicode MS</vt:lpstr>
      <vt:lpstr>华文中宋</vt:lpstr>
      <vt:lpstr>Wingdings 2</vt:lpstr>
      <vt:lpstr>Office 主题</vt:lpstr>
      <vt:lpstr>Visio.Drawing.11</vt:lpstr>
      <vt:lpstr>Visio.Drawing.11</vt:lpstr>
      <vt:lpstr>Visio.Drawing.11</vt:lpstr>
      <vt:lpstr>Visio.Drawing.11</vt:lpstr>
      <vt:lpstr>Visio.Drawing.11</vt:lpstr>
      <vt:lpstr>软件体系结构 </vt:lpstr>
      <vt:lpstr>软件体系结构设计和实现</vt:lpstr>
      <vt:lpstr>软件体系结构设计和实现</vt:lpstr>
      <vt:lpstr>PowerPoint 演示文稿</vt:lpstr>
      <vt:lpstr>PowerPoint 演示文稿</vt:lpstr>
      <vt:lpstr>PowerPoint 演示文稿</vt:lpstr>
      <vt:lpstr>PowerPoint 演示文稿</vt:lpstr>
      <vt:lpstr>PowerPoint 演示文稿</vt:lpstr>
      <vt:lpstr>基于软件需求的软件体系结构设计（1）   </vt:lpstr>
      <vt:lpstr>PowerPoint 演示文稿</vt:lpstr>
      <vt:lpstr>（1）面向目标和场景的软件体系结构设计方法</vt:lpstr>
      <vt:lpstr>（1）面向目标和场景的软件体系结构设计方法</vt:lpstr>
      <vt:lpstr>（2）基于APL软件体系结构设计方法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体系结构设计原则</vt:lpstr>
      <vt:lpstr>体系结构设计的基本原则（1）</vt:lpstr>
      <vt:lpstr>体系结构设计的基本原则（2）</vt:lpstr>
      <vt:lpstr>体系结构设计的基本原则（3）</vt:lpstr>
      <vt:lpstr>体系结构设计的关键原则（1）</vt:lpstr>
      <vt:lpstr>体系结构设计的关键原则（2）</vt:lpstr>
      <vt:lpstr>软件体系结构设计面临的主要威胁及其对策（1）</vt:lpstr>
      <vt:lpstr>软件体系结构设计面临的主要威胁及其对策（2）</vt:lpstr>
      <vt:lpstr>软件体系结构设计面临的主要威胁及其对策（3）</vt:lpstr>
      <vt:lpstr>软件体系结构设计面临的主要威胁及其对策（4）</vt:lpstr>
      <vt:lpstr>软件体系结构设计面临的主要威胁及其对策（5）</vt:lpstr>
      <vt:lpstr>软件体系结构设计面临的主要威胁及其对策（6）</vt:lpstr>
      <vt:lpstr>软件体系结构设计面临的主要威胁及其对策（7）</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介绍</dc:title>
  <dc:creator>zhao</dc:creator>
  <cp:lastModifiedBy>赵庆玲</cp:lastModifiedBy>
  <cp:revision>1018</cp:revision>
  <dcterms:created xsi:type="dcterms:W3CDTF">2018-04-12T00:15:00Z</dcterms:created>
  <dcterms:modified xsi:type="dcterms:W3CDTF">2026-06-03T03:43:44Z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98EA7D5D59B940E89AFBBEA2BD901733_13</vt:lpwstr>
  </property>
</Properties>
</file>