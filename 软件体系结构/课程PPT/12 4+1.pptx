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5"/>
  </p:notesMasterIdLst>
  <p:handoutMasterIdLst>
    <p:handoutMasterId r:id="rId46"/>
  </p:handoutMasterIdLst>
  <p:sldIdLst>
    <p:sldId id="317" r:id="rId3"/>
    <p:sldId id="259" r:id="rId4"/>
    <p:sldId id="293" r:id="rId6"/>
    <p:sldId id="294" r:id="rId7"/>
    <p:sldId id="295" r:id="rId8"/>
    <p:sldId id="296" r:id="rId9"/>
    <p:sldId id="297" r:id="rId10"/>
    <p:sldId id="298" r:id="rId11"/>
    <p:sldId id="299" r:id="rId12"/>
    <p:sldId id="300" r:id="rId13"/>
    <p:sldId id="301" r:id="rId14"/>
    <p:sldId id="302" r:id="rId15"/>
    <p:sldId id="303" r:id="rId16"/>
    <p:sldId id="304" r:id="rId17"/>
    <p:sldId id="305" r:id="rId18"/>
    <p:sldId id="306" r:id="rId19"/>
    <p:sldId id="307" r:id="rId20"/>
    <p:sldId id="308" r:id="rId21"/>
    <p:sldId id="313" r:id="rId22"/>
    <p:sldId id="260" r:id="rId23"/>
    <p:sldId id="285" r:id="rId24"/>
    <p:sldId id="286" r:id="rId25"/>
    <p:sldId id="287" r:id="rId26"/>
    <p:sldId id="261" r:id="rId27"/>
    <p:sldId id="288" r:id="rId28"/>
    <p:sldId id="289" r:id="rId29"/>
    <p:sldId id="290" r:id="rId30"/>
    <p:sldId id="318" r:id="rId31"/>
    <p:sldId id="291" r:id="rId32"/>
    <p:sldId id="292" r:id="rId33"/>
    <p:sldId id="262" r:id="rId34"/>
    <p:sldId id="263" r:id="rId35"/>
    <p:sldId id="266" r:id="rId36"/>
    <p:sldId id="267" r:id="rId37"/>
    <p:sldId id="268" r:id="rId38"/>
    <p:sldId id="269" r:id="rId39"/>
    <p:sldId id="264" r:id="rId40"/>
    <p:sldId id="265" r:id="rId41"/>
    <p:sldId id="319" r:id="rId42"/>
    <p:sldId id="271" r:id="rId43"/>
    <p:sldId id="272" r:id="rId44"/>
    <p:sldId id="270" r:id="rId45"/>
  </p:sldIdLst>
  <p:sldSz cx="9144000" cy="6858000" type="screen4x3"/>
  <p:notesSz cx="6858000" cy="9144000"/>
  <p:custDataLst>
    <p:tags r:id="rId50"/>
  </p:custDataLst>
  <p:kinsoku lang="zh-CN" invalStChars="!),.:;?]}、。—ˇ¨〃々～‖…’”〕〉》」』〗】∶！＂＇），．：；？］｀｜｝·" invalEndChars="([{‘“〔〈《「『〖【（［｛．·"/>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3399"/>
    <a:srgbClr val="3333FF"/>
    <a:srgbClr val="0033CC"/>
    <a:srgbClr val="0000CC"/>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73" autoAdjust="0"/>
    <p:restoredTop sz="85877" autoAdjust="0"/>
  </p:normalViewPr>
  <p:slideViewPr>
    <p:cSldViewPr showGuides="1">
      <p:cViewPr varScale="1">
        <p:scale>
          <a:sx n="98" d="100"/>
          <a:sy n="98" d="100"/>
        </p:scale>
        <p:origin x="1725" y="3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0" Type="http://schemas.openxmlformats.org/officeDocument/2006/relationships/tags" Target="tags/tag1.xml"/><Relationship Id="rId5" Type="http://schemas.openxmlformats.org/officeDocument/2006/relationships/notesMaster" Target="notesMasters/notesMaster1.xml"/><Relationship Id="rId49" Type="http://schemas.openxmlformats.org/officeDocument/2006/relationships/tableStyles" Target="tableStyles.xml"/><Relationship Id="rId48" Type="http://schemas.openxmlformats.org/officeDocument/2006/relationships/viewProps" Target="viewProps.xml"/><Relationship Id="rId47" Type="http://schemas.openxmlformats.org/officeDocument/2006/relationships/presProps" Target="presProps.xml"/><Relationship Id="rId46" Type="http://schemas.openxmlformats.org/officeDocument/2006/relationships/handoutMaster" Target="handoutMasters/handoutMaster1.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1.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2.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3.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4.png"/></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5.png"/></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7.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lstStyle/>
          <a:p>
            <a:pPr lvl="0"/>
            <a:r>
              <a:rPr lang="en-US" altLang="zh-CN" noProof="0"/>
              <a:t>Click to edit Master text styles</a:t>
            </a:r>
            <a:endParaRPr lang="en-US" altLang="zh-CN" noProof="0"/>
          </a:p>
          <a:p>
            <a:pPr lvl="1"/>
            <a:r>
              <a:rPr lang="en-US" altLang="zh-CN" noProof="0"/>
              <a:t>Second level</a:t>
            </a:r>
            <a:endParaRPr lang="en-US" altLang="zh-CN" noProof="0"/>
          </a:p>
          <a:p>
            <a:pPr lvl="2"/>
            <a:r>
              <a:rPr lang="en-US" altLang="zh-CN" noProof="0"/>
              <a:t>Third level</a:t>
            </a:r>
            <a:endParaRPr lang="en-US" altLang="zh-CN" noProof="0"/>
          </a:p>
          <a:p>
            <a:pPr lvl="3"/>
            <a:r>
              <a:rPr lang="en-US" altLang="zh-CN" noProof="0"/>
              <a:t>Fourth level</a:t>
            </a:r>
            <a:endParaRPr lang="en-US" altLang="zh-CN" noProof="0"/>
          </a:p>
          <a:p>
            <a:pPr lvl="4"/>
            <a:r>
              <a:rPr lang="en-US" altLang="zh-CN" noProof="0"/>
              <a:t>Fifth level</a:t>
            </a:r>
            <a:endParaRPr lang="en-US" altLang="zh-CN" noProof="0"/>
          </a:p>
        </p:txBody>
      </p:sp>
      <p:sp>
        <p:nvSpPr>
          <p:cNvPr id="4099" name="Rectangle 3"/>
          <p:cNvSpPr>
            <a:spLocks noGrp="1" noRot="1" noChangeAspect="1" noChangeArrowheads="1" noTextEdit="1"/>
          </p:cNvSpPr>
          <p:nvPr>
            <p:ph type="sldImg" idx="4294967295"/>
          </p:nvPr>
        </p:nvSpPr>
        <p:spPr bwMode="auto">
          <a:xfrm>
            <a:off x="1149350" y="692150"/>
            <a:ext cx="4559300" cy="3416300"/>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p:cNvSpPr>
            <a:spLocks noGrp="1" noRot="1" noChangeAspect="1" noChangeArrowheads="1" noTextEdit="1"/>
          </p:cNvSpPr>
          <p:nvPr>
            <p:ph type="sldImg" idx="4294967295"/>
          </p:nvPr>
        </p:nvSpPr>
        <p:spPr>
          <a:xfrm>
            <a:off x="1150938" y="692150"/>
            <a:ext cx="4556125" cy="3416300"/>
          </a:xfrm>
        </p:spPr>
      </p:sp>
      <p:sp>
        <p:nvSpPr>
          <p:cNvPr id="7170" name="Rectangle 3"/>
          <p:cNvSpPr>
            <a:spLocks noGrp="1" noChangeArrowheads="1"/>
          </p:cNvSpPr>
          <p:nvPr>
            <p:ph type="body" idx="4294967295"/>
          </p:nvPr>
        </p:nvSpPr>
        <p:spPr>
          <a:extLst>
            <a:ext uri="{91240B29-F687-4F45-9708-019B960494DF}">
              <a14:hiddenLine xmlns:a14="http://schemas.microsoft.com/office/drawing/2010/main" w="12700">
                <a:solidFill>
                  <a:srgbClr val="000000"/>
                </a:solidFill>
                <a:miter lim="800000"/>
                <a:headEnd/>
                <a:tailEnd/>
              </a14:hiddenLine>
            </a:ext>
          </a:extLst>
        </p:spPr>
        <p:txBody>
          <a:bodyPr/>
          <a:lstStyle/>
          <a:p>
            <a:r>
              <a:rPr lang="zh-CN" altLang="en-US"/>
              <a:t>平时，我们就是这么做的。现在有了理论依据</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noRot="1" noChangeAspect="1" noChangeArrowheads="1" noTextEdit="1"/>
          </p:cNvSpPr>
          <p:nvPr>
            <p:ph type="sldImg" idx="4294967295"/>
          </p:nvPr>
        </p:nvSpPr>
        <p:spPr>
          <a:xfrm>
            <a:off x="1150938" y="692150"/>
            <a:ext cx="4556125" cy="3416300"/>
          </a:xfrm>
          <a:solidFill>
            <a:srgbClr val="FFFFFF"/>
          </a:solidFill>
        </p:spPr>
      </p:sp>
      <p:sp>
        <p:nvSpPr>
          <p:cNvPr id="14338" name="Rectangle 3"/>
          <p:cNvSpPr>
            <a:spLocks noGrp="1" noChangeArrowheads="1"/>
          </p:cNvSpPr>
          <p:nvPr>
            <p:ph type="body" idx="4294967295"/>
          </p:nvPr>
        </p:nvSpPr>
        <p:spPr>
          <a:solidFill>
            <a:srgbClr val="FFFFFF"/>
          </a:solidFill>
          <a:ln w="12700">
            <a:solidFill>
              <a:srgbClr val="000000"/>
            </a:solidFill>
            <a:miter lim="800000"/>
          </a:ln>
        </p:spPr>
        <p:txBody>
          <a:bodyPr/>
          <a:lstStyle/>
          <a:p>
            <a:r>
              <a:rPr lang="zh-CN" altLang="en-US"/>
              <a:t>开发者知道该做什么</a:t>
            </a:r>
            <a:endParaRPr lang="zh-CN" altLang="en-US"/>
          </a:p>
          <a:p>
            <a:r>
              <a:rPr lang="en-US" altLang="zh-CN"/>
              <a:t>team leader</a:t>
            </a:r>
            <a:r>
              <a:rPr lang="zh-CN" altLang="en-US"/>
              <a:t>知道谁该做什么</a:t>
            </a:r>
            <a:endParaRPr lang="zh-CN" altLang="en-US"/>
          </a:p>
          <a:p>
            <a:r>
              <a:rPr lang="zh-CN" altLang="en-US"/>
              <a:t>项目经理掌控资源调度</a:t>
            </a:r>
            <a:endParaRPr lang="zh-CN" altLang="en-US"/>
          </a:p>
          <a:p>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noRot="1" noChangeAspect="1" noChangeArrowheads="1" noTextEdit="1"/>
          </p:cNvSpPr>
          <p:nvPr>
            <p:ph type="sldImg" idx="4294967295"/>
          </p:nvPr>
        </p:nvSpPr>
        <p:spPr>
          <a:xfrm>
            <a:off x="1150938" y="692150"/>
            <a:ext cx="4556125" cy="3416300"/>
          </a:xfrm>
        </p:spPr>
      </p:sp>
      <p:sp>
        <p:nvSpPr>
          <p:cNvPr id="18434" name="Rectangle 3"/>
          <p:cNvSpPr>
            <a:spLocks noGrp="1" noChangeArrowheads="1"/>
          </p:cNvSpPr>
          <p:nvPr>
            <p:ph type="body" idx="4294967295"/>
          </p:nvPr>
        </p:nvSpPr>
        <p:spPr>
          <a:extLst>
            <a:ext uri="{91240B29-F687-4F45-9708-019B960494DF}">
              <a14:hiddenLine xmlns:a14="http://schemas.microsoft.com/office/drawing/2010/main" w="12700">
                <a:solidFill>
                  <a:srgbClr val="000000"/>
                </a:solidFill>
                <a:miter lim="800000"/>
                <a:headEnd/>
                <a:tailEnd/>
              </a14:hiddenLine>
            </a:ext>
          </a:extLst>
        </p:spPr>
        <p:txBody>
          <a:bodyPr/>
          <a:lstStyle/>
          <a:p>
            <a:r>
              <a:rPr lang="zh-CN" altLang="en-US"/>
              <a:t>水下声学模拟系统  特征损失模型  回响模型 噪音模型</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Rot="1" noChangeAspect="1" noChangeArrowheads="1" noTextEdit="1"/>
          </p:cNvSpPr>
          <p:nvPr>
            <p:ph type="sldImg" idx="4294967295"/>
          </p:nvPr>
        </p:nvSpPr>
        <p:spPr>
          <a:xfrm>
            <a:off x="1150938" y="692150"/>
            <a:ext cx="4556125" cy="3416300"/>
          </a:xfrm>
          <a:solidFill>
            <a:srgbClr val="FFFFFF"/>
          </a:solidFill>
        </p:spPr>
      </p:sp>
      <p:sp>
        <p:nvSpPr>
          <p:cNvPr id="29698" name="Rectangle 3"/>
          <p:cNvSpPr>
            <a:spLocks noGrp="1" noChangeArrowheads="1"/>
          </p:cNvSpPr>
          <p:nvPr>
            <p:ph type="body" idx="4294967295"/>
          </p:nvPr>
        </p:nvSpPr>
        <p:spPr>
          <a:solidFill>
            <a:srgbClr val="FFFFFF"/>
          </a:solidFill>
          <a:ln w="12700">
            <a:solidFill>
              <a:srgbClr val="000000"/>
            </a:solidFill>
            <a:miter lim="800000"/>
          </a:ln>
        </p:spPr>
        <p:txBody>
          <a:bodyPr/>
          <a:lstStyle/>
          <a:p>
            <a:r>
              <a:rPr lang="zh-CN" altLang="en-US"/>
              <a:t>设计模式也有此义</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noRot="1" noChangeAspect="1" noChangeArrowheads="1" noTextEdit="1"/>
          </p:cNvSpPr>
          <p:nvPr>
            <p:ph type="sldImg" idx="4294967295"/>
          </p:nvPr>
        </p:nvSpPr>
        <p:spPr>
          <a:xfrm>
            <a:off x="1150938" y="692150"/>
            <a:ext cx="4556125" cy="3416300"/>
          </a:xfrm>
          <a:solidFill>
            <a:srgbClr val="FFFFFF"/>
          </a:solidFill>
        </p:spPr>
      </p:sp>
      <p:sp>
        <p:nvSpPr>
          <p:cNvPr id="31746" name="Rectangle 3"/>
          <p:cNvSpPr>
            <a:spLocks noGrp="1" noChangeArrowheads="1"/>
          </p:cNvSpPr>
          <p:nvPr>
            <p:ph type="body" idx="4294967295"/>
          </p:nvPr>
        </p:nvSpPr>
        <p:spPr>
          <a:solidFill>
            <a:srgbClr val="FFFFFF"/>
          </a:solidFill>
          <a:ln w="12700">
            <a:solidFill>
              <a:srgbClr val="000000"/>
            </a:solidFill>
            <a:miter lim="800000"/>
          </a:ln>
        </p:spPr>
        <p:txBody>
          <a:bodyPr/>
          <a:lstStyle/>
          <a:p>
            <a:r>
              <a:rPr lang="zh-CN" altLang="en-US"/>
              <a:t>设计模式也有此义</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Rot="1" noChangeAspect="1" noChangeArrowheads="1" noTextEdit="1"/>
          </p:cNvSpPr>
          <p:nvPr>
            <p:ph type="sldImg" idx="4294967295"/>
          </p:nvPr>
        </p:nvSpPr>
        <p:spPr>
          <a:xfrm>
            <a:off x="1150938" y="692150"/>
            <a:ext cx="4556125" cy="3416300"/>
          </a:xfrm>
          <a:solidFill>
            <a:srgbClr val="FFFFFF"/>
          </a:solidFill>
        </p:spPr>
      </p:sp>
      <p:sp>
        <p:nvSpPr>
          <p:cNvPr id="33794" name="Rectangle 3"/>
          <p:cNvSpPr>
            <a:spLocks noGrp="1" noChangeArrowheads="1"/>
          </p:cNvSpPr>
          <p:nvPr>
            <p:ph type="body" idx="4294967295"/>
          </p:nvPr>
        </p:nvSpPr>
        <p:spPr>
          <a:solidFill>
            <a:srgbClr val="FFFFFF"/>
          </a:solidFill>
          <a:ln w="12700">
            <a:solidFill>
              <a:srgbClr val="000000"/>
            </a:solidFill>
            <a:miter lim="800000"/>
          </a:ln>
        </p:spPr>
        <p:txBody>
          <a:bodyPr/>
          <a:lstStyle/>
          <a:p>
            <a:r>
              <a:rPr lang="zh-CN" altLang="en-US"/>
              <a:t>设计模式也有此义</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Rot="1" noChangeAspect="1" noChangeArrowheads="1" noTextEdit="1"/>
          </p:cNvSpPr>
          <p:nvPr>
            <p:ph type="sldImg" idx="4294967295"/>
          </p:nvPr>
        </p:nvSpPr>
        <p:spPr>
          <a:xfrm>
            <a:off x="1150938" y="692150"/>
            <a:ext cx="4556125" cy="3416300"/>
          </a:xfrm>
        </p:spPr>
      </p:sp>
      <p:sp>
        <p:nvSpPr>
          <p:cNvPr id="35842" name="Rectangle 3"/>
          <p:cNvSpPr>
            <a:spLocks noGrp="1" noChangeArrowheads="1"/>
          </p:cNvSpPr>
          <p:nvPr>
            <p:ph type="body" idx="4294967295"/>
          </p:nvPr>
        </p:nvSpPr>
        <p:spPr>
          <a:extLst>
            <a:ext uri="{91240B29-F687-4F45-9708-019B960494DF}">
              <a14:hiddenLine xmlns:a14="http://schemas.microsoft.com/office/drawing/2010/main" w="12700">
                <a:solidFill>
                  <a:srgbClr val="000000"/>
                </a:solidFill>
                <a:miter lim="800000"/>
                <a:headEnd/>
                <a:tailEnd/>
              </a14:hiddenLine>
            </a:ext>
          </a:extLst>
        </p:spPr>
        <p:txBody>
          <a:bodyPr/>
          <a:lstStyle/>
          <a:p>
            <a:r>
              <a:rPr lang="zh-CN" altLang="en-US"/>
              <a:t>设计模式也有此义</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Grp="1" noRot="1" noChangeAspect="1" noChangeArrowheads="1" noTextEdit="1"/>
          </p:cNvSpPr>
          <p:nvPr>
            <p:ph type="sldImg" idx="4294967295"/>
          </p:nvPr>
        </p:nvSpPr>
        <p:spPr>
          <a:xfrm>
            <a:off x="1150938" y="692150"/>
            <a:ext cx="4556125" cy="3416300"/>
          </a:xfrm>
        </p:spPr>
      </p:sp>
      <p:sp>
        <p:nvSpPr>
          <p:cNvPr id="44034" name="Rectangle 3"/>
          <p:cNvSpPr>
            <a:spLocks noGrp="1" noChangeArrowheads="1"/>
          </p:cNvSpPr>
          <p:nvPr>
            <p:ph type="body" idx="4294967295"/>
          </p:nvPr>
        </p:nvSpPr>
        <p:spPr>
          <a:extLst>
            <a:ext uri="{91240B29-F687-4F45-9708-019B960494DF}">
              <a14:hiddenLine xmlns:a14="http://schemas.microsoft.com/office/drawing/2010/main" w="12700">
                <a:solidFill>
                  <a:srgbClr val="000000"/>
                </a:solidFill>
                <a:miter lim="800000"/>
                <a:headEnd/>
                <a:tailEnd/>
              </a14:hiddenLine>
            </a:ext>
          </a:extLst>
        </p:spPr>
        <p:txBody>
          <a:bodyPr/>
          <a:lstStyle/>
          <a:p>
            <a:r>
              <a:rPr lang="zh-CN" altLang="en-US"/>
              <a:t>讨论一下</a:t>
            </a:r>
            <a:endParaRPr lang="zh-CN" altLang="en-US"/>
          </a:p>
          <a:p>
            <a:r>
              <a:rPr lang="zh-CN" altLang="en-US"/>
              <a:t>影响质量的因素有什么？</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noRot="1" noChangeAspect="1" noChangeArrowheads="1" noTextEdit="1"/>
          </p:cNvSpPr>
          <p:nvPr>
            <p:ph type="sldImg" idx="4294967295"/>
          </p:nvPr>
        </p:nvSpPr>
        <p:spPr>
          <a:xfrm>
            <a:off x="1150938" y="692150"/>
            <a:ext cx="4556125" cy="3416300"/>
          </a:xfrm>
        </p:spPr>
      </p:sp>
      <p:sp>
        <p:nvSpPr>
          <p:cNvPr id="47106" name="Rectangle 3"/>
          <p:cNvSpPr>
            <a:spLocks noGrp="1" noChangeArrowheads="1"/>
          </p:cNvSpPr>
          <p:nvPr>
            <p:ph type="body" idx="4294967295"/>
          </p:nvPr>
        </p:nvSpPr>
        <p:spPr>
          <a:extLst>
            <a:ext uri="{91240B29-F687-4F45-9708-019B960494DF}">
              <a14:hiddenLine xmlns:a14="http://schemas.microsoft.com/office/drawing/2010/main" w="12700">
                <a:solidFill>
                  <a:srgbClr val="000000"/>
                </a:solidFill>
                <a:miter lim="800000"/>
                <a:headEnd/>
                <a:tailEnd/>
              </a14:hiddenLine>
            </a:ext>
          </a:extLst>
        </p:spPr>
        <p:txBody>
          <a:bodyPr/>
          <a:lstStyle/>
          <a:p>
            <a:r>
              <a:rPr lang="zh-CN" altLang="en-US"/>
              <a:t>黑盒</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Rot="1" noChangeAspect="1" noChangeArrowheads="1" noTextEdit="1"/>
          </p:cNvSpPr>
          <p:nvPr>
            <p:ph type="sldImg" idx="4294967295"/>
          </p:nvPr>
        </p:nvSpPr>
        <p:spPr>
          <a:xfrm>
            <a:off x="1150938" y="692150"/>
            <a:ext cx="4556125" cy="3416300"/>
          </a:xfrm>
        </p:spPr>
      </p:sp>
      <p:sp>
        <p:nvSpPr>
          <p:cNvPr id="52226" name="Rectangle 3"/>
          <p:cNvSpPr>
            <a:spLocks noGrp="1" noChangeArrowheads="1"/>
          </p:cNvSpPr>
          <p:nvPr>
            <p:ph type="body" idx="4294967295"/>
          </p:nvPr>
        </p:nvSpPr>
        <p:spPr>
          <a:extLst>
            <a:ext uri="{91240B29-F687-4F45-9708-019B960494DF}">
              <a14:hiddenLine xmlns:a14="http://schemas.microsoft.com/office/drawing/2010/main" w="12700">
                <a:solidFill>
                  <a:srgbClr val="000000"/>
                </a:solidFill>
                <a:miter lim="800000"/>
                <a:headEnd/>
                <a:tailEnd/>
              </a14:hiddenLine>
            </a:ext>
          </a:extLst>
        </p:spPr>
        <p:txBody>
          <a:bodyPr/>
          <a:lstStyle/>
          <a:p>
            <a:r>
              <a:rPr lang="zh-CN" altLang="en-US"/>
              <a:t>最基本、主要的质量要求</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noRot="1" noChangeAspect="1" noChangeArrowheads="1" noTextEdit="1"/>
          </p:cNvSpPr>
          <p:nvPr>
            <p:ph type="sldImg" idx="4294967295"/>
          </p:nvPr>
        </p:nvSpPr>
        <p:spPr>
          <a:xfrm>
            <a:off x="1150938" y="692150"/>
            <a:ext cx="4556125" cy="3416300"/>
          </a:xfrm>
        </p:spPr>
      </p:sp>
      <p:sp>
        <p:nvSpPr>
          <p:cNvPr id="54274" name="Rectangle 3"/>
          <p:cNvSpPr>
            <a:spLocks noGrp="1" noChangeArrowheads="1"/>
          </p:cNvSpPr>
          <p:nvPr>
            <p:ph type="body" idx="4294967295"/>
          </p:nvPr>
        </p:nvSpPr>
        <p:spPr>
          <a:extLst>
            <a:ext uri="{91240B29-F687-4F45-9708-019B960494DF}">
              <a14:hiddenLine xmlns:a14="http://schemas.microsoft.com/office/drawing/2010/main" w="12700">
                <a:solidFill>
                  <a:srgbClr val="000000"/>
                </a:solidFill>
                <a:miter lim="800000"/>
                <a:headEnd/>
                <a:tailEnd/>
              </a14:hiddenLine>
            </a:ext>
          </a:extLst>
        </p:spPr>
        <p:txBody>
          <a:bodyPr/>
          <a:lstStyle/>
          <a:p>
            <a:r>
              <a:rPr lang="zh-CN" altLang="en-US"/>
              <a:t>硬件成本和软件成本</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p:cNvSpPr>
            <a:spLocks noGrp="1" noRot="1" noChangeAspect="1" noChangeArrowheads="1" noTextEdit="1"/>
          </p:cNvSpPr>
          <p:nvPr>
            <p:ph type="sldImg" idx="4294967295"/>
          </p:nvPr>
        </p:nvSpPr>
        <p:spPr>
          <a:xfrm>
            <a:off x="1150938" y="692150"/>
            <a:ext cx="4556125" cy="3416300"/>
          </a:xfrm>
        </p:spPr>
      </p:sp>
      <p:sp>
        <p:nvSpPr>
          <p:cNvPr id="56322" name="Rectangle 3"/>
          <p:cNvSpPr>
            <a:spLocks noGrp="1" noChangeArrowheads="1"/>
          </p:cNvSpPr>
          <p:nvPr>
            <p:ph type="body" idx="4294967295"/>
          </p:nvPr>
        </p:nvSpPr>
        <p:spPr>
          <a:extLst>
            <a:ext uri="{91240B29-F687-4F45-9708-019B960494DF}">
              <a14:hiddenLine xmlns:a14="http://schemas.microsoft.com/office/drawing/2010/main" w="12700">
                <a:solidFill>
                  <a:srgbClr val="000000"/>
                </a:solidFill>
                <a:miter lim="800000"/>
                <a:headEnd/>
                <a:tailEnd/>
              </a14:hiddenLine>
            </a:ext>
          </a:extLst>
        </p:spPr>
        <p:txBody>
          <a:bodyPr/>
          <a:lstStyle/>
          <a:p>
            <a:r>
              <a:rPr lang="zh-CN" altLang="en-US"/>
              <a:t>岳茂功 </a:t>
            </a:r>
            <a:endParaRPr lang="zh-CN" altLang="en-US"/>
          </a:p>
          <a:p>
            <a:r>
              <a:rPr lang="zh-CN" altLang="en-US"/>
              <a:t>安全了，往往性能就要下降</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p:cNvSpPr>
            <a:spLocks noGrp="1" noRot="1" noChangeAspect="1" noChangeArrowheads="1" noTextEdit="1"/>
          </p:cNvSpPr>
          <p:nvPr>
            <p:ph type="sldImg" idx="4294967295"/>
          </p:nvPr>
        </p:nvSpPr>
        <p:spPr>
          <a:xfrm>
            <a:off x="1150938" y="692150"/>
            <a:ext cx="4556125" cy="3416300"/>
          </a:xfrm>
        </p:spPr>
      </p:sp>
      <p:sp>
        <p:nvSpPr>
          <p:cNvPr id="58370" name="Rectangle 3"/>
          <p:cNvSpPr>
            <a:spLocks noGrp="1" noChangeArrowheads="1"/>
          </p:cNvSpPr>
          <p:nvPr>
            <p:ph type="body" idx="4294967295"/>
          </p:nvPr>
        </p:nvSpPr>
        <p:spPr>
          <a:extLs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noProof="1"/>
              <a:t>单击此处编辑母版标题样式</a:t>
            </a:r>
            <a:endParaRPr lang="zh-CN" altLang="en-US" noProof="1"/>
          </a:p>
        </p:txBody>
      </p:sp>
      <p:sp>
        <p:nvSpPr>
          <p:cNvPr id="3" name="副标题 2"/>
          <p:cNvSpPr>
            <a:spLocks noGrp="1"/>
          </p:cNvSpPr>
          <p:nvPr>
            <p:ph type="subTitle" idx="1" hasCustomPrompt="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单击以编辑母版副标题样式</a:t>
            </a:r>
            <a:endParaRPr lang="zh-CN" altLang="en-US" noProof="1"/>
          </a:p>
        </p:txBody>
      </p:sp>
      <p:sp>
        <p:nvSpPr>
          <p:cNvPr id="4" name="日期占位符 3"/>
          <p:cNvSpPr>
            <a:spLocks noGrp="1"/>
          </p:cNvSpPr>
          <p:nvPr>
            <p:ph type="dt" sz="half" idx="10"/>
          </p:nvPr>
        </p:nvSpPr>
        <p:spPr/>
        <p:txBody>
          <a:bodyPr/>
          <a:lstStyle>
            <a:lvl1pPr>
              <a:defRPr/>
            </a:lvl1pPr>
          </a:lstStyle>
          <a:p>
            <a:pPr>
              <a:defRPr/>
            </a:pPr>
            <a:fld id="{CA3DE4CE-B03F-4779-89D8-13537B09AC57}" type="datetime1">
              <a:rPr lang="zh-CN" altLang="en-US" smtClean="0"/>
            </a:fld>
            <a:endParaRPr lang="en-US" altLang="zh-CN"/>
          </a:p>
        </p:txBody>
      </p:sp>
      <p:sp>
        <p:nvSpPr>
          <p:cNvPr id="5" name="灯片编号占位符 5"/>
          <p:cNvSpPr>
            <a:spLocks noGrp="1"/>
          </p:cNvSpPr>
          <p:nvPr>
            <p:ph type="sldNum" sz="quarter" idx="11"/>
          </p:nvPr>
        </p:nvSpPr>
        <p:spPr/>
        <p:txBody>
          <a:bodyPr/>
          <a:lstStyle>
            <a:lvl1pPr>
              <a:defRPr/>
            </a:lvl1pPr>
          </a:lstStyle>
          <a:p>
            <a:pPr>
              <a:defRPr/>
            </a:pPr>
            <a:fld id="{B18C3A8E-451E-4007-8FF5-E55D0184239C}" type="slidenum">
              <a:rPr lang="en-US" altLang="zh-CN" smtClean="0"/>
            </a:fld>
            <a:endParaRPr lang="en-US" altLang="zh-CN"/>
          </a:p>
        </p:txBody>
      </p:sp>
    </p:spTree>
  </p:cSld>
  <p:clrMapOvr>
    <a:masterClrMapping/>
  </p:clrMapOvr>
  <p:transition>
    <p:wipe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标题和内容">
    <p:spTree>
      <p:nvGrpSpPr>
        <p:cNvPr id="1" name=""/>
        <p:cNvGrpSpPr/>
        <p:nvPr/>
      </p:nvGrpSpPr>
      <p:grpSpPr>
        <a:xfrm>
          <a:off x="0" y="0"/>
          <a:ext cx="0" cy="0"/>
          <a:chOff x="0" y="0"/>
          <a:chExt cx="0" cy="0"/>
        </a:xfrm>
      </p:grpSpPr>
      <p:pic>
        <p:nvPicPr>
          <p:cNvPr id="4"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7"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6622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直接连接符 10"/>
          <p:cNvCxnSpPr>
            <a:cxnSpLocks noChangeShapeType="1"/>
          </p:cNvCxnSpPr>
          <p:nvPr/>
        </p:nvCxn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cxnSp>
        <p:nvCxnSpPr>
          <p:cNvPr id="10" name="直接连接符 14"/>
          <p:cNvCxnSpPr>
            <a:cxnSpLocks noChangeShapeType="1"/>
          </p:cNvCxnSpPr>
          <p:nvPr/>
        </p:nvCxn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pic>
        <p:nvPicPr>
          <p:cNvPr id="11" name="Picture 19" descr="C:\Users\Administrator\Desktop\2校徽、中英文字体及标准色的组合.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27875" y="247650"/>
            <a:ext cx="1927225"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501650" y="0"/>
            <a:ext cx="7886700" cy="1325563"/>
          </a:xfrm>
        </p:spPr>
        <p:txBody>
          <a:bodyPr/>
          <a:lstStyle/>
          <a:p>
            <a:r>
              <a:rPr lang="zh-CN" altLang="en-US" noProof="1"/>
              <a:t>单击此处编辑母版标题样式</a:t>
            </a:r>
            <a:endParaRPr lang="zh-CN" altLang="en-US" noProof="1"/>
          </a:p>
        </p:txBody>
      </p:sp>
      <p:sp>
        <p:nvSpPr>
          <p:cNvPr id="3" name="内容占位符 2"/>
          <p:cNvSpPr>
            <a:spLocks noGrp="1"/>
          </p:cNvSpPr>
          <p:nvPr>
            <p:ph idx="1" hasCustomPrompt="1"/>
          </p:nvPr>
        </p:nvSpPr>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3" name="灯片编号占位符 5"/>
          <p:cNvSpPr>
            <a:spLocks noGrp="1"/>
          </p:cNvSpPr>
          <p:nvPr>
            <p:ph type="sldNum" sz="quarter" idx="11"/>
          </p:nvPr>
        </p:nvSpPr>
        <p:spPr/>
        <p:txBody>
          <a:bodyPr/>
          <a:lstStyle>
            <a:lvl1pPr>
              <a:defRPr/>
            </a:lvl1pPr>
          </a:lstStyle>
          <a:p>
            <a:pPr>
              <a:defRPr/>
            </a:pPr>
            <a:fld id="{2F9A5908-D462-4A76-B251-5EE77EBC8516}" type="slidenum">
              <a:rPr lang="en-US" altLang="zh-CN" smtClean="0"/>
            </a:fld>
            <a:endParaRPr lang="en-US" altLang="zh-CN"/>
          </a:p>
        </p:txBody>
      </p:sp>
    </p:spTree>
  </p:cSld>
  <p:clrMapOvr>
    <a:masterClrMapping/>
  </p:clrMapOvr>
  <p:transition>
    <p:wipe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noProof="1"/>
              <a:t>单击此处编辑母版标题样式</a:t>
            </a:r>
            <a:endParaRPr lang="zh-CN" altLang="en-US" noProof="1"/>
          </a:p>
        </p:txBody>
      </p:sp>
      <p:sp>
        <p:nvSpPr>
          <p:cNvPr id="3" name="文本占位符 2"/>
          <p:cNvSpPr>
            <a:spLocks noGrp="1"/>
          </p:cNvSpPr>
          <p:nvPr>
            <p:ph type="body" idx="1" hasCustomPrompt="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编辑母版文本样式</a:t>
            </a:r>
            <a:endParaRPr lang="zh-CN" altLang="en-US" noProof="1"/>
          </a:p>
        </p:txBody>
      </p:sp>
      <p:sp>
        <p:nvSpPr>
          <p:cNvPr id="4" name="日期占位符 3"/>
          <p:cNvSpPr>
            <a:spLocks noGrp="1"/>
          </p:cNvSpPr>
          <p:nvPr>
            <p:ph type="dt" sz="half" idx="10"/>
          </p:nvPr>
        </p:nvSpPr>
        <p:spPr/>
        <p:txBody>
          <a:bodyPr/>
          <a:lstStyle>
            <a:lvl1pPr>
              <a:defRPr/>
            </a:lvl1pPr>
          </a:lstStyle>
          <a:p>
            <a:pPr>
              <a:defRPr/>
            </a:pPr>
            <a:fld id="{E8EC7199-0F18-4490-9EB9-9D4CF3926BD6}" type="datetime1">
              <a:rPr lang="zh-CN" altLang="en-US" smtClean="0"/>
            </a:fld>
            <a:endParaRPr lang="en-US" altLang="zh-CN"/>
          </a:p>
        </p:txBody>
      </p:sp>
      <p:sp>
        <p:nvSpPr>
          <p:cNvPr id="5" name="灯片编号占位符 5"/>
          <p:cNvSpPr>
            <a:spLocks noGrp="1"/>
          </p:cNvSpPr>
          <p:nvPr>
            <p:ph type="sldNum" sz="quarter" idx="11"/>
          </p:nvPr>
        </p:nvSpPr>
        <p:spPr/>
        <p:txBody>
          <a:bodyPr/>
          <a:lstStyle>
            <a:lvl1pPr>
              <a:defRPr/>
            </a:lvl1pPr>
          </a:lstStyle>
          <a:p>
            <a:pPr>
              <a:defRPr/>
            </a:pPr>
            <a:fld id="{1913BEC3-666E-4E58-B508-591DFE299A3B}" type="slidenum">
              <a:rPr lang="en-US" altLang="zh-CN" smtClean="0"/>
            </a:fld>
            <a:endParaRPr lang="en-US" altLang="zh-CN"/>
          </a:p>
        </p:txBody>
      </p:sp>
    </p:spTree>
  </p:cSld>
  <p:clrMapOvr>
    <a:masterClrMapping/>
  </p:clrMapOvr>
  <p:transition>
    <p:wipe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Sp="0">
  <p:cSld name="两栏内容">
    <p:spTree>
      <p:nvGrpSpPr>
        <p:cNvPr id="1" name=""/>
        <p:cNvGrpSpPr/>
        <p:nvPr/>
      </p:nvGrpSpPr>
      <p:grpSpPr>
        <a:xfrm>
          <a:off x="0" y="0"/>
          <a:ext cx="0" cy="0"/>
          <a:chOff x="0" y="0"/>
          <a:chExt cx="0" cy="0"/>
        </a:xfrm>
      </p:grpSpPr>
      <p:pic>
        <p:nvPicPr>
          <p:cNvPr id="5"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8"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hasCustomPrompt="1"/>
          </p:nvPr>
        </p:nvSpPr>
        <p:spPr>
          <a:xfrm>
            <a:off x="628650" y="1825625"/>
            <a:ext cx="3886200" cy="4351338"/>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hasCustomPrompt="1"/>
          </p:nvPr>
        </p:nvSpPr>
        <p:spPr>
          <a:xfrm>
            <a:off x="4629150" y="1825625"/>
            <a:ext cx="3886200" cy="4351338"/>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9" name="日期占位符 4"/>
          <p:cNvSpPr>
            <a:spLocks noGrp="1"/>
          </p:cNvSpPr>
          <p:nvPr>
            <p:ph type="dt" sz="half" idx="10"/>
          </p:nvPr>
        </p:nvSpPr>
        <p:spPr/>
        <p:txBody>
          <a:bodyPr/>
          <a:lstStyle>
            <a:lvl1pPr>
              <a:defRPr/>
            </a:lvl1pPr>
          </a:lstStyle>
          <a:p>
            <a:pPr>
              <a:defRPr/>
            </a:pPr>
            <a:fld id="{E8EC7199-0F18-4490-9EB9-9D4CF3926BD6}" type="datetime1">
              <a:rPr lang="zh-CN" altLang="en-US" smtClean="0"/>
            </a:fld>
            <a:endParaRPr lang="en-US" altLang="zh-CN"/>
          </a:p>
        </p:txBody>
      </p:sp>
      <p:sp>
        <p:nvSpPr>
          <p:cNvPr id="10" name="页脚占位符 5"/>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1" name="灯片编号占位符 6"/>
          <p:cNvSpPr>
            <a:spLocks noGrp="1"/>
          </p:cNvSpPr>
          <p:nvPr>
            <p:ph type="sldNum" sz="quarter" idx="12"/>
          </p:nvPr>
        </p:nvSpPr>
        <p:spPr/>
        <p:txBody>
          <a:bodyPr/>
          <a:lstStyle>
            <a:lvl1pPr>
              <a:defRPr/>
            </a:lvl1pPr>
          </a:lstStyle>
          <a:p>
            <a:pPr>
              <a:defRPr/>
            </a:pPr>
            <a:fld id="{03E23AE8-CCC0-439E-8E8C-670EC43FD4BF}" type="slidenum">
              <a:rPr lang="en-US" altLang="zh-CN" smtClean="0"/>
            </a:fld>
            <a:endParaRPr lang="en-US" altLang="zh-CN"/>
          </a:p>
        </p:txBody>
      </p:sp>
    </p:spTree>
  </p:cSld>
  <p:clrMapOvr>
    <a:masterClrMapping/>
  </p:clrMapOvr>
  <p:transition>
    <p:wipe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比较">
    <p:spTree>
      <p:nvGrpSpPr>
        <p:cNvPr id="1" name=""/>
        <p:cNvGrpSpPr/>
        <p:nvPr/>
      </p:nvGrpSpPr>
      <p:grpSpPr>
        <a:xfrm>
          <a:off x="0" y="0"/>
          <a:ext cx="0" cy="0"/>
          <a:chOff x="0" y="0"/>
          <a:chExt cx="0" cy="0"/>
        </a:xfrm>
      </p:grpSpPr>
      <p:pic>
        <p:nvPicPr>
          <p:cNvPr id="7"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10"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hasCustomPrompt="1"/>
          </p:nvPr>
        </p:nvSpPr>
        <p:spPr>
          <a:xfrm>
            <a:off x="890081" y="1778438"/>
            <a:ext cx="3655181"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noProof="1"/>
              <a:t>编辑母版文本样式</a:t>
            </a:r>
            <a:endParaRPr lang="zh-CN" altLang="en-US" noProof="1"/>
          </a:p>
        </p:txBody>
      </p:sp>
      <p:sp>
        <p:nvSpPr>
          <p:cNvPr id="4" name="内容占位符 3"/>
          <p:cNvSpPr>
            <a:spLocks noGrp="1"/>
          </p:cNvSpPr>
          <p:nvPr>
            <p:ph sz="half" idx="2" hasCustomPrompt="1"/>
          </p:nvPr>
        </p:nvSpPr>
        <p:spPr>
          <a:xfrm>
            <a:off x="890081" y="2665379"/>
            <a:ext cx="3655181" cy="3524284"/>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hasCustomPrompt="1"/>
          </p:nvPr>
        </p:nvSpPr>
        <p:spPr>
          <a:xfrm>
            <a:off x="4692704" y="1778438"/>
            <a:ext cx="3673182"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noProof="1"/>
              <a:t>编辑母版文本样式</a:t>
            </a:r>
            <a:endParaRPr lang="zh-CN" altLang="en-US" noProof="1"/>
          </a:p>
        </p:txBody>
      </p:sp>
      <p:sp>
        <p:nvSpPr>
          <p:cNvPr id="6" name="内容占位符 5"/>
          <p:cNvSpPr>
            <a:spLocks noGrp="1"/>
          </p:cNvSpPr>
          <p:nvPr>
            <p:ph sz="quarter" idx="4" hasCustomPrompt="1"/>
          </p:nvPr>
        </p:nvSpPr>
        <p:spPr>
          <a:xfrm>
            <a:off x="4692704" y="2665379"/>
            <a:ext cx="3673182" cy="3524284"/>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1" name="日期占位符 6"/>
          <p:cNvSpPr>
            <a:spLocks noGrp="1"/>
          </p:cNvSpPr>
          <p:nvPr>
            <p:ph type="dt" sz="half" idx="10"/>
          </p:nvPr>
        </p:nvSpPr>
        <p:spPr/>
        <p:txBody>
          <a:bodyPr/>
          <a:lstStyle>
            <a:lvl1pPr>
              <a:defRPr/>
            </a:lvl1pPr>
          </a:lstStyle>
          <a:p>
            <a:pPr>
              <a:defRPr/>
            </a:pPr>
            <a:fld id="{E8EC7199-0F18-4490-9EB9-9D4CF3926BD6}" type="datetime1">
              <a:rPr lang="zh-CN" altLang="en-US" smtClean="0"/>
            </a:fld>
            <a:endParaRPr lang="en-US" altLang="zh-CN"/>
          </a:p>
        </p:txBody>
      </p:sp>
      <p:sp>
        <p:nvSpPr>
          <p:cNvPr id="12" name="页脚占位符 7"/>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3" name="灯片编号占位符 8"/>
          <p:cNvSpPr>
            <a:spLocks noGrp="1"/>
          </p:cNvSpPr>
          <p:nvPr>
            <p:ph type="sldNum" sz="quarter" idx="12"/>
          </p:nvPr>
        </p:nvSpPr>
        <p:spPr/>
        <p:txBody>
          <a:bodyPr/>
          <a:lstStyle>
            <a:lvl1pPr>
              <a:defRPr/>
            </a:lvl1pPr>
          </a:lstStyle>
          <a:p>
            <a:pPr>
              <a:defRPr/>
            </a:pPr>
            <a:fld id="{F87AD65A-D13F-4B18-82FD-FBCAE78DC9A8}" type="slidenum">
              <a:rPr lang="en-US" altLang="zh-CN" smtClean="0"/>
            </a:fld>
            <a:endParaRPr lang="en-US" altLang="zh-CN"/>
          </a:p>
        </p:txBody>
      </p:sp>
    </p:spTree>
  </p:cSld>
  <p:clrMapOvr>
    <a:masterClrMapping/>
  </p:clrMapOvr>
  <p:transition>
    <p:wipe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3"/>
          <p:cNvSpPr>
            <a:spLocks noGrp="1"/>
          </p:cNvSpPr>
          <p:nvPr>
            <p:ph type="dt" sz="half" idx="10"/>
          </p:nvPr>
        </p:nvSpPr>
        <p:spPr/>
        <p:txBody>
          <a:bodyPr/>
          <a:lstStyle>
            <a:lvl1pPr>
              <a:defRPr/>
            </a:lvl1pPr>
          </a:lstStyle>
          <a:p>
            <a:pPr>
              <a:defRPr/>
            </a:pPr>
            <a:fld id="{E8EC7199-0F18-4490-9EB9-9D4CF3926BD6}" type="datetime1">
              <a:rPr lang="zh-CN" altLang="en-US" smtClean="0"/>
            </a:fld>
            <a:endParaRPr lang="en-US" altLang="zh-CN"/>
          </a:p>
        </p:txBody>
      </p:sp>
      <p:sp>
        <p:nvSpPr>
          <p:cNvPr id="4" name="灯片编号占位符 5"/>
          <p:cNvSpPr>
            <a:spLocks noGrp="1"/>
          </p:cNvSpPr>
          <p:nvPr>
            <p:ph type="sldNum" sz="quarter" idx="11"/>
          </p:nvPr>
        </p:nvSpPr>
        <p:spPr/>
        <p:txBody>
          <a:bodyPr/>
          <a:lstStyle>
            <a:lvl1pPr>
              <a:defRPr/>
            </a:lvl1pPr>
          </a:lstStyle>
          <a:p>
            <a:pPr>
              <a:defRPr/>
            </a:pPr>
            <a:fld id="{C65D9F58-8F59-441E-9187-7397AEA4FBB2}" type="slidenum">
              <a:rPr lang="en-US" altLang="zh-CN" smtClean="0"/>
            </a:fld>
            <a:endParaRPr lang="en-US" altLang="zh-CN"/>
          </a:p>
        </p:txBody>
      </p:sp>
    </p:spTree>
  </p:cSld>
  <p:clrMapOvr>
    <a:masterClrMapping/>
  </p:clrMapOvr>
  <p:transition>
    <p:wipe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pic>
        <p:nvPicPr>
          <p:cNvPr id="2"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5"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日期占位符 1"/>
          <p:cNvSpPr>
            <a:spLocks noGrp="1"/>
          </p:cNvSpPr>
          <p:nvPr>
            <p:ph type="dt" sz="half" idx="10"/>
          </p:nvPr>
        </p:nvSpPr>
        <p:spPr/>
        <p:txBody>
          <a:bodyPr/>
          <a:lstStyle>
            <a:lvl1pPr>
              <a:defRPr/>
            </a:lvl1pPr>
          </a:lstStyle>
          <a:p>
            <a:pPr>
              <a:defRPr/>
            </a:pPr>
            <a:fld id="{E8EC7199-0F18-4490-9EB9-9D4CF3926BD6}" type="datetime1">
              <a:rPr lang="zh-CN" altLang="en-US" smtClean="0"/>
            </a:fld>
            <a:endParaRPr lang="en-US" altLang="zh-CN"/>
          </a:p>
        </p:txBody>
      </p:sp>
      <p:sp>
        <p:nvSpPr>
          <p:cNvPr id="7" name="页脚占位符 2"/>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8" name="灯片编号占位符 3"/>
          <p:cNvSpPr>
            <a:spLocks noGrp="1"/>
          </p:cNvSpPr>
          <p:nvPr>
            <p:ph type="sldNum" sz="quarter" idx="12"/>
          </p:nvPr>
        </p:nvSpPr>
        <p:spPr/>
        <p:txBody>
          <a:bodyPr/>
          <a:lstStyle>
            <a:lvl1pPr>
              <a:defRPr/>
            </a:lvl1pPr>
          </a:lstStyle>
          <a:p>
            <a:pPr>
              <a:defRPr/>
            </a:pPr>
            <a:fld id="{1400CB0B-7C55-4B5A-AC93-369B91E2EDB3}" type="slidenum">
              <a:rPr lang="en-US" altLang="zh-CN" smtClean="0"/>
            </a:fld>
            <a:endParaRPr lang="en-US" altLang="zh-CN"/>
          </a:p>
        </p:txBody>
      </p:sp>
    </p:spTree>
  </p:cSld>
  <p:clrMapOvr>
    <a:masterClrMapping/>
  </p:clrMapOvr>
  <p:transition>
    <p:wipe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pic>
        <p:nvPicPr>
          <p:cNvPr id="5"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8"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629841" y="457200"/>
            <a:ext cx="3124012" cy="1600200"/>
          </a:xfrm>
        </p:spPr>
        <p:txBody>
          <a:bodyPr anchor="b"/>
          <a:lstStyle>
            <a:lvl1pPr>
              <a:defRPr sz="32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3887391" y="457201"/>
            <a:ext cx="462915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hasCustomPrompt="1"/>
          </p:nvPr>
        </p:nvSpPr>
        <p:spPr>
          <a:xfrm>
            <a:off x="629841" y="2057400"/>
            <a:ext cx="3124012"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编辑母版文本样式</a:t>
            </a:r>
            <a:endParaRPr lang="zh-CN" altLang="en-US" noProof="1"/>
          </a:p>
        </p:txBody>
      </p:sp>
      <p:sp>
        <p:nvSpPr>
          <p:cNvPr id="9" name="日期占位符 4"/>
          <p:cNvSpPr>
            <a:spLocks noGrp="1"/>
          </p:cNvSpPr>
          <p:nvPr>
            <p:ph type="dt" sz="half" idx="10"/>
          </p:nvPr>
        </p:nvSpPr>
        <p:spPr/>
        <p:txBody>
          <a:bodyPr/>
          <a:lstStyle>
            <a:lvl1pPr>
              <a:defRPr/>
            </a:lvl1pPr>
          </a:lstStyle>
          <a:p>
            <a:pPr>
              <a:defRPr/>
            </a:pPr>
            <a:fld id="{E8EC7199-0F18-4490-9EB9-9D4CF3926BD6}" type="datetime1">
              <a:rPr lang="zh-CN" altLang="en-US" smtClean="0"/>
            </a:fld>
            <a:endParaRPr lang="en-US" altLang="zh-CN"/>
          </a:p>
        </p:txBody>
      </p:sp>
      <p:sp>
        <p:nvSpPr>
          <p:cNvPr id="10" name="页脚占位符 5"/>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1" name="灯片编号占位符 6"/>
          <p:cNvSpPr>
            <a:spLocks noGrp="1"/>
          </p:cNvSpPr>
          <p:nvPr>
            <p:ph type="sldNum" sz="quarter" idx="12"/>
          </p:nvPr>
        </p:nvSpPr>
        <p:spPr/>
        <p:txBody>
          <a:bodyPr/>
          <a:lstStyle>
            <a:lvl1pPr>
              <a:defRPr/>
            </a:lvl1pPr>
          </a:lstStyle>
          <a:p>
            <a:pPr>
              <a:defRPr/>
            </a:pPr>
            <a:fld id="{54DB5346-376B-43A8-953C-DFEF936D1C03}" type="slidenum">
              <a:rPr lang="en-US" altLang="zh-CN" smtClean="0"/>
            </a:fld>
            <a:endParaRPr lang="en-US" altLang="zh-CN"/>
          </a:p>
        </p:txBody>
      </p:sp>
    </p:spTree>
  </p:cSld>
  <p:clrMapOvr>
    <a:masterClrMapping/>
  </p:clrMapOvr>
  <p:transition>
    <p:wipe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showMasterSp="0">
  <p:cSld name="竖版">
    <p:spTree>
      <p:nvGrpSpPr>
        <p:cNvPr id="1" name=""/>
        <p:cNvGrpSpPr/>
        <p:nvPr/>
      </p:nvGrpSpPr>
      <p:grpSpPr>
        <a:xfrm>
          <a:off x="0" y="0"/>
          <a:ext cx="0" cy="0"/>
          <a:chOff x="0" y="0"/>
          <a:chExt cx="0" cy="0"/>
        </a:xfrm>
      </p:grpSpPr>
      <p:pic>
        <p:nvPicPr>
          <p:cNvPr id="4"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7"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竖排标题 1"/>
          <p:cNvSpPr>
            <a:spLocks noGrp="1"/>
          </p:cNvSpPr>
          <p:nvPr>
            <p:ph type="title" orient="vert"/>
          </p:nvPr>
        </p:nvSpPr>
        <p:spPr>
          <a:xfrm>
            <a:off x="6543675" y="365125"/>
            <a:ext cx="1971675" cy="5811838"/>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hasCustomPrompt="1"/>
          </p:nvPr>
        </p:nvSpPr>
        <p:spPr>
          <a:xfrm>
            <a:off x="628650" y="365125"/>
            <a:ext cx="5800725" cy="5811838"/>
          </a:xfrm>
        </p:spPr>
        <p:txBody>
          <a:bodyPr vert="eaVert"/>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8" name="日期占位符 3"/>
          <p:cNvSpPr>
            <a:spLocks noGrp="1"/>
          </p:cNvSpPr>
          <p:nvPr>
            <p:ph type="dt" sz="half" idx="10"/>
          </p:nvPr>
        </p:nvSpPr>
        <p:spPr/>
        <p:txBody>
          <a:bodyPr/>
          <a:lstStyle>
            <a:lvl1pPr>
              <a:defRPr/>
            </a:lvl1pPr>
          </a:lstStyle>
          <a:p>
            <a:pPr>
              <a:defRPr/>
            </a:pPr>
            <a:fld id="{E8EC7199-0F18-4490-9EB9-9D4CF3926BD6}" type="datetime1">
              <a:rPr lang="zh-CN" altLang="en-US" smtClean="0"/>
            </a:fld>
            <a:endParaRPr lang="en-US" altLang="zh-CN"/>
          </a:p>
        </p:txBody>
      </p:sp>
      <p:sp>
        <p:nvSpPr>
          <p:cNvPr id="9" name="页脚占位符 4"/>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0" name="灯片编号占位符 5"/>
          <p:cNvSpPr>
            <a:spLocks noGrp="1"/>
          </p:cNvSpPr>
          <p:nvPr>
            <p:ph type="sldNum" sz="quarter" idx="12"/>
          </p:nvPr>
        </p:nvSpPr>
        <p:spPr/>
        <p:txBody>
          <a:bodyPr/>
          <a:lstStyle>
            <a:lvl1pPr>
              <a:defRPr/>
            </a:lvl1pPr>
          </a:lstStyle>
          <a:p>
            <a:pPr>
              <a:defRPr/>
            </a:pPr>
            <a:fld id="{6517B00B-B5C0-413D-ADF7-8DBB8D7E13A0}" type="slidenum">
              <a:rPr lang="en-US" altLang="zh-CN" smtClean="0"/>
            </a:fld>
            <a:endParaRPr lang="en-US" altLang="zh-CN"/>
          </a:p>
        </p:txBody>
      </p:sp>
    </p:spTree>
  </p:cSld>
  <p:clrMapOvr>
    <a:masterClrMapping/>
  </p:clrMapOvr>
  <p:transition>
    <p:wipe dir="u"/>
  </p:transition>
  <p:hf sldNum="0"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showMasterSp="0">
  <p:cSld name="内容">
    <p:spTree>
      <p:nvGrpSpPr>
        <p:cNvPr id="1" name=""/>
        <p:cNvGrpSpPr/>
        <p:nvPr/>
      </p:nvGrpSpPr>
      <p:grpSpPr>
        <a:xfrm>
          <a:off x="0" y="0"/>
          <a:ext cx="0" cy="0"/>
          <a:chOff x="0" y="0"/>
          <a:chExt cx="0" cy="0"/>
        </a:xfrm>
      </p:grpSpPr>
      <p:pic>
        <p:nvPicPr>
          <p:cNvPr id="3"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6"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内容占位符 1"/>
          <p:cNvSpPr>
            <a:spLocks noGrp="1"/>
          </p:cNvSpPr>
          <p:nvPr>
            <p:ph hasCustomPrompt="1"/>
          </p:nvPr>
        </p:nvSpPr>
        <p:spPr>
          <a:xfrm>
            <a:off x="628650" y="365125"/>
            <a:ext cx="7886700" cy="5811838"/>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2"/>
          <p:cNvSpPr>
            <a:spLocks noGrp="1"/>
          </p:cNvSpPr>
          <p:nvPr>
            <p:ph type="dt" sz="half" idx="10"/>
          </p:nvPr>
        </p:nvSpPr>
        <p:spPr/>
        <p:txBody>
          <a:bodyPr/>
          <a:lstStyle>
            <a:lvl1pPr>
              <a:defRPr/>
            </a:lvl1pPr>
          </a:lstStyle>
          <a:p>
            <a:pPr>
              <a:defRPr/>
            </a:pPr>
            <a:fld id="{E8EC7199-0F18-4490-9EB9-9D4CF3926BD6}" type="datetime1">
              <a:rPr lang="zh-CN" altLang="en-US" smtClean="0"/>
            </a:fld>
            <a:endParaRPr lang="en-US" altLang="zh-CN"/>
          </a:p>
        </p:txBody>
      </p:sp>
      <p:sp>
        <p:nvSpPr>
          <p:cNvPr id="8" name="页脚占位符 3"/>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dirty="0"/>
          </a:p>
        </p:txBody>
      </p:sp>
      <p:sp>
        <p:nvSpPr>
          <p:cNvPr id="9" name="灯片编号占位符 4"/>
          <p:cNvSpPr>
            <a:spLocks noGrp="1"/>
          </p:cNvSpPr>
          <p:nvPr>
            <p:ph type="sldNum" sz="quarter" idx="12"/>
          </p:nvPr>
        </p:nvSpPr>
        <p:spPr/>
        <p:txBody>
          <a:bodyPr/>
          <a:lstStyle>
            <a:lvl1pPr>
              <a:defRPr/>
            </a:lvl1pPr>
          </a:lstStyle>
          <a:p>
            <a:pPr>
              <a:defRPr/>
            </a:pPr>
            <a:fld id="{6517B00B-B5C0-413D-ADF7-8DBB8D7E13A0}" type="slidenum">
              <a:rPr lang="en-US" altLang="zh-CN" smtClean="0"/>
            </a:fld>
            <a:endParaRPr lang="en-US" altLang="zh-CN"/>
          </a:p>
        </p:txBody>
      </p:sp>
    </p:spTree>
  </p:cSld>
  <p:clrMapOvr>
    <a:masterClrMapping/>
  </p:clrMapOvr>
  <p:transition>
    <p:wipe dir="u"/>
  </p:transition>
  <p:hf sldNum="0"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type="txAndObj" preserve="1" showMasterSp="0">
  <p:cSld name="标题，文本与内容">
    <p:bg>
      <p:bgPr>
        <a:gradFill rotWithShape="1">
          <a:gsLst>
            <a:gs pos="0">
              <a:srgbClr val="000000">
                <a:alpha val="100000"/>
              </a:srgbClr>
            </a:gs>
            <a:gs pos="100000">
              <a:srgbClr val="000066">
                <a:alpha val="100000"/>
              </a:srgbClr>
            </a:gs>
            <a:gs pos="100000">
              <a:srgbClr val="0A128C">
                <a:alpha val="100000"/>
              </a:srgbClr>
            </a:gs>
            <a:gs pos="100000">
              <a:srgbClr val="181CC7">
                <a:alpha val="100000"/>
              </a:srgbClr>
            </a:gs>
            <a:gs pos="100000">
              <a:srgbClr val="7005D4">
                <a:alpha val="100000"/>
              </a:srgbClr>
            </a:gs>
            <a:gs pos="100000">
              <a:srgbClr val="8C3D91">
                <a:alpha val="100000"/>
              </a:srgbClr>
            </a:gs>
          </a:gsLst>
          <a:lin ang="16200000"/>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a:t>单击此处编辑母版标题样式</a:t>
            </a:r>
            <a:endParaRPr lang="zh-CN" altLang="en-US"/>
          </a:p>
        </p:txBody>
      </p:sp>
      <p:sp>
        <p:nvSpPr>
          <p:cNvPr id="3" name="文本占位符 2"/>
          <p:cNvSpPr>
            <a:spLocks noGrp="1"/>
          </p:cNvSpPr>
          <p:nvPr>
            <p:ph type="body" sz="half" idx="1" hasCustomPrompt="1"/>
          </p:nvPr>
        </p:nvSpPr>
        <p:spPr>
          <a:xfrm>
            <a:off x="457200" y="1600200"/>
            <a:ext cx="4038600" cy="453072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600200"/>
            <a:ext cx="4038600" cy="453072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4"/>
          <p:cNvSpPr>
            <a:spLocks noGrp="1" noChangeArrowheads="1"/>
          </p:cNvSpPr>
          <p:nvPr>
            <p:ph type="dt" sz="half" idx="12"/>
          </p:nvPr>
        </p:nvSpPr>
        <p:spPr bwMode="auto">
          <a:xfrm>
            <a:off x="457200" y="6243638"/>
            <a:ext cx="2133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a:defRPr/>
            </a:pPr>
            <a:fld id="{E8EC7199-0F18-4490-9EB9-9D4CF3926BD6}" type="datetime1">
              <a:rPr lang="zh-CN" altLang="en-US" smtClean="0"/>
            </a:fld>
            <a:endParaRPr lang="en-US" altLang="zh-CN"/>
          </a:p>
        </p:txBody>
      </p:sp>
      <p:sp>
        <p:nvSpPr>
          <p:cNvPr id="10" name="Rectangle 5"/>
          <p:cNvSpPr>
            <a:spLocks noGrp="1" noChangeArrowheads="1"/>
          </p:cNvSpPr>
          <p:nvPr>
            <p:ph type="ftr" sz="quarter" idx="3"/>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1" i="0" u="none" strike="noStrike" kern="1200" cap="none" spc="0" normalizeH="0" baseline="0" noProof="0">
              <a:ln>
                <a:noFill/>
              </a:ln>
              <a:solidFill>
                <a:srgbClr val="0000FF"/>
              </a:solidFill>
              <a:effectLst/>
              <a:uLnTx/>
              <a:uFillTx/>
              <a:latin typeface="+mj-lt"/>
              <a:ea typeface="宋体" panose="02010600030101010101" pitchFamily="2" charset="-122"/>
              <a:cs typeface="+mn-cs"/>
            </a:endParaRPr>
          </a:p>
        </p:txBody>
      </p:sp>
      <p:sp>
        <p:nvSpPr>
          <p:cNvPr id="11" name="Rectangle 6"/>
          <p:cNvSpPr>
            <a:spLocks noGrp="1" noChangeArrowheads="1"/>
          </p:cNvSpPr>
          <p:nvPr>
            <p:ph type="sldNum" sz="quarter" idx="4"/>
          </p:nvPr>
        </p:nvSpPr>
        <p:spPr bwMode="auto">
          <a:xfrm>
            <a:off x="6553200" y="6243638"/>
            <a:ext cx="2133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a:defRPr/>
            </a:pPr>
            <a:fld id="{6517B00B-B5C0-413D-ADF7-8DBB8D7E13A0}" type="slidenum">
              <a:rPr lang="en-US" altLang="zh-CN" smtClean="0"/>
            </a:fld>
            <a:endParaRPr lang="en-US" altLang="zh-CN"/>
          </a:p>
        </p:txBody>
      </p:sp>
    </p:spTree>
  </p:cSld>
  <p:clrMapOvr>
    <a:masterClrMapping/>
  </p:clrMapOvr>
  <p:transition>
    <p:wipe dir="u"/>
  </p:transition>
  <p:hf sldNum="0" hdr="0" ftr="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501650" y="119063"/>
            <a:ext cx="6257925"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a:t>
            </a:r>
            <a:endParaRPr lang="zh-CN" altLang="en-US"/>
          </a:p>
        </p:txBody>
      </p:sp>
      <p:sp>
        <p:nvSpPr>
          <p:cNvPr id="1027" name="文本占位符 2"/>
          <p:cNvSpPr>
            <a:spLocks noGrp="1" noChangeArrowheads="1"/>
          </p:cNvSpPr>
          <p:nvPr>
            <p:ph type="body" idx="9"/>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hangingPunct="1">
              <a:buFontTx/>
              <a:buNone/>
              <a:defRPr sz="1200">
                <a:solidFill>
                  <a:schemeClr val="tx1">
                    <a:tint val="75000"/>
                  </a:schemeClr>
                </a:solidFill>
              </a:defRPr>
            </a:lvl1pPr>
          </a:lstStyle>
          <a:p>
            <a:pPr>
              <a:defRPr/>
            </a:pPr>
            <a:fld id="{E8EC7199-0F18-4490-9EB9-9D4CF3926BD6}" type="datetime1">
              <a:rPr lang="zh-CN" altLang="en-US" smtClean="0"/>
            </a:fld>
            <a:endParaRPr lang="en-US" altLang="zh-CN"/>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eaLnBrk="1" hangingPunct="1">
              <a:buFontTx/>
              <a:buNone/>
              <a:defRPr sz="1200">
                <a:solidFill>
                  <a:schemeClr val="tx1">
                    <a:tint val="75000"/>
                  </a:schemeClr>
                </a:solidFill>
              </a:defRPr>
            </a:lvl1pPr>
          </a:lstStyle>
          <a:p>
            <a:pPr>
              <a:defRPr/>
            </a:pPr>
            <a:fld id="{6517B00B-B5C0-413D-ADF7-8DBB8D7E13A0}" type="slidenum">
              <a:rPr lang="en-US" altLang="zh-CN" smtClean="0"/>
            </a:fld>
            <a:endParaRPr lang="en-US" altLang="zh-CN"/>
          </a:p>
        </p:txBody>
      </p:sp>
      <p:pic>
        <p:nvPicPr>
          <p:cNvPr id="1030" name="Picture 2" descr="未标题-2 - 副本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31" name="直接连接符 4"/>
          <p:cNvCxnSpPr>
            <a:cxnSpLocks noChangeShapeType="1"/>
          </p:cNvCxnSpPr>
          <p:nvPr/>
        </p:nvCxn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cxnSp>
        <p:nvCxnSpPr>
          <p:cNvPr id="1032" name="直接连接符 14"/>
          <p:cNvCxnSpPr>
            <a:cxnSpLocks noChangeShapeType="1"/>
          </p:cNvCxnSpPr>
          <p:nvPr/>
        </p:nvCxn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pic>
        <p:nvPicPr>
          <p:cNvPr id="1033" name="Picture 19" descr="C:\Users\Administrator\Desktop\2校徽、中英文字体及标准色的组合.png"/>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wipe dir="u"/>
  </p:transition>
  <p:hf sldNum="0" hdr="0" ftr="0"/>
  <p:txStyles>
    <p:titleStyle>
      <a:lvl1pPr algn="l" rtl="0" eaLnBrk="1" fontAlgn="base" hangingPunct="1">
        <a:lnSpc>
          <a:spcPct val="90000"/>
        </a:lnSpc>
        <a:spcBef>
          <a:spcPct val="0"/>
        </a:spcBef>
        <a:spcAft>
          <a:spcPct val="0"/>
        </a:spcAft>
        <a:defRPr sz="4400" kern="1200">
          <a:solidFill>
            <a:schemeClr val="bg1"/>
          </a:solidFill>
          <a:latin typeface="+mj-lt"/>
          <a:ea typeface="+mj-ea"/>
          <a:cs typeface="+mj-cs"/>
        </a:defRPr>
      </a:lvl1pPr>
      <a:lvl2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2pPr>
      <a:lvl3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3pPr>
      <a:lvl4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4pPr>
      <a:lvl5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5pPr>
      <a:lvl6pPr marL="4572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6pPr>
      <a:lvl7pPr marL="9144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7pPr>
      <a:lvl8pPr marL="13716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8pPr>
      <a:lvl9pPr marL="18288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w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w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edhs1.gsfc.nasa.gov/waisdata/toc/cd30560001toc.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oleObject" Target="../embeddings/oleObject1.bin"/></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oleObject" Target="../embeddings/oleObject2.bin"/></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oleObject" Target="../embeddings/oleObject3.bin"/></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oleObject" Target="../embeddings/oleObject4.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oleObject" Target="../embeddings/oleObject5.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oleObject" Target="../embeddings/oleObject6.bin"/></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oleObject" Target="../embeddings/oleObject7.bin"/></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oleObject" Target="../embeddings/oleObject8.bin"/></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oleObject" Target="../embeddings/oleObject9.bin"/></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oleObject" Target="../embeddings/oleObject10.bin"/></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vmlDrawing" Target="../drawings/vmlDrawing11.vml"/><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oleObject" Target="../embeddings/oleObject11.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p:txBody>
          <a:bodyPr lIns="90488" tIns="44450" rIns="90488" bIns="44450"/>
          <a:lstStyle/>
          <a:p>
            <a:pPr algn="ctr" eaLnBrk="1" hangingPunct="1"/>
            <a:r>
              <a:rPr lang="zh-CN" altLang="en-US" sz="5400" b="1" dirty="0">
                <a:solidFill>
                  <a:srgbClr val="000000"/>
                </a:solidFill>
                <a:latin typeface="黑体" panose="02010609060101010101" pitchFamily="49" charset="-122"/>
                <a:ea typeface="黑体" panose="02010609060101010101" pitchFamily="49" charset="-122"/>
              </a:rPr>
              <a:t>软件体系结构</a:t>
            </a:r>
            <a:br>
              <a:rPr lang="zh-CN" altLang="en-US" sz="5400" b="1" dirty="0">
                <a:solidFill>
                  <a:srgbClr val="000000"/>
                </a:solidFill>
                <a:latin typeface="黑体" panose="02010609060101010101" pitchFamily="49" charset="-122"/>
                <a:ea typeface="黑体" panose="02010609060101010101" pitchFamily="49" charset="-122"/>
              </a:rPr>
            </a:br>
            <a:endParaRPr lang="zh-CN" altLang="en-US" sz="5400" b="1" dirty="0">
              <a:solidFill>
                <a:srgbClr val="000000"/>
              </a:solidFill>
              <a:latin typeface="黑体" panose="02010609060101010101" pitchFamily="49" charset="-122"/>
              <a:ea typeface="黑体" panose="02010609060101010101" pitchFamily="49" charset="-122"/>
            </a:endParaRPr>
          </a:p>
        </p:txBody>
      </p:sp>
      <p:sp>
        <p:nvSpPr>
          <p:cNvPr id="4099" name="Rectangle 4"/>
          <p:cNvSpPr>
            <a:spLocks noGrp="1" noChangeArrowheads="1"/>
          </p:cNvSpPr>
          <p:nvPr>
            <p:ph type="subTitle" idx="1"/>
          </p:nvPr>
        </p:nvSpPr>
        <p:spPr/>
        <p:txBody>
          <a:bodyPr/>
          <a:lstStyle/>
          <a:p>
            <a:pPr eaLnBrk="1" hangingPunct="1"/>
            <a:r>
              <a:rPr lang="en-US" altLang="zh-CN" dirty="0"/>
              <a:t>  </a:t>
            </a:r>
            <a:endParaRPr lang="zh-CN" altLang="en-US" dirty="0"/>
          </a:p>
        </p:txBody>
      </p:sp>
      <p:sp>
        <p:nvSpPr>
          <p:cNvPr id="4" name="Rectangle 3"/>
          <p:cNvSpPr txBox="1">
            <a:spLocks noChangeArrowheads="1"/>
          </p:cNvSpPr>
          <p:nvPr/>
        </p:nvSpPr>
        <p:spPr bwMode="auto">
          <a:xfrm>
            <a:off x="395536" y="3520662"/>
            <a:ext cx="852805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0" indent="0" algn="ctr" rtl="0" eaLnBrk="1" fontAlgn="base" hangingPunct="1">
              <a:lnSpc>
                <a:spcPct val="90000"/>
              </a:lnSpc>
              <a:spcBef>
                <a:spcPts val="1000"/>
              </a:spcBef>
              <a:spcAft>
                <a:spcPct val="0"/>
              </a:spcAft>
              <a:buFont typeface="Arial" panose="020B0604020202020204" pitchFamily="34" charset="0"/>
              <a:buNone/>
              <a:defRPr sz="2400" kern="1200">
                <a:solidFill>
                  <a:schemeClr val="tx1"/>
                </a:solidFill>
                <a:latin typeface="+mn-lt"/>
                <a:ea typeface="+mn-ea"/>
                <a:cs typeface="+mn-cs"/>
              </a:defRPr>
            </a:lvl1pPr>
            <a:lvl2pPr marL="457200" indent="0" algn="ctr" rtl="0" eaLnBrk="1" fontAlgn="base" hangingPunct="1">
              <a:lnSpc>
                <a:spcPct val="90000"/>
              </a:lnSpc>
              <a:spcBef>
                <a:spcPts val="500"/>
              </a:spcBef>
              <a:spcAft>
                <a:spcPct val="0"/>
              </a:spcAft>
              <a:buFont typeface="Arial" panose="020B0604020202020204" pitchFamily="34" charset="0"/>
              <a:buNone/>
              <a:defRPr sz="2000" kern="1200">
                <a:solidFill>
                  <a:schemeClr val="tx1"/>
                </a:solidFill>
                <a:latin typeface="+mn-lt"/>
                <a:ea typeface="+mn-ea"/>
                <a:cs typeface="+mn-cs"/>
              </a:defRPr>
            </a:lvl2pPr>
            <a:lvl3pPr marL="914400" indent="0" algn="ctr" rtl="0" eaLnBrk="1" fontAlgn="base" hangingPunct="1">
              <a:lnSpc>
                <a:spcPct val="90000"/>
              </a:lnSpc>
              <a:spcBef>
                <a:spcPts val="500"/>
              </a:spcBef>
              <a:spcAft>
                <a:spcPct val="0"/>
              </a:spcAft>
              <a:buFont typeface="Arial" panose="020B0604020202020204" pitchFamily="34" charset="0"/>
              <a:buNone/>
              <a:defRPr sz="1800" kern="1200">
                <a:solidFill>
                  <a:schemeClr val="tx1"/>
                </a:solidFill>
                <a:latin typeface="+mn-lt"/>
                <a:ea typeface="+mn-ea"/>
                <a:cs typeface="+mn-cs"/>
              </a:defRPr>
            </a:lvl3pPr>
            <a:lvl4pPr marL="1371600" indent="0" algn="ctr" rtl="0" eaLnBrk="1" fontAlgn="base" hangingPunct="1">
              <a:lnSpc>
                <a:spcPct val="90000"/>
              </a:lnSpc>
              <a:spcBef>
                <a:spcPts val="500"/>
              </a:spcBef>
              <a:spcAft>
                <a:spcPct val="0"/>
              </a:spcAft>
              <a:buFont typeface="Arial" panose="020B0604020202020204" pitchFamily="34" charset="0"/>
              <a:buNone/>
              <a:defRPr sz="1600" kern="1200">
                <a:solidFill>
                  <a:schemeClr val="tx1"/>
                </a:solidFill>
                <a:latin typeface="+mn-lt"/>
                <a:ea typeface="+mn-ea"/>
                <a:cs typeface="+mn-cs"/>
              </a:defRPr>
            </a:lvl4pPr>
            <a:lvl5pPr marL="1828800" indent="0" algn="ctr" rtl="0" eaLnBrk="1" fontAlgn="base" hangingPunct="1">
              <a:lnSpc>
                <a:spcPct val="90000"/>
              </a:lnSpc>
              <a:spcBef>
                <a:spcPts val="500"/>
              </a:spcBef>
              <a:spcAft>
                <a:spcPct val="0"/>
              </a:spcAft>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sz="4000" dirty="0">
                <a:ea typeface="黑体" panose="02010609060101010101" pitchFamily="49" charset="-122"/>
              </a:rPr>
              <a:t>第</a:t>
            </a:r>
            <a:r>
              <a:rPr lang="en-US" altLang="zh-CN" sz="4000" dirty="0">
                <a:ea typeface="黑体" panose="02010609060101010101" pitchFamily="49" charset="-122"/>
              </a:rPr>
              <a:t>12</a:t>
            </a:r>
            <a:r>
              <a:rPr lang="zh-CN" altLang="en-US" sz="4000" dirty="0">
                <a:ea typeface="黑体" panose="02010609060101010101" pitchFamily="49" charset="-122"/>
              </a:rPr>
              <a:t>章  </a:t>
            </a:r>
            <a:r>
              <a:rPr lang="en-US" altLang="zh-CN" sz="4000" dirty="0" err="1">
                <a:ea typeface="黑体" panose="02010609060101010101" pitchFamily="49" charset="-122"/>
              </a:rPr>
              <a:t>Kruchten</a:t>
            </a:r>
            <a:r>
              <a:rPr lang="zh-CN" altLang="en-US" sz="4000" dirty="0">
                <a:latin typeface="黑体" panose="02010609060101010101" pitchFamily="49" charset="-122"/>
                <a:ea typeface="黑体" panose="02010609060101010101" pitchFamily="49" charset="-122"/>
              </a:rPr>
              <a:t>的</a:t>
            </a:r>
            <a:r>
              <a:rPr lang="en-US" altLang="zh-CN" sz="4000" dirty="0">
                <a:latin typeface="黑体" panose="02010609060101010101" pitchFamily="49" charset="-122"/>
                <a:ea typeface="黑体" panose="02010609060101010101" pitchFamily="49" charset="-122"/>
              </a:rPr>
              <a:t>4+1</a:t>
            </a:r>
            <a:r>
              <a:rPr lang="zh-CN" altLang="en-US" sz="4000" dirty="0">
                <a:latin typeface="黑体" panose="02010609060101010101" pitchFamily="49" charset="-122"/>
                <a:ea typeface="黑体" panose="02010609060101010101" pitchFamily="49" charset="-122"/>
              </a:rPr>
              <a:t>模型</a:t>
            </a:r>
            <a:endParaRPr lang="en-US" altLang="zh-CN" sz="4000" dirty="0">
              <a:latin typeface="黑体" panose="02010609060101010101" pitchFamily="49" charset="-122"/>
              <a:ea typeface="黑体" panose="02010609060101010101" pitchFamily="49" charset="-122"/>
            </a:endParaRPr>
          </a:p>
          <a:p>
            <a:endParaRPr lang="en-US" altLang="zh-CN" sz="4000" dirty="0">
              <a:ea typeface="黑体" panose="02010609060101010101" pitchFamily="49" charset="-122"/>
            </a:endParaRPr>
          </a:p>
          <a:p>
            <a:r>
              <a:rPr lang="zh-CN" altLang="en-US" sz="2800" dirty="0">
                <a:ea typeface="黑体" panose="02010609060101010101" pitchFamily="49" charset="-122"/>
              </a:rPr>
              <a:t>赵庆玲</a:t>
            </a:r>
            <a:endParaRPr lang="en-US" altLang="zh-CN" sz="2800" dirty="0">
              <a:ea typeface="黑体" panose="02010609060101010101" pitchFamily="49" charset="-122"/>
            </a:endParaRPr>
          </a:p>
          <a:p>
            <a:r>
              <a:rPr lang="zh-CN" altLang="en-US" sz="2800" dirty="0">
                <a:ea typeface="黑体" panose="02010609060101010101" pitchFamily="49" charset="-122"/>
              </a:rPr>
              <a:t>南京理工大学计算机科学与工程学院</a:t>
            </a:r>
            <a:endParaRPr lang="en-US" altLang="zh-CN" sz="2800" dirty="0">
              <a:ea typeface="黑体" panose="02010609060101010101" pitchFamily="49" charset="-122"/>
            </a:endParaRPr>
          </a:p>
          <a:p>
            <a:endParaRPr lang="en-US" altLang="zh-CN" sz="2800" dirty="0">
              <a:ea typeface="黑体" panose="02010609060101010101" pitchFamily="49"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a:xfrm>
            <a:off x="395536" y="44624"/>
            <a:ext cx="8229600" cy="1066800"/>
          </a:xfrm>
        </p:spPr>
        <p:txBody>
          <a:bodyPr/>
          <a:lstStyle/>
          <a:p>
            <a:r>
              <a:rPr lang="en-US" altLang="zh-CN" sz="3200" dirty="0" err="1">
                <a:latin typeface="Times New Roman" panose="02020603050405020304" pitchFamily="18" charset="0"/>
              </a:rPr>
              <a:t>Kruchten</a:t>
            </a:r>
            <a:r>
              <a:rPr lang="zh-CN" altLang="en-US" sz="3200" dirty="0">
                <a:latin typeface="宋体" panose="02010600030101010101" pitchFamily="2" charset="-122"/>
              </a:rPr>
              <a:t>的</a:t>
            </a:r>
            <a:r>
              <a:rPr lang="en-US" altLang="zh-CN" sz="3200" dirty="0">
                <a:latin typeface="Times New Roman" panose="02020603050405020304" pitchFamily="18" charset="0"/>
              </a:rPr>
              <a:t>4+1</a:t>
            </a:r>
            <a:r>
              <a:rPr lang="zh-CN" altLang="en-US" sz="3200" dirty="0">
                <a:latin typeface="宋体" panose="02010600030101010101" pitchFamily="2" charset="-122"/>
              </a:rPr>
              <a:t>模型描述软件体系结构</a:t>
            </a:r>
            <a:r>
              <a:rPr lang="zh-CN" altLang="en-US" dirty="0"/>
              <a:t> </a:t>
            </a:r>
            <a:endParaRPr lang="zh-CN" altLang="en-US" dirty="0"/>
          </a:p>
        </p:txBody>
      </p:sp>
      <p:sp>
        <p:nvSpPr>
          <p:cNvPr id="6148" name="Rectangle 3"/>
          <p:cNvSpPr>
            <a:spLocks noGrp="1" noChangeArrowheads="1"/>
          </p:cNvSpPr>
          <p:nvPr>
            <p:ph idx="1"/>
          </p:nvPr>
        </p:nvSpPr>
        <p:spPr/>
        <p:txBody>
          <a:bodyPr/>
          <a:lstStyle/>
          <a:p>
            <a:r>
              <a:rPr lang="zh-CN" altLang="en-US"/>
              <a:t>本章参考</a:t>
            </a:r>
            <a:br>
              <a:rPr lang="zh-CN" altLang="en-US"/>
            </a:br>
            <a:r>
              <a:rPr lang="en-US" altLang="zh-CN"/>
              <a:t>Philippe Kruchten ——</a:t>
            </a:r>
            <a:endParaRPr lang="en-US" altLang="zh-CN"/>
          </a:p>
          <a:p>
            <a:pPr>
              <a:buFont typeface="Wingdings" panose="05000000000000000000" pitchFamily="2" charset="2"/>
              <a:buNone/>
            </a:pPr>
            <a:r>
              <a:rPr lang="en-US" altLang="zh-CN"/>
              <a:t> 《Architectural Blueprints—The “4+1”</a:t>
            </a:r>
            <a:br>
              <a:rPr lang="en-US" altLang="zh-CN"/>
            </a:br>
            <a:r>
              <a:rPr lang="en-US" altLang="zh-CN"/>
              <a:t>  View Model of Software Architecture》</a:t>
            </a:r>
            <a:endParaRPr lang="en-US" altLang="zh-CN"/>
          </a:p>
          <a:p>
            <a:pPr>
              <a:buFont typeface="Wingdings" panose="05000000000000000000" pitchFamily="2" charset="2"/>
              <a:buNone/>
            </a:pPr>
            <a:endParaRPr lang="en-US" altLang="zh-CN"/>
          </a:p>
        </p:txBody>
      </p:sp>
      <p:sp>
        <p:nvSpPr>
          <p:cNvPr id="6145"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B23AB0FE-54D0-49E5-8943-CA1DC85992CA}"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6146"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49AE45F5-3877-4CDC-9A44-E9D16F43A402}" type="datetime1">
              <a:rPr lang="zh-CN" altLang="en-US"/>
            </a:fld>
            <a:endParaRPr lang="zh-CN" altLang="en-US"/>
          </a:p>
        </p:txBody>
      </p:sp>
    </p:spTree>
  </p:cSld>
  <p:clrMapOvr>
    <a:masterClrMapping/>
  </p:clrMapOvr>
  <p:transition>
    <p:wipe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r>
              <a:rPr lang="zh-CN" altLang="en-US"/>
              <a:t>假定你是</a:t>
            </a:r>
            <a:r>
              <a:rPr lang="en-US" altLang="zh-CN"/>
              <a:t>Module Designer</a:t>
            </a:r>
            <a:endParaRPr lang="en-US" altLang="zh-CN"/>
          </a:p>
        </p:txBody>
      </p:sp>
      <p:sp>
        <p:nvSpPr>
          <p:cNvPr id="8196" name="Rectangle 3"/>
          <p:cNvSpPr>
            <a:spLocks noGrp="1" noChangeArrowheads="1"/>
          </p:cNvSpPr>
          <p:nvPr>
            <p:ph idx="1"/>
          </p:nvPr>
        </p:nvSpPr>
        <p:spPr/>
        <p:txBody>
          <a:bodyPr/>
          <a:lstStyle/>
          <a:p>
            <a:r>
              <a:rPr lang="zh-CN" altLang="en-US"/>
              <a:t>你最近加盟一家公司，并被安排在一个新项目的开发组中。虽然你富有经验，但是对此项目所涉及的领域还是一个新手。系统的高层体系结构设计已经完成。</a:t>
            </a:r>
            <a:endParaRPr lang="zh-CN" altLang="en-US"/>
          </a:p>
          <a:p>
            <a:r>
              <a:rPr lang="zh-CN" altLang="en-US"/>
              <a:t>你的老板（项目经理）让你预计你将要完成的几个模块的开发时间。</a:t>
            </a:r>
            <a:endParaRPr lang="zh-CN" altLang="en-US"/>
          </a:p>
          <a:p>
            <a:r>
              <a:rPr lang="zh-CN" altLang="en-US"/>
              <a:t>你怎么办？</a:t>
            </a:r>
            <a:endParaRPr lang="zh-CN" altLang="en-US"/>
          </a:p>
        </p:txBody>
      </p:sp>
      <p:sp>
        <p:nvSpPr>
          <p:cNvPr id="8193"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C036C384-AA0E-4001-80CE-3FE8F14FCAB3}"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8194"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25F03137-B6E3-4025-8A73-38757E302F48}" type="datetime1">
              <a:rPr lang="zh-CN" altLang="en-US"/>
            </a:fld>
            <a:endParaRPr lang="zh-CN" altLang="en-US"/>
          </a:p>
        </p:txBody>
      </p:sp>
    </p:spTree>
  </p:cSld>
  <p:clrMapOvr>
    <a:masterClrMapping/>
  </p:clrMapOvr>
  <p:transition>
    <p:wipe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lstStyle/>
          <a:p>
            <a:r>
              <a:rPr lang="zh-CN" altLang="en-US"/>
              <a:t>假定你是</a:t>
            </a:r>
            <a:r>
              <a:rPr lang="en-US" altLang="zh-CN"/>
              <a:t>Module Designer</a:t>
            </a:r>
            <a:endParaRPr lang="en-US" altLang="zh-CN"/>
          </a:p>
        </p:txBody>
      </p:sp>
      <p:sp>
        <p:nvSpPr>
          <p:cNvPr id="9220" name="Rectangle 3"/>
          <p:cNvSpPr>
            <a:spLocks noGrp="1" noChangeArrowheads="1"/>
          </p:cNvSpPr>
          <p:nvPr>
            <p:ph idx="1"/>
          </p:nvPr>
        </p:nvSpPr>
        <p:spPr>
          <a:xfrm>
            <a:off x="457200" y="5815013"/>
            <a:ext cx="8229600" cy="566737"/>
          </a:xfrm>
        </p:spPr>
        <p:txBody>
          <a:bodyPr/>
          <a:lstStyle/>
          <a:p>
            <a:pPr>
              <a:lnSpc>
                <a:spcPct val="90000"/>
              </a:lnSpc>
            </a:pPr>
            <a:r>
              <a:rPr lang="zh-CN" altLang="en-US"/>
              <a:t>你来开发</a:t>
            </a:r>
            <a:r>
              <a:rPr lang="en-US" altLang="zh-CN"/>
              <a:t>A2</a:t>
            </a:r>
            <a:r>
              <a:rPr lang="zh-CN" altLang="en-US"/>
              <a:t>和</a:t>
            </a:r>
            <a:r>
              <a:rPr lang="en-US" altLang="zh-CN"/>
              <a:t>A3</a:t>
            </a:r>
            <a:r>
              <a:rPr lang="zh-CN" altLang="en-US"/>
              <a:t>，怎么开始？</a:t>
            </a:r>
            <a:endParaRPr lang="zh-CN" altLang="en-US"/>
          </a:p>
        </p:txBody>
      </p:sp>
      <p:sp>
        <p:nvSpPr>
          <p:cNvPr id="9217"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5BF59CA0-BCDC-4314-93B9-6DA673AD1F96}"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9218"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D848A00F-99EF-4581-A844-9E95E7A99B31}" type="datetime1">
              <a:rPr lang="zh-CN" altLang="en-US"/>
            </a:fld>
            <a:endParaRPr lang="zh-CN" altLang="en-US"/>
          </a:p>
        </p:txBody>
      </p:sp>
      <p:pic>
        <p:nvPicPr>
          <p:cNvPr id="9221" name="Picture 4"/>
          <p:cNvPicPr>
            <a:picLocks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44638" y="1628775"/>
            <a:ext cx="6051550" cy="403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050"/>
          <p:cNvSpPr>
            <a:spLocks noGrp="1" noChangeArrowheads="1"/>
          </p:cNvSpPr>
          <p:nvPr>
            <p:ph type="title"/>
          </p:nvPr>
        </p:nvSpPr>
        <p:spPr/>
        <p:txBody>
          <a:bodyPr/>
          <a:lstStyle/>
          <a:p>
            <a:r>
              <a:rPr lang="zh-CN" altLang="en-US"/>
              <a:t>假定你是</a:t>
            </a:r>
            <a:r>
              <a:rPr lang="en-US" altLang="zh-CN"/>
              <a:t>Consultant(</a:t>
            </a:r>
            <a:r>
              <a:rPr lang="zh-CN" altLang="en-US"/>
              <a:t>顾问</a:t>
            </a:r>
            <a:r>
              <a:rPr lang="en-US" altLang="zh-CN"/>
              <a:t>)</a:t>
            </a:r>
            <a:endParaRPr lang="en-US" altLang="zh-CN"/>
          </a:p>
        </p:txBody>
      </p:sp>
      <p:sp>
        <p:nvSpPr>
          <p:cNvPr id="10244" name="Rectangle 2051"/>
          <p:cNvSpPr>
            <a:spLocks noGrp="1" noChangeArrowheads="1"/>
          </p:cNvSpPr>
          <p:nvPr>
            <p:ph idx="1"/>
          </p:nvPr>
        </p:nvSpPr>
        <p:spPr/>
        <p:txBody>
          <a:bodyPr/>
          <a:lstStyle/>
          <a:p>
            <a:r>
              <a:rPr lang="zh-CN" altLang="en-US" dirty="0"/>
              <a:t>你是一个请来的顾问，对一个体系结构设计进行评估。</a:t>
            </a:r>
            <a:r>
              <a:rPr lang="en-US" altLang="zh-CN" dirty="0"/>
              <a:t>Modifiability</a:t>
            </a:r>
            <a:r>
              <a:rPr lang="zh-CN" altLang="en-US" dirty="0"/>
              <a:t>和</a:t>
            </a:r>
            <a:r>
              <a:rPr lang="en-US" altLang="zh-CN" dirty="0"/>
              <a:t>Performance</a:t>
            </a:r>
            <a:r>
              <a:rPr lang="zh-CN" altLang="en-US" dirty="0"/>
              <a:t>是重要的体系结构质量因素。</a:t>
            </a:r>
            <a:endParaRPr lang="zh-CN" altLang="en-US" dirty="0"/>
          </a:p>
          <a:p>
            <a:r>
              <a:rPr lang="zh-CN" altLang="en-US" dirty="0"/>
              <a:t>你会询问什么样的信息？</a:t>
            </a:r>
            <a:endParaRPr lang="zh-CN" altLang="en-US" dirty="0"/>
          </a:p>
        </p:txBody>
      </p:sp>
      <p:sp>
        <p:nvSpPr>
          <p:cNvPr id="10241"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CD25967A-169C-46BB-A737-FFC48C667A3B}"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10242"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31FF1B05-1E2B-4585-B846-BC962C60B223}" type="datetime1">
              <a:rPr lang="zh-CN" altLang="en-US"/>
            </a:fld>
            <a:endParaRPr lang="zh-CN" altLang="en-US"/>
          </a:p>
        </p:txBody>
      </p:sp>
    </p:spTree>
  </p:cSld>
  <p:clrMapOvr>
    <a:masterClrMapping/>
  </p:clrMapOvr>
  <p:transition>
    <p:wipe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a:lstStyle/>
          <a:p>
            <a:r>
              <a:rPr lang="zh-CN" altLang="en-US"/>
              <a:t>假定你是</a:t>
            </a:r>
            <a:r>
              <a:rPr lang="en-US" altLang="zh-CN"/>
              <a:t>Consultant(</a:t>
            </a:r>
            <a:r>
              <a:rPr lang="zh-CN" altLang="en-US"/>
              <a:t>顾问</a:t>
            </a:r>
            <a:r>
              <a:rPr lang="en-US" altLang="zh-CN"/>
              <a:t>)</a:t>
            </a:r>
            <a:endParaRPr lang="en-US" altLang="zh-CN"/>
          </a:p>
        </p:txBody>
      </p:sp>
      <p:sp>
        <p:nvSpPr>
          <p:cNvPr id="11268" name="Rectangle 3"/>
          <p:cNvSpPr>
            <a:spLocks noGrp="1" noChangeArrowheads="1"/>
          </p:cNvSpPr>
          <p:nvPr>
            <p:ph idx="1"/>
          </p:nvPr>
        </p:nvSpPr>
        <p:spPr>
          <a:xfrm>
            <a:off x="457200" y="5734050"/>
            <a:ext cx="7138988" cy="647700"/>
          </a:xfrm>
        </p:spPr>
        <p:txBody>
          <a:bodyPr/>
          <a:lstStyle/>
          <a:p>
            <a:r>
              <a:rPr lang="zh-CN" altLang="en-US"/>
              <a:t>面对这样的图，你会有什么反应？</a:t>
            </a:r>
            <a:endParaRPr lang="zh-CN" altLang="en-US"/>
          </a:p>
        </p:txBody>
      </p:sp>
      <p:sp>
        <p:nvSpPr>
          <p:cNvPr id="11265"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8B3C8C67-593A-4AB7-8614-F5FB731E076C}"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11266"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B11CACAD-79EA-4348-A5B3-EADB8229164D}" type="datetime1">
              <a:rPr lang="zh-CN" altLang="en-US"/>
            </a:fld>
            <a:endParaRPr lang="zh-CN" altLang="en-US"/>
          </a:p>
        </p:txBody>
      </p:sp>
      <p:pic>
        <p:nvPicPr>
          <p:cNvPr id="11269"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16075" y="1628775"/>
            <a:ext cx="5908675" cy="416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transition>
    <p:wipe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p:txBody>
          <a:bodyPr/>
          <a:lstStyle/>
          <a:p>
            <a:r>
              <a:rPr lang="zh-CN" altLang="en-US"/>
              <a:t>假定你是</a:t>
            </a:r>
            <a:r>
              <a:rPr lang="en-US" altLang="zh-CN"/>
              <a:t>Consultant(</a:t>
            </a:r>
            <a:r>
              <a:rPr lang="zh-CN" altLang="en-US"/>
              <a:t>顾问</a:t>
            </a:r>
            <a:r>
              <a:rPr lang="en-US" altLang="zh-CN"/>
              <a:t>)</a:t>
            </a:r>
            <a:endParaRPr lang="en-US" altLang="zh-CN"/>
          </a:p>
        </p:txBody>
      </p:sp>
      <p:sp>
        <p:nvSpPr>
          <p:cNvPr id="12292" name="Rectangle 3"/>
          <p:cNvSpPr>
            <a:spLocks noGrp="1" noChangeArrowheads="1"/>
          </p:cNvSpPr>
          <p:nvPr>
            <p:ph idx="1"/>
          </p:nvPr>
        </p:nvSpPr>
        <p:spPr>
          <a:xfrm>
            <a:off x="457200" y="5734050"/>
            <a:ext cx="7138988" cy="647700"/>
          </a:xfrm>
        </p:spPr>
        <p:txBody>
          <a:bodyPr/>
          <a:lstStyle/>
          <a:p>
            <a:r>
              <a:rPr lang="zh-CN" altLang="en-US"/>
              <a:t>面对这样的图，你会有什么反应？</a:t>
            </a:r>
            <a:endParaRPr lang="zh-CN" altLang="en-US"/>
          </a:p>
        </p:txBody>
      </p:sp>
      <p:sp>
        <p:nvSpPr>
          <p:cNvPr id="12289"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3944579C-D995-4297-81FC-4A205E06055E}"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12290"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54DE9283-B547-4875-AAC3-D2068DB8279F}" type="datetime1">
              <a:rPr lang="zh-CN" altLang="en-US"/>
            </a:fld>
            <a:endParaRPr lang="zh-CN" altLang="en-US"/>
          </a:p>
        </p:txBody>
      </p:sp>
      <p:pic>
        <p:nvPicPr>
          <p:cNvPr id="12293"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2613" y="1498600"/>
            <a:ext cx="7950200" cy="423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transition>
    <p:wipe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1026"/>
          <p:cNvSpPr>
            <a:spLocks noGrp="1" noChangeArrowheads="1"/>
          </p:cNvSpPr>
          <p:nvPr>
            <p:ph type="title"/>
          </p:nvPr>
        </p:nvSpPr>
        <p:spPr/>
        <p:txBody>
          <a:bodyPr/>
          <a:lstStyle/>
          <a:p>
            <a:r>
              <a:rPr lang="zh-CN" altLang="en-US"/>
              <a:t>体系结构描述方法</a:t>
            </a:r>
            <a:endParaRPr lang="zh-CN" altLang="en-US"/>
          </a:p>
        </p:txBody>
      </p:sp>
      <p:sp>
        <p:nvSpPr>
          <p:cNvPr id="13316" name="Rectangle 1027"/>
          <p:cNvSpPr>
            <a:spLocks noGrp="1" noChangeArrowheads="1"/>
          </p:cNvSpPr>
          <p:nvPr>
            <p:ph idx="1"/>
          </p:nvPr>
        </p:nvSpPr>
        <p:spPr/>
        <p:txBody>
          <a:bodyPr/>
          <a:lstStyle/>
          <a:p>
            <a:r>
              <a:rPr lang="zh-CN" altLang="en-US"/>
              <a:t>软件开发过程中各种角色之间交流设计思想的媒介</a:t>
            </a:r>
            <a:endParaRPr lang="zh-CN" altLang="en-US"/>
          </a:p>
          <a:p>
            <a:r>
              <a:rPr lang="zh-CN" altLang="en-US"/>
              <a:t>进行上层分析的基础。此基础上可以验证体系结构设计方案，精炼或改变必要的方案</a:t>
            </a:r>
            <a:endParaRPr lang="zh-CN" altLang="en-US"/>
          </a:p>
          <a:p>
            <a:r>
              <a:rPr lang="zh-CN" altLang="en-US"/>
              <a:t>让别人理解系统的第一手资料</a:t>
            </a:r>
            <a:endParaRPr lang="zh-CN" altLang="en-US"/>
          </a:p>
        </p:txBody>
      </p:sp>
      <p:sp>
        <p:nvSpPr>
          <p:cNvPr id="13313"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E5CA5F40-AA9E-4D30-8535-40F2CCBAA88F}"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13314"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475141B8-7260-4F88-991B-159E8DCE74BA}" type="datetime1">
              <a:rPr lang="zh-CN" altLang="en-US"/>
            </a:fld>
            <a:endParaRPr lang="zh-CN" altLang="en-US"/>
          </a:p>
        </p:txBody>
      </p:sp>
    </p:spTree>
  </p:cSld>
  <p:clrMapOvr>
    <a:masterClrMapping/>
  </p:clrMapOvr>
  <p:transition>
    <p:wipe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r>
              <a:rPr lang="zh-CN" altLang="en-US"/>
              <a:t>与</a:t>
            </a:r>
            <a:r>
              <a:rPr lang="en-US" altLang="zh-CN"/>
              <a:t>Module Designer</a:t>
            </a:r>
            <a:r>
              <a:rPr lang="zh-CN" altLang="en-US"/>
              <a:t>交流</a:t>
            </a:r>
            <a:endParaRPr lang="zh-CN" altLang="en-US"/>
          </a:p>
        </p:txBody>
      </p:sp>
      <p:sp>
        <p:nvSpPr>
          <p:cNvPr id="15364" name="Rectangle 3"/>
          <p:cNvSpPr>
            <a:spLocks noGrp="1" noChangeArrowheads="1"/>
          </p:cNvSpPr>
          <p:nvPr>
            <p:ph idx="1"/>
          </p:nvPr>
        </p:nvSpPr>
        <p:spPr/>
        <p:txBody>
          <a:bodyPr/>
          <a:lstStyle/>
          <a:p>
            <a:pPr>
              <a:lnSpc>
                <a:spcPct val="90000"/>
              </a:lnSpc>
            </a:pPr>
            <a:r>
              <a:rPr lang="zh-CN" altLang="en-US" sz="2800"/>
              <a:t>基本想法是什么？</a:t>
            </a:r>
            <a:endParaRPr lang="zh-CN" altLang="en-US" sz="2800"/>
          </a:p>
          <a:p>
            <a:pPr>
              <a:lnSpc>
                <a:spcPct val="90000"/>
              </a:lnSpc>
            </a:pPr>
            <a:r>
              <a:rPr lang="zh-CN" altLang="en-US" sz="2800"/>
              <a:t>我该做什么 </a:t>
            </a:r>
            <a:r>
              <a:rPr lang="en-US" altLang="zh-CN" sz="2800"/>
              <a:t>(</a:t>
            </a:r>
            <a:r>
              <a:rPr lang="zh-CN" altLang="en-US" sz="2800"/>
              <a:t>如，实现哪些需求</a:t>
            </a:r>
            <a:r>
              <a:rPr lang="en-US" altLang="zh-CN" sz="2800"/>
              <a:t>) </a:t>
            </a:r>
            <a:r>
              <a:rPr lang="zh-CN" altLang="en-US" sz="2800"/>
              <a:t>？</a:t>
            </a:r>
            <a:endParaRPr lang="zh-CN" altLang="en-US" sz="2800"/>
          </a:p>
          <a:p>
            <a:pPr>
              <a:lnSpc>
                <a:spcPct val="90000"/>
              </a:lnSpc>
            </a:pPr>
            <a:r>
              <a:rPr lang="zh-CN" altLang="en-US" sz="2800"/>
              <a:t>我该在哪做 </a:t>
            </a:r>
            <a:r>
              <a:rPr lang="en-US" altLang="zh-CN" sz="2800"/>
              <a:t>(</a:t>
            </a:r>
            <a:r>
              <a:rPr lang="zh-CN" altLang="en-US" sz="2800"/>
              <a:t>如，这项功能实现在哪里</a:t>
            </a:r>
            <a:r>
              <a:rPr lang="en-US" altLang="zh-CN" sz="2800"/>
              <a:t>) </a:t>
            </a:r>
            <a:r>
              <a:rPr lang="zh-CN" altLang="en-US" sz="2800"/>
              <a:t>？</a:t>
            </a:r>
            <a:endParaRPr lang="zh-CN" altLang="en-US" sz="2800"/>
          </a:p>
          <a:p>
            <a:pPr>
              <a:lnSpc>
                <a:spcPct val="90000"/>
              </a:lnSpc>
            </a:pPr>
            <a:r>
              <a:rPr lang="zh-CN" altLang="en-US" sz="2800"/>
              <a:t>我和谁交互？接口是什么？</a:t>
            </a:r>
            <a:endParaRPr lang="zh-CN" altLang="en-US" sz="2800"/>
          </a:p>
          <a:p>
            <a:pPr>
              <a:lnSpc>
                <a:spcPct val="90000"/>
              </a:lnSpc>
            </a:pPr>
            <a:r>
              <a:rPr lang="zh-CN" altLang="en-US" sz="2800"/>
              <a:t>有什么可以重用的代码？</a:t>
            </a:r>
            <a:endParaRPr lang="zh-CN" altLang="en-US" sz="2800"/>
          </a:p>
          <a:p>
            <a:pPr>
              <a:lnSpc>
                <a:spcPct val="90000"/>
              </a:lnSpc>
            </a:pPr>
            <a:r>
              <a:rPr lang="zh-CN" altLang="en-US" sz="2800"/>
              <a:t>必须遵从什么约定</a:t>
            </a:r>
            <a:r>
              <a:rPr lang="en-US" altLang="zh-CN" sz="2800"/>
              <a:t>(</a:t>
            </a:r>
            <a:r>
              <a:rPr lang="zh-CN" altLang="en-US" sz="2800"/>
              <a:t>质量目标、旧体系</a:t>
            </a:r>
            <a:r>
              <a:rPr lang="en-US" altLang="zh-CN" sz="2800"/>
              <a:t>/</a:t>
            </a:r>
            <a:r>
              <a:rPr lang="zh-CN" altLang="en-US" sz="2800"/>
              <a:t>接口、预算等</a:t>
            </a:r>
            <a:r>
              <a:rPr lang="en-US" altLang="zh-CN" sz="2800"/>
              <a:t>)</a:t>
            </a:r>
            <a:r>
              <a:rPr lang="zh-CN" altLang="en-US" sz="2800"/>
              <a:t>？</a:t>
            </a:r>
            <a:endParaRPr lang="zh-CN" altLang="en-US" sz="2800"/>
          </a:p>
          <a:p>
            <a:pPr>
              <a:lnSpc>
                <a:spcPct val="90000"/>
              </a:lnSpc>
            </a:pPr>
            <a:r>
              <a:rPr lang="zh-CN" altLang="en-US" sz="2800"/>
              <a:t>有哪些硬性规定</a:t>
            </a:r>
            <a:r>
              <a:rPr lang="en-US" altLang="zh-CN" sz="2800"/>
              <a:t>(</a:t>
            </a:r>
            <a:r>
              <a:rPr lang="zh-CN" altLang="en-US" sz="2800"/>
              <a:t>设计、接口、约束等</a:t>
            </a:r>
            <a:r>
              <a:rPr lang="en-US" altLang="zh-CN" sz="2800"/>
              <a:t>)</a:t>
            </a:r>
            <a:r>
              <a:rPr lang="zh-CN" altLang="en-US" sz="2800"/>
              <a:t>？</a:t>
            </a:r>
            <a:endParaRPr lang="zh-CN" altLang="en-US" sz="2800"/>
          </a:p>
        </p:txBody>
      </p:sp>
      <p:sp>
        <p:nvSpPr>
          <p:cNvPr id="15361"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65EF8F19-6349-4733-BA28-D28D6646F605}"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15362"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C5E25C0D-0D77-45B1-931E-83F0BF94A33D}" type="datetime1">
              <a:rPr lang="zh-CN" altLang="en-US"/>
            </a:fld>
            <a:endParaRPr lang="zh-CN" altLang="en-US"/>
          </a:p>
        </p:txBody>
      </p:sp>
    </p:spTree>
  </p:cSld>
  <p:clrMapOvr>
    <a:masterClrMapping/>
  </p:clrMapOvr>
  <p:transition>
    <p:wipe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lstStyle/>
          <a:p>
            <a:r>
              <a:rPr lang="zh-CN" altLang="en-US"/>
              <a:t>与顾问交流</a:t>
            </a:r>
            <a:endParaRPr lang="zh-CN" altLang="en-US"/>
          </a:p>
        </p:txBody>
      </p:sp>
      <p:sp>
        <p:nvSpPr>
          <p:cNvPr id="16388" name="Rectangle 3"/>
          <p:cNvSpPr>
            <a:spLocks noGrp="1" noChangeArrowheads="1"/>
          </p:cNvSpPr>
          <p:nvPr>
            <p:ph idx="1"/>
          </p:nvPr>
        </p:nvSpPr>
        <p:spPr/>
        <p:txBody>
          <a:bodyPr/>
          <a:lstStyle/>
          <a:p>
            <a:pPr>
              <a:lnSpc>
                <a:spcPct val="90000"/>
              </a:lnSpc>
            </a:pPr>
            <a:r>
              <a:rPr lang="zh-CN" altLang="en-US" sz="2800"/>
              <a:t>体系结构的必要需求</a:t>
            </a:r>
            <a:r>
              <a:rPr lang="en-US" altLang="zh-CN" sz="2800"/>
              <a:t>(driving requirement)</a:t>
            </a:r>
            <a:r>
              <a:rPr lang="zh-CN" altLang="en-US" sz="2800"/>
              <a:t>是什么</a:t>
            </a:r>
            <a:r>
              <a:rPr lang="en-US" altLang="zh-CN" sz="2800"/>
              <a:t>(</a:t>
            </a:r>
            <a:r>
              <a:rPr lang="zh-CN" altLang="en-US" sz="2800"/>
              <a:t>如，</a:t>
            </a:r>
            <a:r>
              <a:rPr lang="en-US" altLang="en-US" sz="2800"/>
              <a:t>performance, availability, security, modifiability,</a:t>
            </a:r>
            <a:r>
              <a:rPr lang="en-US" altLang="zh-CN" sz="2800"/>
              <a:t> </a:t>
            </a:r>
            <a:r>
              <a:rPr lang="en-US" altLang="en-US" sz="2800"/>
              <a:t>interoperability)</a:t>
            </a:r>
            <a:r>
              <a:rPr lang="zh-CN" altLang="en-US" sz="2800"/>
              <a:t>？</a:t>
            </a:r>
            <a:endParaRPr lang="zh-CN" altLang="en-US" sz="2800"/>
          </a:p>
          <a:p>
            <a:pPr>
              <a:lnSpc>
                <a:spcPct val="90000"/>
              </a:lnSpc>
            </a:pPr>
            <a:r>
              <a:rPr lang="zh-CN" altLang="en-US" sz="2800"/>
              <a:t>各种体系结构视图是如何描述的？</a:t>
            </a:r>
            <a:endParaRPr lang="zh-CN" altLang="en-US" sz="2800"/>
          </a:p>
          <a:p>
            <a:pPr lvl="1">
              <a:lnSpc>
                <a:spcPct val="90000"/>
              </a:lnSpc>
            </a:pPr>
            <a:r>
              <a:rPr lang="zh-CN" altLang="en-US" sz="2400"/>
              <a:t>抽象出来什么？</a:t>
            </a:r>
            <a:endParaRPr lang="zh-CN" altLang="en-US" sz="2400"/>
          </a:p>
          <a:p>
            <a:pPr lvl="1">
              <a:lnSpc>
                <a:spcPct val="90000"/>
              </a:lnSpc>
            </a:pPr>
            <a:r>
              <a:rPr lang="zh-CN" altLang="en-US" sz="2400"/>
              <a:t>功能怎样分解？</a:t>
            </a:r>
            <a:endParaRPr lang="zh-CN" altLang="en-US" sz="2400"/>
          </a:p>
          <a:p>
            <a:pPr lvl="1">
              <a:lnSpc>
                <a:spcPct val="90000"/>
              </a:lnSpc>
            </a:pPr>
            <a:r>
              <a:rPr lang="zh-CN" altLang="en-US" sz="2400"/>
              <a:t>功能怎样分配？</a:t>
            </a:r>
            <a:endParaRPr lang="zh-CN" altLang="en-US" sz="2400"/>
          </a:p>
          <a:p>
            <a:pPr lvl="1">
              <a:lnSpc>
                <a:spcPct val="90000"/>
              </a:lnSpc>
            </a:pPr>
            <a:r>
              <a:rPr lang="zh-CN" altLang="en-US" sz="2400"/>
              <a:t>使用什么硬件以及软件怎样布置在硬件上？</a:t>
            </a:r>
            <a:endParaRPr lang="zh-CN" altLang="en-US" sz="2400"/>
          </a:p>
          <a:p>
            <a:pPr>
              <a:lnSpc>
                <a:spcPct val="90000"/>
              </a:lnSpc>
            </a:pPr>
            <a:r>
              <a:rPr lang="zh-CN" altLang="en-US" sz="2800"/>
              <a:t>采用了哪些体系结构风格？</a:t>
            </a:r>
            <a:endParaRPr lang="zh-CN" altLang="en-US" sz="2800"/>
          </a:p>
        </p:txBody>
      </p:sp>
      <p:sp>
        <p:nvSpPr>
          <p:cNvPr id="16385"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FD5BA470-156D-4265-BB9F-D404BDC8317A}"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16386"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442FC237-9785-44B2-8845-A11EA5501E29}" type="datetime1">
              <a:rPr lang="zh-CN" altLang="en-US"/>
            </a:fld>
            <a:endParaRPr lang="zh-CN" altLang="en-US"/>
          </a:p>
        </p:txBody>
      </p:sp>
    </p:spTree>
  </p:cSld>
  <p:clrMapOvr>
    <a:masterClrMapping/>
  </p:clrMapOvr>
  <p:transition>
    <p:wipe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zh-CN" altLang="en-US"/>
              <a:t>这是什么？</a:t>
            </a:r>
            <a:endParaRPr lang="zh-CN" altLang="en-US"/>
          </a:p>
        </p:txBody>
      </p:sp>
      <p:pic>
        <p:nvPicPr>
          <p:cNvPr id="17412" name="Picture 3"/>
          <p:cNvPicPr>
            <a:picLocks noGrp="1" noChangeAspect="1" noChangeArrowheads="1"/>
          </p:cNvPicPr>
          <p:nvPr>
            <p:ph idx="1"/>
          </p:nvPr>
        </p:nvPicPr>
        <p:blipFill>
          <a:blip r:embed="rId1">
            <a:extLst>
              <a:ext uri="{28A0092B-C50C-407E-A947-70E740481C1C}">
                <a14:useLocalDpi xmlns:a14="http://schemas.microsoft.com/office/drawing/2010/main" val="0"/>
              </a:ext>
            </a:extLst>
          </a:blip>
          <a:stretch>
            <a:fillRect/>
          </a:stretch>
        </p:blipFill>
        <p:spPr>
          <a:xfrm>
            <a:off x="995809" y="2062686"/>
            <a:ext cx="7152381" cy="3877216"/>
          </a:xfrm>
          <a:extLst>
            <a:ext uri="{91240B29-F687-4F45-9708-019B960494DF}">
              <a14:hiddenLine xmlns:a14="http://schemas.microsoft.com/office/drawing/2010/main" w="12700">
                <a:solidFill>
                  <a:srgbClr val="000000"/>
                </a:solidFill>
                <a:miter lim="800000"/>
                <a:headEnd/>
                <a:tailEnd/>
              </a14:hiddenLine>
            </a:ext>
          </a:extLst>
        </p:spPr>
      </p:pic>
      <p:sp>
        <p:nvSpPr>
          <p:cNvPr id="17409"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D984139C-B8D5-4B91-8F41-F44C39A62E2C}"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17410"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29765AAF-E646-40BA-AF3E-0164095A9E71}" type="datetime1">
              <a:rPr lang="zh-CN" altLang="en-US"/>
            </a:fld>
            <a:endParaRPr lang="zh-CN" altLang="en-US"/>
          </a:p>
        </p:txBody>
      </p:sp>
      <p:sp>
        <p:nvSpPr>
          <p:cNvPr id="17413" name="Text Box 4"/>
          <p:cNvSpPr txBox="1">
            <a:spLocks noChangeArrowheads="1"/>
          </p:cNvSpPr>
          <p:nvPr/>
        </p:nvSpPr>
        <p:spPr bwMode="auto">
          <a:xfrm>
            <a:off x="2247900" y="2786063"/>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a:p>
        </p:txBody>
      </p:sp>
    </p:spTree>
  </p:cSld>
  <p:clrMapOvr>
    <a:masterClrMapping/>
  </p:clrMapOvr>
  <p:transition>
    <p:wipe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1026"/>
          <p:cNvSpPr>
            <a:spLocks noGrp="1" noChangeArrowheads="1"/>
          </p:cNvSpPr>
          <p:nvPr>
            <p:ph type="title"/>
          </p:nvPr>
        </p:nvSpPr>
        <p:spPr/>
        <p:txBody>
          <a:bodyPr/>
          <a:lstStyle/>
          <a:p>
            <a:r>
              <a:rPr lang="zh-CN" altLang="en-US"/>
              <a:t>上图的毛病</a:t>
            </a:r>
            <a:endParaRPr lang="zh-CN" altLang="en-US"/>
          </a:p>
        </p:txBody>
      </p:sp>
      <p:sp>
        <p:nvSpPr>
          <p:cNvPr id="19460" name="Rectangle 1027"/>
          <p:cNvSpPr>
            <a:spLocks noGrp="1" noChangeArrowheads="1"/>
          </p:cNvSpPr>
          <p:nvPr>
            <p:ph idx="1"/>
          </p:nvPr>
        </p:nvSpPr>
        <p:spPr/>
        <p:txBody>
          <a:bodyPr/>
          <a:lstStyle/>
          <a:p>
            <a:pPr>
              <a:lnSpc>
                <a:spcPct val="90000"/>
              </a:lnSpc>
            </a:pPr>
            <a:r>
              <a:rPr lang="zh-CN" altLang="en-US"/>
              <a:t>很多事情没有说：</a:t>
            </a:r>
            <a:endParaRPr lang="zh-CN" altLang="en-US"/>
          </a:p>
          <a:p>
            <a:pPr lvl="1">
              <a:lnSpc>
                <a:spcPct val="90000"/>
              </a:lnSpc>
            </a:pPr>
            <a:r>
              <a:rPr lang="zh-CN" altLang="en-US"/>
              <a:t>组件类型</a:t>
            </a:r>
            <a:endParaRPr lang="zh-CN" altLang="en-US"/>
          </a:p>
          <a:p>
            <a:pPr lvl="1">
              <a:lnSpc>
                <a:spcPct val="90000"/>
              </a:lnSpc>
            </a:pPr>
            <a:r>
              <a:rPr lang="zh-CN" altLang="en-US"/>
              <a:t>连接件类型</a:t>
            </a:r>
            <a:endParaRPr lang="zh-CN" altLang="en-US"/>
          </a:p>
          <a:p>
            <a:pPr lvl="1">
              <a:lnSpc>
                <a:spcPct val="90000"/>
              </a:lnSpc>
            </a:pPr>
            <a:r>
              <a:rPr lang="zh-CN" altLang="en-US"/>
              <a:t>圆圈和箭头代表什么？</a:t>
            </a:r>
            <a:endParaRPr lang="zh-CN" altLang="en-US"/>
          </a:p>
          <a:p>
            <a:pPr lvl="1">
              <a:lnSpc>
                <a:spcPct val="90000"/>
              </a:lnSpc>
            </a:pPr>
            <a:r>
              <a:rPr lang="zh-CN" altLang="en-US"/>
              <a:t>这种布局的意义是什么？</a:t>
            </a:r>
            <a:endParaRPr lang="zh-CN" altLang="en-US"/>
          </a:p>
          <a:p>
            <a:pPr lvl="1">
              <a:lnSpc>
                <a:spcPct val="90000"/>
              </a:lnSpc>
            </a:pPr>
            <a:r>
              <a:rPr lang="zh-CN" altLang="en-US"/>
              <a:t>为什么</a:t>
            </a:r>
            <a:r>
              <a:rPr lang="en-US" altLang="zh-CN"/>
              <a:t>CP</a:t>
            </a:r>
            <a:r>
              <a:rPr lang="zh-CN" altLang="en-US"/>
              <a:t>要放在上层？</a:t>
            </a:r>
            <a:endParaRPr lang="zh-CN" altLang="en-US"/>
          </a:p>
          <a:p>
            <a:pPr>
              <a:lnSpc>
                <a:spcPct val="90000"/>
              </a:lnSpc>
            </a:pPr>
            <a:r>
              <a:rPr lang="zh-CN" altLang="en-US"/>
              <a:t>只画出方框和线条不是体系结构，只是体系结构的开始</a:t>
            </a:r>
            <a:endParaRPr lang="zh-CN" altLang="en-US"/>
          </a:p>
        </p:txBody>
      </p:sp>
      <p:sp>
        <p:nvSpPr>
          <p:cNvPr id="19457"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0E45BA7A-2FBB-49A6-81B7-AAAF4FD53540}"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19458"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06952A12-61AE-4A5D-B214-8116F1FC5808}" type="datetime1">
              <a:rPr lang="zh-CN" altLang="en-US"/>
            </a:fld>
            <a:endParaRPr lang="zh-CN" altLang="en-US"/>
          </a:p>
        </p:txBody>
      </p:sp>
    </p:spTree>
  </p:cSld>
  <p:clrMapOvr>
    <a:masterClrMapping/>
  </p:clrMapOvr>
  <p:transition>
    <p:wipe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p:txBody>
          <a:bodyPr/>
          <a:lstStyle/>
          <a:p>
            <a:r>
              <a:rPr lang="zh-CN" altLang="en-US"/>
              <a:t>好的体系结构描述的必要元素</a:t>
            </a:r>
            <a:endParaRPr lang="zh-CN" altLang="en-US"/>
          </a:p>
        </p:txBody>
      </p:sp>
      <p:sp>
        <p:nvSpPr>
          <p:cNvPr id="20484" name="Rectangle 3"/>
          <p:cNvSpPr>
            <a:spLocks noGrp="1" noChangeArrowheads="1"/>
          </p:cNvSpPr>
          <p:nvPr>
            <p:ph idx="1"/>
          </p:nvPr>
        </p:nvSpPr>
        <p:spPr/>
        <p:txBody>
          <a:bodyPr/>
          <a:lstStyle/>
          <a:p>
            <a:r>
              <a:rPr lang="zh-CN" altLang="en-US"/>
              <a:t>需求陈述</a:t>
            </a:r>
            <a:endParaRPr lang="zh-CN" altLang="en-US"/>
          </a:p>
          <a:p>
            <a:pPr lvl="1"/>
            <a:r>
              <a:rPr lang="zh-CN" altLang="en-US"/>
              <a:t>商业环境、产品的背景、领域</a:t>
            </a:r>
            <a:endParaRPr lang="zh-CN" altLang="en-US"/>
          </a:p>
          <a:p>
            <a:r>
              <a:rPr lang="zh-CN" altLang="en-US"/>
              <a:t>描述环境</a:t>
            </a:r>
            <a:endParaRPr lang="zh-CN" altLang="en-US"/>
          </a:p>
          <a:p>
            <a:pPr lvl="1"/>
            <a:r>
              <a:rPr lang="zh-CN" altLang="en-US"/>
              <a:t>必须和什么系统交互、外部接口</a:t>
            </a:r>
            <a:endParaRPr lang="zh-CN" altLang="en-US"/>
          </a:p>
          <a:p>
            <a:r>
              <a:rPr lang="zh-CN" altLang="en-US"/>
              <a:t>使用体系结构图</a:t>
            </a:r>
            <a:endParaRPr lang="zh-CN" altLang="en-US"/>
          </a:p>
          <a:p>
            <a:pPr lvl="1"/>
            <a:r>
              <a:rPr lang="zh-CN" altLang="en-US"/>
              <a:t>用恰当的线框</a:t>
            </a:r>
            <a:endParaRPr lang="zh-CN" altLang="en-US"/>
          </a:p>
          <a:p>
            <a:pPr lvl="1"/>
            <a:r>
              <a:rPr lang="zh-CN" altLang="en-US"/>
              <a:t>简洁的说明</a:t>
            </a:r>
            <a:endParaRPr lang="zh-CN" altLang="en-US"/>
          </a:p>
        </p:txBody>
      </p:sp>
      <p:sp>
        <p:nvSpPr>
          <p:cNvPr id="20481"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44628058-C0AF-44F0-AB82-5ADFB9327DF4}"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20482"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A6CF9734-27F1-4EFF-A1CD-4CCD8C320614}" type="datetime1">
              <a:rPr lang="zh-CN" altLang="en-US"/>
            </a:fld>
            <a:endParaRPr lang="zh-CN" altLang="en-US"/>
          </a:p>
        </p:txBody>
      </p:sp>
    </p:spTree>
  </p:cSld>
  <p:clrMapOvr>
    <a:masterClrMapping/>
  </p:clrMapOvr>
  <p:transition>
    <p:wipe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p:txBody>
          <a:bodyPr/>
          <a:lstStyle/>
          <a:p>
            <a:r>
              <a:rPr lang="zh-CN" altLang="en-US"/>
              <a:t>好的体系结构描述的必要元素</a:t>
            </a:r>
            <a:endParaRPr lang="zh-CN" altLang="en-US"/>
          </a:p>
        </p:txBody>
      </p:sp>
      <p:sp>
        <p:nvSpPr>
          <p:cNvPr id="21508" name="Rectangle 3"/>
          <p:cNvSpPr>
            <a:spLocks noGrp="1" noChangeArrowheads="1"/>
          </p:cNvSpPr>
          <p:nvPr>
            <p:ph idx="1"/>
          </p:nvPr>
        </p:nvSpPr>
        <p:spPr/>
        <p:txBody>
          <a:bodyPr/>
          <a:lstStyle/>
          <a:p>
            <a:r>
              <a:rPr lang="zh-CN" altLang="en-US"/>
              <a:t>考虑实现时的限制</a:t>
            </a:r>
            <a:endParaRPr lang="zh-CN" altLang="en-US"/>
          </a:p>
          <a:p>
            <a:pPr lvl="1"/>
            <a:r>
              <a:rPr lang="zh-CN" altLang="en-US"/>
              <a:t>但是仅在它们能影响体系结构设计的范围内</a:t>
            </a:r>
            <a:endParaRPr lang="zh-CN" altLang="en-US"/>
          </a:p>
          <a:p>
            <a:pPr lvl="2"/>
            <a:r>
              <a:rPr lang="zh-CN" altLang="en-US"/>
              <a:t>被限定的下层结构、处理器需求</a:t>
            </a:r>
            <a:endParaRPr lang="zh-CN" altLang="en-US"/>
          </a:p>
          <a:p>
            <a:pPr lvl="1"/>
            <a:r>
              <a:rPr lang="zh-CN" altLang="en-US"/>
              <a:t>通常包含其他结构图</a:t>
            </a:r>
            <a:endParaRPr lang="zh-CN" altLang="en-US"/>
          </a:p>
          <a:p>
            <a:r>
              <a:rPr lang="zh-CN" altLang="en-US"/>
              <a:t>体系结构设计的原理</a:t>
            </a:r>
            <a:endParaRPr lang="zh-CN" altLang="en-US"/>
          </a:p>
          <a:p>
            <a:pPr lvl="1"/>
            <a:r>
              <a:rPr lang="zh-CN" altLang="en-US"/>
              <a:t>它怎样去符合需求与约束</a:t>
            </a:r>
            <a:endParaRPr lang="zh-CN" altLang="en-US"/>
          </a:p>
          <a:p>
            <a:pPr lvl="1"/>
            <a:r>
              <a:rPr lang="zh-CN" altLang="en-US"/>
              <a:t>其他的设计</a:t>
            </a:r>
            <a:endParaRPr lang="zh-CN" altLang="en-US"/>
          </a:p>
        </p:txBody>
      </p:sp>
      <p:sp>
        <p:nvSpPr>
          <p:cNvPr id="21505"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550B4FA3-8177-4A07-9746-7F3158FA4999}"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21506"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6593F988-4D3E-489F-AC20-0D3BDF219545}" type="datetime1">
              <a:rPr lang="zh-CN" altLang="en-US"/>
            </a:fld>
            <a:endParaRPr lang="zh-CN" altLang="en-US"/>
          </a:p>
        </p:txBody>
      </p:sp>
    </p:spTree>
  </p:cSld>
  <p:clrMapOvr>
    <a:masterClrMapping/>
  </p:clrMapOvr>
  <p:transition>
    <p:wipe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r>
              <a:rPr lang="zh-CN" altLang="en-US"/>
              <a:t>其他方面</a:t>
            </a:r>
            <a:endParaRPr lang="zh-CN" altLang="en-US"/>
          </a:p>
        </p:txBody>
      </p:sp>
      <p:sp>
        <p:nvSpPr>
          <p:cNvPr id="22532" name="Rectangle 3"/>
          <p:cNvSpPr>
            <a:spLocks noGrp="1" noChangeArrowheads="1"/>
          </p:cNvSpPr>
          <p:nvPr>
            <p:ph idx="1"/>
          </p:nvPr>
        </p:nvSpPr>
        <p:spPr/>
        <p:txBody>
          <a:bodyPr/>
          <a:lstStyle/>
          <a:p>
            <a:pPr>
              <a:lnSpc>
                <a:spcPct val="80000"/>
              </a:lnSpc>
            </a:pPr>
            <a:r>
              <a:rPr lang="zh-CN" altLang="en-US" sz="2800"/>
              <a:t>风格</a:t>
            </a:r>
            <a:r>
              <a:rPr lang="en-US" altLang="zh-CN" sz="2800"/>
              <a:t>/</a:t>
            </a:r>
            <a:r>
              <a:rPr lang="zh-CN" altLang="en-US" sz="2800"/>
              <a:t>产品线问题</a:t>
            </a:r>
            <a:endParaRPr lang="zh-CN" altLang="en-US" sz="2800"/>
          </a:p>
          <a:p>
            <a:pPr lvl="1">
              <a:lnSpc>
                <a:spcPct val="80000"/>
              </a:lnSpc>
            </a:pPr>
            <a:r>
              <a:rPr lang="zh-CN" altLang="en-US" sz="2400"/>
              <a:t>设计可变的尺度</a:t>
            </a:r>
            <a:endParaRPr lang="zh-CN" altLang="en-US" sz="2400"/>
          </a:p>
          <a:p>
            <a:pPr lvl="1">
              <a:lnSpc>
                <a:spcPct val="80000"/>
              </a:lnSpc>
            </a:pPr>
            <a:r>
              <a:rPr lang="zh-CN" altLang="en-US" sz="2400"/>
              <a:t>体系结构的那个方面必须不被改变？</a:t>
            </a:r>
            <a:endParaRPr lang="zh-CN" altLang="en-US" sz="2400"/>
          </a:p>
          <a:p>
            <a:pPr>
              <a:lnSpc>
                <a:spcPct val="80000"/>
              </a:lnSpc>
            </a:pPr>
            <a:r>
              <a:rPr lang="zh-CN" altLang="en-US" sz="2800"/>
              <a:t>管理问题</a:t>
            </a:r>
            <a:endParaRPr lang="zh-CN" altLang="en-US" sz="2800"/>
          </a:p>
          <a:p>
            <a:pPr lvl="1">
              <a:lnSpc>
                <a:spcPct val="80000"/>
              </a:lnSpc>
            </a:pPr>
            <a:r>
              <a:rPr lang="zh-CN" altLang="en-US" sz="2400"/>
              <a:t>暗含开发团队的组织结构</a:t>
            </a:r>
            <a:endParaRPr lang="zh-CN" altLang="en-US" sz="2400"/>
          </a:p>
          <a:p>
            <a:pPr lvl="1">
              <a:lnSpc>
                <a:spcPct val="80000"/>
              </a:lnSpc>
            </a:pPr>
            <a:r>
              <a:rPr lang="zh-CN" altLang="en-US" sz="2400"/>
              <a:t>体系结构评审情况 </a:t>
            </a:r>
            <a:endParaRPr lang="zh-CN" altLang="en-US" sz="2400"/>
          </a:p>
          <a:p>
            <a:pPr>
              <a:lnSpc>
                <a:spcPct val="80000"/>
              </a:lnSpc>
            </a:pPr>
            <a:r>
              <a:rPr lang="zh-CN" altLang="en-US" sz="2800"/>
              <a:t>其他设计问题</a:t>
            </a:r>
            <a:endParaRPr lang="zh-CN" altLang="en-US" sz="2800"/>
          </a:p>
          <a:p>
            <a:pPr lvl="1">
              <a:lnSpc>
                <a:spcPct val="80000"/>
              </a:lnSpc>
            </a:pPr>
            <a:r>
              <a:rPr lang="zh-CN" altLang="en-US" sz="2400"/>
              <a:t>代码重用、标准的运用</a:t>
            </a:r>
            <a:endParaRPr lang="zh-CN" altLang="en-US" sz="2400"/>
          </a:p>
          <a:p>
            <a:pPr lvl="1">
              <a:lnSpc>
                <a:spcPct val="80000"/>
              </a:lnSpc>
            </a:pPr>
            <a:r>
              <a:rPr lang="zh-CN" altLang="en-US" sz="2400"/>
              <a:t>风险分析</a:t>
            </a:r>
            <a:endParaRPr lang="zh-CN" altLang="en-US" sz="2400"/>
          </a:p>
          <a:p>
            <a:pPr lvl="1">
              <a:lnSpc>
                <a:spcPct val="80000"/>
              </a:lnSpc>
            </a:pPr>
            <a:r>
              <a:rPr lang="zh-CN" altLang="en-US" sz="2400"/>
              <a:t>运作、管理和维护</a:t>
            </a:r>
            <a:endParaRPr lang="zh-CN" altLang="en-US" sz="2400"/>
          </a:p>
        </p:txBody>
      </p:sp>
      <p:sp>
        <p:nvSpPr>
          <p:cNvPr id="22529"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79F7BBF8-A84C-405A-8F1B-360DE5A0E20D}"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22530"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F43B1856-5A4A-429B-A926-C82D9CDCDA2B}" type="datetime1">
              <a:rPr lang="zh-CN" altLang="en-US"/>
            </a:fld>
            <a:endParaRPr lang="zh-CN" altLang="en-US"/>
          </a:p>
        </p:txBody>
      </p:sp>
    </p:spTree>
  </p:cSld>
  <p:clrMapOvr>
    <a:masterClrMapping/>
  </p:clrMapOvr>
  <p:transition>
    <p:wipe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r>
              <a:rPr lang="zh-CN" altLang="en-US"/>
              <a:t>好描述</a:t>
            </a:r>
            <a:endParaRPr lang="zh-CN" altLang="en-US"/>
          </a:p>
        </p:txBody>
      </p:sp>
      <p:sp>
        <p:nvSpPr>
          <p:cNvPr id="23556" name="Rectangle 3"/>
          <p:cNvSpPr>
            <a:spLocks noGrp="1" noChangeArrowheads="1"/>
          </p:cNvSpPr>
          <p:nvPr>
            <p:ph idx="1"/>
          </p:nvPr>
        </p:nvSpPr>
        <p:spPr/>
        <p:txBody>
          <a:bodyPr/>
          <a:lstStyle/>
          <a:p>
            <a:pPr>
              <a:lnSpc>
                <a:spcPct val="90000"/>
              </a:lnSpc>
            </a:pPr>
            <a:r>
              <a:rPr lang="zh-CN" altLang="en-US"/>
              <a:t>线和框有不同的形状</a:t>
            </a:r>
            <a:r>
              <a:rPr lang="en-US" altLang="zh-CN"/>
              <a:t>/</a:t>
            </a:r>
            <a:r>
              <a:rPr lang="zh-CN" altLang="en-US"/>
              <a:t>颜色，并有图例说明</a:t>
            </a:r>
            <a:endParaRPr lang="zh-CN" altLang="en-US"/>
          </a:p>
          <a:p>
            <a:pPr>
              <a:lnSpc>
                <a:spcPct val="90000"/>
              </a:lnSpc>
            </a:pPr>
            <a:r>
              <a:rPr lang="zh-CN" altLang="en-US"/>
              <a:t>用表格总结方案选择等等各种问题</a:t>
            </a:r>
            <a:endParaRPr lang="zh-CN" altLang="en-US"/>
          </a:p>
          <a:p>
            <a:pPr>
              <a:lnSpc>
                <a:spcPct val="90000"/>
              </a:lnSpc>
            </a:pPr>
            <a:r>
              <a:rPr lang="zh-CN" altLang="en-US"/>
              <a:t>图并不试图去表达很多信息：把信息分散到需要表达它的各个视图中</a:t>
            </a:r>
            <a:endParaRPr lang="zh-CN" altLang="en-US"/>
          </a:p>
          <a:p>
            <a:pPr>
              <a:lnSpc>
                <a:spcPct val="90000"/>
              </a:lnSpc>
            </a:pPr>
            <a:r>
              <a:rPr lang="zh-CN" altLang="en-US"/>
              <a:t>每个体系结构视图必须在一页内完成</a:t>
            </a:r>
            <a:endParaRPr lang="zh-CN" altLang="en-US"/>
          </a:p>
          <a:p>
            <a:pPr>
              <a:lnSpc>
                <a:spcPct val="90000"/>
              </a:lnSpc>
            </a:pPr>
            <a:r>
              <a:rPr lang="zh-CN" altLang="en-US"/>
              <a:t>清晰地区分出哪些是体系结构视图，哪些不是</a:t>
            </a:r>
            <a:endParaRPr lang="zh-CN" altLang="en-US"/>
          </a:p>
        </p:txBody>
      </p:sp>
      <p:sp>
        <p:nvSpPr>
          <p:cNvPr id="23553"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B7988861-85FE-4ADA-A92E-FD5E07D92375}"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23554"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6D86BF78-7A0E-4490-A241-A0815EA36C65}" type="datetime1">
              <a:rPr lang="zh-CN" altLang="en-US"/>
            </a:fld>
            <a:endParaRPr lang="zh-CN" altLang="en-US"/>
          </a:p>
        </p:txBody>
      </p:sp>
    </p:spTree>
  </p:cSld>
  <p:clrMapOvr>
    <a:masterClrMapping/>
  </p:clrMapOvr>
  <p:transition>
    <p:wipe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lstStyle/>
          <a:p>
            <a:r>
              <a:rPr lang="zh-CN" altLang="en-US"/>
              <a:t>坏描述</a:t>
            </a:r>
            <a:endParaRPr lang="zh-CN" altLang="en-US"/>
          </a:p>
        </p:txBody>
      </p:sp>
      <p:sp>
        <p:nvSpPr>
          <p:cNvPr id="24580" name="Rectangle 3"/>
          <p:cNvSpPr>
            <a:spLocks noGrp="1" noChangeArrowheads="1"/>
          </p:cNvSpPr>
          <p:nvPr>
            <p:ph idx="1"/>
          </p:nvPr>
        </p:nvSpPr>
        <p:spPr/>
        <p:txBody>
          <a:bodyPr/>
          <a:lstStyle/>
          <a:p>
            <a:r>
              <a:rPr lang="zh-CN" altLang="en-US"/>
              <a:t>所有的线看起来都一样</a:t>
            </a:r>
            <a:endParaRPr lang="zh-CN" altLang="en-US"/>
          </a:p>
          <a:p>
            <a:r>
              <a:rPr lang="zh-CN" altLang="en-US"/>
              <a:t>箭头不代表任何涵义</a:t>
            </a:r>
            <a:endParaRPr lang="zh-CN" altLang="en-US"/>
          </a:p>
          <a:p>
            <a:r>
              <a:rPr lang="zh-CN" altLang="en-US"/>
              <a:t>箭头代表很多涵义</a:t>
            </a:r>
            <a:endParaRPr lang="zh-CN" altLang="en-US"/>
          </a:p>
          <a:p>
            <a:r>
              <a:rPr lang="zh-CN" altLang="en-US"/>
              <a:t>实现与文档冲突</a:t>
            </a:r>
            <a:endParaRPr lang="zh-CN" altLang="en-US"/>
          </a:p>
          <a:p>
            <a:r>
              <a:rPr lang="zh-CN" altLang="en-US"/>
              <a:t>没有图例</a:t>
            </a:r>
            <a:endParaRPr lang="zh-CN" altLang="en-US"/>
          </a:p>
          <a:p>
            <a:r>
              <a:rPr lang="zh-CN" altLang="en-US"/>
              <a:t>太多的必要需求</a:t>
            </a:r>
            <a:endParaRPr lang="zh-CN" altLang="en-US"/>
          </a:p>
        </p:txBody>
      </p:sp>
      <p:sp>
        <p:nvSpPr>
          <p:cNvPr id="24577"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D3F9F80B-2045-417F-B7E0-F585FD7E110A}"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24578"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0DB6B2BF-7BB4-46C9-A20A-614670E703EC}" type="datetime1">
              <a:rPr lang="zh-CN" altLang="en-US"/>
            </a:fld>
            <a:endParaRPr lang="zh-CN" altLang="en-US"/>
          </a:p>
        </p:txBody>
      </p:sp>
    </p:spTree>
  </p:cSld>
  <p:clrMapOvr>
    <a:masterClrMapping/>
  </p:clrMapOvr>
  <p:transition>
    <p:wipe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050"/>
          <p:cNvSpPr>
            <a:spLocks noGrp="1" noChangeArrowheads="1"/>
          </p:cNvSpPr>
          <p:nvPr>
            <p:ph type="title"/>
          </p:nvPr>
        </p:nvSpPr>
        <p:spPr/>
        <p:txBody>
          <a:bodyPr/>
          <a:lstStyle/>
          <a:p>
            <a:r>
              <a:rPr lang="zh-CN" altLang="en-US"/>
              <a:t>视图</a:t>
            </a:r>
            <a:endParaRPr lang="zh-CN" altLang="en-US"/>
          </a:p>
        </p:txBody>
      </p:sp>
      <p:sp>
        <p:nvSpPr>
          <p:cNvPr id="25604" name="Rectangle 2051"/>
          <p:cNvSpPr>
            <a:spLocks noGrp="1" noChangeArrowheads="1"/>
          </p:cNvSpPr>
          <p:nvPr>
            <p:ph idx="1"/>
          </p:nvPr>
        </p:nvSpPr>
        <p:spPr/>
        <p:txBody>
          <a:bodyPr/>
          <a:lstStyle/>
          <a:p>
            <a:pPr>
              <a:lnSpc>
                <a:spcPct val="80000"/>
              </a:lnSpc>
            </a:pPr>
            <a:r>
              <a:rPr lang="zh-CN" altLang="en-US" sz="2800"/>
              <a:t>系统需要多种视图来描述</a:t>
            </a:r>
            <a:endParaRPr lang="zh-CN" altLang="en-US" sz="2800"/>
          </a:p>
          <a:p>
            <a:pPr lvl="1">
              <a:lnSpc>
                <a:spcPct val="80000"/>
              </a:lnSpc>
            </a:pPr>
            <a:r>
              <a:rPr lang="zh-CN" altLang="en-US" sz="2400"/>
              <a:t>其中的一小部分是描述体系结构的</a:t>
            </a:r>
            <a:endParaRPr lang="zh-CN" altLang="en-US" sz="2400"/>
          </a:p>
          <a:p>
            <a:pPr>
              <a:lnSpc>
                <a:spcPct val="80000"/>
              </a:lnSpc>
            </a:pPr>
            <a:r>
              <a:rPr lang="zh-CN" altLang="en-US" sz="2800"/>
              <a:t>运行时视图</a:t>
            </a:r>
            <a:r>
              <a:rPr lang="en-US" altLang="zh-CN" sz="2800"/>
              <a:t>/</a:t>
            </a:r>
            <a:r>
              <a:rPr lang="zh-CN" altLang="en-US" sz="2800"/>
              <a:t>动态视图</a:t>
            </a:r>
            <a:r>
              <a:rPr lang="en-US" altLang="zh-CN" sz="2800"/>
              <a:t>(</a:t>
            </a:r>
            <a:r>
              <a:rPr lang="zh-CN" altLang="en-US" sz="2800"/>
              <a:t>组件和连接件</a:t>
            </a:r>
            <a:r>
              <a:rPr lang="en-US" altLang="zh-CN" sz="2800"/>
              <a:t>)</a:t>
            </a:r>
            <a:endParaRPr lang="en-US" altLang="zh-CN" sz="2800"/>
          </a:p>
          <a:p>
            <a:pPr lvl="1">
              <a:lnSpc>
                <a:spcPct val="80000"/>
              </a:lnSpc>
            </a:pPr>
            <a:r>
              <a:rPr lang="zh-CN" altLang="en-US" sz="2400"/>
              <a:t>在高层分解成组件和连接件</a:t>
            </a:r>
            <a:endParaRPr lang="zh-CN" altLang="en-US" sz="2400"/>
          </a:p>
          <a:p>
            <a:pPr>
              <a:lnSpc>
                <a:spcPct val="80000"/>
              </a:lnSpc>
            </a:pPr>
            <a:r>
              <a:rPr lang="zh-CN" altLang="en-US" sz="2800"/>
              <a:t>代码视图</a:t>
            </a:r>
            <a:endParaRPr lang="zh-CN" altLang="en-US" sz="2800"/>
          </a:p>
          <a:p>
            <a:pPr lvl="1">
              <a:lnSpc>
                <a:spcPct val="80000"/>
              </a:lnSpc>
            </a:pPr>
            <a:r>
              <a:rPr lang="zh-CN" altLang="en-US" sz="2400"/>
              <a:t>模块关联和依赖</a:t>
            </a:r>
            <a:endParaRPr lang="zh-CN" altLang="en-US" sz="2400"/>
          </a:p>
          <a:p>
            <a:pPr lvl="2">
              <a:lnSpc>
                <a:spcPct val="80000"/>
              </a:lnSpc>
            </a:pPr>
            <a:r>
              <a:rPr lang="zh-CN" altLang="en-US" sz="2000"/>
              <a:t>使用</a:t>
            </a:r>
            <a:r>
              <a:rPr lang="en-US" altLang="zh-CN" sz="2000"/>
              <a:t>/</a:t>
            </a:r>
            <a:r>
              <a:rPr lang="zh-CN" altLang="en-US" sz="2000"/>
              <a:t>调用</a:t>
            </a:r>
            <a:r>
              <a:rPr lang="en-US" altLang="zh-CN" sz="2000"/>
              <a:t>/</a:t>
            </a:r>
            <a:r>
              <a:rPr lang="zh-CN" altLang="en-US" sz="2000"/>
              <a:t>和</a:t>
            </a:r>
            <a:r>
              <a:rPr lang="en-US" altLang="zh-CN" sz="2000"/>
              <a:t>…</a:t>
            </a:r>
            <a:r>
              <a:rPr lang="zh-CN" altLang="en-US" sz="2000"/>
              <a:t>共享数据</a:t>
            </a:r>
            <a:endParaRPr lang="zh-CN" altLang="en-US" sz="2000"/>
          </a:p>
          <a:p>
            <a:pPr lvl="1">
              <a:lnSpc>
                <a:spcPct val="80000"/>
              </a:lnSpc>
            </a:pPr>
            <a:r>
              <a:rPr lang="zh-CN" altLang="en-US" sz="2400"/>
              <a:t>文件和目录、工程和编译文件、版本控制</a:t>
            </a:r>
            <a:endParaRPr lang="zh-CN" altLang="en-US" sz="2400"/>
          </a:p>
          <a:p>
            <a:pPr>
              <a:lnSpc>
                <a:spcPct val="80000"/>
              </a:lnSpc>
            </a:pPr>
            <a:r>
              <a:rPr lang="zh-CN" altLang="en-US" sz="2800"/>
              <a:t>物理视图</a:t>
            </a:r>
            <a:endParaRPr lang="zh-CN" altLang="en-US" sz="2800"/>
          </a:p>
          <a:p>
            <a:pPr lvl="1">
              <a:lnSpc>
                <a:spcPct val="80000"/>
              </a:lnSpc>
            </a:pPr>
            <a:r>
              <a:rPr lang="zh-CN" altLang="en-US" sz="2400"/>
              <a:t>把计算单元分配到各个进程或处理器</a:t>
            </a:r>
            <a:endParaRPr lang="zh-CN" altLang="en-US" sz="2400"/>
          </a:p>
        </p:txBody>
      </p:sp>
      <p:sp>
        <p:nvSpPr>
          <p:cNvPr id="25601"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C9E6E6B8-51EA-4221-BC70-5AC1CE3DB6CF}"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25602"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12B9B09D-8815-4A31-B97A-6C4D891A7B85}" type="datetime1">
              <a:rPr lang="zh-CN" altLang="en-US"/>
            </a:fld>
            <a:endParaRPr lang="zh-CN" altLang="en-US"/>
          </a:p>
        </p:txBody>
      </p:sp>
    </p:spTree>
  </p:cSld>
  <p:clrMapOvr>
    <a:masterClrMapping/>
  </p:clrMapOvr>
  <p:transition>
    <p:wipe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p:txBody>
          <a:bodyPr/>
          <a:lstStyle/>
          <a:p>
            <a:r>
              <a:rPr lang="zh-CN" altLang="en-US"/>
              <a:t>阅读</a:t>
            </a:r>
            <a:endParaRPr lang="zh-CN" altLang="en-US"/>
          </a:p>
        </p:txBody>
      </p:sp>
      <p:sp>
        <p:nvSpPr>
          <p:cNvPr id="26628" name="Rectangle 3"/>
          <p:cNvSpPr>
            <a:spLocks noGrp="1" noChangeArrowheads="1"/>
          </p:cNvSpPr>
          <p:nvPr>
            <p:ph idx="1"/>
          </p:nvPr>
        </p:nvSpPr>
        <p:spPr/>
        <p:txBody>
          <a:bodyPr/>
          <a:lstStyle/>
          <a:p>
            <a:pPr>
              <a:lnSpc>
                <a:spcPct val="80000"/>
              </a:lnSpc>
            </a:pPr>
            <a:r>
              <a:rPr lang="en-US" altLang="zh-CN" sz="2800"/>
              <a:t>Philippe Kruchten, </a:t>
            </a:r>
            <a:r>
              <a:rPr lang="en-US" altLang="zh-CN" sz="2800" i="1"/>
              <a:t>Architectural Blueprints—The “4+1” View Model of Software Architecture</a:t>
            </a:r>
            <a:r>
              <a:rPr lang="en-US" altLang="zh-CN" sz="2800"/>
              <a:t>, IEEE Software 12 (6), 1995, pp. 42-50</a:t>
            </a:r>
            <a:endParaRPr lang="en-US" altLang="zh-CN" sz="2800"/>
          </a:p>
          <a:p>
            <a:pPr>
              <a:lnSpc>
                <a:spcPct val="80000"/>
              </a:lnSpc>
            </a:pPr>
            <a:r>
              <a:rPr lang="en-US" altLang="zh-CN" sz="2800" i="1"/>
              <a:t>Release 6A Segment/Design Specification for the ECS Project</a:t>
            </a:r>
            <a:r>
              <a:rPr lang="en-US" altLang="zh-CN" sz="2800"/>
              <a:t>, Section 4.4. NASA Report 305-CD-600-001, pages 4-160-185. March 2001 </a:t>
            </a:r>
            <a:r>
              <a:rPr lang="en-US" altLang="zh-CN" sz="2800">
                <a:hlinkClick r:id="rId1"/>
              </a:rPr>
              <a:t>http://edhs1.gsfc.nasa.gov/waisdata/toc/cd30560001toc.html</a:t>
            </a:r>
            <a:endParaRPr lang="en-US" altLang="zh-CN" sz="2800"/>
          </a:p>
        </p:txBody>
      </p:sp>
      <p:sp>
        <p:nvSpPr>
          <p:cNvPr id="26625"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4C5CF694-F65D-4CDA-BCCF-D8C783BDAAB5}"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26626"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5C4B1A74-6850-4929-AEF6-156F66FA217A}" type="datetime1">
              <a:rPr lang="zh-CN" altLang="en-US"/>
            </a:fld>
            <a:endParaRPr lang="zh-CN" altLang="en-US"/>
          </a:p>
        </p:txBody>
      </p:sp>
    </p:spTree>
  </p:cSld>
  <p:clrMapOvr>
    <a:masterClrMapping/>
  </p:clrMapOvr>
  <p:transition>
    <p:wipe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a:xfrm>
            <a:off x="389195" y="136525"/>
            <a:ext cx="8229600" cy="838200"/>
          </a:xfrm>
        </p:spPr>
        <p:txBody>
          <a:bodyPr/>
          <a:lstStyle/>
          <a:p>
            <a:r>
              <a:rPr lang="en-US" altLang="zh-CN" sz="3200" dirty="0">
                <a:latin typeface="Times New Roman" panose="02020603050405020304" pitchFamily="18" charset="0"/>
              </a:rPr>
              <a:t>“4</a:t>
            </a:r>
            <a:r>
              <a:rPr lang="zh-CN" altLang="en-US" sz="3200" dirty="0">
                <a:latin typeface="宋体" panose="02010600030101010101" pitchFamily="2" charset="-122"/>
              </a:rPr>
              <a:t>十</a:t>
            </a:r>
            <a:r>
              <a:rPr lang="en-US" altLang="zh-CN" sz="3200" dirty="0">
                <a:latin typeface="Times New Roman" panose="02020603050405020304" pitchFamily="18" charset="0"/>
              </a:rPr>
              <a:t>1”</a:t>
            </a:r>
            <a:r>
              <a:rPr lang="zh-CN" altLang="en-US" sz="3200" dirty="0">
                <a:latin typeface="宋体" panose="02010600030101010101" pitchFamily="2" charset="-122"/>
              </a:rPr>
              <a:t>模型</a:t>
            </a:r>
            <a:r>
              <a:rPr lang="zh-CN" altLang="en-US" dirty="0"/>
              <a:t> </a:t>
            </a:r>
            <a:endParaRPr lang="zh-CN" altLang="en-US" dirty="0"/>
          </a:p>
        </p:txBody>
      </p:sp>
      <p:sp>
        <p:nvSpPr>
          <p:cNvPr id="68611" name="Rectangle 3"/>
          <p:cNvSpPr>
            <a:spLocks noGrp="1" noChangeArrowheads="1"/>
          </p:cNvSpPr>
          <p:nvPr>
            <p:ph idx="1"/>
          </p:nvPr>
        </p:nvSpPr>
        <p:spPr>
          <a:xfrm>
            <a:off x="381000" y="1524000"/>
            <a:ext cx="8229600" cy="4497288"/>
          </a:xfrm>
        </p:spPr>
        <p:txBody>
          <a:bodyPr/>
          <a:lstStyle/>
          <a:p>
            <a:pPr algn="just">
              <a:defRPr/>
            </a:pPr>
            <a:r>
              <a:rPr lang="en-US" altLang="zh-CN" sz="2000" dirty="0">
                <a:solidFill>
                  <a:schemeClr val="tx1"/>
                </a:solidFill>
                <a:latin typeface="宋体" panose="02010600030101010101" pitchFamily="2" charset="-122"/>
              </a:rPr>
              <a:t>Rational</a:t>
            </a:r>
            <a:r>
              <a:rPr lang="zh-CN" altLang="en-US" sz="2000" dirty="0">
                <a:solidFill>
                  <a:schemeClr val="tx1"/>
                </a:solidFill>
                <a:latin typeface="Times New Roman" panose="02020603050405020304" pitchFamily="18" charset="0"/>
              </a:rPr>
              <a:t>公司的</a:t>
            </a:r>
            <a:r>
              <a:rPr lang="en-US" altLang="zh-CN" sz="2000" dirty="0">
                <a:solidFill>
                  <a:schemeClr val="tx1"/>
                </a:solidFill>
                <a:latin typeface="宋体" panose="02010600030101010101" pitchFamily="2" charset="-122"/>
              </a:rPr>
              <a:t>Philippe </a:t>
            </a:r>
            <a:r>
              <a:rPr lang="en-US" altLang="zh-CN" sz="2000" dirty="0" err="1">
                <a:solidFill>
                  <a:schemeClr val="tx1"/>
                </a:solidFill>
                <a:latin typeface="宋体" panose="02010600030101010101" pitchFamily="2" charset="-122"/>
              </a:rPr>
              <a:t>Kruchten</a:t>
            </a:r>
            <a:r>
              <a:rPr lang="zh-CN" altLang="en-US" sz="2000" dirty="0">
                <a:solidFill>
                  <a:schemeClr val="tx1"/>
                </a:solidFill>
                <a:latin typeface="Times New Roman" panose="02020603050405020304" pitchFamily="18" charset="0"/>
              </a:rPr>
              <a:t>在</a:t>
            </a:r>
            <a:r>
              <a:rPr lang="en-US" altLang="zh-CN" sz="2000" dirty="0">
                <a:solidFill>
                  <a:schemeClr val="tx1"/>
                </a:solidFill>
                <a:latin typeface="宋体" panose="02010600030101010101" pitchFamily="2" charset="-122"/>
              </a:rPr>
              <a:t>1995</a:t>
            </a:r>
            <a:r>
              <a:rPr lang="zh-CN" altLang="en-US" sz="2000" dirty="0">
                <a:solidFill>
                  <a:schemeClr val="tx1"/>
                </a:solidFill>
                <a:latin typeface="Times New Roman" panose="02020603050405020304" pitchFamily="18" charset="0"/>
              </a:rPr>
              <a:t>年提出了用于体系结构描述的“</a:t>
            </a:r>
            <a:r>
              <a:rPr lang="en-US" altLang="zh-CN" sz="2000" dirty="0">
                <a:solidFill>
                  <a:schemeClr val="tx1"/>
                </a:solidFill>
                <a:latin typeface="宋体" panose="02010600030101010101" pitchFamily="2" charset="-122"/>
              </a:rPr>
              <a:t>4</a:t>
            </a:r>
            <a:r>
              <a:rPr lang="zh-CN" altLang="en-US" sz="2000" dirty="0">
                <a:solidFill>
                  <a:schemeClr val="tx1"/>
                </a:solidFill>
                <a:latin typeface="Times New Roman" panose="02020603050405020304" pitchFamily="18" charset="0"/>
              </a:rPr>
              <a:t>十</a:t>
            </a:r>
            <a:r>
              <a:rPr lang="en-US" altLang="zh-CN" sz="2000" dirty="0">
                <a:solidFill>
                  <a:schemeClr val="tx1"/>
                </a:solidFill>
                <a:latin typeface="宋体" panose="02010600030101010101" pitchFamily="2" charset="-122"/>
              </a:rPr>
              <a:t>l</a:t>
            </a:r>
            <a:r>
              <a:rPr lang="en-US" altLang="zh-CN" sz="2000" dirty="0">
                <a:solidFill>
                  <a:schemeClr val="tx1"/>
                </a:solidFill>
                <a:latin typeface="Times New Roman" panose="02020603050405020304" pitchFamily="18" charset="0"/>
              </a:rPr>
              <a:t>”</a:t>
            </a:r>
            <a:r>
              <a:rPr lang="zh-CN" altLang="en-US" sz="2000" dirty="0">
                <a:solidFill>
                  <a:schemeClr val="tx1"/>
                </a:solidFill>
                <a:latin typeface="Times New Roman" panose="02020603050405020304" pitchFamily="18" charset="0"/>
              </a:rPr>
              <a:t>模型。该模型建立在体系结构的</a:t>
            </a:r>
            <a:r>
              <a:rPr lang="en-US" altLang="zh-CN" sz="2000" dirty="0">
                <a:solidFill>
                  <a:schemeClr val="tx1"/>
                </a:solidFill>
                <a:latin typeface="宋体" panose="02010600030101010101" pitchFamily="2" charset="-122"/>
              </a:rPr>
              <a:t>Perry</a:t>
            </a:r>
            <a:r>
              <a:rPr lang="zh-CN" altLang="en-US" sz="2000" dirty="0">
                <a:solidFill>
                  <a:schemeClr val="tx1"/>
                </a:solidFill>
                <a:latin typeface="Times New Roman" panose="02020603050405020304" pitchFamily="18" charset="0"/>
              </a:rPr>
              <a:t>＆</a:t>
            </a:r>
            <a:r>
              <a:rPr lang="en-US" altLang="zh-CN" sz="2000" dirty="0">
                <a:solidFill>
                  <a:schemeClr val="tx1"/>
                </a:solidFill>
                <a:latin typeface="宋体" panose="02010600030101010101" pitchFamily="2" charset="-122"/>
              </a:rPr>
              <a:t>Wolf</a:t>
            </a:r>
            <a:r>
              <a:rPr lang="zh-CN" altLang="en-US" sz="2000" dirty="0">
                <a:solidFill>
                  <a:schemeClr val="tx1"/>
                </a:solidFill>
                <a:latin typeface="Times New Roman" panose="02020603050405020304" pitchFamily="18" charset="0"/>
              </a:rPr>
              <a:t>定义和</a:t>
            </a:r>
            <a:r>
              <a:rPr lang="en-US" altLang="zh-CN" sz="2000" dirty="0">
                <a:solidFill>
                  <a:schemeClr val="tx1"/>
                </a:solidFill>
                <a:latin typeface="宋体" panose="02010600030101010101" pitchFamily="2" charset="-122"/>
              </a:rPr>
              <a:t>Berry Boehm</a:t>
            </a:r>
            <a:r>
              <a:rPr lang="zh-CN" altLang="en-US" sz="2000" dirty="0">
                <a:solidFill>
                  <a:schemeClr val="tx1"/>
                </a:solidFill>
                <a:latin typeface="Times New Roman" panose="02020603050405020304" pitchFamily="18" charset="0"/>
              </a:rPr>
              <a:t>定义的基础上。</a:t>
            </a:r>
            <a:endParaRPr lang="zh-CN" altLang="en-US" sz="2000" dirty="0">
              <a:solidFill>
                <a:schemeClr val="tx1"/>
              </a:solidFill>
              <a:latin typeface="宋体" panose="02010600030101010101" pitchFamily="2" charset="-122"/>
            </a:endParaRPr>
          </a:p>
          <a:p>
            <a:pPr>
              <a:defRPr/>
            </a:pPr>
            <a:r>
              <a:rPr lang="zh-CN" altLang="en-US" sz="2000" dirty="0">
                <a:solidFill>
                  <a:schemeClr val="tx1"/>
                </a:solidFill>
                <a:latin typeface="Times New Roman" panose="02020603050405020304" pitchFamily="18" charset="0"/>
              </a:rPr>
              <a:t>该模型采用多视图模型的方法描述软件体系结构。为了最终能够处理富于挑战性的、大规模的软件系统，该模型由</a:t>
            </a:r>
            <a:r>
              <a:rPr lang="en-US" altLang="zh-CN" sz="2000" dirty="0">
                <a:solidFill>
                  <a:schemeClr val="tx1"/>
                </a:solidFill>
                <a:latin typeface="宋体" panose="02010600030101010101" pitchFamily="2" charset="-122"/>
              </a:rPr>
              <a:t>5</a:t>
            </a:r>
            <a:r>
              <a:rPr lang="zh-CN" altLang="en-US" sz="2000" dirty="0">
                <a:solidFill>
                  <a:schemeClr val="tx1"/>
                </a:solidFill>
                <a:latin typeface="Times New Roman" panose="02020603050405020304" pitchFamily="18" charset="0"/>
              </a:rPr>
              <a:t>个视图构成。</a:t>
            </a:r>
            <a:endParaRPr lang="zh-CN" altLang="en-US" sz="2000" dirty="0">
              <a:solidFill>
                <a:schemeClr val="tx1"/>
              </a:solidFill>
              <a:latin typeface="Times New Roman" panose="02020603050405020304" pitchFamily="18" charset="0"/>
            </a:endParaRPr>
          </a:p>
          <a:p>
            <a:pPr>
              <a:buFont typeface="Wingdings" panose="05000000000000000000" pitchFamily="2" charset="2"/>
              <a:buNone/>
              <a:defRPr/>
            </a:pPr>
            <a:br>
              <a:rPr lang="zh-CN" altLang="en-US" sz="2000" dirty="0">
                <a:solidFill>
                  <a:schemeClr val="tx1"/>
                </a:solidFill>
                <a:latin typeface="Times New Roman" panose="02020603050405020304" pitchFamily="18" charset="0"/>
              </a:rPr>
            </a:br>
            <a:r>
              <a:rPr lang="en-US" altLang="zh-CN" sz="2000" dirty="0">
                <a:solidFill>
                  <a:schemeClr val="tx1"/>
                </a:solidFill>
                <a:latin typeface="Wingdings" panose="05000000000000000000" pitchFamily="2" charset="2"/>
              </a:rPr>
              <a:t>u</a:t>
            </a:r>
            <a:r>
              <a:rPr lang="zh-CN" altLang="en-US" sz="2000" dirty="0">
                <a:solidFill>
                  <a:schemeClr val="tx1"/>
                </a:solidFill>
                <a:latin typeface="Times New Roman" panose="02020603050405020304" pitchFamily="18" charset="0"/>
              </a:rPr>
              <a:t>逻辑视图</a:t>
            </a:r>
            <a:r>
              <a:rPr lang="zh-CN" altLang="en-US" sz="2000" dirty="0">
                <a:solidFill>
                  <a:schemeClr val="tx1"/>
                </a:solidFill>
                <a:latin typeface="宋体" panose="02010600030101010101" pitchFamily="2" charset="-122"/>
              </a:rPr>
              <a:t>  </a:t>
            </a:r>
            <a:r>
              <a:rPr lang="zh-CN" altLang="en-US" sz="2000" dirty="0">
                <a:solidFill>
                  <a:schemeClr val="tx1"/>
                </a:solidFill>
                <a:latin typeface="Times New Roman" panose="02020603050405020304" pitchFamily="18" charset="0"/>
              </a:rPr>
              <a:t>当采用面向对象的设计方法时，逻辑视图即是对象模型。</a:t>
            </a:r>
            <a:br>
              <a:rPr lang="zh-CN" altLang="en-US" sz="2000" dirty="0">
                <a:solidFill>
                  <a:schemeClr val="tx1"/>
                </a:solidFill>
                <a:latin typeface="Times New Roman" panose="02020603050405020304" pitchFamily="18" charset="0"/>
              </a:rPr>
            </a:br>
            <a:r>
              <a:rPr lang="en-US" altLang="zh-CN" sz="2000" dirty="0">
                <a:solidFill>
                  <a:schemeClr val="tx1"/>
                </a:solidFill>
                <a:latin typeface="Wingdings" panose="05000000000000000000" pitchFamily="2" charset="2"/>
              </a:rPr>
              <a:t>u</a:t>
            </a:r>
            <a:r>
              <a:rPr lang="zh-CN" altLang="en-US" sz="2000" dirty="0">
                <a:solidFill>
                  <a:schemeClr val="tx1"/>
                </a:solidFill>
                <a:latin typeface="Times New Roman" panose="02020603050405020304" pitchFamily="18" charset="0"/>
              </a:rPr>
              <a:t>过程视图</a:t>
            </a:r>
            <a:r>
              <a:rPr lang="zh-CN" altLang="en-US" sz="2000" dirty="0">
                <a:solidFill>
                  <a:schemeClr val="tx1"/>
                </a:solidFill>
                <a:latin typeface="宋体" panose="02010600030101010101" pitchFamily="2" charset="-122"/>
              </a:rPr>
              <a:t>  </a:t>
            </a:r>
            <a:r>
              <a:rPr lang="zh-CN" altLang="en-US" sz="2000" dirty="0">
                <a:solidFill>
                  <a:schemeClr val="tx1"/>
                </a:solidFill>
                <a:latin typeface="Times New Roman" panose="02020603050405020304" pitchFamily="18" charset="0"/>
              </a:rPr>
              <a:t>描述系统的并发和同步方面的设计。</a:t>
            </a:r>
            <a:br>
              <a:rPr lang="zh-CN" altLang="en-US" sz="2000" dirty="0">
                <a:solidFill>
                  <a:schemeClr val="tx1"/>
                </a:solidFill>
                <a:latin typeface="Times New Roman" panose="02020603050405020304" pitchFamily="18" charset="0"/>
              </a:rPr>
            </a:br>
            <a:r>
              <a:rPr lang="en-US" altLang="zh-CN" sz="2000" dirty="0">
                <a:solidFill>
                  <a:schemeClr val="tx1"/>
                </a:solidFill>
                <a:latin typeface="Wingdings" panose="05000000000000000000" pitchFamily="2" charset="2"/>
              </a:rPr>
              <a:t>u</a:t>
            </a:r>
            <a:r>
              <a:rPr lang="zh-CN" altLang="en-US" sz="2000" dirty="0">
                <a:solidFill>
                  <a:schemeClr val="tx1"/>
                </a:solidFill>
                <a:latin typeface="Times New Roman" panose="02020603050405020304" pitchFamily="18" charset="0"/>
              </a:rPr>
              <a:t>物理视图</a:t>
            </a:r>
            <a:r>
              <a:rPr lang="zh-CN" altLang="en-US" sz="2000" dirty="0">
                <a:solidFill>
                  <a:schemeClr val="tx1"/>
                </a:solidFill>
                <a:latin typeface="宋体" panose="02010600030101010101" pitchFamily="2" charset="-122"/>
              </a:rPr>
              <a:t>  </a:t>
            </a:r>
            <a:r>
              <a:rPr lang="zh-CN" altLang="en-US" sz="2000" dirty="0">
                <a:solidFill>
                  <a:schemeClr val="tx1"/>
                </a:solidFill>
                <a:latin typeface="Times New Roman" panose="02020603050405020304" pitchFamily="18" charset="0"/>
              </a:rPr>
              <a:t>描述软件到硬件之间的映射关系，反映系统在分布方面的设计。</a:t>
            </a:r>
            <a:br>
              <a:rPr lang="zh-CN" altLang="en-US" sz="2000" dirty="0">
                <a:solidFill>
                  <a:schemeClr val="tx1"/>
                </a:solidFill>
                <a:latin typeface="Times New Roman" panose="02020603050405020304" pitchFamily="18" charset="0"/>
              </a:rPr>
            </a:br>
            <a:r>
              <a:rPr lang="en-US" altLang="zh-CN" sz="2000" dirty="0">
                <a:solidFill>
                  <a:schemeClr val="tx1"/>
                </a:solidFill>
                <a:latin typeface="Wingdings" panose="05000000000000000000" pitchFamily="2" charset="2"/>
              </a:rPr>
              <a:t>u</a:t>
            </a:r>
            <a:r>
              <a:rPr lang="en-US" altLang="zh-CN" sz="2000" dirty="0">
                <a:solidFill>
                  <a:schemeClr val="tx1"/>
                </a:solidFill>
                <a:cs typeface="Times New Roman" panose="02020603050405020304" pitchFamily="18" charset="0"/>
              </a:rPr>
              <a:t> </a:t>
            </a:r>
            <a:r>
              <a:rPr lang="zh-CN" altLang="en-US" sz="2000" dirty="0">
                <a:solidFill>
                  <a:schemeClr val="tx1"/>
                </a:solidFill>
                <a:latin typeface="Times New Roman" panose="02020603050405020304" pitchFamily="18" charset="0"/>
              </a:rPr>
              <a:t>开发视图</a:t>
            </a:r>
            <a:r>
              <a:rPr lang="zh-CN" altLang="en-US" sz="2000" dirty="0">
                <a:solidFill>
                  <a:schemeClr val="tx1"/>
                </a:solidFill>
                <a:latin typeface="宋体" panose="02010600030101010101" pitchFamily="2" charset="-122"/>
              </a:rPr>
              <a:t>  </a:t>
            </a:r>
            <a:r>
              <a:rPr lang="zh-CN" altLang="en-US" sz="2000" dirty="0">
                <a:solidFill>
                  <a:schemeClr val="tx1"/>
                </a:solidFill>
                <a:latin typeface="Times New Roman" panose="02020603050405020304" pitchFamily="18" charset="0"/>
              </a:rPr>
              <a:t>描述软件在开发环境下的静态组织。</a:t>
            </a:r>
            <a:endParaRPr lang="en-US" altLang="zh-CN" sz="2000" dirty="0">
              <a:solidFill>
                <a:schemeClr val="tx1"/>
              </a:solidFill>
              <a:latin typeface="Times New Roman" panose="02020603050405020304" pitchFamily="18" charset="0"/>
            </a:endParaRPr>
          </a:p>
          <a:p>
            <a:pPr>
              <a:buFont typeface="Wingdings" panose="05000000000000000000" pitchFamily="2" charset="2"/>
              <a:buNone/>
              <a:defRPr/>
            </a:pPr>
            <a:endParaRPr lang="en-US" altLang="zh-CN" sz="2000" dirty="0">
              <a:latin typeface="Times New Roman" panose="02020603050405020304" pitchFamily="18" charset="0"/>
            </a:endParaRPr>
          </a:p>
          <a:p>
            <a:pPr>
              <a:buFont typeface="Wingdings" panose="05000000000000000000" pitchFamily="2" charset="2"/>
              <a:buNone/>
              <a:defRPr/>
            </a:pPr>
            <a:r>
              <a:rPr lang="zh-CN" altLang="en-US" sz="2000" dirty="0">
                <a:latin typeface="宋体" panose="02010600030101010101" pitchFamily="2" charset="-122"/>
              </a:rPr>
              <a:t>  </a:t>
            </a:r>
            <a:r>
              <a:rPr lang="en-US" altLang="zh-CN" sz="2000">
                <a:latin typeface="Wingdings" panose="05000000000000000000" pitchFamily="2" charset="2"/>
              </a:rPr>
              <a:t>u</a:t>
            </a:r>
            <a:r>
              <a:rPr lang="zh-CN" altLang="en-US" sz="2000">
                <a:latin typeface="宋体" panose="02010600030101010101" pitchFamily="2" charset="-122"/>
              </a:rPr>
              <a:t>场景</a:t>
            </a:r>
            <a:r>
              <a:rPr lang="zh-CN" altLang="en-US" sz="2000" dirty="0">
                <a:latin typeface="宋体" panose="02010600030101010101" pitchFamily="2" charset="-122"/>
              </a:rPr>
              <a:t>视图：汇总</a:t>
            </a:r>
            <a:endParaRPr lang="zh-CN" altLang="en-US" sz="2000" dirty="0">
              <a:solidFill>
                <a:schemeClr val="tx1"/>
              </a:solidFill>
              <a:latin typeface="Times New Roman" panose="02020603050405020304" pitchFamily="18" charset="0"/>
            </a:endParaRPr>
          </a:p>
        </p:txBody>
      </p:sp>
      <p:sp>
        <p:nvSpPr>
          <p:cNvPr id="27649"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E967D99F-0664-41E4-BD8D-6137B3E39ED2}"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27650"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17714990-8AA9-4406-91A2-B03F982910FF}" type="datetime1">
              <a:rPr lang="zh-CN" altLang="en-US"/>
            </a:fld>
            <a:endParaRPr lang="zh-CN" altLang="en-US"/>
          </a:p>
        </p:txBody>
      </p:sp>
    </p:spTree>
  </p:cSld>
  <p:clrMapOvr>
    <a:masterClrMapping/>
  </p:clrMapOvr>
  <p:transition>
    <p:wipe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41EF5DE4-76EC-4560-8753-DEED8C64C659}"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28674"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D7636AE8-C216-40D8-81DE-EEDACE447385}" type="datetime1">
              <a:rPr lang="zh-CN" altLang="en-US"/>
            </a:fld>
            <a:endParaRPr lang="zh-CN" altLang="en-US"/>
          </a:p>
        </p:txBody>
      </p:sp>
      <p:graphicFrame>
        <p:nvGraphicFramePr>
          <p:cNvPr id="28675" name="Object 2"/>
          <p:cNvGraphicFramePr>
            <a:graphicFrameLocks noChangeAspect="1"/>
          </p:cNvGraphicFramePr>
          <p:nvPr/>
        </p:nvGraphicFramePr>
        <p:xfrm>
          <a:off x="1066800" y="838200"/>
          <a:ext cx="6627813" cy="3609975"/>
        </p:xfrm>
        <a:graphic>
          <a:graphicData uri="http://schemas.openxmlformats.org/presentationml/2006/ole">
            <mc:AlternateContent xmlns:mc="http://schemas.openxmlformats.org/markup-compatibility/2006">
              <mc:Choice xmlns:v="urn:schemas-microsoft-com:vml" Requires="v">
                <p:oleObj spid="_x0000_s28718" name="" r:id="rId1" imgW="6629400" imgH="3609975" progId="Paint.Picture">
                  <p:embed/>
                </p:oleObj>
              </mc:Choice>
              <mc:Fallback>
                <p:oleObj name="" r:id="rId1" imgW="6629400" imgH="3609975" progId="Paint.Picture">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838200"/>
                        <a:ext cx="6627813" cy="360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1619" name="Text Box 3"/>
          <p:cNvSpPr txBox="1">
            <a:spLocks noChangeArrowheads="1"/>
          </p:cNvSpPr>
          <p:nvPr/>
        </p:nvSpPr>
        <p:spPr bwMode="auto">
          <a:xfrm>
            <a:off x="990600" y="4724400"/>
            <a:ext cx="66294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dirty="0">
                <a:latin typeface="宋体" panose="02010600030101010101" pitchFamily="2" charset="-122"/>
              </a:rPr>
              <a:t>对体系结构进行的描述是围绕着以上</a:t>
            </a:r>
            <a:r>
              <a:rPr lang="en-US" altLang="zh-CN" b="1" dirty="0">
                <a:latin typeface="Times New Roman" panose="02020603050405020304" pitchFamily="18" charset="0"/>
              </a:rPr>
              <a:t>4</a:t>
            </a:r>
            <a:r>
              <a:rPr lang="zh-CN" altLang="en-US" b="1" dirty="0">
                <a:latin typeface="宋体" panose="02010600030101010101" pitchFamily="2" charset="-122"/>
              </a:rPr>
              <a:t>个视图展开的。然后，通过选择出的一些用例对体系结构加以说明。这些用例被称作场景</a:t>
            </a:r>
            <a:r>
              <a:rPr lang="en-US" altLang="zh-CN" b="1" dirty="0">
                <a:latin typeface="Times New Roman" panose="02020603050405020304" pitchFamily="18" charset="0"/>
              </a:rPr>
              <a:t>(scenarios)</a:t>
            </a:r>
            <a:r>
              <a:rPr lang="zh-CN" altLang="en-US" b="1" dirty="0">
                <a:latin typeface="宋体" panose="02010600030101010101" pitchFamily="2" charset="-122"/>
              </a:rPr>
              <a:t>，它们构成了第</a:t>
            </a:r>
            <a:r>
              <a:rPr lang="en-US" altLang="zh-CN" b="1" dirty="0">
                <a:latin typeface="Times New Roman" panose="02020603050405020304" pitchFamily="18" charset="0"/>
              </a:rPr>
              <a:t>5</a:t>
            </a:r>
            <a:r>
              <a:rPr lang="zh-CN" altLang="en-US" b="1" dirty="0">
                <a:latin typeface="宋体" panose="02010600030101010101" pitchFamily="2" charset="-122"/>
              </a:rPr>
              <a:t>个视图。实际上，体系结构在某种程度上是由场景演化而来的。</a:t>
            </a:r>
            <a:r>
              <a:rPr lang="zh-CN" altLang="en-US" dirty="0"/>
              <a:t> </a:t>
            </a:r>
            <a:endParaRPr lang="zh-CN" altLang="en-US" dirty="0"/>
          </a:p>
        </p:txBody>
      </p:sp>
    </p:spTree>
  </p:cSld>
  <p:clrMapOvr>
    <a:masterClrMapping/>
  </p:clrMapOvr>
  <p:transition>
    <p:wipe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9A85AF44-3709-4E8E-AA4E-0BF1A7015DEA}"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30722"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2268D7A9-1981-428D-A498-1577345A6BAA}" type="datetime1">
              <a:rPr lang="zh-CN" altLang="en-US"/>
            </a:fld>
            <a:endParaRPr lang="zh-CN" altLang="en-US"/>
          </a:p>
        </p:txBody>
      </p:sp>
      <p:graphicFrame>
        <p:nvGraphicFramePr>
          <p:cNvPr id="30723" name="Object 1026"/>
          <p:cNvGraphicFramePr>
            <a:graphicFrameLocks noChangeAspect="1"/>
          </p:cNvGraphicFramePr>
          <p:nvPr/>
        </p:nvGraphicFramePr>
        <p:xfrm>
          <a:off x="1066800" y="838200"/>
          <a:ext cx="6627813" cy="3609975"/>
        </p:xfrm>
        <a:graphic>
          <a:graphicData uri="http://schemas.openxmlformats.org/presentationml/2006/ole">
            <mc:AlternateContent xmlns:mc="http://schemas.openxmlformats.org/markup-compatibility/2006">
              <mc:Choice xmlns:v="urn:schemas-microsoft-com:vml" Requires="v">
                <p:oleObj spid="_x0000_s30766" name="" r:id="rId1" imgW="6629400" imgH="3609975" progId="Paint.Picture">
                  <p:embed/>
                </p:oleObj>
              </mc:Choice>
              <mc:Fallback>
                <p:oleObj name="" r:id="rId1" imgW="6629400" imgH="3609975" progId="Paint.Picture">
                  <p:embed/>
                  <p:pic>
                    <p:nvPicPr>
                      <p:cNvPr id="0" name="Object 102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838200"/>
                        <a:ext cx="6627813" cy="360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3667" name="Text Box 1027"/>
          <p:cNvSpPr txBox="1">
            <a:spLocks noChangeArrowheads="1"/>
          </p:cNvSpPr>
          <p:nvPr/>
        </p:nvSpPr>
        <p:spPr bwMode="auto">
          <a:xfrm>
            <a:off x="381000" y="4495800"/>
            <a:ext cx="8153400"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dirty="0">
                <a:latin typeface="宋体" panose="02010600030101010101" pitchFamily="2" charset="-122"/>
              </a:rPr>
              <a:t>体系结构的概念在每个视图里面都可以独立应用。这就是说，可以在每个视图里面定义体系结构的各种组成元素，如构件、连接件等。对于不同的视图，还可以选择不同的体系结构风格，因此在同一个系统结构中可以使用多种风格。此外，在每一种视图里，我们使用该视图特定的符号。这避免了符号用法和意义的混乱。</a:t>
            </a:r>
            <a:r>
              <a:rPr lang="zh-CN" altLang="en-US" b="1" dirty="0">
                <a:latin typeface="Times New Roman" panose="02020603050405020304" pitchFamily="18" charset="0"/>
              </a:rPr>
              <a:t>“</a:t>
            </a:r>
            <a:r>
              <a:rPr lang="en-US" altLang="zh-CN" b="1" dirty="0">
                <a:latin typeface="Times New Roman" panose="02020603050405020304" pitchFamily="18" charset="0"/>
              </a:rPr>
              <a:t>4</a:t>
            </a:r>
            <a:r>
              <a:rPr lang="zh-CN" altLang="en-US" b="1" dirty="0">
                <a:latin typeface="宋体" panose="02010600030101010101" pitchFamily="2" charset="-122"/>
              </a:rPr>
              <a:t>十</a:t>
            </a:r>
            <a:r>
              <a:rPr lang="en-US" altLang="zh-CN" b="1" dirty="0">
                <a:latin typeface="Times New Roman" panose="02020603050405020304" pitchFamily="18" charset="0"/>
              </a:rPr>
              <a:t>1”</a:t>
            </a:r>
            <a:r>
              <a:rPr lang="zh-CN" altLang="en-US" b="1" dirty="0">
                <a:latin typeface="宋体" panose="02010600030101010101" pitchFamily="2" charset="-122"/>
              </a:rPr>
              <a:t>视图模型是一个十分通用的模型：可以便用其他的符号表示法，也可以使用其他的设计方法，尤其是逻辑视图和过程视图的分解。</a:t>
            </a:r>
            <a:r>
              <a:rPr lang="zh-CN" altLang="en-US" dirty="0"/>
              <a:t> </a:t>
            </a:r>
            <a:endParaRPr lang="zh-CN" altLang="en-US" dirty="0"/>
          </a:p>
        </p:txBody>
      </p:sp>
    </p:spTree>
  </p:cSld>
  <p:clrMapOvr>
    <a:masterClrMapping/>
  </p:clrMapOvr>
  <p:transition>
    <p:wipe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610DD397-0176-4ECB-9384-C473E4101842}"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32770"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CC65499C-1063-41EE-8C2B-E7F5BEC8E54C}" type="datetime1">
              <a:rPr lang="zh-CN" altLang="en-US"/>
            </a:fld>
            <a:endParaRPr lang="zh-CN" altLang="en-US"/>
          </a:p>
        </p:txBody>
      </p:sp>
      <p:graphicFrame>
        <p:nvGraphicFramePr>
          <p:cNvPr id="32771" name="Object 2"/>
          <p:cNvGraphicFramePr>
            <a:graphicFrameLocks noChangeAspect="1"/>
          </p:cNvGraphicFramePr>
          <p:nvPr/>
        </p:nvGraphicFramePr>
        <p:xfrm>
          <a:off x="1066800" y="838200"/>
          <a:ext cx="6627813" cy="3609975"/>
        </p:xfrm>
        <a:graphic>
          <a:graphicData uri="http://schemas.openxmlformats.org/presentationml/2006/ole">
            <mc:AlternateContent xmlns:mc="http://schemas.openxmlformats.org/markup-compatibility/2006">
              <mc:Choice xmlns:v="urn:schemas-microsoft-com:vml" Requires="v">
                <p:oleObj spid="_x0000_s32814" name="" r:id="rId1" imgW="6629400" imgH="3609975" progId="Paint.Picture">
                  <p:embed/>
                </p:oleObj>
              </mc:Choice>
              <mc:Fallback>
                <p:oleObj name="" r:id="rId1" imgW="6629400" imgH="3609975" progId="Paint.Picture">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838200"/>
                        <a:ext cx="6627813" cy="360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5715" name="Text Box 3"/>
          <p:cNvSpPr txBox="1">
            <a:spLocks noChangeArrowheads="1"/>
          </p:cNvSpPr>
          <p:nvPr/>
        </p:nvSpPr>
        <p:spPr bwMode="auto">
          <a:xfrm>
            <a:off x="1066800" y="4724400"/>
            <a:ext cx="67056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dirty="0">
                <a:latin typeface="Times New Roman" panose="02020603050405020304" pitchFamily="18" charset="0"/>
              </a:rPr>
              <a:t>“4</a:t>
            </a:r>
            <a:r>
              <a:rPr lang="zh-CN" altLang="en-US" b="1" dirty="0">
                <a:latin typeface="宋体" panose="02010600030101010101" pitchFamily="2" charset="-122"/>
              </a:rPr>
              <a:t>十</a:t>
            </a:r>
            <a:r>
              <a:rPr lang="en-US" altLang="zh-CN" b="1" dirty="0">
                <a:latin typeface="Times New Roman" panose="02020603050405020304" pitchFamily="18" charset="0"/>
              </a:rPr>
              <a:t>1”</a:t>
            </a:r>
            <a:r>
              <a:rPr lang="zh-CN" altLang="en-US" b="1" dirty="0">
                <a:latin typeface="宋体" panose="02010600030101010101" pitchFamily="2" charset="-122"/>
              </a:rPr>
              <a:t>模型实际上使得有不同需求的人员能够得到他们对于软件体系结构想要了解的东西。系统工程师先从物理视图，然后从过程视图靠近体系结构。最终使用者、客户、数据专家从逻辑视图看体系结构；项目经理、软件配置人员从开发视图看体系结构。</a:t>
            </a:r>
            <a:r>
              <a:rPr lang="zh-CN" altLang="en-US" dirty="0"/>
              <a:t> </a:t>
            </a:r>
            <a:endParaRPr lang="zh-CN" altLang="en-US" dirty="0"/>
          </a:p>
        </p:txBody>
      </p:sp>
    </p:spTree>
  </p:cSld>
  <p:clrMapOvr>
    <a:masterClrMapping/>
  </p:clrMapOvr>
  <p:transition>
    <p:wipe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0721FF48-ACB6-4928-B069-416E71E139B9}"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34818"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05681A88-DA23-47E3-AA65-83E2B315F239}" type="datetime1">
              <a:rPr lang="zh-CN" altLang="en-US"/>
            </a:fld>
            <a:endParaRPr lang="zh-CN" altLang="en-US"/>
          </a:p>
        </p:txBody>
      </p:sp>
      <p:graphicFrame>
        <p:nvGraphicFramePr>
          <p:cNvPr id="34819" name="Object 1030"/>
          <p:cNvGraphicFramePr>
            <a:graphicFrameLocks noChangeAspect="1"/>
          </p:cNvGraphicFramePr>
          <p:nvPr/>
        </p:nvGraphicFramePr>
        <p:xfrm>
          <a:off x="1066800" y="838200"/>
          <a:ext cx="6627813" cy="3609975"/>
        </p:xfrm>
        <a:graphic>
          <a:graphicData uri="http://schemas.openxmlformats.org/presentationml/2006/ole">
            <mc:AlternateContent xmlns:mc="http://schemas.openxmlformats.org/markup-compatibility/2006">
              <mc:Choice xmlns:v="urn:schemas-microsoft-com:vml" Requires="v">
                <p:oleObj spid="_x0000_s34862" name="" r:id="rId1" imgW="6629400" imgH="3609975" progId="Paint.Picture">
                  <p:embed/>
                </p:oleObj>
              </mc:Choice>
              <mc:Fallback>
                <p:oleObj name="" r:id="rId1" imgW="6629400" imgH="3609975" progId="Paint.Picture">
                  <p:embed/>
                  <p:pic>
                    <p:nvPicPr>
                      <p:cNvPr id="0" name="Object 103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838200"/>
                        <a:ext cx="6627813" cy="360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9639" name="Text Box 1031"/>
          <p:cNvSpPr txBox="1">
            <a:spLocks noChangeArrowheads="1"/>
          </p:cNvSpPr>
          <p:nvPr/>
        </p:nvSpPr>
        <p:spPr bwMode="auto">
          <a:xfrm>
            <a:off x="1066800" y="4724400"/>
            <a:ext cx="65532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dirty="0">
                <a:latin typeface="宋体" panose="02010600030101010101" pitchFamily="2" charset="-122"/>
              </a:rPr>
              <a:t>要指出的是，不是所有的软件体系结构都需要完整的</a:t>
            </a:r>
            <a:r>
              <a:rPr lang="zh-CN" altLang="en-US" b="1" dirty="0">
                <a:latin typeface="Times New Roman" panose="02020603050405020304" pitchFamily="18" charset="0"/>
              </a:rPr>
              <a:t>“</a:t>
            </a:r>
            <a:r>
              <a:rPr lang="en-US" altLang="zh-CN" b="1" dirty="0">
                <a:latin typeface="Times New Roman" panose="02020603050405020304" pitchFamily="18" charset="0"/>
              </a:rPr>
              <a:t>4</a:t>
            </a:r>
            <a:r>
              <a:rPr lang="zh-CN" altLang="en-US" b="1" dirty="0">
                <a:latin typeface="宋体" panose="02010600030101010101" pitchFamily="2" charset="-122"/>
              </a:rPr>
              <a:t>十</a:t>
            </a:r>
            <a:r>
              <a:rPr lang="en-US" altLang="zh-CN" b="1" dirty="0">
                <a:latin typeface="Times New Roman" panose="02020603050405020304" pitchFamily="18" charset="0"/>
              </a:rPr>
              <a:t>1”</a:t>
            </a:r>
            <a:r>
              <a:rPr lang="zh-CN" altLang="en-US" b="1" dirty="0">
                <a:latin typeface="宋体" panose="02010600030101010101" pitchFamily="2" charset="-122"/>
              </a:rPr>
              <a:t>视图。没有用的视图在体系结构描述中可以被省略，例如对于非常小的系统，逻辑视图和开发视图有可能非常相似以至于没有必要把它们分开描述。场景视图在各种环境下都是有用的。</a:t>
            </a:r>
            <a:r>
              <a:rPr lang="zh-CN" altLang="en-US" b="1" dirty="0"/>
              <a:t> </a:t>
            </a:r>
            <a:endParaRPr lang="zh-CN" altLang="en-US" b="1" dirty="0"/>
          </a:p>
        </p:txBody>
      </p:sp>
    </p:spTree>
  </p:cSld>
  <p:clrMapOvr>
    <a:masterClrMapping/>
  </p:clrMapOvr>
  <p:transition>
    <p:wipe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1026"/>
          <p:cNvSpPr>
            <a:spLocks noGrp="1" noChangeArrowheads="1"/>
          </p:cNvSpPr>
          <p:nvPr>
            <p:ph type="title"/>
          </p:nvPr>
        </p:nvSpPr>
        <p:spPr>
          <a:xfrm>
            <a:off x="457200" y="118036"/>
            <a:ext cx="8229600" cy="990600"/>
          </a:xfrm>
        </p:spPr>
        <p:txBody>
          <a:bodyPr/>
          <a:lstStyle/>
          <a:p>
            <a:r>
              <a:rPr lang="zh-CN" altLang="en-US" sz="3200" dirty="0">
                <a:latin typeface="宋体" panose="02010600030101010101" pitchFamily="2" charset="-122"/>
              </a:rPr>
              <a:t>逻辑视图的体系结构：面向对象的分解</a:t>
            </a:r>
            <a:r>
              <a:rPr lang="zh-CN" altLang="en-US" dirty="0"/>
              <a:t> </a:t>
            </a:r>
            <a:endParaRPr lang="zh-CN" altLang="en-US" dirty="0"/>
          </a:p>
        </p:txBody>
      </p:sp>
      <p:sp>
        <p:nvSpPr>
          <p:cNvPr id="117763" name="Rectangle 1027"/>
          <p:cNvSpPr>
            <a:spLocks noGrp="1" noChangeArrowheads="1"/>
          </p:cNvSpPr>
          <p:nvPr>
            <p:ph idx="1"/>
          </p:nvPr>
        </p:nvSpPr>
        <p:spPr/>
        <p:txBody>
          <a:bodyPr/>
          <a:lstStyle/>
          <a:p>
            <a:pPr algn="just">
              <a:lnSpc>
                <a:spcPct val="90000"/>
              </a:lnSpc>
              <a:defRPr/>
            </a:pPr>
            <a:r>
              <a:rPr lang="zh-CN" altLang="en-US" sz="2000" dirty="0">
                <a:solidFill>
                  <a:schemeClr val="tx1"/>
                </a:solidFill>
                <a:latin typeface="Times New Roman" panose="02020603050405020304" pitchFamily="18" charset="0"/>
              </a:rPr>
              <a:t>逻辑视图主要支持功能需求</a:t>
            </a:r>
            <a:r>
              <a:rPr lang="en-US" altLang="zh-CN" sz="2000" dirty="0">
                <a:solidFill>
                  <a:schemeClr val="tx1"/>
                </a:solidFill>
                <a:latin typeface="Times New Roman" panose="02020603050405020304" pitchFamily="18" charset="0"/>
              </a:rPr>
              <a:t>——</a:t>
            </a:r>
            <a:r>
              <a:rPr lang="zh-CN" altLang="en-US" sz="2000" dirty="0">
                <a:solidFill>
                  <a:schemeClr val="tx1"/>
                </a:solidFill>
                <a:latin typeface="Times New Roman" panose="02020603050405020304" pitchFamily="18" charset="0"/>
              </a:rPr>
              <a:t>系统应当向用户提供什么样的服务。从问题域出发，采用面向对象的方法，按照抽象、封装、继承的原则，进行分解，得到代表着系统的关键抽象表示的集合。这些抽象表示的具体形式就是对象和对象的类。这种分级不仅是为了功能分析，而且担负着在系统的各部分中确定公共机制和设计元素的作用。</a:t>
            </a:r>
            <a:endParaRPr lang="zh-CN" altLang="en-US" sz="2000" dirty="0">
              <a:solidFill>
                <a:schemeClr val="tx1"/>
              </a:solidFill>
              <a:latin typeface="宋体" panose="02010600030101010101" pitchFamily="2" charset="-122"/>
            </a:endParaRPr>
          </a:p>
          <a:p>
            <a:pPr>
              <a:lnSpc>
                <a:spcPct val="90000"/>
              </a:lnSpc>
              <a:defRPr/>
            </a:pPr>
            <a:r>
              <a:rPr lang="zh-CN" altLang="en-US" sz="2000" dirty="0">
                <a:solidFill>
                  <a:schemeClr val="tx1"/>
                </a:solidFill>
                <a:latin typeface="宋体" panose="02010600030101010101" pitchFamily="2" charset="-122"/>
              </a:rPr>
              <a:t>使用</a:t>
            </a:r>
            <a:r>
              <a:rPr lang="en-US" altLang="zh-CN" sz="2000" dirty="0">
                <a:solidFill>
                  <a:schemeClr val="tx1"/>
                </a:solidFill>
                <a:latin typeface="Times New Roman" panose="02020603050405020304" pitchFamily="18" charset="0"/>
                <a:cs typeface="Times New Roman" panose="02020603050405020304" pitchFamily="18" charset="0"/>
              </a:rPr>
              <a:t>Rational</a:t>
            </a:r>
            <a:r>
              <a:rPr lang="zh-CN" altLang="en-US" sz="2000" dirty="0">
                <a:solidFill>
                  <a:schemeClr val="tx1"/>
                </a:solidFill>
                <a:latin typeface="宋体" panose="02010600030101010101" pitchFamily="2" charset="-122"/>
              </a:rPr>
              <a:t>／</a:t>
            </a:r>
            <a:r>
              <a:rPr lang="en-US" altLang="zh-CN" sz="2000" dirty="0" err="1">
                <a:solidFill>
                  <a:schemeClr val="tx1"/>
                </a:solidFill>
                <a:latin typeface="Times New Roman" panose="02020603050405020304" pitchFamily="18" charset="0"/>
                <a:cs typeface="Times New Roman" panose="02020603050405020304" pitchFamily="18" charset="0"/>
              </a:rPr>
              <a:t>Booch</a:t>
            </a:r>
            <a:r>
              <a:rPr lang="zh-CN" altLang="en-US" sz="2000" dirty="0">
                <a:solidFill>
                  <a:schemeClr val="tx1"/>
                </a:solidFill>
                <a:latin typeface="宋体" panose="02010600030101010101" pitchFamily="2" charset="-122"/>
              </a:rPr>
              <a:t>方法，通过类图</a:t>
            </a:r>
            <a:r>
              <a:rPr lang="en-US" altLang="zh-CN" sz="2000" dirty="0">
                <a:solidFill>
                  <a:schemeClr val="tx1"/>
                </a:solidFill>
                <a:latin typeface="Times New Roman" panose="02020603050405020304" pitchFamily="18" charset="0"/>
                <a:cs typeface="Times New Roman" panose="02020603050405020304" pitchFamily="18" charset="0"/>
              </a:rPr>
              <a:t>(class diagram)</a:t>
            </a:r>
            <a:r>
              <a:rPr lang="zh-CN" altLang="en-US" sz="2000" dirty="0">
                <a:solidFill>
                  <a:schemeClr val="tx1"/>
                </a:solidFill>
                <a:latin typeface="宋体" panose="02010600030101010101" pitchFamily="2" charset="-122"/>
              </a:rPr>
              <a:t>和类模板</a:t>
            </a:r>
            <a:r>
              <a:rPr lang="en-US" altLang="zh-CN" sz="2000" dirty="0">
                <a:solidFill>
                  <a:schemeClr val="tx1"/>
                </a:solidFill>
                <a:latin typeface="Times New Roman" panose="02020603050405020304" pitchFamily="18" charset="0"/>
                <a:cs typeface="Times New Roman" panose="02020603050405020304" pitchFamily="18" charset="0"/>
              </a:rPr>
              <a:t>(class template)</a:t>
            </a:r>
            <a:r>
              <a:rPr lang="zh-CN" altLang="en-US" sz="2000" dirty="0">
                <a:solidFill>
                  <a:schemeClr val="tx1"/>
                </a:solidFill>
                <a:latin typeface="宋体" panose="02010600030101010101" pitchFamily="2" charset="-122"/>
              </a:rPr>
              <a:t>来表示逻辑体系结构。类图显示了类的集合和它们的逻辑关系</a:t>
            </a:r>
            <a:r>
              <a:rPr lang="en-US" altLang="zh-CN" sz="2000" dirty="0">
                <a:solidFill>
                  <a:schemeClr val="tx1"/>
                </a:solidFill>
                <a:latin typeface="Times New Roman" panose="02020603050405020304" pitchFamily="18" charset="0"/>
                <a:cs typeface="Times New Roman" panose="02020603050405020304" pitchFamily="18" charset="0"/>
              </a:rPr>
              <a:t>:</a:t>
            </a:r>
            <a:r>
              <a:rPr lang="zh-CN" altLang="en-US" sz="2000" dirty="0">
                <a:solidFill>
                  <a:schemeClr val="tx1"/>
                </a:solidFill>
                <a:latin typeface="宋体" panose="02010600030101010101" pitchFamily="2" charset="-122"/>
              </a:rPr>
              <a:t>关联</a:t>
            </a:r>
            <a:r>
              <a:rPr lang="en-US" altLang="zh-CN" sz="2000" dirty="0">
                <a:solidFill>
                  <a:schemeClr val="tx1"/>
                </a:solidFill>
                <a:latin typeface="Times New Roman" panose="02020603050405020304" pitchFamily="18" charset="0"/>
                <a:cs typeface="Times New Roman" panose="02020603050405020304" pitchFamily="18" charset="0"/>
              </a:rPr>
              <a:t>(association)</a:t>
            </a:r>
            <a:r>
              <a:rPr lang="zh-CN" altLang="en-US" sz="2000" dirty="0">
                <a:solidFill>
                  <a:schemeClr val="tx1"/>
                </a:solidFill>
                <a:latin typeface="宋体" panose="02010600030101010101" pitchFamily="2" charset="-122"/>
              </a:rPr>
              <a:t>、组合</a:t>
            </a:r>
            <a:r>
              <a:rPr lang="zh-CN" altLang="en-US" sz="2000" dirty="0">
                <a:solidFill>
                  <a:schemeClr val="tx1"/>
                </a:solidFill>
                <a:latin typeface="Times New Roman" panose="02020603050405020304" pitchFamily="18" charset="0"/>
                <a:cs typeface="Times New Roman" panose="02020603050405020304" pitchFamily="18" charset="0"/>
              </a:rPr>
              <a:t> </a:t>
            </a:r>
            <a:r>
              <a:rPr lang="en-US" altLang="zh-CN" sz="2000" dirty="0">
                <a:solidFill>
                  <a:schemeClr val="tx1"/>
                </a:solidFill>
                <a:latin typeface="Times New Roman" panose="02020603050405020304" pitchFamily="18" charset="0"/>
                <a:cs typeface="Times New Roman" panose="02020603050405020304" pitchFamily="18" charset="0"/>
              </a:rPr>
              <a:t>(composition)</a:t>
            </a:r>
            <a:r>
              <a:rPr lang="zh-CN" altLang="en-US" sz="2000" dirty="0">
                <a:solidFill>
                  <a:schemeClr val="tx1"/>
                </a:solidFill>
                <a:latin typeface="宋体" panose="02010600030101010101" pitchFamily="2" charset="-122"/>
              </a:rPr>
              <a:t>、使用</a:t>
            </a:r>
            <a:r>
              <a:rPr lang="en-US" altLang="zh-CN" sz="2000" dirty="0">
                <a:solidFill>
                  <a:schemeClr val="tx1"/>
                </a:solidFill>
                <a:latin typeface="Times New Roman" panose="02020603050405020304" pitchFamily="18" charset="0"/>
                <a:cs typeface="Times New Roman" panose="02020603050405020304" pitchFamily="18" charset="0"/>
              </a:rPr>
              <a:t>(usage)</a:t>
            </a:r>
            <a:r>
              <a:rPr lang="zh-CN" altLang="en-US" sz="2000" dirty="0">
                <a:solidFill>
                  <a:schemeClr val="tx1"/>
                </a:solidFill>
                <a:latin typeface="宋体" panose="02010600030101010101" pitchFamily="2" charset="-122"/>
              </a:rPr>
              <a:t>、继承</a:t>
            </a:r>
            <a:r>
              <a:rPr lang="en-US" altLang="zh-CN" sz="2000" dirty="0">
                <a:solidFill>
                  <a:schemeClr val="tx1"/>
                </a:solidFill>
                <a:latin typeface="Times New Roman" panose="02020603050405020304" pitchFamily="18" charset="0"/>
                <a:cs typeface="Times New Roman" panose="02020603050405020304" pitchFamily="18" charset="0"/>
              </a:rPr>
              <a:t>(inheritance)</a:t>
            </a:r>
            <a:r>
              <a:rPr lang="zh-CN" altLang="en-US" sz="2000" dirty="0">
                <a:solidFill>
                  <a:schemeClr val="tx1"/>
                </a:solidFill>
                <a:latin typeface="宋体" panose="02010600030101010101" pitchFamily="2" charset="-122"/>
              </a:rPr>
              <a:t>等。类模板则着眼于每个类的个体，强调类的主要操作，并确定对象的关键特征。当十分需要定义一个对象的内部行为时，要使用状态转换图</a:t>
            </a:r>
            <a:r>
              <a:rPr lang="en-US" altLang="zh-CN" sz="2000" dirty="0">
                <a:solidFill>
                  <a:schemeClr val="tx1"/>
                </a:solidFill>
                <a:latin typeface="Times New Roman" panose="02020603050405020304" pitchFamily="18" charset="0"/>
                <a:cs typeface="Times New Roman" panose="02020603050405020304" pitchFamily="18" charset="0"/>
              </a:rPr>
              <a:t>(state transition diagram)</a:t>
            </a:r>
            <a:r>
              <a:rPr lang="zh-CN" altLang="en-US" sz="2000" dirty="0">
                <a:solidFill>
                  <a:schemeClr val="tx1"/>
                </a:solidFill>
                <a:latin typeface="宋体" panose="02010600030101010101" pitchFamily="2" charset="-122"/>
              </a:rPr>
              <a:t>，或者是状态表</a:t>
            </a:r>
            <a:r>
              <a:rPr lang="en-US" altLang="zh-CN" sz="2000" dirty="0">
                <a:solidFill>
                  <a:schemeClr val="tx1"/>
                </a:solidFill>
                <a:latin typeface="Times New Roman" panose="02020603050405020304" pitchFamily="18" charset="0"/>
                <a:cs typeface="Times New Roman" panose="02020603050405020304" pitchFamily="18" charset="0"/>
              </a:rPr>
              <a:t>(state chart)</a:t>
            </a:r>
            <a:r>
              <a:rPr lang="zh-CN" altLang="en-US" sz="2000" dirty="0">
                <a:solidFill>
                  <a:schemeClr val="tx1"/>
                </a:solidFill>
                <a:latin typeface="宋体" panose="02010600030101010101" pitchFamily="2" charset="-122"/>
              </a:rPr>
              <a:t>。相关类的集合可以归到一起，称作类的种属</a:t>
            </a:r>
            <a:r>
              <a:rPr lang="en-US" altLang="zh-CN" sz="2000" dirty="0">
                <a:solidFill>
                  <a:schemeClr val="tx1"/>
                </a:solidFill>
                <a:latin typeface="Times New Roman" panose="02020603050405020304" pitchFamily="18" charset="0"/>
                <a:cs typeface="Times New Roman" panose="02020603050405020304" pitchFamily="18" charset="0"/>
              </a:rPr>
              <a:t>(class category)</a:t>
            </a:r>
            <a:r>
              <a:rPr lang="zh-CN" altLang="en-US" sz="2000" dirty="0">
                <a:solidFill>
                  <a:schemeClr val="tx1"/>
                </a:solidFill>
                <a:latin typeface="宋体" panose="02010600030101010101" pitchFamily="2" charset="-122"/>
              </a:rPr>
              <a:t>。</a:t>
            </a:r>
            <a:r>
              <a:rPr lang="zh-CN" altLang="en-US" sz="2800" dirty="0">
                <a:solidFill>
                  <a:schemeClr val="tx1"/>
                </a:solidFill>
              </a:rPr>
              <a:t> </a:t>
            </a:r>
            <a:endParaRPr lang="zh-CN" altLang="en-US" sz="2800" dirty="0">
              <a:solidFill>
                <a:schemeClr val="tx1"/>
              </a:solidFill>
            </a:endParaRPr>
          </a:p>
        </p:txBody>
      </p:sp>
      <p:sp>
        <p:nvSpPr>
          <p:cNvPr id="36865"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E487878E-BEDD-426D-A202-2ADE96941F1D}"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36866"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50556935-073C-4081-8AC9-DE3BB1C40983}" type="datetime1">
              <a:rPr lang="zh-CN" altLang="en-US"/>
            </a:fld>
            <a:endParaRPr lang="zh-CN" altLang="en-US"/>
          </a:p>
        </p:txBody>
      </p:sp>
    </p:spTree>
  </p:cSld>
  <p:clrMapOvr>
    <a:masterClrMapping/>
  </p:clrMapOvr>
  <p:transition>
    <p:wipe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a:xfrm>
            <a:off x="539552" y="228600"/>
            <a:ext cx="8229600" cy="914400"/>
          </a:xfrm>
        </p:spPr>
        <p:txBody>
          <a:bodyPr/>
          <a:lstStyle/>
          <a:p>
            <a:r>
              <a:rPr lang="zh-CN" altLang="en-US" sz="3200" dirty="0">
                <a:latin typeface="Times New Roman" panose="02020603050405020304" pitchFamily="18" charset="0"/>
              </a:rPr>
              <a:t>逻辑视图的符号表示法</a:t>
            </a:r>
            <a:endParaRPr lang="zh-CN" altLang="en-US" sz="3200" dirty="0">
              <a:latin typeface="Times New Roman" panose="02020603050405020304" pitchFamily="18" charset="0"/>
            </a:endParaRPr>
          </a:p>
        </p:txBody>
      </p:sp>
      <p:sp>
        <p:nvSpPr>
          <p:cNvPr id="118787" name="Rectangle 3"/>
          <p:cNvSpPr>
            <a:spLocks noGrp="1" noChangeArrowheads="1"/>
          </p:cNvSpPr>
          <p:nvPr>
            <p:ph idx="1"/>
          </p:nvPr>
        </p:nvSpPr>
        <p:spPr>
          <a:xfrm>
            <a:off x="457200" y="1233791"/>
            <a:ext cx="8229600" cy="1524000"/>
          </a:xfrm>
        </p:spPr>
        <p:txBody>
          <a:bodyPr/>
          <a:lstStyle/>
          <a:p>
            <a:pPr marL="0" indent="0" algn="just">
              <a:lnSpc>
                <a:spcPct val="90000"/>
              </a:lnSpc>
              <a:buFont typeface="Wingdings" panose="05000000000000000000" pitchFamily="2" charset="2"/>
              <a:buNone/>
              <a:defRPr/>
            </a:pPr>
            <a:r>
              <a:rPr lang="en-US" altLang="zh-CN" sz="2000" dirty="0">
                <a:latin typeface="宋体" panose="02010600030101010101" pitchFamily="2" charset="-122"/>
              </a:rPr>
              <a:t>   </a:t>
            </a:r>
            <a:r>
              <a:rPr lang="zh-CN" altLang="en-US" sz="2000" dirty="0">
                <a:solidFill>
                  <a:schemeClr val="tx1"/>
                </a:solidFill>
                <a:latin typeface="宋体" panose="02010600030101010101" pitchFamily="2" charset="-122"/>
              </a:rPr>
              <a:t>逻辑体系结构的符号表示法</a:t>
            </a:r>
            <a:r>
              <a:rPr lang="en-US" altLang="zh-CN" sz="2000" dirty="0">
                <a:solidFill>
                  <a:schemeClr val="tx1"/>
                </a:solidFill>
                <a:latin typeface="Times New Roman" panose="02020603050405020304" pitchFamily="18" charset="0"/>
                <a:cs typeface="Times New Roman" panose="02020603050405020304" pitchFamily="18" charset="0"/>
              </a:rPr>
              <a:t>(</a:t>
            </a:r>
            <a:r>
              <a:rPr lang="zh-CN" altLang="en-US" sz="2000" dirty="0">
                <a:solidFill>
                  <a:schemeClr val="tx1"/>
                </a:solidFill>
                <a:latin typeface="宋体" panose="02010600030101010101" pitchFamily="2" charset="-122"/>
              </a:rPr>
              <a:t>见图</a:t>
            </a:r>
            <a:r>
              <a:rPr lang="en-US" altLang="zh-CN" sz="2000" dirty="0">
                <a:solidFill>
                  <a:schemeClr val="tx1"/>
                </a:solidFill>
                <a:latin typeface="Times New Roman" panose="02020603050405020304" pitchFamily="18" charset="0"/>
                <a:cs typeface="Times New Roman" panose="02020603050405020304" pitchFamily="18" charset="0"/>
              </a:rPr>
              <a:t>)</a:t>
            </a:r>
            <a:r>
              <a:rPr lang="zh-CN" altLang="en-US" sz="2000" dirty="0">
                <a:solidFill>
                  <a:schemeClr val="tx1"/>
                </a:solidFill>
                <a:latin typeface="宋体" panose="02010600030101010101" pitchFamily="2" charset="-122"/>
              </a:rPr>
              <a:t>，是从</a:t>
            </a:r>
            <a:r>
              <a:rPr lang="en-US" altLang="zh-CN" sz="2000" dirty="0" err="1">
                <a:solidFill>
                  <a:schemeClr val="tx1"/>
                </a:solidFill>
                <a:latin typeface="Times New Roman" panose="02020603050405020304" pitchFamily="18" charset="0"/>
                <a:cs typeface="Times New Roman" panose="02020603050405020304" pitchFamily="18" charset="0"/>
              </a:rPr>
              <a:t>Booch</a:t>
            </a:r>
            <a:r>
              <a:rPr lang="zh-CN" altLang="en-US" sz="2000" dirty="0">
                <a:solidFill>
                  <a:schemeClr val="tx1"/>
                </a:solidFill>
                <a:latin typeface="宋体" panose="02010600030101010101" pitchFamily="2" charset="-122"/>
              </a:rPr>
              <a:t>方法派生而来的。它被极大地简化了，尤其大量简化了在这个设计阶段作用不大的各种修饰，只考虑对于体系结构有重要意义的元素在设计工具上，可以使用</a:t>
            </a:r>
            <a:r>
              <a:rPr lang="en-US" altLang="zh-CN" sz="2000" dirty="0">
                <a:solidFill>
                  <a:schemeClr val="tx1"/>
                </a:solidFill>
                <a:latin typeface="Times New Roman" panose="02020603050405020304" pitchFamily="18" charset="0"/>
                <a:cs typeface="Times New Roman" panose="02020603050405020304" pitchFamily="18" charset="0"/>
              </a:rPr>
              <a:t>Rational Rose</a:t>
            </a:r>
            <a:r>
              <a:rPr lang="zh-CN" altLang="en-US" sz="2000" dirty="0">
                <a:solidFill>
                  <a:schemeClr val="tx1"/>
                </a:solidFill>
                <a:latin typeface="宋体" panose="02010600030101010101" pitchFamily="2" charset="-122"/>
              </a:rPr>
              <a:t>等</a:t>
            </a:r>
            <a:r>
              <a:rPr lang="en-US" altLang="zh-CN" sz="2000" dirty="0">
                <a:solidFill>
                  <a:schemeClr val="tx1"/>
                </a:solidFill>
                <a:latin typeface="Times New Roman" panose="02020603050405020304" pitchFamily="18" charset="0"/>
                <a:cs typeface="Times New Roman" panose="02020603050405020304" pitchFamily="18" charset="0"/>
              </a:rPr>
              <a:t>UML</a:t>
            </a:r>
            <a:r>
              <a:rPr lang="zh-CN" altLang="en-US" sz="2000" dirty="0">
                <a:solidFill>
                  <a:schemeClr val="tx1"/>
                </a:solidFill>
                <a:latin typeface="宋体" panose="02010600030101010101" pitchFamily="2" charset="-122"/>
              </a:rPr>
              <a:t>建模工具。公共的机制和服务在类设施</a:t>
            </a:r>
            <a:r>
              <a:rPr lang="zh-CN" altLang="en-US" sz="2000" dirty="0">
                <a:solidFill>
                  <a:schemeClr val="tx1"/>
                </a:solidFill>
                <a:latin typeface="Times New Roman" panose="02020603050405020304" pitchFamily="18" charset="0"/>
                <a:cs typeface="Times New Roman" panose="02020603050405020304" pitchFamily="18" charset="0"/>
              </a:rPr>
              <a:t> </a:t>
            </a:r>
            <a:r>
              <a:rPr lang="en-US" altLang="zh-CN" sz="2000" dirty="0">
                <a:solidFill>
                  <a:schemeClr val="tx1"/>
                </a:solidFill>
                <a:latin typeface="Times New Roman" panose="02020603050405020304" pitchFamily="18" charset="0"/>
                <a:cs typeface="Times New Roman" panose="02020603050405020304" pitchFamily="18" charset="0"/>
              </a:rPr>
              <a:t>(class utilities)</a:t>
            </a:r>
            <a:r>
              <a:rPr lang="zh-CN" altLang="en-US" sz="2000" dirty="0">
                <a:solidFill>
                  <a:schemeClr val="tx1"/>
                </a:solidFill>
                <a:latin typeface="宋体" panose="02010600030101010101" pitchFamily="2" charset="-122"/>
              </a:rPr>
              <a:t>中定义。 </a:t>
            </a:r>
            <a:endParaRPr lang="zh-CN" altLang="en-US" sz="2000" dirty="0">
              <a:solidFill>
                <a:schemeClr val="tx1"/>
              </a:solidFill>
              <a:latin typeface="宋体" panose="02010600030101010101" pitchFamily="2" charset="-122"/>
            </a:endParaRPr>
          </a:p>
        </p:txBody>
      </p:sp>
      <p:sp>
        <p:nvSpPr>
          <p:cNvPr id="37889"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40B41F51-D98D-40A9-86D1-3BDCA33CB1EA}"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37890"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2F8A53D2-5816-4C1A-9A06-17C0D7F6922A}" type="datetime1">
              <a:rPr lang="zh-CN" altLang="en-US"/>
            </a:fld>
            <a:endParaRPr lang="zh-CN" altLang="en-US"/>
          </a:p>
        </p:txBody>
      </p:sp>
      <p:graphicFrame>
        <p:nvGraphicFramePr>
          <p:cNvPr id="37893" name="Object 4"/>
          <p:cNvGraphicFramePr>
            <a:graphicFrameLocks noChangeAspect="1"/>
          </p:cNvGraphicFramePr>
          <p:nvPr/>
        </p:nvGraphicFramePr>
        <p:xfrm>
          <a:off x="1219200" y="2743200"/>
          <a:ext cx="6583363" cy="3438525"/>
        </p:xfrm>
        <a:graphic>
          <a:graphicData uri="http://schemas.openxmlformats.org/presentationml/2006/ole">
            <mc:AlternateContent xmlns:mc="http://schemas.openxmlformats.org/markup-compatibility/2006">
              <mc:Choice xmlns:v="urn:schemas-microsoft-com:vml" Requires="v">
                <p:oleObj spid="_x0000_s37935" name="" r:id="rId1" imgW="6581775" imgH="3438525" progId="Paint.Picture">
                  <p:embed/>
                </p:oleObj>
              </mc:Choice>
              <mc:Fallback>
                <p:oleObj name="" r:id="rId1" imgW="6581775" imgH="3438525" progId="Paint.Picture">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2743200"/>
                        <a:ext cx="6583363" cy="343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wipe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1026"/>
          <p:cNvSpPr>
            <a:spLocks noGrp="1" noChangeArrowheads="1"/>
          </p:cNvSpPr>
          <p:nvPr>
            <p:ph type="title"/>
          </p:nvPr>
        </p:nvSpPr>
        <p:spPr>
          <a:xfrm>
            <a:off x="457200" y="149951"/>
            <a:ext cx="8229600" cy="914400"/>
          </a:xfrm>
        </p:spPr>
        <p:txBody>
          <a:bodyPr/>
          <a:lstStyle/>
          <a:p>
            <a:r>
              <a:rPr lang="zh-CN" altLang="en-US" sz="3200" dirty="0">
                <a:latin typeface="宋体" panose="02010600030101010101" pitchFamily="2" charset="-122"/>
              </a:rPr>
              <a:t>逻辑视图的风格</a:t>
            </a:r>
            <a:endParaRPr lang="zh-CN" altLang="en-US" sz="3200" dirty="0">
              <a:latin typeface="宋体" panose="02010600030101010101" pitchFamily="2" charset="-122"/>
              <a:cs typeface="Times New Roman" panose="02020603050405020304" pitchFamily="18" charset="0"/>
            </a:endParaRPr>
          </a:p>
        </p:txBody>
      </p:sp>
      <p:sp>
        <p:nvSpPr>
          <p:cNvPr id="119811" name="Rectangle 1027"/>
          <p:cNvSpPr>
            <a:spLocks noGrp="1" noChangeArrowheads="1"/>
          </p:cNvSpPr>
          <p:nvPr>
            <p:ph idx="1"/>
          </p:nvPr>
        </p:nvSpPr>
        <p:spPr>
          <a:xfrm>
            <a:off x="381000" y="1295400"/>
            <a:ext cx="7924800" cy="1524000"/>
          </a:xfrm>
        </p:spPr>
        <p:txBody>
          <a:bodyPr/>
          <a:lstStyle/>
          <a:p>
            <a:pPr marL="0" indent="0" algn="just">
              <a:buFont typeface="Wingdings" panose="05000000000000000000" pitchFamily="2" charset="2"/>
              <a:buNone/>
              <a:defRPr/>
            </a:pPr>
            <a:r>
              <a:rPr lang="zh-CN" altLang="en-US" sz="1800" dirty="0">
                <a:solidFill>
                  <a:schemeClr val="tx1"/>
                </a:solidFill>
                <a:latin typeface="宋体" panose="02010600030101010101" pitchFamily="2" charset="-122"/>
              </a:rPr>
              <a:t>逻辑视图也可以采用面向对象的风格。</a:t>
            </a:r>
            <a:endParaRPr lang="zh-CN" altLang="en-US" sz="1800" dirty="0">
              <a:solidFill>
                <a:schemeClr val="tx1"/>
              </a:solidFill>
              <a:latin typeface="宋体" panose="02010600030101010101" pitchFamily="2" charset="-122"/>
            </a:endParaRPr>
          </a:p>
          <a:p>
            <a:pPr marL="0" indent="0" algn="just">
              <a:buFont typeface="Wingdings" panose="05000000000000000000" pitchFamily="2" charset="2"/>
              <a:buNone/>
              <a:defRPr/>
            </a:pPr>
            <a:r>
              <a:rPr lang="zh-CN" altLang="en-US" sz="1800" dirty="0">
                <a:solidFill>
                  <a:schemeClr val="tx1"/>
                </a:solidFill>
                <a:latin typeface="宋体" panose="02010600030101010101" pitchFamily="2" charset="-122"/>
              </a:rPr>
              <a:t>逻辑视图设计的主要准则是，要设法在整个系统中保持一个单一的、连贯的对象模型，避免类和相关机制出现按照场地或处理器过早的分化</a:t>
            </a:r>
            <a:r>
              <a:rPr lang="zh-CN" altLang="en-US" sz="2800" dirty="0">
                <a:solidFill>
                  <a:schemeClr val="tx1"/>
                </a:solidFill>
                <a:latin typeface="宋体" panose="02010600030101010101" pitchFamily="2" charset="-122"/>
              </a:rPr>
              <a:t>。</a:t>
            </a:r>
            <a:r>
              <a:rPr lang="zh-CN" altLang="en-US" sz="2800" dirty="0">
                <a:solidFill>
                  <a:schemeClr val="tx1"/>
                </a:solidFill>
                <a:latin typeface="Times New Roman" panose="02020603050405020304" pitchFamily="18" charset="0"/>
              </a:rPr>
              <a:t> </a:t>
            </a:r>
            <a:endParaRPr lang="zh-CN" altLang="en-US" sz="3600" dirty="0"/>
          </a:p>
        </p:txBody>
      </p:sp>
      <p:sp>
        <p:nvSpPr>
          <p:cNvPr id="38913"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EA4C29DA-4DC9-4E14-B0DA-F2BF745B3CF9}"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38914"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C4048F3F-C90D-4B9A-BFA8-95DA734CE73F}" type="datetime1">
              <a:rPr lang="zh-CN" altLang="en-US"/>
            </a:fld>
            <a:endParaRPr lang="zh-CN" altLang="en-US"/>
          </a:p>
        </p:txBody>
      </p:sp>
      <p:sp>
        <p:nvSpPr>
          <p:cNvPr id="38917" name="Rectangle 1029"/>
          <p:cNvSpPr>
            <a:spLocks noChangeArrowheads="1"/>
          </p:cNvSpPr>
          <p:nvPr/>
        </p:nvSpPr>
        <p:spPr bwMode="auto">
          <a:xfrm>
            <a:off x="381000" y="2286000"/>
            <a:ext cx="8229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solidFill>
                  <a:srgbClr val="0033CC"/>
                </a:solidFill>
                <a:latin typeface="宋体" panose="02010600030101010101" pitchFamily="2" charset="-122"/>
              </a:rPr>
              <a:t>逻辑视图的例子 </a:t>
            </a:r>
            <a:endParaRPr lang="zh-CN" altLang="en-US" sz="3200" b="1" dirty="0">
              <a:solidFill>
                <a:srgbClr val="0033CC"/>
              </a:solidFill>
              <a:latin typeface="宋体" panose="02010600030101010101" pitchFamily="2" charset="-122"/>
            </a:endParaRPr>
          </a:p>
        </p:txBody>
      </p:sp>
      <p:sp>
        <p:nvSpPr>
          <p:cNvPr id="119815" name="Text Box 1031"/>
          <p:cNvSpPr txBox="1">
            <a:spLocks noChangeArrowheads="1"/>
          </p:cNvSpPr>
          <p:nvPr/>
        </p:nvSpPr>
        <p:spPr bwMode="auto">
          <a:xfrm>
            <a:off x="457200" y="3200400"/>
            <a:ext cx="8077200" cy="283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dirty="0"/>
              <a:t>原文中显示了一个专用自动交换分机的例子。专用自动交换分机用于在通信终端之间建立连接。通信终端可能是电话机、中继线</a:t>
            </a:r>
            <a:r>
              <a:rPr lang="en-US" altLang="zh-CN" b="1" dirty="0"/>
              <a:t>(</a:t>
            </a:r>
            <a:r>
              <a:rPr lang="zh-CN" altLang="en-US" b="1" dirty="0"/>
              <a:t>连接到中心室的线路</a:t>
            </a:r>
            <a:r>
              <a:rPr lang="en-US" altLang="zh-CN" b="1" dirty="0"/>
              <a:t>)</a:t>
            </a:r>
            <a:r>
              <a:rPr lang="zh-CN" altLang="en-US" b="1" dirty="0"/>
              <a:t>、专用线</a:t>
            </a:r>
            <a:r>
              <a:rPr lang="en-US" altLang="zh-CN" b="1" dirty="0"/>
              <a:t>(</a:t>
            </a:r>
            <a:r>
              <a:rPr lang="zh-CN" altLang="en-US" b="1" dirty="0"/>
              <a:t>专用自动交换分机和一般的交换分机之间的线路</a:t>
            </a:r>
            <a:r>
              <a:rPr lang="en-US" altLang="zh-CN" b="1" dirty="0"/>
              <a:t>)</a:t>
            </a:r>
            <a:r>
              <a:rPr lang="zh-CN" altLang="en-US" b="1" dirty="0"/>
              <a:t>、数据线、</a:t>
            </a:r>
            <a:r>
              <a:rPr lang="en-US" altLang="zh-CN" b="1" dirty="0"/>
              <a:t>ISDN</a:t>
            </a:r>
            <a:r>
              <a:rPr lang="zh-CN" altLang="en-US" b="1" dirty="0"/>
              <a:t>线等。不同的线路需要不同的线路接口卡的支持。线路控制器对象负责从线路接口卡接受信号，以及向它发送信号，并完成信号和一系列的事件</a:t>
            </a:r>
            <a:r>
              <a:rPr lang="en-US" altLang="zh-CN" b="1" dirty="0"/>
              <a:t>(</a:t>
            </a:r>
            <a:r>
              <a:rPr lang="zh-CN" altLang="en-US" b="1" dirty="0"/>
              <a:t>如开始、结束、计数等</a:t>
            </a:r>
            <a:r>
              <a:rPr lang="en-US" altLang="zh-CN" b="1" dirty="0"/>
              <a:t>)</a:t>
            </a:r>
            <a:r>
              <a:rPr lang="zh-CN" altLang="en-US" b="1" dirty="0"/>
              <a:t>之间的转换。控制器还必须受到严格的实时要求的约束。为了适应不同的接口，这个类有许多的子类。终端对象负责维护终端的状态，并代表所在的线路提供通信服务。对话对象代表在一个对话中涉及的终端的集合。对话对象使用转换目务</a:t>
            </a:r>
            <a:r>
              <a:rPr lang="en-US" altLang="zh-CN" b="1" dirty="0"/>
              <a:t>(</a:t>
            </a:r>
            <a:r>
              <a:rPr lang="zh-CN" altLang="en-US" b="1" dirty="0"/>
              <a:t>逻辑地址和物理地址之间的映射、路由等</a:t>
            </a:r>
            <a:r>
              <a:rPr lang="en-US" altLang="zh-CN" b="1" dirty="0"/>
              <a:t>)</a:t>
            </a:r>
            <a:r>
              <a:rPr lang="zh-CN" altLang="en-US" b="1" dirty="0"/>
              <a:t>和连接服务建立两个终端之间的语音连接。 </a:t>
            </a:r>
            <a:endParaRPr lang="zh-CN" altLang="en-US" b="1" dirty="0"/>
          </a:p>
        </p:txBody>
      </p:sp>
    </p:spTree>
  </p:cSld>
  <p:clrMapOvr>
    <a:masterClrMapping/>
  </p:clrMapOvr>
  <p:transition>
    <p:wipe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1"/>
          <a:stretch>
            <a:fillRect/>
          </a:stretch>
        </p:blipFill>
        <p:spPr>
          <a:xfrm>
            <a:off x="2424894" y="0"/>
            <a:ext cx="4294212" cy="6858000"/>
          </a:xfrm>
          <a:prstGeom prst="rect">
            <a:avLst/>
          </a:prstGeom>
        </p:spPr>
      </p:pic>
    </p:spTree>
  </p:cSld>
  <p:clrMapOvr>
    <a:masterClrMapping/>
  </p:clrMapOvr>
  <p:transition>
    <p:wipe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a:xfrm>
            <a:off x="457200" y="212725"/>
            <a:ext cx="8229600" cy="838200"/>
          </a:xfrm>
        </p:spPr>
        <p:txBody>
          <a:bodyPr/>
          <a:lstStyle/>
          <a:p>
            <a:r>
              <a:rPr lang="zh-CN" altLang="en-US" sz="3200" dirty="0">
                <a:latin typeface="宋体" panose="02010600030101010101" pitchFamily="2" charset="-122"/>
              </a:rPr>
              <a:t>过程视图的体系结构：过程分解</a:t>
            </a:r>
            <a:r>
              <a:rPr lang="zh-CN" altLang="en-US" sz="3200" dirty="0"/>
              <a:t> </a:t>
            </a:r>
            <a:endParaRPr lang="zh-CN" altLang="en-US" sz="3200" dirty="0"/>
          </a:p>
        </p:txBody>
      </p:sp>
      <p:sp>
        <p:nvSpPr>
          <p:cNvPr id="39940" name="Rectangle 3"/>
          <p:cNvSpPr>
            <a:spLocks noGrp="1" noChangeArrowheads="1"/>
          </p:cNvSpPr>
          <p:nvPr>
            <p:ph idx="1"/>
          </p:nvPr>
        </p:nvSpPr>
        <p:spPr>
          <a:xfrm>
            <a:off x="533400" y="1524000"/>
            <a:ext cx="8229600" cy="3886200"/>
          </a:xfrm>
        </p:spPr>
        <p:txBody>
          <a:bodyPr/>
          <a:lstStyle/>
          <a:p>
            <a:pPr algn="just"/>
            <a:r>
              <a:rPr lang="zh-CN" altLang="en-US" sz="2000">
                <a:solidFill>
                  <a:schemeClr val="tx1"/>
                </a:solidFill>
                <a:latin typeface="宋体" panose="02010600030101010101" pitchFamily="2" charset="-122"/>
              </a:rPr>
              <a:t>过程体系结构考虑的是一些非功能性的需求，诸如性能、可用性等。它所要面对的问题有并发，分布，系统的完整性，容错能力等。它还要考虑怎样把过程体系结构与逻辑视图体系结构的要点相适应</a:t>
            </a:r>
            <a:r>
              <a:rPr lang="en-US" altLang="zh-CN" sz="2000">
                <a:solidFill>
                  <a:schemeClr val="tx1"/>
                </a:solidFill>
              </a:rPr>
              <a:t>——</a:t>
            </a:r>
            <a:r>
              <a:rPr lang="zh-CN" altLang="en-US" sz="2000">
                <a:solidFill>
                  <a:schemeClr val="tx1"/>
                </a:solidFill>
                <a:latin typeface="宋体" panose="02010600030101010101" pitchFamily="2" charset="-122"/>
              </a:rPr>
              <a:t>对某个对象的某个操作实际上是在哪个控制线程上发生的。</a:t>
            </a:r>
            <a:endParaRPr lang="zh-CN" altLang="en-US" sz="2000">
              <a:solidFill>
                <a:schemeClr val="tx1"/>
              </a:solidFill>
              <a:latin typeface="宋体" panose="02010600030101010101" pitchFamily="2" charset="-122"/>
            </a:endParaRPr>
          </a:p>
          <a:p>
            <a:pPr algn="just">
              <a:buFont typeface="Wingdings" panose="05000000000000000000" pitchFamily="2" charset="2"/>
              <a:buNone/>
            </a:pPr>
            <a:endParaRPr lang="zh-CN" altLang="en-US" sz="2000">
              <a:solidFill>
                <a:schemeClr val="tx1"/>
              </a:solidFill>
              <a:latin typeface="宋体" panose="02010600030101010101" pitchFamily="2" charset="-122"/>
            </a:endParaRPr>
          </a:p>
          <a:p>
            <a:pPr algn="just"/>
            <a:r>
              <a:rPr lang="zh-CN" altLang="en-US" sz="2000">
                <a:solidFill>
                  <a:schemeClr val="tx1"/>
                </a:solidFill>
                <a:latin typeface="宋体" panose="02010600030101010101" pitchFamily="2" charset="-122"/>
              </a:rPr>
              <a:t>可以把过程体系结构分为几个抽象层次来描述，每个层次考虑不同的方面。在最高层次上，过程体系结构可以被视为是一个逻辑网络的集合。每个独立执行的逻辑网络都是由通信程序</a:t>
            </a:r>
            <a:r>
              <a:rPr lang="en-US" altLang="zh-CN" sz="2000">
                <a:solidFill>
                  <a:schemeClr val="tx1"/>
                </a:solidFill>
                <a:latin typeface="宋体" panose="02010600030101010101" pitchFamily="2" charset="-122"/>
              </a:rPr>
              <a:t>(</a:t>
            </a:r>
            <a:r>
              <a:rPr lang="zh-CN" altLang="en-US" sz="2000">
                <a:solidFill>
                  <a:schemeClr val="tx1"/>
                </a:solidFill>
                <a:latin typeface="宋体" panose="02010600030101010101" pitchFamily="2" charset="-122"/>
              </a:rPr>
              <a:t>即</a:t>
            </a:r>
            <a:r>
              <a:rPr lang="zh-CN" altLang="en-US" sz="2000">
                <a:solidFill>
                  <a:schemeClr val="tx1"/>
                </a:solidFill>
              </a:rPr>
              <a:t>“</a:t>
            </a:r>
            <a:r>
              <a:rPr lang="zh-CN" altLang="en-US" sz="2000">
                <a:solidFill>
                  <a:schemeClr val="tx1"/>
                </a:solidFill>
                <a:latin typeface="宋体" panose="02010600030101010101" pitchFamily="2" charset="-122"/>
              </a:rPr>
              <a:t>过程</a:t>
            </a:r>
            <a:r>
              <a:rPr lang="zh-CN" altLang="en-US" sz="2000">
                <a:solidFill>
                  <a:schemeClr val="tx1"/>
                </a:solidFill>
              </a:rPr>
              <a:t>”</a:t>
            </a:r>
            <a:r>
              <a:rPr lang="en-US" altLang="zh-CN" sz="2000">
                <a:solidFill>
                  <a:schemeClr val="tx1"/>
                </a:solidFill>
                <a:latin typeface="宋体" panose="02010600030101010101" pitchFamily="2" charset="-122"/>
              </a:rPr>
              <a:t>)</a:t>
            </a:r>
            <a:r>
              <a:rPr lang="zh-CN" altLang="en-US" sz="2000">
                <a:solidFill>
                  <a:schemeClr val="tx1"/>
                </a:solidFill>
                <a:latin typeface="宋体" panose="02010600030101010101" pitchFamily="2" charset="-122"/>
              </a:rPr>
              <a:t>构成的。这些逻辑网络分布在一个通过</a:t>
            </a:r>
            <a:r>
              <a:rPr lang="en-US" altLang="zh-CN" sz="2000">
                <a:solidFill>
                  <a:schemeClr val="tx1"/>
                </a:solidFill>
                <a:latin typeface="宋体" panose="02010600030101010101" pitchFamily="2" charset="-122"/>
              </a:rPr>
              <a:t>LAN</a:t>
            </a:r>
            <a:r>
              <a:rPr lang="zh-CN" altLang="en-US" sz="2000">
                <a:solidFill>
                  <a:schemeClr val="tx1"/>
                </a:solidFill>
                <a:latin typeface="宋体" panose="02010600030101010101" pitchFamily="2" charset="-122"/>
              </a:rPr>
              <a:t>或</a:t>
            </a:r>
            <a:r>
              <a:rPr lang="en-US" altLang="zh-CN" sz="2000">
                <a:solidFill>
                  <a:schemeClr val="tx1"/>
                </a:solidFill>
                <a:latin typeface="宋体" panose="02010600030101010101" pitchFamily="2" charset="-122"/>
              </a:rPr>
              <a:t>WAN</a:t>
            </a:r>
            <a:r>
              <a:rPr lang="zh-CN" altLang="en-US" sz="2000">
                <a:solidFill>
                  <a:schemeClr val="tx1"/>
                </a:solidFill>
                <a:latin typeface="宋体" panose="02010600030101010101" pitchFamily="2" charset="-122"/>
              </a:rPr>
              <a:t>连接起来的硬件资源集合上。多个逻辑网络可能同时存在，并共享同样的物理资源。例如，逻辑网络的概念可用于区分在线处理系统和离线处理系统。 </a:t>
            </a:r>
            <a:endParaRPr lang="zh-CN" altLang="en-US" sz="2000">
              <a:solidFill>
                <a:schemeClr val="tx1"/>
              </a:solidFill>
              <a:latin typeface="宋体" panose="02010600030101010101" pitchFamily="2" charset="-122"/>
            </a:endParaRPr>
          </a:p>
        </p:txBody>
      </p:sp>
      <p:sp>
        <p:nvSpPr>
          <p:cNvPr id="39937"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F146C8D8-6486-4E4C-B0AB-6767D68922C9}"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39938"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53CBF95C-232B-4569-8072-057E09F947BE}" type="datetime1">
              <a:rPr lang="zh-CN" altLang="en-US"/>
            </a:fld>
            <a:endParaRPr lang="zh-CN" altLang="en-US"/>
          </a:p>
        </p:txBody>
      </p:sp>
    </p:spTree>
  </p:cSld>
  <p:clrMapOvr>
    <a:masterClrMapping/>
  </p:clrMapOvr>
  <p:transition>
    <p:wipe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1026"/>
          <p:cNvSpPr>
            <a:spLocks noGrp="1" noChangeArrowheads="1"/>
          </p:cNvSpPr>
          <p:nvPr>
            <p:ph type="title"/>
          </p:nvPr>
        </p:nvSpPr>
        <p:spPr>
          <a:xfrm>
            <a:off x="457200" y="116632"/>
            <a:ext cx="8229600" cy="990600"/>
          </a:xfrm>
        </p:spPr>
        <p:txBody>
          <a:bodyPr/>
          <a:lstStyle/>
          <a:p>
            <a:r>
              <a:rPr lang="zh-CN" altLang="en-US" sz="3200" dirty="0">
                <a:latin typeface="宋体" panose="02010600030101010101" pitchFamily="2" charset="-122"/>
              </a:rPr>
              <a:t>过程视图的体系结构：过程分解</a:t>
            </a:r>
            <a:r>
              <a:rPr lang="zh-CN" altLang="en-US" sz="3200" dirty="0"/>
              <a:t> </a:t>
            </a:r>
            <a:endParaRPr lang="zh-CN" altLang="en-US" sz="3200" dirty="0"/>
          </a:p>
        </p:txBody>
      </p:sp>
      <p:sp>
        <p:nvSpPr>
          <p:cNvPr id="40964" name="Rectangle 1027"/>
          <p:cNvSpPr>
            <a:spLocks noGrp="1" noChangeArrowheads="1"/>
          </p:cNvSpPr>
          <p:nvPr>
            <p:ph idx="1"/>
          </p:nvPr>
        </p:nvSpPr>
        <p:spPr>
          <a:xfrm>
            <a:off x="533400" y="1600200"/>
            <a:ext cx="8229600" cy="3429000"/>
          </a:xfrm>
        </p:spPr>
        <p:txBody>
          <a:bodyPr/>
          <a:lstStyle/>
          <a:p>
            <a:pPr algn="just"/>
            <a:r>
              <a:rPr lang="zh-CN" altLang="en-US" sz="2000">
                <a:solidFill>
                  <a:schemeClr val="tx1"/>
                </a:solidFill>
                <a:latin typeface="宋体" panose="02010600030101010101" pitchFamily="2" charset="-122"/>
              </a:rPr>
              <a:t>软件被分为独立的任务的集合。每个任务是一个独立的控制线程，可以在一个处理节点上独立单独调度。因此可以将任务分为主任务和辅任务。主任务是需要单独解决的体系结构元素。辅任务是由于实现原因而在本地加入的附加任务</a:t>
            </a:r>
            <a:r>
              <a:rPr lang="en-US" altLang="zh-CN" sz="2000">
                <a:solidFill>
                  <a:schemeClr val="tx1"/>
                </a:solidFill>
                <a:latin typeface="宋体" panose="02010600030101010101" pitchFamily="2" charset="-122"/>
              </a:rPr>
              <a:t>(</a:t>
            </a:r>
            <a:r>
              <a:rPr lang="zh-CN" altLang="en-US" sz="2000">
                <a:solidFill>
                  <a:schemeClr val="tx1"/>
                </a:solidFill>
                <a:latin typeface="宋体" panose="02010600030101010101" pitchFamily="2" charset="-122"/>
              </a:rPr>
              <a:t>缓冲，超时，等等</a:t>
            </a:r>
            <a:r>
              <a:rPr lang="en-US" altLang="zh-CN" sz="2000">
                <a:solidFill>
                  <a:schemeClr val="tx1"/>
                </a:solidFill>
                <a:latin typeface="宋体" panose="02010600030101010101" pitchFamily="2" charset="-122"/>
              </a:rPr>
              <a:t>)</a:t>
            </a:r>
            <a:r>
              <a:rPr lang="zh-CN" altLang="en-US" sz="2000">
                <a:solidFill>
                  <a:schemeClr val="tx1"/>
                </a:solidFill>
                <a:latin typeface="宋体" panose="02010600030101010101" pitchFamily="2" charset="-122"/>
              </a:rPr>
              <a:t>，例如可以将它们实现为轻量级的线程。主任务通过一套完善定义的任务间通信机制进行通信：同步的或异步的基于消息的通信服务、远程过程调用、时间广播等。不应当假设通信中的主任务处于同一个过程中或处在同一个处理节点上。辅任务的通信可以采用共享内存的方式或其他双方约定的方式。 </a:t>
            </a:r>
            <a:endParaRPr lang="zh-CN" altLang="en-US" sz="2000">
              <a:solidFill>
                <a:schemeClr val="tx1"/>
              </a:solidFill>
              <a:latin typeface="宋体" panose="02010600030101010101" pitchFamily="2" charset="-122"/>
            </a:endParaRPr>
          </a:p>
          <a:p>
            <a:pPr algn="just"/>
            <a:r>
              <a:rPr lang="zh-CN" altLang="en-US" sz="2000">
                <a:solidFill>
                  <a:schemeClr val="tx1"/>
                </a:solidFill>
                <a:latin typeface="宋体" panose="02010600030101010101" pitchFamily="2" charset="-122"/>
              </a:rPr>
              <a:t>基于过程体系结构设计图，可以估计出消息流和过程负荷。</a:t>
            </a:r>
            <a:r>
              <a:rPr lang="zh-CN" altLang="en-US" sz="2000">
                <a:latin typeface="宋体" panose="02010600030101010101" pitchFamily="2" charset="-122"/>
              </a:rPr>
              <a:t> </a:t>
            </a:r>
            <a:endParaRPr lang="zh-CN" altLang="en-US" sz="2000">
              <a:latin typeface="宋体" panose="02010600030101010101" pitchFamily="2" charset="-122"/>
              <a:cs typeface="Times New Roman" panose="02020603050405020304" pitchFamily="18" charset="0"/>
            </a:endParaRPr>
          </a:p>
        </p:txBody>
      </p:sp>
      <p:sp>
        <p:nvSpPr>
          <p:cNvPr id="40961"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60F310CE-C0A1-4053-A20F-BDA5BCBE109B}"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40962"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54D8916C-43A7-44A8-867E-EA2AFC43E2C9}" type="datetime1">
              <a:rPr lang="zh-CN" altLang="en-US"/>
            </a:fld>
            <a:endParaRPr lang="zh-CN" altLang="en-US"/>
          </a:p>
        </p:txBody>
      </p:sp>
    </p:spTree>
  </p:cSld>
  <p:clrMapOvr>
    <a:masterClrMapping/>
  </p:clrMapOvr>
  <p:transition>
    <p:wipe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Grp="1" noChangeArrowheads="1"/>
          </p:cNvSpPr>
          <p:nvPr>
            <p:ph type="title"/>
          </p:nvPr>
        </p:nvSpPr>
        <p:spPr>
          <a:xfrm>
            <a:off x="457200" y="119062"/>
            <a:ext cx="8229600" cy="762000"/>
          </a:xfrm>
        </p:spPr>
        <p:txBody>
          <a:bodyPr/>
          <a:lstStyle/>
          <a:p>
            <a:r>
              <a:rPr lang="zh-CN" altLang="en-US" sz="3200" dirty="0">
                <a:latin typeface="宋体" panose="02010600030101010101" pitchFamily="2" charset="-122"/>
              </a:rPr>
              <a:t>过程视图的符号表示法</a:t>
            </a:r>
            <a:r>
              <a:rPr lang="zh-CN" altLang="en-US" sz="3600" dirty="0">
                <a:latin typeface="宋体" panose="02010600030101010101" pitchFamily="2" charset="-122"/>
              </a:rPr>
              <a:t> </a:t>
            </a:r>
            <a:endParaRPr lang="zh-CN" altLang="en-US" sz="3600" dirty="0">
              <a:latin typeface="宋体" panose="02010600030101010101" pitchFamily="2" charset="-122"/>
            </a:endParaRPr>
          </a:p>
        </p:txBody>
      </p:sp>
      <p:sp>
        <p:nvSpPr>
          <p:cNvPr id="41985"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FF9AA837-B008-44C5-A558-6E438C87F4AD}"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41986"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C81098B2-6E37-4AF5-BD34-98697AD21BF2}" type="datetime1">
              <a:rPr lang="zh-CN" altLang="en-US"/>
            </a:fld>
            <a:endParaRPr lang="zh-CN" altLang="en-US"/>
          </a:p>
        </p:txBody>
      </p:sp>
      <p:graphicFrame>
        <p:nvGraphicFramePr>
          <p:cNvPr id="41988" name="Object 4"/>
          <p:cNvGraphicFramePr>
            <a:graphicFrameLocks noChangeAspect="1"/>
          </p:cNvGraphicFramePr>
          <p:nvPr/>
        </p:nvGraphicFramePr>
        <p:xfrm>
          <a:off x="1143000" y="1219200"/>
          <a:ext cx="6589713" cy="2590800"/>
        </p:xfrm>
        <a:graphic>
          <a:graphicData uri="http://schemas.openxmlformats.org/presentationml/2006/ole">
            <mc:AlternateContent xmlns:mc="http://schemas.openxmlformats.org/markup-compatibility/2006">
              <mc:Choice xmlns:v="urn:schemas-microsoft-com:vml" Requires="v">
                <p:oleObj spid="_x0000_s42031" name="" r:id="rId1" imgW="6591300" imgH="3000375" progId="Paint.Picture">
                  <p:embed/>
                </p:oleObj>
              </mc:Choice>
              <mc:Fallback>
                <p:oleObj name="" r:id="rId1" imgW="6591300" imgH="3000375" progId="Paint.Picture">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219200"/>
                        <a:ext cx="6589713"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1685" name="Text Box 5"/>
          <p:cNvSpPr txBox="1">
            <a:spLocks noChangeArrowheads="1"/>
          </p:cNvSpPr>
          <p:nvPr/>
        </p:nvSpPr>
        <p:spPr bwMode="auto">
          <a:xfrm>
            <a:off x="838200" y="3962400"/>
            <a:ext cx="7086600" cy="201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dirty="0">
                <a:latin typeface="宋体" panose="02010600030101010101" pitchFamily="2" charset="-122"/>
              </a:rPr>
              <a:t>在辅助工具的选择上，可以考虑使用</a:t>
            </a:r>
            <a:r>
              <a:rPr lang="en-US" altLang="zh-CN" b="1" dirty="0">
                <a:latin typeface="宋体" panose="02010600030101010101" pitchFamily="2" charset="-122"/>
              </a:rPr>
              <a:t>TRW</a:t>
            </a:r>
            <a:r>
              <a:rPr lang="zh-CN" altLang="en-US" b="1" dirty="0">
                <a:latin typeface="宋体" panose="02010600030101010101" pitchFamily="2" charset="-122"/>
              </a:rPr>
              <a:t>提供的</a:t>
            </a:r>
            <a:r>
              <a:rPr lang="en-US" altLang="zh-CN" b="1" dirty="0">
                <a:latin typeface="宋体" panose="02010600030101010101" pitchFamily="2" charset="-122"/>
              </a:rPr>
              <a:t>UNAS(Universal Network Architecture Services)</a:t>
            </a:r>
            <a:r>
              <a:rPr lang="zh-CN" altLang="en-US" b="1" dirty="0">
                <a:latin typeface="宋体" panose="02010600030101010101" pitchFamily="2" charset="-122"/>
              </a:rPr>
              <a:t>产品。它可用于把各种过程和任务构建并实现为过程的逻辑网络。</a:t>
            </a:r>
            <a:r>
              <a:rPr lang="en-US" altLang="zh-CN" b="1" dirty="0">
                <a:latin typeface="宋体" panose="02010600030101010101" pitchFamily="2" charset="-122"/>
              </a:rPr>
              <a:t>UNAS</a:t>
            </a:r>
            <a:r>
              <a:rPr lang="zh-CN" altLang="en-US" b="1" dirty="0">
                <a:latin typeface="宋体" panose="02010600030101010101" pitchFamily="2" charset="-122"/>
              </a:rPr>
              <a:t>里面包含的一个工具</a:t>
            </a:r>
            <a:r>
              <a:rPr lang="en-US" altLang="zh-CN" b="1" dirty="0">
                <a:latin typeface="宋体" panose="02010600030101010101" pitchFamily="2" charset="-122"/>
              </a:rPr>
              <a:t>SALE(Software Architecture Lifecycle Environment)</a:t>
            </a:r>
            <a:r>
              <a:rPr lang="zh-CN" altLang="en-US" b="1" dirty="0">
                <a:latin typeface="宋体" panose="02010600030101010101" pitchFamily="2" charset="-122"/>
              </a:rPr>
              <a:t>支持这样的符号表示法。</a:t>
            </a:r>
            <a:r>
              <a:rPr lang="en-US" altLang="zh-CN" b="1" dirty="0">
                <a:latin typeface="宋体" panose="02010600030101010101" pitchFamily="2" charset="-122"/>
              </a:rPr>
              <a:t>SALE</a:t>
            </a:r>
            <a:r>
              <a:rPr lang="zh-CN" altLang="en-US" b="1" dirty="0">
                <a:latin typeface="宋体" panose="02010600030101010101" pitchFamily="2" charset="-122"/>
              </a:rPr>
              <a:t>允许过程体系结构的图形化描述，包括对可能的任务间通信路径的规格说明。然后，从这种规格说明可以自动生成相应的</a:t>
            </a:r>
            <a:r>
              <a:rPr lang="en-US" altLang="zh-CN" b="1" dirty="0">
                <a:latin typeface="宋体" panose="02010600030101010101" pitchFamily="2" charset="-122"/>
              </a:rPr>
              <a:t>Ada</a:t>
            </a:r>
            <a:r>
              <a:rPr lang="zh-CN" altLang="en-US" b="1" dirty="0">
                <a:latin typeface="宋体" panose="02010600030101010101" pitchFamily="2" charset="-122"/>
              </a:rPr>
              <a:t>或</a:t>
            </a:r>
            <a:r>
              <a:rPr lang="en-US" altLang="zh-CN" b="1">
                <a:latin typeface="宋体" panose="02010600030101010101" pitchFamily="2" charset="-122"/>
              </a:rPr>
              <a:t>C++</a:t>
            </a:r>
            <a:r>
              <a:rPr lang="zh-CN" altLang="en-US" b="1">
                <a:latin typeface="宋体" panose="02010600030101010101" pitchFamily="2" charset="-122"/>
              </a:rPr>
              <a:t>语言</a:t>
            </a:r>
            <a:r>
              <a:rPr lang="zh-CN" altLang="en-US" b="1" dirty="0">
                <a:latin typeface="宋体" panose="02010600030101010101" pitchFamily="2" charset="-122"/>
              </a:rPr>
              <a:t>源代码。</a:t>
            </a:r>
            <a:r>
              <a:rPr lang="zh-CN" altLang="en-US" b="1" dirty="0"/>
              <a:t> </a:t>
            </a:r>
            <a:endParaRPr lang="zh-CN" altLang="en-US" b="1" dirty="0"/>
          </a:p>
        </p:txBody>
      </p:sp>
    </p:spTree>
  </p:cSld>
  <p:clrMapOvr>
    <a:masterClrMapping/>
  </p:clrMapOvr>
  <p:transition>
    <p:wipe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1026"/>
          <p:cNvSpPr>
            <a:spLocks noGrp="1" noChangeArrowheads="1"/>
          </p:cNvSpPr>
          <p:nvPr>
            <p:ph type="title"/>
          </p:nvPr>
        </p:nvSpPr>
        <p:spPr>
          <a:xfrm>
            <a:off x="457200" y="492260"/>
            <a:ext cx="8229600" cy="2133600"/>
          </a:xfrm>
        </p:spPr>
        <p:txBody>
          <a:bodyPr/>
          <a:lstStyle/>
          <a:p>
            <a:r>
              <a:rPr lang="zh-CN" altLang="en-US" sz="3200" dirty="0">
                <a:latin typeface="宋体" panose="02010600030101010101" pitchFamily="2" charset="-122"/>
              </a:rPr>
              <a:t>过程视图的风格</a:t>
            </a:r>
            <a:br>
              <a:rPr lang="en-US" altLang="zh-CN" sz="3200" dirty="0">
                <a:latin typeface="宋体" panose="02010600030101010101" pitchFamily="2" charset="-122"/>
              </a:rPr>
            </a:br>
            <a:br>
              <a:rPr lang="en-US" altLang="zh-CN" sz="3200" dirty="0">
                <a:latin typeface="宋体" panose="02010600030101010101" pitchFamily="2" charset="-122"/>
              </a:rPr>
            </a:br>
            <a:br>
              <a:rPr lang="zh-CN" altLang="en-US" sz="2000" dirty="0">
                <a:latin typeface="宋体" panose="02010600030101010101" pitchFamily="2" charset="-122"/>
              </a:rPr>
            </a:br>
            <a:r>
              <a:rPr lang="zh-CN" altLang="en-US" sz="2000" dirty="0">
                <a:latin typeface="宋体" panose="02010600030101010101" pitchFamily="2" charset="-122"/>
              </a:rPr>
              <a:t>  </a:t>
            </a:r>
            <a:br>
              <a:rPr lang="zh-CN" altLang="en-US" sz="2000" dirty="0">
                <a:latin typeface="宋体" panose="02010600030101010101" pitchFamily="2" charset="-122"/>
              </a:rPr>
            </a:br>
            <a:r>
              <a:rPr lang="zh-CN" altLang="en-US" sz="2000" dirty="0">
                <a:solidFill>
                  <a:schemeClr val="tx1"/>
                </a:solidFill>
                <a:latin typeface="宋体" panose="02010600030101010101" pitchFamily="2" charset="-122"/>
              </a:rPr>
              <a:t>有多种风格适合过程体系结构。例如管道和过滤器、客户／服务器及其变体</a:t>
            </a:r>
            <a:r>
              <a:rPr lang="en-US" altLang="zh-CN" sz="2000" dirty="0">
                <a:solidFill>
                  <a:schemeClr val="tx1"/>
                </a:solidFill>
                <a:latin typeface="宋体" panose="02010600030101010101" pitchFamily="2" charset="-122"/>
              </a:rPr>
              <a:t>(</a:t>
            </a:r>
            <a:r>
              <a:rPr lang="zh-CN" altLang="en-US" sz="2000" dirty="0">
                <a:solidFill>
                  <a:schemeClr val="tx1"/>
                </a:solidFill>
                <a:latin typeface="宋体" panose="02010600030101010101" pitchFamily="2" charset="-122"/>
              </a:rPr>
              <a:t>多客户／单服务器，多客户／多服务器</a:t>
            </a:r>
            <a:r>
              <a:rPr lang="en-US" altLang="zh-CN" sz="2000" dirty="0">
                <a:solidFill>
                  <a:schemeClr val="tx1"/>
                </a:solidFill>
                <a:latin typeface="宋体" panose="02010600030101010101" pitchFamily="2" charset="-122"/>
              </a:rPr>
              <a:t>)</a:t>
            </a:r>
            <a:r>
              <a:rPr lang="zh-CN" altLang="en-US" sz="2000" dirty="0">
                <a:solidFill>
                  <a:schemeClr val="tx1"/>
                </a:solidFill>
                <a:latin typeface="宋体" panose="02010600030101010101" pitchFamily="2" charset="-122"/>
              </a:rPr>
              <a:t>等。</a:t>
            </a:r>
            <a:br>
              <a:rPr lang="zh-CN" altLang="en-US" sz="2000" dirty="0">
                <a:solidFill>
                  <a:schemeClr val="tx1"/>
                </a:solidFill>
                <a:latin typeface="宋体" panose="02010600030101010101" pitchFamily="2" charset="-122"/>
              </a:rPr>
            </a:br>
            <a:r>
              <a:rPr lang="en-US" altLang="zh-CN" sz="3200" dirty="0">
                <a:latin typeface="宋体" panose="02010600030101010101" pitchFamily="2" charset="-122"/>
              </a:rPr>
              <a:t>3.2.3 </a:t>
            </a:r>
            <a:r>
              <a:rPr lang="zh-CN" altLang="en-US" sz="3200" dirty="0">
                <a:latin typeface="宋体" panose="02010600030101010101" pitchFamily="2" charset="-122"/>
              </a:rPr>
              <a:t>过程视图的例子</a:t>
            </a:r>
            <a:r>
              <a:rPr lang="zh-CN" altLang="en-US" dirty="0"/>
              <a:t> </a:t>
            </a:r>
            <a:endParaRPr lang="zh-CN" altLang="en-US" dirty="0"/>
          </a:p>
        </p:txBody>
      </p:sp>
      <p:sp>
        <p:nvSpPr>
          <p:cNvPr id="43009"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F77018ED-A27D-49F3-8C32-75F19B6DE6E8}"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43010"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411E3FEC-D88B-42FC-993A-B1953298E55C}" type="datetime1">
              <a:rPr lang="zh-CN" altLang="en-US"/>
            </a:fld>
            <a:endParaRPr lang="zh-CN" altLang="en-US"/>
          </a:p>
        </p:txBody>
      </p:sp>
      <p:graphicFrame>
        <p:nvGraphicFramePr>
          <p:cNvPr id="43012" name="Object 1029"/>
          <p:cNvGraphicFramePr>
            <a:graphicFrameLocks noChangeAspect="1"/>
          </p:cNvGraphicFramePr>
          <p:nvPr/>
        </p:nvGraphicFramePr>
        <p:xfrm>
          <a:off x="1295400" y="2819400"/>
          <a:ext cx="6583363" cy="3352800"/>
        </p:xfrm>
        <a:graphic>
          <a:graphicData uri="http://schemas.openxmlformats.org/presentationml/2006/ole">
            <mc:AlternateContent xmlns:mc="http://schemas.openxmlformats.org/markup-compatibility/2006">
              <mc:Choice xmlns:v="urn:schemas-microsoft-com:vml" Requires="v">
                <p:oleObj spid="_x0000_s43054" name="" r:id="rId1" imgW="6581775" imgH="3352800" progId="Paint.Picture">
                  <p:embed/>
                </p:oleObj>
              </mc:Choice>
              <mc:Fallback>
                <p:oleObj name="" r:id="rId1" imgW="6581775" imgH="3352800" progId="Paint.Picture">
                  <p:embed/>
                  <p:pic>
                    <p:nvPicPr>
                      <p:cNvPr id="0" name="Object 102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819400"/>
                        <a:ext cx="6583363"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wipe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1026"/>
          <p:cNvSpPr>
            <a:spLocks noGrp="1" noChangeArrowheads="1"/>
          </p:cNvSpPr>
          <p:nvPr>
            <p:ph type="title"/>
          </p:nvPr>
        </p:nvSpPr>
        <p:spPr>
          <a:xfrm>
            <a:off x="457200" y="144986"/>
            <a:ext cx="8229600" cy="914400"/>
          </a:xfrm>
        </p:spPr>
        <p:txBody>
          <a:bodyPr/>
          <a:lstStyle/>
          <a:p>
            <a:r>
              <a:rPr lang="zh-CN" altLang="en-US" sz="3200" dirty="0">
                <a:latin typeface="宋体" panose="02010600030101010101" pitchFamily="2" charset="-122"/>
              </a:rPr>
              <a:t>开发视图的体系结构：子系统分解</a:t>
            </a:r>
            <a:r>
              <a:rPr lang="zh-CN" altLang="en-US" dirty="0"/>
              <a:t> </a:t>
            </a:r>
            <a:endParaRPr lang="zh-CN" altLang="en-US" dirty="0"/>
          </a:p>
        </p:txBody>
      </p:sp>
      <p:sp>
        <p:nvSpPr>
          <p:cNvPr id="77827" name="Rectangle 1027"/>
          <p:cNvSpPr>
            <a:spLocks noGrp="1" noChangeArrowheads="1"/>
          </p:cNvSpPr>
          <p:nvPr>
            <p:ph idx="1"/>
          </p:nvPr>
        </p:nvSpPr>
        <p:spPr>
          <a:xfrm>
            <a:off x="152400" y="1524000"/>
            <a:ext cx="8610600" cy="4343400"/>
          </a:xfrm>
        </p:spPr>
        <p:txBody>
          <a:bodyPr/>
          <a:lstStyle/>
          <a:p>
            <a:pPr marL="338455" indent="-246380" algn="just">
              <a:lnSpc>
                <a:spcPct val="90000"/>
              </a:lnSpc>
              <a:spcBef>
                <a:spcPct val="25000"/>
              </a:spcBef>
              <a:buFont typeface="Wingdings" panose="05000000000000000000" pitchFamily="2" charset="2"/>
              <a:buAutoNum type="arabicParenR"/>
              <a:tabLst>
                <a:tab pos="194945" algn="l"/>
              </a:tabLst>
              <a:defRPr/>
            </a:pPr>
            <a:r>
              <a:rPr lang="zh-CN" altLang="en-US" sz="2000" dirty="0">
                <a:solidFill>
                  <a:schemeClr val="tx1"/>
                </a:solidFill>
                <a:latin typeface="宋体" panose="02010600030101010101" pitchFamily="2" charset="-122"/>
              </a:rPr>
              <a:t>开发视图，关注的是在软件开发环境中软件模块的实际组织。软件被打包成可以由单个或少量程序员开发的各种小的部分：程序库或子系统。子系统被组织成层次化的体系，每一层为上一层提供一个严密的、明确定义的接口。</a:t>
            </a:r>
            <a:endParaRPr lang="zh-CN" altLang="en-US" sz="2000" dirty="0">
              <a:solidFill>
                <a:schemeClr val="tx1"/>
              </a:solidFill>
              <a:latin typeface="宋体" panose="02010600030101010101" pitchFamily="2" charset="-122"/>
            </a:endParaRPr>
          </a:p>
          <a:p>
            <a:pPr marL="338455" indent="-246380" algn="just">
              <a:lnSpc>
                <a:spcPct val="90000"/>
              </a:lnSpc>
              <a:spcBef>
                <a:spcPct val="25000"/>
              </a:spcBef>
              <a:buFont typeface="Wingdings" panose="05000000000000000000" pitchFamily="2" charset="2"/>
              <a:buAutoNum type="arabicParenR"/>
              <a:tabLst>
                <a:tab pos="194945" algn="l"/>
              </a:tabLst>
              <a:defRPr/>
            </a:pPr>
            <a:r>
              <a:rPr lang="zh-CN" altLang="en-US" sz="2000" dirty="0">
                <a:solidFill>
                  <a:schemeClr val="tx1"/>
                </a:solidFill>
                <a:latin typeface="宋体" panose="02010600030101010101" pitchFamily="2" charset="-122"/>
              </a:rPr>
              <a:t>系统的开发体系结构用模块图和子系统图来表示，在图中可以显示出</a:t>
            </a:r>
            <a:r>
              <a:rPr lang="zh-CN" altLang="en-US" sz="2000" dirty="0">
                <a:solidFill>
                  <a:schemeClr val="tx1"/>
                </a:solidFill>
              </a:rPr>
              <a:t>“</a:t>
            </a:r>
            <a:r>
              <a:rPr lang="zh-CN" altLang="en-US" sz="2000" dirty="0">
                <a:solidFill>
                  <a:schemeClr val="tx1"/>
                </a:solidFill>
                <a:latin typeface="宋体" panose="02010600030101010101" pitchFamily="2" charset="-122"/>
              </a:rPr>
              <a:t>导入</a:t>
            </a:r>
            <a:r>
              <a:rPr lang="zh-CN" altLang="en-US" sz="2000" dirty="0">
                <a:solidFill>
                  <a:schemeClr val="tx1"/>
                </a:solidFill>
              </a:rPr>
              <a:t>”</a:t>
            </a:r>
            <a:r>
              <a:rPr lang="zh-CN" altLang="en-US" sz="2000" dirty="0">
                <a:solidFill>
                  <a:schemeClr val="tx1"/>
                </a:solidFill>
                <a:latin typeface="宋体" panose="02010600030101010101" pitchFamily="2" charset="-122"/>
              </a:rPr>
              <a:t>和</a:t>
            </a:r>
            <a:r>
              <a:rPr lang="zh-CN" altLang="en-US" sz="2000" dirty="0">
                <a:solidFill>
                  <a:schemeClr val="tx1"/>
                </a:solidFill>
              </a:rPr>
              <a:t>“</a:t>
            </a:r>
            <a:r>
              <a:rPr lang="zh-CN" altLang="en-US" sz="2000" dirty="0">
                <a:solidFill>
                  <a:schemeClr val="tx1"/>
                </a:solidFill>
                <a:latin typeface="宋体" panose="02010600030101010101" pitchFamily="2" charset="-122"/>
              </a:rPr>
              <a:t>导出</a:t>
            </a:r>
            <a:r>
              <a:rPr lang="zh-CN" altLang="en-US" sz="2000" dirty="0">
                <a:solidFill>
                  <a:schemeClr val="tx1"/>
                </a:solidFill>
              </a:rPr>
              <a:t>”</a:t>
            </a:r>
            <a:r>
              <a:rPr lang="zh-CN" altLang="en-US" sz="2000" dirty="0">
                <a:solidFill>
                  <a:schemeClr val="tx1"/>
                </a:solidFill>
                <a:latin typeface="宋体" panose="02010600030101010101" pitchFamily="2" charset="-122"/>
              </a:rPr>
              <a:t>关系。完整的开发体系结构只有在软件系统的所有元素被识别出来之后才能被描述。控制开发体系结构的原则是：分割、编组、可视。</a:t>
            </a:r>
            <a:endParaRPr lang="zh-CN" altLang="en-US" sz="2000" dirty="0">
              <a:solidFill>
                <a:schemeClr val="tx1"/>
              </a:solidFill>
              <a:latin typeface="宋体" panose="02010600030101010101" pitchFamily="2" charset="-122"/>
            </a:endParaRPr>
          </a:p>
          <a:p>
            <a:pPr marL="338455" indent="-246380">
              <a:lnSpc>
                <a:spcPct val="90000"/>
              </a:lnSpc>
              <a:spcBef>
                <a:spcPct val="25000"/>
              </a:spcBef>
              <a:buFont typeface="Wingdings" panose="05000000000000000000" pitchFamily="2" charset="2"/>
              <a:buAutoNum type="arabicParenR"/>
              <a:tabLst>
                <a:tab pos="194945" algn="l"/>
              </a:tabLst>
              <a:defRPr/>
            </a:pPr>
            <a:r>
              <a:rPr lang="zh-CN" altLang="en-US" sz="2000" dirty="0">
                <a:solidFill>
                  <a:schemeClr val="tx1"/>
                </a:solidFill>
                <a:latin typeface="宋体" panose="02010600030101010101" pitchFamily="2" charset="-122"/>
              </a:rPr>
              <a:t>开发体系结构主要考虑的是内部需求，这些需求目的是要使开发相关的活动更易于进行，如软件管理、软件复用、开发工具集所造成的约束、编程语言等。开发体系结构是许多开发话动的基础，包括需求配置、团队组织和工作分配、成本估算和成本规划、项目进度监控、软件可重用性和可移植性分析、软件安全分析等。它是建立软件产品线的基础。</a:t>
            </a:r>
            <a:r>
              <a:rPr lang="zh-CN" altLang="en-US" dirty="0"/>
              <a:t> </a:t>
            </a:r>
            <a:endParaRPr lang="zh-CN" altLang="en-US" dirty="0"/>
          </a:p>
        </p:txBody>
      </p:sp>
      <p:sp>
        <p:nvSpPr>
          <p:cNvPr id="45057"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FDD1CF74-94FF-416A-87C4-008C214D5AC9}"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45058"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E29F423F-973F-4767-9370-3B5BF959E2DF}" type="datetime1">
              <a:rPr lang="zh-CN" altLang="en-US"/>
            </a:fld>
            <a:endParaRPr lang="zh-CN" altLang="en-US"/>
          </a:p>
        </p:txBody>
      </p:sp>
    </p:spTree>
  </p:cSld>
  <p:clrMapOvr>
    <a:masterClrMapping/>
  </p:clrMapOvr>
  <p:transition>
    <p:wipe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a:xfrm>
            <a:off x="457200" y="269875"/>
            <a:ext cx="8229600" cy="609600"/>
          </a:xfrm>
        </p:spPr>
        <p:txBody>
          <a:bodyPr/>
          <a:lstStyle/>
          <a:p>
            <a:r>
              <a:rPr lang="zh-CN" altLang="en-US" sz="3200" dirty="0">
                <a:latin typeface="宋体" panose="02010600030101010101" pitchFamily="2" charset="-122"/>
              </a:rPr>
              <a:t>开发视图的符号表示法</a:t>
            </a:r>
            <a:endParaRPr lang="zh-CN" altLang="en-US" sz="3200" dirty="0">
              <a:latin typeface="宋体" panose="02010600030101010101" pitchFamily="2" charset="-122"/>
            </a:endParaRPr>
          </a:p>
        </p:txBody>
      </p:sp>
      <p:sp>
        <p:nvSpPr>
          <p:cNvPr id="78851" name="Rectangle 3"/>
          <p:cNvSpPr>
            <a:spLocks noGrp="1" noChangeArrowheads="1"/>
          </p:cNvSpPr>
          <p:nvPr>
            <p:ph idx="1"/>
          </p:nvPr>
        </p:nvSpPr>
        <p:spPr>
          <a:xfrm>
            <a:off x="457200" y="1219200"/>
            <a:ext cx="8229600" cy="1295400"/>
          </a:xfrm>
        </p:spPr>
        <p:txBody>
          <a:bodyPr/>
          <a:lstStyle/>
          <a:p>
            <a:pPr marL="195580" indent="0" algn="just">
              <a:lnSpc>
                <a:spcPct val="90000"/>
              </a:lnSpc>
              <a:buFont typeface="Wingdings" panose="05000000000000000000" pitchFamily="2" charset="2"/>
              <a:buNone/>
              <a:defRPr/>
            </a:pPr>
            <a:r>
              <a:rPr lang="zh-CN" altLang="en-US" sz="2000" dirty="0">
                <a:solidFill>
                  <a:schemeClr val="tx1"/>
                </a:solidFill>
                <a:latin typeface="宋体" panose="02010600030101010101" pitchFamily="2" charset="-122"/>
              </a:rPr>
              <a:t>与前面类似，开发视图的符号表示法采用</a:t>
            </a:r>
            <a:r>
              <a:rPr lang="en-US" altLang="zh-CN" sz="2000" dirty="0" err="1">
                <a:solidFill>
                  <a:schemeClr val="tx1"/>
                </a:solidFill>
                <a:latin typeface="宋体" panose="02010600030101010101" pitchFamily="2" charset="-122"/>
              </a:rPr>
              <a:t>Booch</a:t>
            </a:r>
            <a:r>
              <a:rPr lang="zh-CN" altLang="en-US" sz="2000" dirty="0">
                <a:solidFill>
                  <a:schemeClr val="tx1"/>
                </a:solidFill>
                <a:latin typeface="宋体" panose="02010600030101010101" pitchFamily="2" charset="-122"/>
              </a:rPr>
              <a:t>表示法的变体，并且只考虑对于体系结构有重要意义的元素，如图所示。在</a:t>
            </a:r>
            <a:r>
              <a:rPr lang="en-US" altLang="zh-CN" sz="2000" dirty="0">
                <a:solidFill>
                  <a:schemeClr val="tx1"/>
                </a:solidFill>
                <a:latin typeface="宋体" panose="02010600030101010101" pitchFamily="2" charset="-122"/>
              </a:rPr>
              <a:t>Rational Rose</a:t>
            </a:r>
            <a:r>
              <a:rPr lang="zh-CN" altLang="en-US" sz="2000" dirty="0">
                <a:solidFill>
                  <a:schemeClr val="tx1"/>
                </a:solidFill>
                <a:latin typeface="宋体" panose="02010600030101010101" pitchFamily="2" charset="-122"/>
              </a:rPr>
              <a:t>中，可以绘制模块层和子系统层的开发体系结构图，还可以在</a:t>
            </a:r>
            <a:r>
              <a:rPr lang="zh-CN" altLang="en-US" sz="2000" dirty="0">
                <a:latin typeface="宋体" panose="02010600030101010101" pitchFamily="2" charset="-122"/>
              </a:rPr>
              <a:t>逆向</a:t>
            </a:r>
            <a:r>
              <a:rPr lang="zh-CN" altLang="en-US" sz="2000" dirty="0">
                <a:solidFill>
                  <a:schemeClr val="tx1"/>
                </a:solidFill>
                <a:latin typeface="宋体" panose="02010600030101010101" pitchFamily="2" charset="-122"/>
              </a:rPr>
              <a:t>工程中从已经开发的源代码</a:t>
            </a:r>
            <a:r>
              <a:rPr lang="en-US" altLang="zh-CN" sz="2000" dirty="0">
                <a:solidFill>
                  <a:schemeClr val="tx1"/>
                </a:solidFill>
                <a:latin typeface="宋体" panose="02010600030101010101" pitchFamily="2" charset="-122"/>
              </a:rPr>
              <a:t>(Ada</a:t>
            </a:r>
            <a:r>
              <a:rPr lang="zh-CN" altLang="en-US" sz="2000" dirty="0">
                <a:solidFill>
                  <a:schemeClr val="tx1"/>
                </a:solidFill>
                <a:latin typeface="宋体" panose="02010600030101010101" pitchFamily="2" charset="-122"/>
              </a:rPr>
              <a:t>或</a:t>
            </a:r>
            <a:r>
              <a:rPr lang="en-US" altLang="zh-CN" sz="2000" dirty="0">
                <a:solidFill>
                  <a:schemeClr val="tx1"/>
                </a:solidFill>
                <a:latin typeface="宋体" panose="02010600030101010101" pitchFamily="2" charset="-122"/>
              </a:rPr>
              <a:t>C++)</a:t>
            </a:r>
            <a:r>
              <a:rPr lang="zh-CN" altLang="en-US" sz="2000" dirty="0">
                <a:solidFill>
                  <a:schemeClr val="tx1"/>
                </a:solidFill>
                <a:latin typeface="宋体" panose="02010600030101010101" pitchFamily="2" charset="-122"/>
              </a:rPr>
              <a:t>得出系统的开发体系结构图。</a:t>
            </a:r>
            <a:r>
              <a:rPr lang="zh-CN" altLang="en-US" sz="2000" dirty="0"/>
              <a:t> </a:t>
            </a:r>
            <a:endParaRPr lang="zh-CN" altLang="en-US" sz="2000" dirty="0"/>
          </a:p>
        </p:txBody>
      </p:sp>
      <p:sp>
        <p:nvSpPr>
          <p:cNvPr id="46081"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0B2128B6-40E0-469B-9EBC-3381DA314B9F}"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46082"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D6ABB2D9-06B8-463E-AD1C-9C2484F217C4}" type="datetime1">
              <a:rPr lang="zh-CN" altLang="en-US"/>
            </a:fld>
            <a:endParaRPr lang="zh-CN" altLang="en-US"/>
          </a:p>
        </p:txBody>
      </p:sp>
      <p:graphicFrame>
        <p:nvGraphicFramePr>
          <p:cNvPr id="46085" name="Object 4"/>
          <p:cNvGraphicFramePr>
            <a:graphicFrameLocks noChangeAspect="1"/>
          </p:cNvGraphicFramePr>
          <p:nvPr/>
        </p:nvGraphicFramePr>
        <p:xfrm>
          <a:off x="1219200" y="2590800"/>
          <a:ext cx="6583363" cy="2705100"/>
        </p:xfrm>
        <a:graphic>
          <a:graphicData uri="http://schemas.openxmlformats.org/presentationml/2006/ole">
            <mc:AlternateContent xmlns:mc="http://schemas.openxmlformats.org/markup-compatibility/2006">
              <mc:Choice xmlns:v="urn:schemas-microsoft-com:vml" Requires="v">
                <p:oleObj spid="_x0000_s46127" name="" r:id="rId1" imgW="6581775" imgH="2705100" progId="Paint.Picture">
                  <p:embed/>
                </p:oleObj>
              </mc:Choice>
              <mc:Fallback>
                <p:oleObj name="" r:id="rId1" imgW="6581775" imgH="2705100" progId="Paint.Picture">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2590800"/>
                        <a:ext cx="6583363" cy="270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wipe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ChangeArrowheads="1"/>
          </p:cNvSpPr>
          <p:nvPr>
            <p:ph type="title"/>
          </p:nvPr>
        </p:nvSpPr>
        <p:spPr>
          <a:xfrm>
            <a:off x="457200" y="188640"/>
            <a:ext cx="8229600" cy="914400"/>
          </a:xfrm>
        </p:spPr>
        <p:txBody>
          <a:bodyPr/>
          <a:lstStyle/>
          <a:p>
            <a:r>
              <a:rPr lang="zh-CN" altLang="en-US" sz="3200" dirty="0">
                <a:latin typeface="宋体" panose="02010600030101010101" pitchFamily="2" charset="-122"/>
              </a:rPr>
              <a:t>开发视图的风格</a:t>
            </a:r>
            <a:endParaRPr lang="zh-CN" altLang="en-US" sz="3200" dirty="0">
              <a:latin typeface="宋体" panose="02010600030101010101" pitchFamily="2" charset="-122"/>
            </a:endParaRPr>
          </a:p>
        </p:txBody>
      </p:sp>
      <p:sp>
        <p:nvSpPr>
          <p:cNvPr id="79875" name="Rectangle 3"/>
          <p:cNvSpPr>
            <a:spLocks noGrp="1" noChangeArrowheads="1"/>
          </p:cNvSpPr>
          <p:nvPr>
            <p:ph idx="1"/>
          </p:nvPr>
        </p:nvSpPr>
        <p:spPr>
          <a:xfrm>
            <a:off x="381000" y="1828800"/>
            <a:ext cx="8229600" cy="3733800"/>
          </a:xfrm>
        </p:spPr>
        <p:txBody>
          <a:bodyPr/>
          <a:lstStyle/>
          <a:p>
            <a:pPr algn="just">
              <a:buFont typeface="Wingdings" panose="05000000000000000000" pitchFamily="2" charset="2"/>
              <a:buNone/>
              <a:defRPr/>
            </a:pPr>
            <a:r>
              <a:rPr lang="en-US" altLang="zh-CN" sz="2400" dirty="0">
                <a:solidFill>
                  <a:schemeClr val="tx1"/>
                </a:solidFill>
                <a:latin typeface="宋体" panose="02010600030101010101" pitchFamily="2" charset="-122"/>
              </a:rPr>
              <a:t>    </a:t>
            </a:r>
            <a:r>
              <a:rPr lang="zh-CN" altLang="en-US" sz="2400" dirty="0">
                <a:solidFill>
                  <a:schemeClr val="tx1"/>
                </a:solidFill>
                <a:latin typeface="宋体" panose="02010600030101010101" pitchFamily="2" charset="-122"/>
              </a:rPr>
              <a:t>对于开发视图，我们建议采用分层风格，定义</a:t>
            </a:r>
            <a:r>
              <a:rPr lang="en-US" altLang="zh-CN" sz="2400" dirty="0">
                <a:solidFill>
                  <a:schemeClr val="tx1"/>
                </a:solidFill>
                <a:latin typeface="宋体" panose="02010600030101010101" pitchFamily="2" charset="-122"/>
              </a:rPr>
              <a:t>4</a:t>
            </a:r>
            <a:r>
              <a:rPr lang="en-US" altLang="zh-CN" sz="2400" dirty="0">
                <a:solidFill>
                  <a:schemeClr val="tx1"/>
                </a:solidFill>
              </a:rPr>
              <a:t>—</a:t>
            </a:r>
            <a:r>
              <a:rPr lang="en-US" altLang="zh-CN" sz="2400" dirty="0">
                <a:solidFill>
                  <a:schemeClr val="tx1"/>
                </a:solidFill>
                <a:latin typeface="宋体" panose="02010600030101010101" pitchFamily="2" charset="-122"/>
              </a:rPr>
              <a:t>6</a:t>
            </a:r>
            <a:r>
              <a:rPr lang="zh-CN" altLang="en-US" sz="2400" dirty="0">
                <a:solidFill>
                  <a:schemeClr val="tx1"/>
                </a:solidFill>
                <a:latin typeface="宋体" panose="02010600030101010101" pitchFamily="2" charset="-122"/>
              </a:rPr>
              <a:t>层的子系统。每一层都有明确责任。设计规则是，某一层的子系统只能依赖于本层或其下层的子系统。这样做的目模块间相互依赖而构成的复杂网络最小化，并使得系统可以采用逐层的策略完成释放。</a:t>
            </a:r>
            <a:endParaRPr lang="zh-CN" altLang="en-US" sz="2400" dirty="0">
              <a:solidFill>
                <a:schemeClr val="tx1"/>
              </a:solidFill>
              <a:latin typeface="宋体" panose="02010600030101010101" pitchFamily="2" charset="-122"/>
            </a:endParaRPr>
          </a:p>
        </p:txBody>
      </p:sp>
      <p:sp>
        <p:nvSpPr>
          <p:cNvPr id="48129"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2D79CAEF-0F34-4258-8ABC-816973A3353E}"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48130"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F1BA10B7-5F11-4190-9B24-CBC4C8C9CB76}" type="datetime1">
              <a:rPr lang="zh-CN" altLang="en-US"/>
            </a:fld>
            <a:endParaRPr lang="zh-CN" altLang="en-US"/>
          </a:p>
        </p:txBody>
      </p:sp>
    </p:spTree>
  </p:cSld>
  <p:clrMapOvr>
    <a:masterClrMapping/>
  </p:clrMapOvr>
  <p:transition>
    <p:wipe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a:xfrm>
            <a:off x="457200" y="314683"/>
            <a:ext cx="8229600" cy="685800"/>
          </a:xfrm>
        </p:spPr>
        <p:txBody>
          <a:bodyPr/>
          <a:lstStyle/>
          <a:p>
            <a:r>
              <a:rPr lang="zh-CN" altLang="en-US" sz="3200" dirty="0">
                <a:latin typeface="宋体" panose="02010600030101010101" pitchFamily="2" charset="-122"/>
              </a:rPr>
              <a:t>开发视图的例子</a:t>
            </a:r>
            <a:endParaRPr lang="zh-CN" altLang="en-US" sz="3200" dirty="0">
              <a:latin typeface="宋体" panose="02010600030101010101" pitchFamily="2" charset="-122"/>
            </a:endParaRPr>
          </a:p>
        </p:txBody>
      </p:sp>
      <p:sp>
        <p:nvSpPr>
          <p:cNvPr id="81923" name="Rectangle 3"/>
          <p:cNvSpPr>
            <a:spLocks noGrp="1" noChangeArrowheads="1"/>
          </p:cNvSpPr>
          <p:nvPr>
            <p:ph idx="1"/>
          </p:nvPr>
        </p:nvSpPr>
        <p:spPr>
          <a:xfrm>
            <a:off x="304800" y="1219200"/>
            <a:ext cx="8229600" cy="838200"/>
          </a:xfrm>
        </p:spPr>
        <p:txBody>
          <a:bodyPr/>
          <a:lstStyle/>
          <a:p>
            <a:pPr>
              <a:buFont typeface="Wingdings" panose="05000000000000000000" pitchFamily="2" charset="2"/>
              <a:buNone/>
              <a:defRPr/>
            </a:pPr>
            <a:r>
              <a:rPr lang="en-US" altLang="zh-CN" sz="2000" dirty="0">
                <a:solidFill>
                  <a:schemeClr val="tx1"/>
                </a:solidFill>
                <a:latin typeface="宋体" panose="02010600030101010101" pitchFamily="2" charset="-122"/>
              </a:rPr>
              <a:t>  </a:t>
            </a:r>
            <a:r>
              <a:rPr lang="zh-CN" altLang="en-US" sz="2000" dirty="0">
                <a:solidFill>
                  <a:schemeClr val="tx1"/>
                </a:solidFill>
                <a:latin typeface="宋体" panose="02010600030101010101" pitchFamily="2" charset="-122"/>
              </a:rPr>
              <a:t>下图用</a:t>
            </a:r>
            <a:r>
              <a:rPr lang="en-US" altLang="zh-CN" sz="2000" dirty="0">
                <a:solidFill>
                  <a:schemeClr val="tx1"/>
                </a:solidFill>
                <a:latin typeface="宋体" panose="02010600030101010101" pitchFamily="2" charset="-122"/>
              </a:rPr>
              <a:t>5</a:t>
            </a:r>
            <a:r>
              <a:rPr lang="zh-CN" altLang="en-US" sz="2000" dirty="0">
                <a:solidFill>
                  <a:schemeClr val="tx1"/>
                </a:solidFill>
                <a:latin typeface="宋体" panose="02010600030101010101" pitchFamily="2" charset="-122"/>
              </a:rPr>
              <a:t>个层次表示了航空交通管制系统产品线的开发组织。此开发体系结构图</a:t>
            </a:r>
            <a:r>
              <a:rPr lang="en-US" altLang="zh-CN" sz="2000" dirty="0">
                <a:solidFill>
                  <a:schemeClr val="tx1"/>
                </a:solidFill>
                <a:latin typeface="宋体" panose="02010600030101010101" pitchFamily="2" charset="-122"/>
              </a:rPr>
              <a:t>3-4(b)</a:t>
            </a:r>
            <a:r>
              <a:rPr lang="zh-CN" altLang="en-US" sz="2000" dirty="0">
                <a:solidFill>
                  <a:schemeClr val="tx1"/>
                </a:solidFill>
                <a:latin typeface="宋体" panose="02010600030101010101" pitchFamily="2" charset="-122"/>
              </a:rPr>
              <a:t>中描述的逻辑体系结构相对应的。</a:t>
            </a:r>
            <a:endParaRPr lang="zh-CN" altLang="en-US" sz="2000" dirty="0">
              <a:solidFill>
                <a:schemeClr val="tx1"/>
              </a:solidFill>
              <a:latin typeface="宋体" panose="02010600030101010101" pitchFamily="2" charset="-122"/>
            </a:endParaRPr>
          </a:p>
        </p:txBody>
      </p:sp>
      <p:sp>
        <p:nvSpPr>
          <p:cNvPr id="49153"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BB3F6A76-DA5E-4A0C-9E56-E895A628BA89}"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49154"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50E5A14E-6363-476C-BC92-D3C3FBA9C4EC}" type="datetime1">
              <a:rPr lang="zh-CN" altLang="en-US"/>
            </a:fld>
            <a:endParaRPr lang="zh-CN" altLang="en-US"/>
          </a:p>
        </p:txBody>
      </p:sp>
      <p:sp>
        <p:nvSpPr>
          <p:cNvPr id="49157" name="Rectangle 5"/>
          <p:cNvSpPr>
            <a:spLocks noChangeArrowheads="1"/>
          </p:cNvSpPr>
          <p:nvPr/>
        </p:nvSpPr>
        <p:spPr bwMode="auto">
          <a:xfrm>
            <a:off x="1933575" y="22479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9158" name="Object 4"/>
          <p:cNvGraphicFramePr>
            <a:graphicFrameLocks noChangeAspect="1"/>
          </p:cNvGraphicFramePr>
          <p:nvPr/>
        </p:nvGraphicFramePr>
        <p:xfrm>
          <a:off x="1295400" y="2209800"/>
          <a:ext cx="6705600" cy="3676650"/>
        </p:xfrm>
        <a:graphic>
          <a:graphicData uri="http://schemas.openxmlformats.org/presentationml/2006/ole">
            <mc:AlternateContent xmlns:mc="http://schemas.openxmlformats.org/markup-compatibility/2006">
              <mc:Choice xmlns:v="urn:schemas-microsoft-com:vml" Requires="v">
                <p:oleObj spid="_x0000_s49200" name="" r:id="rId1" imgW="7715250" imgH="4619625" progId="Paint.Picture">
                  <p:embed/>
                </p:oleObj>
              </mc:Choice>
              <mc:Fallback>
                <p:oleObj name="" r:id="rId1" imgW="7715250" imgH="4619625" progId="Paint.Picture">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209800"/>
                        <a:ext cx="6705600" cy="367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wipe di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title"/>
          </p:nvPr>
        </p:nvSpPr>
        <p:spPr/>
        <p:txBody>
          <a:bodyPr/>
          <a:lstStyle/>
          <a:p>
            <a:r>
              <a:rPr lang="zh-CN" altLang="en-US" sz="2800" dirty="0">
                <a:latin typeface="宋体" panose="02010600030101010101" pitchFamily="2" charset="-122"/>
              </a:rPr>
              <a:t>物理视图的体系结构：从软件到硬件的映射</a:t>
            </a:r>
            <a:r>
              <a:rPr lang="zh-CN" altLang="en-US" dirty="0"/>
              <a:t> </a:t>
            </a:r>
            <a:endParaRPr lang="zh-CN" altLang="en-US" dirty="0"/>
          </a:p>
        </p:txBody>
      </p:sp>
      <p:sp>
        <p:nvSpPr>
          <p:cNvPr id="74755" name="Rectangle 3"/>
          <p:cNvSpPr>
            <a:spLocks noGrp="1" noChangeArrowheads="1"/>
          </p:cNvSpPr>
          <p:nvPr>
            <p:ph sz="half" idx="1"/>
          </p:nvPr>
        </p:nvSpPr>
        <p:spPr>
          <a:xfrm>
            <a:off x="533400" y="1828800"/>
            <a:ext cx="7696200" cy="3886200"/>
          </a:xfrm>
        </p:spPr>
        <p:txBody>
          <a:bodyPr/>
          <a:lstStyle/>
          <a:p>
            <a:pPr marL="195580" indent="0">
              <a:buFont typeface="Wingdings" panose="05000000000000000000" pitchFamily="2" charset="2"/>
              <a:buNone/>
              <a:defRPr/>
            </a:pPr>
            <a:r>
              <a:rPr lang="zh-CN" altLang="en-US" sz="2000" dirty="0">
                <a:solidFill>
                  <a:schemeClr val="tx1"/>
                </a:solidFill>
                <a:latin typeface="宋体" panose="02010600030101010101" pitchFamily="2" charset="-122"/>
              </a:rPr>
              <a:t>物理体系结构主要考虑的是非功能性的系统需求，如系统的可用性、可靠性</a:t>
            </a:r>
            <a:r>
              <a:rPr lang="en-US" altLang="zh-CN" sz="2000" dirty="0">
                <a:solidFill>
                  <a:schemeClr val="tx1"/>
                </a:solidFill>
                <a:latin typeface="宋体" panose="02010600030101010101" pitchFamily="2" charset="-122"/>
              </a:rPr>
              <a:t>(</a:t>
            </a:r>
            <a:r>
              <a:rPr lang="zh-CN" altLang="en-US" sz="2000" dirty="0">
                <a:solidFill>
                  <a:schemeClr val="tx1"/>
                </a:solidFill>
                <a:latin typeface="宋体" panose="02010600030101010101" pitchFamily="2" charset="-122"/>
              </a:rPr>
              <a:t>容错性</a:t>
            </a:r>
            <a:r>
              <a:rPr lang="en-US" altLang="zh-CN" sz="2000" dirty="0">
                <a:solidFill>
                  <a:schemeClr val="tx1"/>
                </a:solidFill>
                <a:latin typeface="宋体" panose="02010600030101010101" pitchFamily="2" charset="-122"/>
              </a:rPr>
              <a:t>)</a:t>
            </a:r>
            <a:r>
              <a:rPr lang="zh-CN" altLang="en-US" sz="2000" dirty="0">
                <a:solidFill>
                  <a:schemeClr val="tx1"/>
                </a:solidFill>
                <a:latin typeface="宋体" panose="02010600030101010101" pitchFamily="2" charset="-122"/>
              </a:rPr>
              <a:t>、性能</a:t>
            </a:r>
            <a:r>
              <a:rPr lang="en-US" altLang="zh-CN" sz="2000" dirty="0">
                <a:solidFill>
                  <a:schemeClr val="tx1"/>
                </a:solidFill>
                <a:latin typeface="宋体" panose="02010600030101010101" pitchFamily="2" charset="-122"/>
              </a:rPr>
              <a:t>(</a:t>
            </a:r>
            <a:r>
              <a:rPr lang="zh-CN" altLang="en-US" sz="2000" dirty="0">
                <a:solidFill>
                  <a:schemeClr val="tx1"/>
                </a:solidFill>
                <a:latin typeface="宋体" panose="02010600030101010101" pitchFamily="2" charset="-122"/>
              </a:rPr>
              <a:t>信息吞吐量</a:t>
            </a:r>
            <a:r>
              <a:rPr lang="en-US" altLang="zh-CN" sz="2000" dirty="0">
                <a:solidFill>
                  <a:schemeClr val="tx1"/>
                </a:solidFill>
                <a:latin typeface="宋体" panose="02010600030101010101" pitchFamily="2" charset="-122"/>
              </a:rPr>
              <a:t>)</a:t>
            </a:r>
            <a:r>
              <a:rPr lang="zh-CN" altLang="en-US" sz="2000" dirty="0">
                <a:solidFill>
                  <a:schemeClr val="tx1"/>
                </a:solidFill>
                <a:latin typeface="宋体" panose="02010600030101010101" pitchFamily="2" charset="-122"/>
              </a:rPr>
              <a:t>和可扩展性。软件系统在计算机网络的各个处理节点上运行。各种被确定出的元素</a:t>
            </a:r>
            <a:r>
              <a:rPr lang="en-US" altLang="zh-CN" sz="2000" dirty="0">
                <a:solidFill>
                  <a:schemeClr val="tx1"/>
                </a:solidFill>
              </a:rPr>
              <a:t>——</a:t>
            </a:r>
            <a:r>
              <a:rPr lang="zh-CN" altLang="en-US" sz="2000" dirty="0">
                <a:solidFill>
                  <a:schemeClr val="tx1"/>
                </a:solidFill>
                <a:latin typeface="宋体" panose="02010600030101010101" pitchFamily="2" charset="-122"/>
              </a:rPr>
              <a:t>网络、过程、任务和对象</a:t>
            </a:r>
            <a:r>
              <a:rPr lang="en-US" altLang="zh-CN" sz="2000" dirty="0">
                <a:solidFill>
                  <a:schemeClr val="tx1"/>
                </a:solidFill>
              </a:rPr>
              <a:t>——</a:t>
            </a:r>
            <a:r>
              <a:rPr lang="zh-CN" altLang="en-US" sz="2000" dirty="0">
                <a:solidFill>
                  <a:schemeClr val="tx1"/>
                </a:solidFill>
                <a:latin typeface="宋体" panose="02010600030101010101" pitchFamily="2" charset="-122"/>
              </a:rPr>
              <a:t>需要映射到各种节点上去。将用到不同的物理配置。有些用于开发和测试，有些用于不同场所或不同用户。因此从软件到处理节点的映射需要高度灵活，并且最小限度地影响其本身的源代码。</a:t>
            </a:r>
            <a:r>
              <a:rPr lang="zh-CN" altLang="en-US" sz="2800" dirty="0"/>
              <a:t> </a:t>
            </a:r>
            <a:endParaRPr lang="zh-CN" altLang="en-US" sz="2800" dirty="0"/>
          </a:p>
        </p:txBody>
      </p:sp>
      <p:sp>
        <p:nvSpPr>
          <p:cNvPr id="50178" name="日期占位符 5"/>
          <p:cNvSpPr>
            <a:spLocks noGrp="1" noChangeArrowheads="1"/>
          </p:cNvSpPr>
          <p:nvPr>
            <p:ph type="dt" sz="half"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D621F963-1453-492B-9FCF-047E86DAC2E5}" type="datetime1">
              <a:rPr lang="zh-CN" altLang="en-US"/>
            </a:fld>
            <a:endParaRPr lang="zh-CN" altLang="en-US"/>
          </a:p>
        </p:txBody>
      </p:sp>
      <p:sp>
        <p:nvSpPr>
          <p:cNvPr id="50177"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CA0C1C55-9ED2-46AE-9539-A431B2C9A8AD}" type="slidenum">
              <a:rPr lang="en-US" altLang="zh-CN">
                <a:latin typeface="Arial Black" panose="020B0A04020102020204" pitchFamily="34" charset="0"/>
              </a:rPr>
            </a:fld>
            <a:endParaRPr lang="en-US" altLang="zh-CN">
              <a:latin typeface="Arial Black" panose="020B0A04020102020204" pitchFamily="34" charset="0"/>
            </a:endParaRPr>
          </a:p>
        </p:txBody>
      </p:sp>
    </p:spTree>
  </p:cSld>
  <p:clrMapOvr>
    <a:masterClrMapping/>
  </p:clrMapOvr>
  <p:transition>
    <p:wipe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a:xfrm>
            <a:off x="457200" y="457200"/>
            <a:ext cx="8229600" cy="533400"/>
          </a:xfrm>
        </p:spPr>
        <p:txBody>
          <a:bodyPr/>
          <a:lstStyle/>
          <a:p>
            <a:r>
              <a:rPr lang="zh-CN" altLang="en-US" sz="3200" dirty="0">
                <a:latin typeface="宋体" panose="02010600030101010101" pitchFamily="2" charset="-122"/>
              </a:rPr>
              <a:t>物理视图的符号表示法</a:t>
            </a:r>
            <a:r>
              <a:rPr lang="zh-CN" altLang="en-US" sz="4000" dirty="0"/>
              <a:t> </a:t>
            </a:r>
            <a:endParaRPr lang="zh-CN" altLang="en-US" sz="4000" dirty="0"/>
          </a:p>
        </p:txBody>
      </p:sp>
      <p:sp>
        <p:nvSpPr>
          <p:cNvPr id="76803" name="Rectangle 3"/>
          <p:cNvSpPr>
            <a:spLocks noGrp="1" noChangeArrowheads="1"/>
          </p:cNvSpPr>
          <p:nvPr>
            <p:ph idx="1"/>
          </p:nvPr>
        </p:nvSpPr>
        <p:spPr>
          <a:xfrm>
            <a:off x="457200" y="1219200"/>
            <a:ext cx="8229600" cy="1066800"/>
          </a:xfrm>
        </p:spPr>
        <p:txBody>
          <a:bodyPr/>
          <a:lstStyle/>
          <a:p>
            <a:pPr>
              <a:lnSpc>
                <a:spcPct val="90000"/>
              </a:lnSpc>
              <a:buFont typeface="Wingdings" panose="05000000000000000000" pitchFamily="2" charset="2"/>
              <a:buNone/>
              <a:defRPr/>
            </a:pPr>
            <a:r>
              <a:rPr lang="en-US" altLang="zh-CN" sz="2400" dirty="0">
                <a:solidFill>
                  <a:schemeClr val="tx1"/>
                </a:solidFill>
                <a:latin typeface="宋体" panose="02010600030101010101" pitchFamily="2" charset="-122"/>
              </a:rPr>
              <a:t>     TRW</a:t>
            </a:r>
            <a:r>
              <a:rPr lang="zh-CN" altLang="en-US" sz="2400" dirty="0">
                <a:solidFill>
                  <a:schemeClr val="tx1"/>
                </a:solidFill>
                <a:latin typeface="宋体" panose="02010600030101010101" pitchFamily="2" charset="-122"/>
              </a:rPr>
              <a:t>公司的</a:t>
            </a:r>
            <a:r>
              <a:rPr lang="en-US" altLang="zh-CN" sz="2400" dirty="0">
                <a:solidFill>
                  <a:schemeClr val="tx1"/>
                </a:solidFill>
                <a:latin typeface="宋体" panose="02010600030101010101" pitchFamily="2" charset="-122"/>
              </a:rPr>
              <a:t>UNAS</a:t>
            </a:r>
            <a:r>
              <a:rPr lang="zh-CN" altLang="en-US" sz="2400" dirty="0">
                <a:solidFill>
                  <a:schemeClr val="tx1"/>
                </a:solidFill>
                <a:latin typeface="宋体" panose="02010600030101010101" pitchFamily="2" charset="-122"/>
              </a:rPr>
              <a:t>允许使用者采用数据驱动的方式将过程体系结构映射到物理体系结构，并允许在不修改源代码的情况下对这种映射做出多种改动。</a:t>
            </a:r>
            <a:r>
              <a:rPr lang="zh-CN" altLang="en-US" sz="2400" dirty="0">
                <a:solidFill>
                  <a:schemeClr val="tx1"/>
                </a:solidFill>
              </a:rPr>
              <a:t> </a:t>
            </a:r>
            <a:endParaRPr lang="zh-CN" altLang="en-US" sz="2400" dirty="0">
              <a:solidFill>
                <a:schemeClr val="tx1"/>
              </a:solidFill>
            </a:endParaRPr>
          </a:p>
        </p:txBody>
      </p:sp>
      <p:sp>
        <p:nvSpPr>
          <p:cNvPr id="51201"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DFBE527C-3D28-41F5-9000-90DF2E9D2A74}"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51202"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2AE6D2F4-1F84-43A2-ADE3-C76CAA320F30}" type="datetime1">
              <a:rPr lang="zh-CN" altLang="en-US"/>
            </a:fld>
            <a:endParaRPr lang="zh-CN" altLang="en-US"/>
          </a:p>
        </p:txBody>
      </p:sp>
      <p:sp>
        <p:nvSpPr>
          <p:cNvPr id="51205" name="Rectangle 5"/>
          <p:cNvSpPr>
            <a:spLocks noChangeArrowheads="1"/>
          </p:cNvSpPr>
          <p:nvPr/>
        </p:nvSpPr>
        <p:spPr bwMode="auto">
          <a:xfrm>
            <a:off x="1933575" y="27098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51206" name="Object 4"/>
          <p:cNvGraphicFramePr>
            <a:graphicFrameLocks noChangeAspect="1"/>
          </p:cNvGraphicFramePr>
          <p:nvPr/>
        </p:nvGraphicFramePr>
        <p:xfrm>
          <a:off x="1447800" y="2514600"/>
          <a:ext cx="6705600" cy="2928938"/>
        </p:xfrm>
        <a:graphic>
          <a:graphicData uri="http://schemas.openxmlformats.org/presentationml/2006/ole">
            <mc:AlternateContent xmlns:mc="http://schemas.openxmlformats.org/markup-compatibility/2006">
              <mc:Choice xmlns:v="urn:schemas-microsoft-com:vml" Requires="v">
                <p:oleObj spid="_x0000_s51248" name="" r:id="rId1" imgW="6496050" imgH="2447925" progId="Paint.Picture">
                  <p:embed/>
                </p:oleObj>
              </mc:Choice>
              <mc:Fallback>
                <p:oleObj name="" r:id="rId1" imgW="6496050" imgH="2447925" progId="Paint.Picture">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2514600"/>
                        <a:ext cx="6705600" cy="292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wipe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1"/>
          <a:stretch>
            <a:fillRect/>
          </a:stretch>
        </p:blipFill>
        <p:spPr>
          <a:xfrm>
            <a:off x="1710972" y="0"/>
            <a:ext cx="5722056" cy="6858000"/>
          </a:xfrm>
          <a:prstGeom prst="rect">
            <a:avLst/>
          </a:prstGeom>
        </p:spPr>
      </p:pic>
    </p:spTree>
  </p:cSld>
  <p:clrMapOvr>
    <a:masterClrMapping/>
  </p:clrMapOvr>
  <p:transition>
    <p:wipe dir="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p:cNvSpPr>
            <a:spLocks noGrp="1" noChangeArrowheads="1"/>
          </p:cNvSpPr>
          <p:nvPr>
            <p:ph type="title"/>
          </p:nvPr>
        </p:nvSpPr>
        <p:spPr>
          <a:xfrm>
            <a:off x="457200" y="457200"/>
            <a:ext cx="8229600" cy="609600"/>
          </a:xfrm>
        </p:spPr>
        <p:txBody>
          <a:bodyPr/>
          <a:lstStyle/>
          <a:p>
            <a:r>
              <a:rPr lang="zh-CN" altLang="en-US" sz="3200" dirty="0">
                <a:latin typeface="宋体" panose="02010600030101010101" pitchFamily="2" charset="-122"/>
              </a:rPr>
              <a:t>场景视图的体系结构：汇总</a:t>
            </a:r>
            <a:r>
              <a:rPr lang="zh-CN" altLang="en-US" sz="4000" dirty="0"/>
              <a:t> </a:t>
            </a:r>
            <a:endParaRPr lang="zh-CN" altLang="en-US" sz="4000" dirty="0"/>
          </a:p>
        </p:txBody>
      </p:sp>
      <p:sp>
        <p:nvSpPr>
          <p:cNvPr id="84995" name="Rectangle 3"/>
          <p:cNvSpPr>
            <a:spLocks noGrp="1" noChangeArrowheads="1"/>
          </p:cNvSpPr>
          <p:nvPr>
            <p:ph idx="1"/>
          </p:nvPr>
        </p:nvSpPr>
        <p:spPr>
          <a:xfrm>
            <a:off x="457200" y="1504950"/>
            <a:ext cx="8229600" cy="4191000"/>
          </a:xfrm>
        </p:spPr>
        <p:txBody>
          <a:bodyPr/>
          <a:lstStyle/>
          <a:p>
            <a:pPr marL="0" indent="0" algn="just">
              <a:buFont typeface="Wingdings" panose="05000000000000000000" pitchFamily="2" charset="2"/>
              <a:buNone/>
              <a:defRPr/>
            </a:pPr>
            <a:r>
              <a:rPr lang="zh-CN" altLang="en-US" sz="2000" dirty="0">
                <a:solidFill>
                  <a:schemeClr val="tx1"/>
                </a:solidFill>
                <a:latin typeface="宋体" panose="02010600030101010101" pitchFamily="2" charset="-122"/>
              </a:rPr>
              <a:t>通过使用一些重要场景，</a:t>
            </a:r>
            <a:r>
              <a:rPr lang="en-US" altLang="zh-CN" sz="2000" dirty="0">
                <a:solidFill>
                  <a:schemeClr val="tx1"/>
                </a:solidFill>
                <a:latin typeface="宋体" panose="02010600030101010101" pitchFamily="2" charset="-122"/>
              </a:rPr>
              <a:t>4</a:t>
            </a:r>
            <a:r>
              <a:rPr lang="zh-CN" altLang="en-US" sz="2000" dirty="0">
                <a:solidFill>
                  <a:schemeClr val="tx1"/>
                </a:solidFill>
                <a:latin typeface="宋体" panose="02010600030101010101" pitchFamily="2" charset="-122"/>
              </a:rPr>
              <a:t>个视图中的元素可以协调地共同工作。尽管这些场景是一个小集合，但是它们很重要。场景</a:t>
            </a:r>
            <a:r>
              <a:rPr lang="en-US" altLang="zh-CN" sz="2000" dirty="0">
                <a:solidFill>
                  <a:schemeClr val="tx1"/>
                </a:solidFill>
                <a:latin typeface="宋体" panose="02010600030101010101" pitchFamily="2" charset="-122"/>
              </a:rPr>
              <a:t>(scenario)</a:t>
            </a:r>
            <a:r>
              <a:rPr lang="zh-CN" altLang="en-US" sz="2000" dirty="0">
                <a:solidFill>
                  <a:schemeClr val="tx1"/>
                </a:solidFill>
                <a:latin typeface="宋体" panose="02010600030101010101" pitchFamily="2" charset="-122"/>
              </a:rPr>
              <a:t>是更通用的概念</a:t>
            </a:r>
            <a:r>
              <a:rPr lang="en-US" altLang="zh-CN" sz="2000" dirty="0">
                <a:solidFill>
                  <a:schemeClr val="tx1"/>
                </a:solidFill>
              </a:rPr>
              <a:t>——</a:t>
            </a:r>
            <a:r>
              <a:rPr lang="zh-CN" altLang="en-US" sz="2000" dirty="0">
                <a:solidFill>
                  <a:schemeClr val="tx1"/>
                </a:solidFill>
                <a:latin typeface="宋体" panose="02010600030101010101" pitchFamily="2" charset="-122"/>
              </a:rPr>
              <a:t>用例</a:t>
            </a:r>
            <a:r>
              <a:rPr lang="en-US" altLang="zh-CN" sz="2000" dirty="0">
                <a:solidFill>
                  <a:schemeClr val="tx1"/>
                </a:solidFill>
                <a:latin typeface="宋体" panose="02010600030101010101" pitchFamily="2" charset="-122"/>
              </a:rPr>
              <a:t>(use case)</a:t>
            </a:r>
            <a:r>
              <a:rPr lang="zh-CN" altLang="en-US" sz="2000" dirty="0">
                <a:solidFill>
                  <a:schemeClr val="tx1"/>
                </a:solidFill>
                <a:latin typeface="宋体" panose="02010600030101010101" pitchFamily="2" charset="-122"/>
              </a:rPr>
              <a:t>的实例。从某种意义上讲，场景是最重要的需求的抽象。场景的设计使用对象场景图</a:t>
            </a:r>
            <a:r>
              <a:rPr lang="en-US" altLang="zh-CN" sz="2000" dirty="0">
                <a:solidFill>
                  <a:schemeClr val="tx1"/>
                </a:solidFill>
                <a:latin typeface="宋体" panose="02010600030101010101" pitchFamily="2" charset="-122"/>
              </a:rPr>
              <a:t>(object scenario </a:t>
            </a:r>
            <a:r>
              <a:rPr lang="en-US" altLang="zh-CN" sz="2000" dirty="0" err="1">
                <a:solidFill>
                  <a:schemeClr val="tx1"/>
                </a:solidFill>
                <a:latin typeface="宋体" panose="02010600030101010101" pitchFamily="2" charset="-122"/>
              </a:rPr>
              <a:t>dlagram</a:t>
            </a:r>
            <a:r>
              <a:rPr lang="en-US" altLang="zh-CN" sz="2000" dirty="0">
                <a:solidFill>
                  <a:schemeClr val="tx1"/>
                </a:solidFill>
                <a:latin typeface="宋体" panose="02010600030101010101" pitchFamily="2" charset="-122"/>
              </a:rPr>
              <a:t>)</a:t>
            </a:r>
            <a:r>
              <a:rPr lang="zh-CN" altLang="en-US" sz="2000" dirty="0">
                <a:solidFill>
                  <a:schemeClr val="tx1"/>
                </a:solidFill>
                <a:latin typeface="宋体" panose="02010600030101010101" pitchFamily="2" charset="-122"/>
              </a:rPr>
              <a:t>和对象交互图来表示。</a:t>
            </a:r>
            <a:endParaRPr lang="zh-CN" altLang="en-US" sz="2000" dirty="0">
              <a:solidFill>
                <a:schemeClr val="tx1"/>
              </a:solidFill>
              <a:latin typeface="宋体" panose="02010600030101010101" pitchFamily="2" charset="-122"/>
            </a:endParaRPr>
          </a:p>
          <a:p>
            <a:pPr marL="0" indent="0" algn="just">
              <a:buFont typeface="Wingdings" panose="05000000000000000000" pitchFamily="2" charset="2"/>
              <a:buNone/>
              <a:defRPr/>
            </a:pPr>
            <a:endParaRPr lang="zh-CN" altLang="en-US" sz="2000" dirty="0">
              <a:solidFill>
                <a:schemeClr val="tx1"/>
              </a:solidFill>
              <a:latin typeface="宋体" panose="02010600030101010101" pitchFamily="2" charset="-122"/>
            </a:endParaRPr>
          </a:p>
          <a:p>
            <a:pPr marL="0" indent="0" algn="just">
              <a:buFont typeface="Wingdings" panose="05000000000000000000" pitchFamily="2" charset="2"/>
              <a:buNone/>
              <a:defRPr/>
            </a:pPr>
            <a:r>
              <a:rPr lang="zh-CN" altLang="en-US" sz="2000" dirty="0">
                <a:solidFill>
                  <a:schemeClr val="tx1"/>
                </a:solidFill>
                <a:latin typeface="宋体" panose="02010600030101010101" pitchFamily="2" charset="-122"/>
              </a:rPr>
              <a:t>相对于其他的</a:t>
            </a:r>
            <a:r>
              <a:rPr lang="en-US" altLang="zh-CN" sz="2000" dirty="0">
                <a:solidFill>
                  <a:schemeClr val="tx1"/>
                </a:solidFill>
                <a:latin typeface="宋体" panose="02010600030101010101" pitchFamily="2" charset="-122"/>
              </a:rPr>
              <a:t>4</a:t>
            </a:r>
            <a:r>
              <a:rPr lang="zh-CN" altLang="en-US" sz="2000" dirty="0">
                <a:solidFill>
                  <a:schemeClr val="tx1"/>
                </a:solidFill>
                <a:latin typeface="宋体" panose="02010600030101010101" pitchFamily="2" charset="-122"/>
              </a:rPr>
              <a:t>个视图，这个视图是多余出来的</a:t>
            </a:r>
            <a:r>
              <a:rPr lang="en-US" altLang="zh-CN" sz="2000" dirty="0">
                <a:solidFill>
                  <a:schemeClr val="tx1"/>
                </a:solidFill>
                <a:latin typeface="宋体" panose="02010600030101010101" pitchFamily="2" charset="-122"/>
              </a:rPr>
              <a:t>(</a:t>
            </a:r>
            <a:r>
              <a:rPr lang="zh-CN" altLang="en-US" sz="2000" dirty="0">
                <a:solidFill>
                  <a:schemeClr val="tx1"/>
                </a:solidFill>
                <a:latin typeface="宋体" panose="02010600030101010101" pitchFamily="2" charset="-122"/>
              </a:rPr>
              <a:t>所以称为</a:t>
            </a:r>
            <a:r>
              <a:rPr lang="zh-CN" altLang="en-US" sz="2000" dirty="0">
                <a:latin typeface="宋体" panose="02010600030101010101" pitchFamily="2" charset="-122"/>
              </a:rPr>
              <a:t>“</a:t>
            </a:r>
            <a:r>
              <a:rPr lang="en-US" altLang="zh-CN" sz="2000" dirty="0">
                <a:solidFill>
                  <a:schemeClr val="tx1"/>
                </a:solidFill>
                <a:latin typeface="宋体" panose="02010600030101010101" pitchFamily="2" charset="-122"/>
              </a:rPr>
              <a:t>4+1</a:t>
            </a:r>
            <a:r>
              <a:rPr lang="zh-CN" altLang="en-US" sz="2000" dirty="0">
                <a:solidFill>
                  <a:schemeClr val="tx1"/>
                </a:solidFill>
                <a:latin typeface="宋体" panose="02010600030101010101" pitchFamily="2" charset="-122"/>
              </a:rPr>
              <a:t>”</a:t>
            </a:r>
            <a:r>
              <a:rPr lang="en-US" altLang="zh-CN" sz="2000" dirty="0">
                <a:solidFill>
                  <a:schemeClr val="tx1"/>
                </a:solidFill>
                <a:latin typeface="宋体" panose="02010600030101010101" pitchFamily="2" charset="-122"/>
              </a:rPr>
              <a:t>)</a:t>
            </a:r>
            <a:r>
              <a:rPr lang="zh-CN" altLang="en-US" sz="2000" dirty="0">
                <a:solidFill>
                  <a:schemeClr val="tx1"/>
                </a:solidFill>
                <a:latin typeface="宋体" panose="02010600030101010101" pitchFamily="2" charset="-122"/>
              </a:rPr>
              <a:t>，但是它承担着两个目的：</a:t>
            </a:r>
            <a:endParaRPr lang="zh-CN" altLang="en-US" sz="2000" dirty="0">
              <a:solidFill>
                <a:schemeClr val="tx1"/>
              </a:solidFill>
              <a:latin typeface="宋体" panose="02010600030101010101" pitchFamily="2" charset="-122"/>
            </a:endParaRPr>
          </a:p>
          <a:p>
            <a:pPr marL="0" indent="0" algn="just">
              <a:buFont typeface="Wingdings" panose="05000000000000000000" pitchFamily="2" charset="2"/>
              <a:buNone/>
              <a:defRPr/>
            </a:pPr>
            <a:r>
              <a:rPr lang="zh-CN" altLang="en-US" sz="2000" dirty="0">
                <a:solidFill>
                  <a:schemeClr val="tx1"/>
                </a:solidFill>
                <a:latin typeface="宋体" panose="02010600030101010101" pitchFamily="2" charset="-122"/>
              </a:rPr>
              <a:t>● 在体系结构设计中，将以此视图为驱动来发现体系结构元素。</a:t>
            </a:r>
            <a:endParaRPr lang="zh-CN" altLang="en-US" sz="2000" dirty="0">
              <a:solidFill>
                <a:schemeClr val="tx1"/>
              </a:solidFill>
              <a:latin typeface="宋体" panose="02010600030101010101" pitchFamily="2" charset="-122"/>
            </a:endParaRPr>
          </a:p>
          <a:p>
            <a:pPr marL="0" indent="0">
              <a:buFont typeface="Wingdings" panose="05000000000000000000" pitchFamily="2" charset="2"/>
              <a:buNone/>
              <a:defRPr/>
            </a:pPr>
            <a:r>
              <a:rPr lang="zh-CN" altLang="en-US" sz="2000" dirty="0">
                <a:solidFill>
                  <a:schemeClr val="tx1"/>
                </a:solidFill>
                <a:latin typeface="宋体" panose="02010600030101010101" pitchFamily="2" charset="-122"/>
              </a:rPr>
              <a:t>● 在体系结构设计结束后，此视图承担验证和描述的角色。它不仅用于书面记录，并且是体系结构原型测试的起始点。</a:t>
            </a:r>
            <a:r>
              <a:rPr lang="zh-CN" altLang="en-US" sz="2000" dirty="0">
                <a:solidFill>
                  <a:schemeClr val="tx1"/>
                </a:solidFill>
              </a:rPr>
              <a:t> </a:t>
            </a:r>
            <a:endParaRPr lang="zh-CN" altLang="en-US" sz="2000" dirty="0">
              <a:solidFill>
                <a:schemeClr val="tx1"/>
              </a:solidFill>
            </a:endParaRPr>
          </a:p>
        </p:txBody>
      </p:sp>
      <p:sp>
        <p:nvSpPr>
          <p:cNvPr id="53249"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112E0807-0A42-4278-8922-5E939A0F6EC4}"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53250"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A647242B-CFAE-4378-93E5-A274451B114F}" type="datetime1">
              <a:rPr lang="zh-CN" altLang="en-US"/>
            </a:fld>
            <a:endParaRPr lang="zh-CN" altLang="en-US"/>
          </a:p>
        </p:txBody>
      </p:sp>
    </p:spTree>
  </p:cSld>
  <p:clrMapOvr>
    <a:masterClrMapping/>
  </p:clrMapOvr>
  <p:transition>
    <p:wipe di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Grp="1" noChangeArrowheads="1"/>
          </p:cNvSpPr>
          <p:nvPr>
            <p:ph type="title"/>
          </p:nvPr>
        </p:nvSpPr>
        <p:spPr>
          <a:xfrm>
            <a:off x="457200" y="457200"/>
            <a:ext cx="8229600" cy="609600"/>
          </a:xfrm>
        </p:spPr>
        <p:txBody>
          <a:bodyPr/>
          <a:lstStyle/>
          <a:p>
            <a:r>
              <a:rPr lang="zh-CN" altLang="en-US" sz="3200" dirty="0">
                <a:latin typeface="宋体" panose="02010600030101010101" pitchFamily="2" charset="-122"/>
              </a:rPr>
              <a:t>场景视图的符号表示法</a:t>
            </a:r>
            <a:r>
              <a:rPr lang="zh-CN" altLang="en-US" sz="4000" dirty="0"/>
              <a:t> </a:t>
            </a:r>
            <a:endParaRPr lang="zh-CN" altLang="en-US" sz="4000" dirty="0"/>
          </a:p>
        </p:txBody>
      </p:sp>
      <p:sp>
        <p:nvSpPr>
          <p:cNvPr id="55300" name="Rectangle 3"/>
          <p:cNvSpPr>
            <a:spLocks noGrp="1" noChangeArrowheads="1"/>
          </p:cNvSpPr>
          <p:nvPr>
            <p:ph idx="1"/>
          </p:nvPr>
        </p:nvSpPr>
        <p:spPr>
          <a:xfrm>
            <a:off x="533400" y="1905000"/>
            <a:ext cx="8229600" cy="1752600"/>
          </a:xfrm>
        </p:spPr>
        <p:txBody>
          <a:bodyPr/>
          <a:lstStyle/>
          <a:p>
            <a:pPr marL="195580" indent="0">
              <a:lnSpc>
                <a:spcPct val="120000"/>
              </a:lnSpc>
              <a:buFont typeface="Wingdings" panose="05000000000000000000" pitchFamily="2" charset="2"/>
              <a:buNone/>
            </a:pPr>
            <a:r>
              <a:rPr lang="zh-CN" altLang="en-US" sz="2400">
                <a:solidFill>
                  <a:schemeClr val="tx1"/>
                </a:solidFill>
                <a:latin typeface="宋体" panose="02010600030101010101" pitchFamily="2" charset="-122"/>
              </a:rPr>
              <a:t>场景视图的符号表示法中，构件的表示与逻辑视图非常相似，但是连接件的表示使用过程视图中的方法。注意，对象的实例用细实线表示。在工具的使用方面，和在逻辑体系结构类似，可以使用</a:t>
            </a:r>
            <a:r>
              <a:rPr lang="en-US" altLang="zh-CN" sz="2400">
                <a:solidFill>
                  <a:schemeClr val="tx1"/>
                </a:solidFill>
                <a:latin typeface="宋体" panose="02010600030101010101" pitchFamily="2" charset="-122"/>
              </a:rPr>
              <a:t>Rational Rose</a:t>
            </a:r>
            <a:r>
              <a:rPr lang="zh-CN" altLang="en-US" sz="2400">
                <a:solidFill>
                  <a:schemeClr val="tx1"/>
                </a:solidFill>
                <a:latin typeface="宋体" panose="02010600030101010101" pitchFamily="2" charset="-122"/>
              </a:rPr>
              <a:t>绘制和管理对象场景图。</a:t>
            </a:r>
            <a:r>
              <a:rPr lang="zh-CN" altLang="en-US" sz="2400">
                <a:solidFill>
                  <a:srgbClr val="FF3399"/>
                </a:solidFill>
              </a:rPr>
              <a:t> </a:t>
            </a:r>
            <a:endParaRPr lang="zh-CN" altLang="en-US" sz="2400">
              <a:solidFill>
                <a:srgbClr val="FF3399"/>
              </a:solidFill>
            </a:endParaRPr>
          </a:p>
        </p:txBody>
      </p:sp>
      <p:sp>
        <p:nvSpPr>
          <p:cNvPr id="55297"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7FA234BF-7432-4D55-AA08-C614F11E0EDC}"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55298"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D018735D-6CE8-4A63-862B-45319065353B}" type="datetime1">
              <a:rPr lang="zh-CN" altLang="en-US"/>
            </a:fld>
            <a:endParaRPr lang="zh-CN" altLang="en-US"/>
          </a:p>
        </p:txBody>
      </p:sp>
      <p:sp>
        <p:nvSpPr>
          <p:cNvPr id="55301" name="Rectangle 4"/>
          <p:cNvSpPr>
            <a:spLocks noChangeArrowheads="1"/>
          </p:cNvSpPr>
          <p:nvPr/>
        </p:nvSpPr>
        <p:spPr bwMode="auto">
          <a:xfrm>
            <a:off x="533400" y="3124200"/>
            <a:ext cx="822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sz="3200" b="1">
              <a:solidFill>
                <a:srgbClr val="0033CC"/>
              </a:solidFill>
              <a:latin typeface="宋体" panose="02010600030101010101" pitchFamily="2" charset="-122"/>
            </a:endParaRPr>
          </a:p>
        </p:txBody>
      </p:sp>
      <p:sp>
        <p:nvSpPr>
          <p:cNvPr id="55302" name="Rectangle 6"/>
          <p:cNvSpPr>
            <a:spLocks noChangeArrowheads="1"/>
          </p:cNvSpPr>
          <p:nvPr/>
        </p:nvSpPr>
        <p:spPr bwMode="auto">
          <a:xfrm>
            <a:off x="1938338" y="26384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ransition>
    <p:wipe di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F042AB5F-0152-457D-AAAA-247C63D9BB1B}"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57346"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F42B6AE5-4218-4C68-BC9A-4F16CF9F58A1}" type="datetime1">
              <a:rPr lang="zh-CN" altLang="en-US"/>
            </a:fld>
            <a:endParaRPr lang="zh-CN" altLang="en-US"/>
          </a:p>
        </p:txBody>
      </p:sp>
      <p:sp>
        <p:nvSpPr>
          <p:cNvPr id="57347" name="Text Box 6"/>
          <p:cNvSpPr txBox="1">
            <a:spLocks noChangeArrowheads="1"/>
          </p:cNvSpPr>
          <p:nvPr/>
        </p:nvSpPr>
        <p:spPr bwMode="auto">
          <a:xfrm>
            <a:off x="467544" y="307074"/>
            <a:ext cx="7924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dirty="0">
                <a:solidFill>
                  <a:schemeClr val="bg1"/>
                </a:solidFill>
                <a:latin typeface="宋体" panose="02010600030101010101" pitchFamily="2" charset="-122"/>
              </a:rPr>
              <a:t>场景视图的例子</a:t>
            </a:r>
            <a:endParaRPr lang="zh-CN" altLang="en-US" sz="3200" dirty="0">
              <a:solidFill>
                <a:schemeClr val="bg1"/>
              </a:solidFill>
              <a:latin typeface="宋体" panose="02010600030101010101" pitchFamily="2" charset="-122"/>
              <a:cs typeface="Times New Roman" panose="02020603050405020304" pitchFamily="18" charset="0"/>
            </a:endParaRPr>
          </a:p>
        </p:txBody>
      </p:sp>
      <p:graphicFrame>
        <p:nvGraphicFramePr>
          <p:cNvPr id="57348" name="Object 7"/>
          <p:cNvGraphicFramePr>
            <a:graphicFrameLocks noChangeAspect="1"/>
          </p:cNvGraphicFramePr>
          <p:nvPr/>
        </p:nvGraphicFramePr>
        <p:xfrm>
          <a:off x="1143000" y="1447800"/>
          <a:ext cx="6629400" cy="1905000"/>
        </p:xfrm>
        <a:graphic>
          <a:graphicData uri="http://schemas.openxmlformats.org/presentationml/2006/ole">
            <mc:AlternateContent xmlns:mc="http://schemas.openxmlformats.org/markup-compatibility/2006">
              <mc:Choice xmlns:v="urn:schemas-microsoft-com:vml" Requires="v">
                <p:oleObj spid="_x0000_s57392" name="" r:id="rId1" imgW="7705725" imgH="2314575" progId="Paint.Picture">
                  <p:embed/>
                </p:oleObj>
              </mc:Choice>
              <mc:Fallback>
                <p:oleObj name="" r:id="rId1" imgW="7705725" imgH="2314575" progId="Paint.Picture">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447800"/>
                        <a:ext cx="66294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7349" name="Text Box 8"/>
          <p:cNvSpPr txBox="1">
            <a:spLocks noChangeArrowheads="1"/>
          </p:cNvSpPr>
          <p:nvPr/>
        </p:nvSpPr>
        <p:spPr bwMode="auto">
          <a:xfrm>
            <a:off x="1219200" y="3962400"/>
            <a:ext cx="6781800" cy="270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a:latin typeface="宋体" panose="02010600030101010101" pitchFamily="2" charset="-122"/>
              </a:rPr>
              <a:t>①  Joe</a:t>
            </a:r>
            <a:r>
              <a:rPr lang="zh-CN" altLang="en-US" b="1">
                <a:latin typeface="宋体" panose="02010600030101010101" pitchFamily="2" charset="-122"/>
              </a:rPr>
              <a:t>的电话的控制器检测到并证实了从挂起到取下的状态转变，并且发送了消息来唤醒相关的终端对象。</a:t>
            </a:r>
            <a:endParaRPr lang="zh-CN" altLang="en-US" b="1">
              <a:latin typeface="宋体" panose="02010600030101010101" pitchFamily="2" charset="-122"/>
            </a:endParaRPr>
          </a:p>
          <a:p>
            <a:pPr algn="just" eaLnBrk="1" hangingPunct="1">
              <a:spcBef>
                <a:spcPct val="50000"/>
              </a:spcBef>
            </a:pPr>
            <a:r>
              <a:rPr lang="zh-CN" altLang="en-US" b="1">
                <a:latin typeface="宋体" panose="02010600030101010101" pitchFamily="2" charset="-122"/>
              </a:rPr>
              <a:t>②  终端分配一些资源，并告诉控制器发出拨号音。</a:t>
            </a:r>
            <a:endParaRPr lang="zh-CN" altLang="en-US" b="1">
              <a:latin typeface="宋体" panose="02010600030101010101" pitchFamily="2" charset="-122"/>
            </a:endParaRPr>
          </a:p>
          <a:p>
            <a:pPr algn="just" eaLnBrk="1" hangingPunct="1">
              <a:spcBef>
                <a:spcPct val="50000"/>
              </a:spcBef>
            </a:pPr>
            <a:r>
              <a:rPr lang="zh-CN" altLang="en-US" b="1">
                <a:latin typeface="宋体" panose="02010600030101010101" pitchFamily="2" charset="-122"/>
              </a:rPr>
              <a:t>③  控制器受到数字并将它们发送给终端。</a:t>
            </a:r>
            <a:endParaRPr lang="zh-CN" altLang="en-US" b="1">
              <a:latin typeface="宋体" panose="02010600030101010101" pitchFamily="2" charset="-122"/>
            </a:endParaRPr>
          </a:p>
          <a:p>
            <a:pPr algn="just" eaLnBrk="1" hangingPunct="1">
              <a:spcBef>
                <a:spcPct val="50000"/>
              </a:spcBef>
            </a:pPr>
            <a:r>
              <a:rPr lang="zh-CN" altLang="en-US" b="1">
                <a:latin typeface="宋体" panose="02010600030101010101" pitchFamily="2" charset="-122"/>
              </a:rPr>
              <a:t>④  终端使用号码规划来分析数字流。</a:t>
            </a:r>
            <a:endParaRPr lang="zh-CN" altLang="en-US" b="1">
              <a:latin typeface="宋体" panose="02010600030101010101" pitchFamily="2" charset="-122"/>
            </a:endParaRPr>
          </a:p>
          <a:p>
            <a:pPr algn="just" eaLnBrk="1" hangingPunct="1">
              <a:spcBef>
                <a:spcPct val="50000"/>
              </a:spcBef>
            </a:pPr>
            <a:r>
              <a:rPr lang="zh-CN" altLang="en-US" b="1">
                <a:latin typeface="宋体" panose="02010600030101010101" pitchFamily="2" charset="-122"/>
              </a:rPr>
              <a:t>⑤  当一个有效序列的输入完成，终端打开一个对话。</a:t>
            </a:r>
            <a:endParaRPr lang="zh-CN" altLang="en-US" b="1">
              <a:latin typeface="宋体" panose="02010600030101010101" pitchFamily="2" charset="-122"/>
            </a:endParaRPr>
          </a:p>
          <a:p>
            <a:pPr eaLnBrk="1" hangingPunct="1">
              <a:spcBef>
                <a:spcPct val="50000"/>
              </a:spcBef>
            </a:pPr>
            <a:endParaRPr lang="en-US" altLang="zh-CN"/>
          </a:p>
        </p:txBody>
      </p:sp>
      <p:sp>
        <p:nvSpPr>
          <p:cNvPr id="57350" name="Text Box 9"/>
          <p:cNvSpPr txBox="1">
            <a:spLocks noChangeArrowheads="1"/>
          </p:cNvSpPr>
          <p:nvPr/>
        </p:nvSpPr>
        <p:spPr bwMode="auto">
          <a:xfrm>
            <a:off x="2438400" y="3505200"/>
            <a:ext cx="4038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dirty="0">
                <a:latin typeface="宋体" panose="02010600030101010101" pitchFamily="2" charset="-122"/>
              </a:rPr>
              <a:t>场景的雏形</a:t>
            </a:r>
            <a:r>
              <a:rPr lang="en-US" altLang="zh-CN" dirty="0"/>
              <a:t>—</a:t>
            </a:r>
            <a:r>
              <a:rPr lang="zh-CN" altLang="en-US" dirty="0">
                <a:latin typeface="宋体" panose="02010600030101010101" pitchFamily="2" charset="-122"/>
              </a:rPr>
              <a:t>本地呼叫选择阶段</a:t>
            </a:r>
            <a:endParaRPr lang="zh-CN" altLang="en-US" dirty="0">
              <a:latin typeface="宋体" panose="02010600030101010101" pitchFamily="2" charset="-122"/>
            </a:endParaRPr>
          </a:p>
        </p:txBody>
      </p:sp>
    </p:spTree>
  </p:cSld>
  <p:clrMapOvr>
    <a:masterClrMapping/>
  </p:clrMapOvr>
  <p:transition>
    <p:wipe dir="u"/>
  </p:transition>
</p:sld>
</file>

<file path=ppt/tags/tag1.xml><?xml version="1.0" encoding="utf-8"?>
<p:tagLst xmlns:p="http://schemas.openxmlformats.org/presentationml/2006/main">
  <p:tag name="commondata" val="eyJoZGlkIjoiYzFhZGY0ZTViYWQyN2I0ZGJhNDk0OThkMjNkNmQ2MD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1概述</Template>
  <TotalTime>0</TotalTime>
  <Words>6212</Words>
  <Application>WPS 演示</Application>
  <PresentationFormat>全屏显示(4:3)</PresentationFormat>
  <Paragraphs>401</Paragraphs>
  <Slides>42</Slides>
  <Notes>13</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11</vt:i4>
      </vt:variant>
      <vt:variant>
        <vt:lpstr>幻灯片标题</vt:lpstr>
      </vt:variant>
      <vt:variant>
        <vt:i4>42</vt:i4>
      </vt:variant>
    </vt:vector>
  </HeadingPairs>
  <TitlesOfParts>
    <vt:vector size="64" baseType="lpstr">
      <vt:lpstr>Arial</vt:lpstr>
      <vt:lpstr>宋体</vt:lpstr>
      <vt:lpstr>Wingdings</vt:lpstr>
      <vt:lpstr>Calibri Light</vt:lpstr>
      <vt:lpstr>Times New Roman</vt:lpstr>
      <vt:lpstr>黑体</vt:lpstr>
      <vt:lpstr>Arial Black</vt:lpstr>
      <vt:lpstr>Calibri</vt:lpstr>
      <vt:lpstr>微软雅黑</vt:lpstr>
      <vt:lpstr>Arial Unicode MS</vt:lpstr>
      <vt:lpstr>Office 主题</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软件体系结构 </vt:lpstr>
      <vt:lpstr>Kruchten的4+1模型描述软件体系结构 </vt:lpstr>
      <vt:lpstr>假定你是Module Designer</vt:lpstr>
      <vt:lpstr>假定你是Module Designer</vt:lpstr>
      <vt:lpstr>假定你是Consultant(顾问)</vt:lpstr>
      <vt:lpstr>假定你是Consultant(顾问)</vt:lpstr>
      <vt:lpstr>假定你是Consultant(顾问)</vt:lpstr>
      <vt:lpstr>体系结构描述方法</vt:lpstr>
      <vt:lpstr>与Module Designer交流</vt:lpstr>
      <vt:lpstr>与顾问交流</vt:lpstr>
      <vt:lpstr>这是什么？</vt:lpstr>
      <vt:lpstr>上图的毛病</vt:lpstr>
      <vt:lpstr>好的体系结构描述的必要元素</vt:lpstr>
      <vt:lpstr>好的体系结构描述的必要元素</vt:lpstr>
      <vt:lpstr>其他方面</vt:lpstr>
      <vt:lpstr>好描述</vt:lpstr>
      <vt:lpstr>坏描述</vt:lpstr>
      <vt:lpstr>视图</vt:lpstr>
      <vt:lpstr>阅读</vt:lpstr>
      <vt:lpstr>“4十1”模型 </vt:lpstr>
      <vt:lpstr>PowerPoint 演示文稿</vt:lpstr>
      <vt:lpstr>PowerPoint 演示文稿</vt:lpstr>
      <vt:lpstr>PowerPoint 演示文稿</vt:lpstr>
      <vt:lpstr>PowerPoint 演示文稿</vt:lpstr>
      <vt:lpstr>逻辑视图的体系结构：面向对象的分解 </vt:lpstr>
      <vt:lpstr>逻辑视图的符号表示法</vt:lpstr>
      <vt:lpstr>逻辑视图的风格</vt:lpstr>
      <vt:lpstr>PowerPoint 演示文稿</vt:lpstr>
      <vt:lpstr>过程视图的体系结构：过程分解 </vt:lpstr>
      <vt:lpstr>过程视图的体系结构：过程分解 </vt:lpstr>
      <vt:lpstr>过程视图的符号表示法 </vt:lpstr>
      <vt:lpstr>过程视图的风格      有多种风格适合过程体系结构。例如管道和过滤器、客户／服务器及其变体(多客户／单服务器，多客户／多服务器)等。 3.2.3 过程视图的例子 </vt:lpstr>
      <vt:lpstr>开发视图的体系结构：子系统分解 </vt:lpstr>
      <vt:lpstr>开发视图的符号表示法</vt:lpstr>
      <vt:lpstr>开发视图的风格</vt:lpstr>
      <vt:lpstr>开发视图的例子</vt:lpstr>
      <vt:lpstr>物理视图的体系结构：从软件到硬件的映射 </vt:lpstr>
      <vt:lpstr>物理视图的符号表示法 </vt:lpstr>
      <vt:lpstr>PowerPoint 演示文稿</vt:lpstr>
      <vt:lpstr>场景视图的体系结构：汇总 </vt:lpstr>
      <vt:lpstr>场景视图的符号表示法 </vt:lpstr>
      <vt:lpstr>PowerPoint 演示文稿</vt:lpstr>
    </vt:vector>
  </TitlesOfParts>
  <Company>南京理工大学计算系</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体系结构的描述方法</dc:title>
  <dc:creator>zhao</dc:creator>
  <cp:lastModifiedBy>赵庆玲</cp:lastModifiedBy>
  <cp:revision>198</cp:revision>
  <dcterms:created xsi:type="dcterms:W3CDTF">2018-04-12T01:58:00Z</dcterms:created>
  <dcterms:modified xsi:type="dcterms:W3CDTF">2026-06-03T03:42:54Z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2052-12.1.0.18276</vt:lpwstr>
  </property>
  <property fmtid="{D5CDD505-2E9C-101B-9397-08002B2CF9AE}" pid="3" name="ICV">
    <vt:lpwstr>9F3D618B10DA42C6A437B41AD51E614E_13</vt:lpwstr>
  </property>
</Properties>
</file>