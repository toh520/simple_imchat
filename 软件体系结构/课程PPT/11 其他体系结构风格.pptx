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47"/>
  </p:handoutMasterIdLst>
  <p:sldIdLst>
    <p:sldId id="334" r:id="rId3"/>
    <p:sldId id="589" r:id="rId4"/>
    <p:sldId id="590" r:id="rId6"/>
    <p:sldId id="591" r:id="rId7"/>
    <p:sldId id="592" r:id="rId8"/>
    <p:sldId id="593" r:id="rId9"/>
    <p:sldId id="594" r:id="rId10"/>
    <p:sldId id="595" r:id="rId11"/>
    <p:sldId id="611" r:id="rId12"/>
    <p:sldId id="612" r:id="rId13"/>
    <p:sldId id="613" r:id="rId14"/>
    <p:sldId id="614" r:id="rId15"/>
    <p:sldId id="615" r:id="rId16"/>
    <p:sldId id="616" r:id="rId17"/>
    <p:sldId id="617" r:id="rId18"/>
    <p:sldId id="618" r:id="rId19"/>
    <p:sldId id="619" r:id="rId20"/>
    <p:sldId id="620" r:id="rId21"/>
    <p:sldId id="621" r:id="rId22"/>
    <p:sldId id="622" r:id="rId23"/>
    <p:sldId id="623" r:id="rId24"/>
    <p:sldId id="624" r:id="rId25"/>
    <p:sldId id="625" r:id="rId26"/>
    <p:sldId id="626" r:id="rId27"/>
    <p:sldId id="627" r:id="rId28"/>
    <p:sldId id="628" r:id="rId29"/>
    <p:sldId id="631" r:id="rId30"/>
    <p:sldId id="632" r:id="rId31"/>
    <p:sldId id="633" r:id="rId32"/>
    <p:sldId id="634" r:id="rId33"/>
    <p:sldId id="635" r:id="rId34"/>
    <p:sldId id="636" r:id="rId35"/>
    <p:sldId id="637" r:id="rId36"/>
    <p:sldId id="638" r:id="rId37"/>
    <p:sldId id="639" r:id="rId38"/>
    <p:sldId id="640" r:id="rId39"/>
    <p:sldId id="641" r:id="rId40"/>
    <p:sldId id="642" r:id="rId41"/>
    <p:sldId id="643" r:id="rId42"/>
    <p:sldId id="644" r:id="rId43"/>
    <p:sldId id="645" r:id="rId44"/>
    <p:sldId id="646" r:id="rId45"/>
    <p:sldId id="647" r:id="rId46"/>
  </p:sldIdLst>
  <p:sldSz cx="9144000" cy="6858000" type="screen4x3"/>
  <p:notesSz cx="6858000" cy="9144000"/>
  <p:custDataLst>
    <p:tags r:id="rId51"/>
  </p:custDataLst>
  <p:kinsoku lang="zh-CN" invalStChars="!),.:;?]}、。—ˇ¨〃々～‖…’”〕〉》」』〗】∶！＂＇），．：；？］｀｜｝·" invalEndChars="([{‘“〔〈《「『〖【（［｛．·"/>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3399"/>
    <a:srgbClr val="3333FF"/>
    <a:srgbClr val="0033CC"/>
    <a:srgbClr val="00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37" autoAdjust="0"/>
    <p:restoredTop sz="92674" autoAdjust="0"/>
  </p:normalViewPr>
  <p:slideViewPr>
    <p:cSldViewPr showGuides="1">
      <p:cViewPr varScale="1">
        <p:scale>
          <a:sx n="105" d="100"/>
          <a:sy n="105" d="100"/>
        </p:scale>
        <p:origin x="1458" y="6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gs" Target="tags/tag1.xml"/><Relationship Id="rId50" Type="http://schemas.openxmlformats.org/officeDocument/2006/relationships/tableStyles" Target="tableStyles.xml"/><Relationship Id="rId5" Type="http://schemas.openxmlformats.org/officeDocument/2006/relationships/notesMaster" Target="notesMasters/notesMaster1.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099" name="Rectangle 3"/>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FFD7A9F-9514-4913-B6CC-9769F9580917}"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B6A04A70-9EA4-4EF4-9241-66FFDAED7C9C}"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F185D2A4-45B3-4C61-B106-B39DF6C70255}" type="slidenum">
              <a:rPr lang="en-US" altLang="zh-CN" smtClean="0"/>
            </a:fld>
            <a:endParaRPr lang="en-US" altLang="zh-CN"/>
          </a:p>
        </p:txBody>
      </p:sp>
    </p:spTree>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p:nvPicPr>
        <p:blipFill>
          <a:blip r:embed="rId2"/>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p:nvPicPr>
        <p:blipFill>
          <a:blip r:embed="rId4" cstate="screen"/>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3" name="灯片编号占位符 5"/>
          <p:cNvSpPr>
            <a:spLocks noGrp="1"/>
          </p:cNvSpPr>
          <p:nvPr>
            <p:ph type="sldNum" sz="quarter" idx="11"/>
          </p:nvPr>
        </p:nvSpPr>
        <p:spPr/>
        <p:txBody>
          <a:bodyPr/>
          <a:lstStyle>
            <a:lvl1pPr>
              <a:defRPr/>
            </a:lvl1pPr>
          </a:lstStyle>
          <a:p>
            <a:pPr>
              <a:defRPr/>
            </a:pPr>
            <a:fld id="{B12A1F17-4248-4866-8EE5-EC6FA886BE0B}" type="slidenum">
              <a:rPr lang="en-US" altLang="zh-CN" smtClean="0"/>
            </a:fld>
            <a:endParaRPr lang="en-US" altLang="zh-CN"/>
          </a:p>
        </p:txBody>
      </p:sp>
    </p:spTree>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endParaRPr lang="zh-CN" altLang="en-US" noProof="1"/>
          </a:p>
        </p:txBody>
      </p:sp>
      <p:sp>
        <p:nvSpPr>
          <p:cNvPr id="4"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B4D2A30B-39F9-4937-954E-B173BCF13035}" type="slidenum">
              <a:rPr lang="en-US" altLang="zh-CN" smtClean="0"/>
            </a:fld>
            <a:endParaRPr lang="en-US" altLang="zh-CN"/>
          </a:p>
        </p:txBody>
      </p:sp>
    </p:spTree>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AAF55BFC-F128-4273-9AC9-1C9B552DC498}" type="slidenum">
              <a:rPr lang="en-US" altLang="zh-CN" smtClean="0"/>
            </a:fld>
            <a:endParaRPr lang="en-US" altLang="zh-CN"/>
          </a:p>
        </p:txBody>
      </p:sp>
    </p:spTree>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C82A4F97-AA7A-4D08-8DDD-A725FEB0AA51}" type="slidenum">
              <a:rPr lang="en-US" altLang="zh-CN" smtClean="0"/>
            </a:fld>
            <a:endParaRPr lang="en-US" altLang="zh-CN"/>
          </a:p>
        </p:txBody>
      </p:sp>
    </p:spTree>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4" name="灯片编号占位符 5"/>
          <p:cNvSpPr>
            <a:spLocks noGrp="1"/>
          </p:cNvSpPr>
          <p:nvPr>
            <p:ph type="sldNum" sz="quarter" idx="11"/>
          </p:nvPr>
        </p:nvSpPr>
        <p:spPr/>
        <p:txBody>
          <a:bodyPr/>
          <a:lstStyle>
            <a:lvl1pPr>
              <a:defRPr/>
            </a:lvl1pPr>
          </a:lstStyle>
          <a:p>
            <a:pPr>
              <a:defRPr/>
            </a:pPr>
            <a:fld id="{05A95CD7-3FAC-4A45-A559-C0F96C212210}" type="slidenum">
              <a:rPr lang="en-US" altLang="zh-CN" smtClean="0"/>
            </a:fld>
            <a:endParaRPr lang="en-US" altLang="zh-CN"/>
          </a:p>
        </p:txBody>
      </p:sp>
    </p:spTree>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9D5F3393-C375-4FEF-BEA9-79F3BCD37BDB}" type="slidenum">
              <a:rPr lang="en-US" altLang="zh-CN" smtClean="0"/>
            </a:fld>
            <a:endParaRPr lang="en-US" altLang="zh-CN"/>
          </a:p>
        </p:txBody>
      </p:sp>
    </p:spTree>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endParaRPr lang="zh-CN" altLang="en-US" noProof="1"/>
          </a:p>
        </p:txBody>
      </p:sp>
      <p:sp>
        <p:nvSpPr>
          <p:cNvPr id="9" name="日期占位符 4"/>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6DC42B35-9992-4C00-BBD8-37C172B0233F}" type="slidenum">
              <a:rPr lang="en-US" altLang="zh-CN" smtClean="0"/>
            </a:fld>
            <a:endParaRPr lang="en-US" altLang="zh-CN"/>
          </a:p>
        </p:txBody>
      </p:sp>
    </p:spTree>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showMasterSp="0">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8" name="日期占位符 3"/>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6163797F-10CB-4AE4-8A22-5BCAB20488D6}" type="slidenum">
              <a:rPr lang="en-US" altLang="zh-CN" smtClean="0"/>
            </a:fld>
            <a:endParaRPr lang="en-US" altLang="zh-CN"/>
          </a:p>
        </p:txBody>
      </p:sp>
    </p:spTree>
  </p:cSld>
  <p:clrMapOvr>
    <a:masterClrMapping/>
  </p:clrMapOvr>
  <p:transition>
    <p:wipe dir="u"/>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showMasterSp="0">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2"/>
          <p:cNvSpPr>
            <a:spLocks noGrp="1"/>
          </p:cNvSpPr>
          <p:nvPr>
            <p:ph type="dt" sz="half" idx="10"/>
          </p:nvPr>
        </p:nvSpPr>
        <p:spPr/>
        <p:txBody>
          <a:bodyPr/>
          <a:lstStyle>
            <a:lvl1pPr>
              <a:defRPr/>
            </a:lvl1pPr>
          </a:lstStyle>
          <a:p>
            <a:pPr>
              <a:defRPr/>
            </a:pPr>
            <a:fld id="{7C1D221A-3EA7-4855-91B3-E0CBF36C1867}" type="datetime1">
              <a:rPr lang="zh-CN" altLang="en-US" smtClean="0"/>
            </a:fld>
            <a:endParaRPr lang="en-US" altLang="zh-CN"/>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F163437C-8882-4C09-AA58-0C88AAFB844F}" type="slidenum">
              <a:rPr lang="en-US" altLang="zh-CN" smtClean="0"/>
            </a:fld>
            <a:endParaRPr lang="en-US" altLang="zh-CN"/>
          </a:p>
        </p:txBody>
      </p:sp>
    </p:spTree>
  </p:cSld>
  <p:clrMapOvr>
    <a:masterClrMapping/>
  </p:clrMapOvr>
  <p:transition>
    <p:wipe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showMasterSp="0">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457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4648200" y="1600200"/>
            <a:ext cx="4038600" cy="453072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a:defRPr/>
            </a:pPr>
            <a:fld id="{7C1D221A-3EA7-4855-91B3-E0CBF36C1867}" type="datetime1">
              <a:rPr lang="zh-CN" altLang="en-US" smtClean="0"/>
            </a:fld>
            <a:endParaRPr lang="en-US" altLang="zh-CN"/>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defRPr/>
            </a:pPr>
            <a:fld id="{6163797F-10CB-4AE4-8A22-5BCAB20488D6}" type="slidenum">
              <a:rPr lang="en-US" altLang="zh-CN" smtClean="0"/>
            </a:fld>
            <a:endParaRPr lang="en-US" altLang="zh-CN"/>
          </a:p>
        </p:txBody>
      </p:sp>
    </p:spTree>
  </p:cSld>
  <p:clrMapOvr>
    <a:masterClrMapping/>
  </p:clrMapOvr>
  <p:transition>
    <p:wipe dir="u"/>
  </p:transition>
  <p:hf sldNum="0"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endParaRPr lang="zh-CN" altLang="en-US"/>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7C1D221A-3EA7-4855-91B3-E0CBF36C1867}" type="datetime1">
              <a:rPr lang="zh-CN" altLang="en-US" smtClean="0"/>
            </a:fld>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6163797F-10CB-4AE4-8A22-5BCAB20488D6}" type="slidenum">
              <a:rPr lang="en-US" altLang="zh-CN" smtClean="0"/>
            </a:fld>
            <a:endParaRPr lang="en-US" altLang="zh-CN"/>
          </a:p>
        </p:txBody>
      </p:sp>
      <p:pic>
        <p:nvPicPr>
          <p:cNvPr id="1030" name="Picture 2" descr="未标题-2 - 副本 (3)"/>
          <p:cNvPicPr>
            <a:picLocks noChangeAspect="1" noChangeArrowheads="1"/>
          </p:cNvPicPr>
          <p:nvPr/>
        </p:nvPicPr>
        <p:blipFill>
          <a:blip r:embed="rId12"/>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3" cstate="screen"/>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u"/>
  </p:transition>
  <p:hf sldNum="0" hdr="0" ftr="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0.emf"/><Relationship Id="rId1"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8.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2.emf"/><Relationship Id="rId1" Type="http://schemas.openxmlformats.org/officeDocument/2006/relationships/oleObject" Target="../embeddings/oleObject9.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oleObject" Target="../embeddings/oleObject10.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oleObject" Target="../embeddings/oleObject12.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13.bin"/></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oleObject" Target="../embeddings/oleObject14.bin"/></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1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1143000" y="983903"/>
            <a:ext cx="6858000" cy="2387600"/>
          </a:xfrm>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p:cNvSpPr txBox="1">
            <a:spLocks noChangeArrowheads="1"/>
          </p:cNvSpPr>
          <p:nvPr/>
        </p:nvSpPr>
        <p:spPr bwMode="auto">
          <a:xfrm>
            <a:off x="395536" y="3140968"/>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11</a:t>
            </a:r>
            <a:r>
              <a:rPr lang="zh-CN" altLang="en-US" sz="4000" dirty="0">
                <a:ea typeface="黑体" panose="02010609060101010101" pitchFamily="49" charset="-122"/>
              </a:rPr>
              <a:t>章 其他体系结构风格</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赵庆玲</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endParaRPr lang="en-US" altLang="zh-CN" sz="2800" dirty="0">
              <a:ea typeface="黑体" panose="02010609060101010101" pitchFamily="49"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en-US" altLang="zh-CN" dirty="0"/>
              <a:t>C2</a:t>
            </a:r>
            <a:r>
              <a:rPr lang="zh-CN" altLang="en-US" dirty="0"/>
              <a:t>风格（</a:t>
            </a:r>
            <a:r>
              <a:rPr lang="en-US" altLang="zh-CN" dirty="0"/>
              <a:t>1</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en-US" dirty="0"/>
              <a:t>C2</a:t>
            </a:r>
            <a:r>
              <a:rPr lang="zh-CN" altLang="en-US" dirty="0"/>
              <a:t>结构是</a:t>
            </a:r>
            <a:r>
              <a:rPr lang="en-US" dirty="0"/>
              <a:t>1995</a:t>
            </a:r>
            <a:r>
              <a:rPr lang="zh-CN" altLang="en-US" dirty="0"/>
              <a:t>年由</a:t>
            </a:r>
            <a:r>
              <a:rPr lang="en-US" dirty="0"/>
              <a:t>California</a:t>
            </a:r>
            <a:r>
              <a:rPr lang="zh-CN" altLang="en-US" dirty="0"/>
              <a:t>大学</a:t>
            </a:r>
            <a:r>
              <a:rPr lang="en-US" dirty="0"/>
              <a:t>Irvine</a:t>
            </a:r>
            <a:r>
              <a:rPr lang="zh-CN" altLang="en-US" dirty="0"/>
              <a:t>分校的</a:t>
            </a:r>
            <a:r>
              <a:rPr lang="en-US" dirty="0"/>
              <a:t>Richard. N. Taylor</a:t>
            </a:r>
            <a:r>
              <a:rPr lang="zh-CN" altLang="en-US" dirty="0"/>
              <a:t>等人提出</a:t>
            </a:r>
            <a:r>
              <a:rPr lang="en-US" dirty="0"/>
              <a:t> </a:t>
            </a:r>
            <a:endParaRPr lang="en-US" dirty="0"/>
          </a:p>
          <a:p>
            <a:r>
              <a:rPr lang="en-US" dirty="0"/>
              <a:t>C2</a:t>
            </a:r>
            <a:r>
              <a:rPr lang="zh-CN" altLang="en-US" dirty="0"/>
              <a:t>是一种基于组件和消息的体系结构风格，适用于</a:t>
            </a:r>
            <a:r>
              <a:rPr lang="en-US" dirty="0"/>
              <a:t>GUI</a:t>
            </a:r>
            <a:r>
              <a:rPr lang="zh-CN" altLang="en-US" dirty="0"/>
              <a:t>软件开发，构建灵活和可扩展的应用系统。</a:t>
            </a:r>
            <a:endParaRPr lang="en-US" altLang="zh-CN" dirty="0"/>
          </a:p>
          <a:p>
            <a:r>
              <a:rPr lang="en-US" dirty="0"/>
              <a:t>C2</a:t>
            </a:r>
            <a:r>
              <a:rPr lang="zh-CN" altLang="en-US" dirty="0"/>
              <a:t>风格的主要思想来源于</a:t>
            </a:r>
            <a:r>
              <a:rPr lang="en-US" dirty="0"/>
              <a:t>Chiron-1</a:t>
            </a:r>
            <a:r>
              <a:rPr lang="zh-CN" altLang="en-US" dirty="0"/>
              <a:t>用户界面系统，因此又被命名为</a:t>
            </a:r>
            <a:r>
              <a:rPr lang="en-US" dirty="0"/>
              <a:t>Chiron-2</a:t>
            </a:r>
            <a:r>
              <a:rPr lang="zh-CN" altLang="en-US" dirty="0"/>
              <a:t>，简称</a:t>
            </a:r>
            <a:r>
              <a:rPr lang="en-US" dirty="0"/>
              <a:t>C2</a:t>
            </a:r>
            <a:r>
              <a:rPr lang="zh-CN" altLang="en-US" dirty="0"/>
              <a:t>。 </a:t>
            </a:r>
            <a:endParaRPr lang="en-US" altLang="zh-CN" dirty="0"/>
          </a:p>
          <a:p>
            <a:r>
              <a:rPr lang="en-US" altLang="zh-CN" dirty="0"/>
              <a:t>C2</a:t>
            </a:r>
            <a:r>
              <a:rPr lang="zh-CN" altLang="en-US" dirty="0"/>
              <a:t>体系结构</a:t>
            </a:r>
            <a:r>
              <a:rPr lang="zh-CN" altLang="zh-CN" dirty="0"/>
              <a:t>风格可以概括为：通过连接件绑定在一起的按照一组规则运作的并行</a:t>
            </a:r>
            <a:r>
              <a:rPr lang="zh-CN" altLang="en-US" dirty="0"/>
              <a:t>组件</a:t>
            </a:r>
            <a:r>
              <a:rPr lang="zh-CN" altLang="zh-CN" dirty="0"/>
              <a:t>网络。</a:t>
            </a:r>
            <a:endParaRPr lang="zh-CN" altLang="zh-CN"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p:wipe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en-US" altLang="zh-CN" dirty="0"/>
              <a:t>C2</a:t>
            </a:r>
            <a:r>
              <a:rPr lang="zh-CN" altLang="en-US" dirty="0"/>
              <a:t>风格（</a:t>
            </a:r>
            <a:r>
              <a:rPr lang="en-US" altLang="zh-CN" dirty="0"/>
              <a:t>2</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en-US" dirty="0"/>
              <a:t>C2</a:t>
            </a:r>
            <a:r>
              <a:rPr lang="zh-CN" altLang="en-US" dirty="0"/>
              <a:t>风格的系统组织规则：</a:t>
            </a:r>
            <a:endParaRPr lang="en-US" altLang="zh-CN" dirty="0"/>
          </a:p>
          <a:p>
            <a:pPr lvl="1"/>
            <a:r>
              <a:rPr lang="zh-CN" altLang="en-US" dirty="0"/>
              <a:t>（</a:t>
            </a:r>
            <a:r>
              <a:rPr lang="en-US" dirty="0"/>
              <a:t>1</a:t>
            </a:r>
            <a:r>
              <a:rPr lang="zh-CN" altLang="en-US" dirty="0"/>
              <a:t>）系统中的组件和连接件都有一个顶部和一个底部；</a:t>
            </a:r>
            <a:endParaRPr lang="en-US" altLang="zh-CN" dirty="0"/>
          </a:p>
          <a:p>
            <a:pPr lvl="1"/>
            <a:r>
              <a:rPr lang="zh-CN" altLang="en-US" dirty="0"/>
              <a:t>（</a:t>
            </a:r>
            <a:r>
              <a:rPr lang="en-US" dirty="0"/>
              <a:t>2</a:t>
            </a:r>
            <a:r>
              <a:rPr lang="zh-CN" altLang="en-US" dirty="0"/>
              <a:t>）组件的顶部应连接到某连接件的底部，组件的底部则应连接到某连接件的顶部，不允许组件之间的直接连接</a:t>
            </a:r>
            <a:endParaRPr lang="en-US" altLang="zh-CN" dirty="0"/>
          </a:p>
          <a:p>
            <a:pPr lvl="1"/>
            <a:r>
              <a:rPr lang="zh-CN" altLang="en-US" dirty="0"/>
              <a:t>（</a:t>
            </a:r>
            <a:r>
              <a:rPr lang="en-US" dirty="0"/>
              <a:t>3</a:t>
            </a:r>
            <a:r>
              <a:rPr lang="zh-CN" altLang="en-US" dirty="0"/>
              <a:t>）一个连接件可以和任意数目的其他组件和连接件连接；</a:t>
            </a:r>
            <a:endParaRPr lang="en-US" altLang="zh-CN" dirty="0"/>
          </a:p>
          <a:p>
            <a:pPr lvl="1"/>
            <a:r>
              <a:rPr lang="zh-CN" altLang="en-US" dirty="0"/>
              <a:t>（</a:t>
            </a:r>
            <a:r>
              <a:rPr lang="en-US" dirty="0"/>
              <a:t>4</a:t>
            </a:r>
            <a:r>
              <a:rPr lang="zh-CN" altLang="en-US" dirty="0"/>
              <a:t>）当两个连接件进行直接连接时，必须由其中一个的底部到另一个的顶部。</a:t>
            </a:r>
            <a:endParaRPr lang="zh-CN" altLang="zh-CN"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en-US" altLang="zh-CN" dirty="0"/>
              <a:t>C2</a:t>
            </a:r>
            <a:r>
              <a:rPr lang="zh-CN" altLang="en-US" dirty="0"/>
              <a:t>风格（</a:t>
            </a:r>
            <a:r>
              <a:rPr lang="en-US" altLang="zh-CN" dirty="0"/>
              <a:t>3</a:t>
            </a:r>
            <a:r>
              <a:rPr lang="zh-CN" altLang="en-US" dirty="0"/>
              <a:t>）</a:t>
            </a:r>
            <a:endParaRPr lang="zh-CN" altLang="en-US" dirty="0"/>
          </a:p>
        </p:txBody>
      </p:sp>
      <p:sp>
        <p:nvSpPr>
          <p:cNvPr id="67587" name="Rectangle 3"/>
          <p:cNvSpPr>
            <a:spLocks noGrp="1" noChangeArrowheads="1"/>
          </p:cNvSpPr>
          <p:nvPr>
            <p:ph type="body" idx="1"/>
          </p:nvPr>
        </p:nvSpPr>
        <p:spPr>
          <a:xfrm>
            <a:off x="628650" y="1484788"/>
            <a:ext cx="7886700" cy="4692175"/>
          </a:xfrm>
        </p:spPr>
        <p:txBody>
          <a:bodyPr>
            <a:normAutofit/>
          </a:bodyPr>
          <a:lstStyle/>
          <a:p>
            <a:r>
              <a:rPr lang="zh-CN" altLang="zh-CN" dirty="0"/>
              <a:t>其结构如图所示</a:t>
            </a:r>
            <a:r>
              <a:rPr lang="en-US" altLang="zh-CN" dirty="0"/>
              <a:t>:</a:t>
            </a:r>
            <a:endParaRPr lang="zh-CN" altLang="zh-CN"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1536982" y="2071678"/>
          <a:ext cx="7035546" cy="4176722"/>
        </p:xfrm>
        <a:graphic>
          <a:graphicData uri="http://schemas.openxmlformats.org/presentationml/2006/ole">
            <mc:AlternateContent xmlns:mc="http://schemas.openxmlformats.org/markup-compatibility/2006">
              <mc:Choice xmlns:v="urn:schemas-microsoft-com:vml" Requires="v">
                <p:oleObj spid="_x0000_s20505" name="" r:id="rId1" imgW="6692900" imgH="3975100" progId="Visio.Drawing.11">
                  <p:embed/>
                </p:oleObj>
              </mc:Choice>
              <mc:Fallback>
                <p:oleObj name="" r:id="rId1" imgW="6692900" imgH="39751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982" y="2071678"/>
                        <a:ext cx="7035546" cy="41767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4423262" y="6447118"/>
            <a:ext cx="915635" cy="382541"/>
          </a:xfrm>
          <a:prstGeom prst="rect">
            <a:avLst/>
          </a:prstGeom>
        </p:spPr>
        <p:txBody>
          <a:bodyPr wrap="none">
            <a:spAutoFit/>
          </a:bodyPr>
          <a:lstStyle/>
          <a:p>
            <a:pPr algn="ctr">
              <a:lnSpc>
                <a:spcPct val="115000"/>
              </a:lnSpc>
              <a:spcBef>
                <a:spcPts val="400"/>
              </a:spcBef>
              <a:spcAft>
                <a:spcPts val="400"/>
              </a:spcAft>
            </a:pPr>
            <a:r>
              <a:rPr lang="en-US" altLang="zh-CN" dirty="0">
                <a:solidFill>
                  <a:srgbClr val="000000"/>
                </a:solidFill>
                <a:latin typeface="Times New Roman" panose="02020603050405020304" pitchFamily="18" charset="0"/>
                <a:ea typeface="宋体" panose="02010600030101010101" pitchFamily="2" charset="-122"/>
              </a:rPr>
              <a:t>C2</a:t>
            </a:r>
            <a:r>
              <a:rPr lang="zh-CN" altLang="zh-CN"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风格</a:t>
            </a:r>
            <a:endParaRPr lang="zh-CN" altLang="zh-CN" dirty="0">
              <a:solidFill>
                <a:srgbClr val="000000"/>
              </a:solidFill>
              <a:latin typeface="Arial" panose="020B0604020202020204" pitchFamily="34" charset="0"/>
              <a:ea typeface="宋体" panose="02010600030101010101" pitchFamily="2" charset="-122"/>
            </a:endParaRPr>
          </a:p>
        </p:txBody>
      </p:sp>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en-US" altLang="zh-CN" dirty="0"/>
              <a:t>C2</a:t>
            </a:r>
            <a:r>
              <a:rPr lang="zh-CN" altLang="en-US" dirty="0"/>
              <a:t>风格（</a:t>
            </a:r>
            <a:r>
              <a:rPr lang="en-US" altLang="zh-CN" dirty="0"/>
              <a:t>4</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en-US" dirty="0"/>
              <a:t>C2</a:t>
            </a:r>
            <a:r>
              <a:rPr lang="zh-CN" altLang="en-US" dirty="0"/>
              <a:t>体系结构的内部，通信和处理是分开完成的。</a:t>
            </a:r>
            <a:endParaRPr lang="zh-CN" altLang="zh-CN"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35236" name="Rectangle 4"/>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35235" name="Object 3"/>
          <p:cNvGraphicFramePr>
            <a:graphicFrameLocks noChangeAspect="1"/>
          </p:cNvGraphicFramePr>
          <p:nvPr/>
        </p:nvGraphicFramePr>
        <p:xfrm>
          <a:off x="1021135" y="2571744"/>
          <a:ext cx="7551393" cy="3786214"/>
        </p:xfrm>
        <a:graphic>
          <a:graphicData uri="http://schemas.openxmlformats.org/presentationml/2006/ole">
            <mc:AlternateContent xmlns:mc="http://schemas.openxmlformats.org/markup-compatibility/2006">
              <mc:Choice xmlns:v="urn:schemas-microsoft-com:vml" Requires="v">
                <p:oleObj spid="_x0000_s21529" name="Visio" r:id="rId1" imgW="6324600" imgH="3213100" progId="Visio.Drawing.11">
                  <p:embed/>
                </p:oleObj>
              </mc:Choice>
              <mc:Fallback>
                <p:oleObj name="Visio" r:id="rId1" imgW="6324600" imgH="32131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135" y="2571744"/>
                        <a:ext cx="7551393" cy="3786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5237" name="Rectangle 5"/>
          <p:cNvSpPr>
            <a:spLocks noChangeArrowheads="1"/>
          </p:cNvSpPr>
          <p:nvPr/>
        </p:nvSpPr>
        <p:spPr bwMode="auto">
          <a:xfrm>
            <a:off x="3214678" y="6457890"/>
            <a:ext cx="3341299" cy="40011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268605"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4-27 C2</a:t>
            </a: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组件</a:t>
            </a:r>
            <a:r>
              <a:rPr kumimoji="0" lang="zh-CN" alt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的内部结构</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en-US" altLang="zh-CN" dirty="0"/>
              <a:t>C2</a:t>
            </a:r>
            <a:r>
              <a:rPr lang="zh-CN" altLang="en-US" dirty="0"/>
              <a:t>风格（</a:t>
            </a:r>
            <a:r>
              <a:rPr lang="en-US" altLang="zh-CN" dirty="0"/>
              <a:t>5</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zh-CN" dirty="0"/>
              <a:t>优点：</a:t>
            </a:r>
            <a:endParaRPr lang="en-US" altLang="zh-CN" dirty="0"/>
          </a:p>
          <a:p>
            <a:pPr lvl="1"/>
            <a:r>
              <a:rPr lang="zh-CN" altLang="zh-CN" dirty="0"/>
              <a:t>（</a:t>
            </a:r>
            <a:r>
              <a:rPr lang="en-US" altLang="zh-CN" dirty="0"/>
              <a:t>1</a:t>
            </a:r>
            <a:r>
              <a:rPr lang="zh-CN" altLang="zh-CN" dirty="0"/>
              <a:t>）可使用任何编程语言开发</a:t>
            </a:r>
            <a:r>
              <a:rPr lang="zh-CN" altLang="en-US" dirty="0"/>
              <a:t>组件</a:t>
            </a:r>
            <a:r>
              <a:rPr lang="zh-CN" altLang="zh-CN" dirty="0"/>
              <a:t>，</a:t>
            </a:r>
            <a:r>
              <a:rPr lang="zh-CN" altLang="en-US" dirty="0"/>
              <a:t>组件</a:t>
            </a:r>
            <a:r>
              <a:rPr lang="zh-CN" altLang="zh-CN" dirty="0"/>
              <a:t>重用和替换易实现；</a:t>
            </a:r>
            <a:endParaRPr lang="en-US" altLang="zh-CN" dirty="0"/>
          </a:p>
          <a:p>
            <a:pPr lvl="1"/>
            <a:r>
              <a:rPr lang="zh-CN" altLang="zh-CN" dirty="0"/>
              <a:t>（</a:t>
            </a:r>
            <a:r>
              <a:rPr lang="en-US" altLang="zh-CN" dirty="0"/>
              <a:t>2</a:t>
            </a:r>
            <a:r>
              <a:rPr lang="zh-CN" altLang="zh-CN" dirty="0"/>
              <a:t>）由于</a:t>
            </a:r>
            <a:r>
              <a:rPr lang="zh-CN" altLang="en-US" dirty="0"/>
              <a:t>组件</a:t>
            </a:r>
            <a:r>
              <a:rPr lang="zh-CN" altLang="zh-CN" dirty="0"/>
              <a:t>之间相对独立，依赖较小，因而该风格具有一定扩展能力，可支持不同粒度的</a:t>
            </a:r>
            <a:r>
              <a:rPr lang="zh-CN" altLang="en-US" dirty="0"/>
              <a:t>组件</a:t>
            </a:r>
            <a:r>
              <a:rPr lang="zh-CN" altLang="zh-CN" dirty="0"/>
              <a:t>；</a:t>
            </a:r>
            <a:endParaRPr lang="en-US" altLang="zh-CN" dirty="0"/>
          </a:p>
          <a:p>
            <a:pPr lvl="1"/>
            <a:r>
              <a:rPr lang="zh-CN" altLang="zh-CN" dirty="0"/>
              <a:t>（</a:t>
            </a:r>
            <a:r>
              <a:rPr lang="en-US" altLang="zh-CN" dirty="0"/>
              <a:t>3</a:t>
            </a:r>
            <a:r>
              <a:rPr lang="zh-CN" altLang="zh-CN" dirty="0"/>
              <a:t>）</a:t>
            </a:r>
            <a:r>
              <a:rPr lang="zh-CN" altLang="en-US" dirty="0"/>
              <a:t>组件</a:t>
            </a:r>
            <a:r>
              <a:rPr lang="zh-CN" altLang="zh-CN" dirty="0"/>
              <a:t>不需共享地址空间；</a:t>
            </a:r>
            <a:endParaRPr lang="en-US" altLang="zh-CN" dirty="0"/>
          </a:p>
          <a:p>
            <a:pPr lvl="1"/>
            <a:r>
              <a:rPr lang="zh-CN" altLang="zh-CN" dirty="0"/>
              <a:t>（</a:t>
            </a:r>
            <a:r>
              <a:rPr lang="en-US" altLang="zh-CN" dirty="0"/>
              <a:t>4</a:t>
            </a:r>
            <a:r>
              <a:rPr lang="zh-CN" altLang="zh-CN" dirty="0"/>
              <a:t>）可实现多个用户和多个系统之间的交互；</a:t>
            </a:r>
            <a:endParaRPr lang="en-US" altLang="zh-CN" dirty="0"/>
          </a:p>
          <a:p>
            <a:pPr lvl="1"/>
            <a:r>
              <a:rPr lang="zh-CN" altLang="zh-CN" dirty="0"/>
              <a:t>（</a:t>
            </a:r>
            <a:r>
              <a:rPr lang="en-US" altLang="zh-CN" dirty="0"/>
              <a:t>5</a:t>
            </a:r>
            <a:r>
              <a:rPr lang="zh-CN" altLang="zh-CN" dirty="0"/>
              <a:t>）可使用多个工具集和多种媒体类型，动态更新系统框架结构</a:t>
            </a:r>
            <a:r>
              <a:rPr lang="zh-CN" altLang="en-US" dirty="0"/>
              <a:t>。</a:t>
            </a:r>
            <a:endParaRPr lang="zh-CN" altLang="en-US" dirty="0"/>
          </a:p>
        </p:txBody>
      </p:sp>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en-US" altLang="zh-CN" dirty="0"/>
              <a:t>C2</a:t>
            </a:r>
            <a:r>
              <a:rPr lang="zh-CN" altLang="en-US" dirty="0"/>
              <a:t>风格（</a:t>
            </a:r>
            <a:r>
              <a:rPr lang="en-US" altLang="zh-CN" dirty="0"/>
              <a:t>6</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缺点</a:t>
            </a:r>
            <a:endParaRPr lang="zh-CN" altLang="en-US" dirty="0">
              <a:latin typeface="Arial" panose="020B0604020202020204" pitchFamily="34" charset="0"/>
            </a:endParaRPr>
          </a:p>
          <a:p>
            <a:pPr lvl="1"/>
            <a:r>
              <a:rPr lang="zh-CN" altLang="en-US" dirty="0"/>
              <a:t>不太适合大规模流式风格系统，以及对数据库使用比较频繁的使用。</a:t>
            </a:r>
            <a:endParaRPr lang="zh-CN" altLang="en-US" dirty="0"/>
          </a:p>
        </p:txBody>
      </p:sp>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a:xfrm>
            <a:off x="931572" y="-71462"/>
            <a:ext cx="7498080" cy="1143000"/>
          </a:xfrm>
        </p:spPr>
        <p:txBody>
          <a:bodyPr/>
          <a:lstStyle/>
          <a:p>
            <a:pPr>
              <a:defRPr/>
            </a:pPr>
            <a:r>
              <a:rPr lang="en-US" altLang="zh-CN" dirty="0"/>
              <a:t>C2</a:t>
            </a:r>
            <a:r>
              <a:rPr lang="zh-CN" altLang="en-US" dirty="0"/>
              <a:t>风格</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应用实例</a:t>
            </a:r>
            <a:endParaRPr lang="zh-CN" altLang="en-US" dirty="0">
              <a:latin typeface="Arial" panose="020B0604020202020204" pitchFamily="34" charset="0"/>
            </a:endParaRPr>
          </a:p>
          <a:p>
            <a:pPr lvl="1"/>
            <a:r>
              <a:rPr lang="en-US" altLang="zh-CN" dirty="0"/>
              <a:t>KLAX</a:t>
            </a:r>
            <a:r>
              <a:rPr lang="zh-CN" altLang="zh-CN" dirty="0"/>
              <a:t>游戏</a:t>
            </a:r>
            <a:endParaRPr lang="en-US" altLang="zh-CN" dirty="0"/>
          </a:p>
        </p:txBody>
      </p:sp>
      <p:graphicFrame>
        <p:nvGraphicFramePr>
          <p:cNvPr id="4" name="对象 3"/>
          <p:cNvGraphicFramePr>
            <a:graphicFrameLocks noChangeAspect="1"/>
          </p:cNvGraphicFramePr>
          <p:nvPr/>
        </p:nvGraphicFramePr>
        <p:xfrm>
          <a:off x="4000496" y="357166"/>
          <a:ext cx="5163683" cy="6500834"/>
        </p:xfrm>
        <a:graphic>
          <a:graphicData uri="http://schemas.openxmlformats.org/presentationml/2006/ole">
            <mc:AlternateContent xmlns:mc="http://schemas.openxmlformats.org/markup-compatibility/2006">
              <mc:Choice xmlns:v="urn:schemas-microsoft-com:vml" Requires="v">
                <p:oleObj spid="_x0000_s22553" name="" r:id="rId1" imgW="7835900" imgH="9867900" progId="Visio.Drawing.11">
                  <p:embed/>
                </p:oleObj>
              </mc:Choice>
              <mc:Fallback>
                <p:oleObj name="" r:id="rId1" imgW="7835900" imgH="98679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496" y="357166"/>
                        <a:ext cx="5163683" cy="65008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463280" y="6318714"/>
            <a:ext cx="2210862" cy="382541"/>
          </a:xfrm>
          <a:prstGeom prst="rect">
            <a:avLst/>
          </a:prstGeom>
        </p:spPr>
        <p:txBody>
          <a:bodyPr wrap="none">
            <a:spAutoFit/>
          </a:bodyPr>
          <a:lstStyle/>
          <a:p>
            <a:pPr algn="ctr">
              <a:lnSpc>
                <a:spcPct val="115000"/>
              </a:lnSpc>
              <a:spcBef>
                <a:spcPts val="400"/>
              </a:spcBef>
              <a:spcAft>
                <a:spcPts val="400"/>
              </a:spcAft>
            </a:pPr>
            <a:r>
              <a:rPr lang="en-US" altLang="zh-CN">
                <a:solidFill>
                  <a:srgbClr val="000000"/>
                </a:solidFill>
                <a:latin typeface="Times New Roman" panose="02020603050405020304" pitchFamily="18" charset="0"/>
                <a:ea typeface="宋体" panose="02010600030101010101" pitchFamily="2" charset="-122"/>
              </a:rPr>
              <a:t>KLAX</a:t>
            </a:r>
            <a:r>
              <a:rPr lang="zh-CN" altLang="zh-CN"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游戏</a:t>
            </a:r>
            <a:r>
              <a:rPr lang="zh-CN" altLang="en-US"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体系结构</a:t>
            </a:r>
            <a:endParaRPr lang="zh-CN" altLang="zh-CN" dirty="0">
              <a:solidFill>
                <a:srgbClr val="000000"/>
              </a:solidFill>
              <a:latin typeface="Arial" panose="020B0604020202020204" pitchFamily="34" charset="0"/>
              <a:ea typeface="宋体" panose="02010600030101010101" pitchFamily="2" charset="-122"/>
            </a:endParaRPr>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平台</a:t>
            </a:r>
            <a:r>
              <a:rPr lang="en-US" altLang="zh-CN" dirty="0"/>
              <a:t>/</a:t>
            </a:r>
            <a:r>
              <a:rPr lang="zh-CN" altLang="en-US" dirty="0"/>
              <a:t>插件风格（</a:t>
            </a:r>
            <a:r>
              <a:rPr lang="en-US" altLang="zh-CN" dirty="0"/>
              <a:t>1</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zh-CN" dirty="0"/>
              <a:t>插件（</a:t>
            </a:r>
            <a:r>
              <a:rPr lang="en-US" altLang="zh-CN" dirty="0"/>
              <a:t>Plug-in</a:t>
            </a:r>
            <a:r>
              <a:rPr lang="zh-CN" altLang="zh-CN" dirty="0"/>
              <a:t>）是一种遵循统一的预定义接口规</a:t>
            </a:r>
            <a:r>
              <a:rPr lang="zh-CN" altLang="en-US" dirty="0"/>
              <a:t>约</a:t>
            </a:r>
            <a:r>
              <a:rPr lang="zh-CN" altLang="zh-CN" dirty="0"/>
              <a:t>编写出来的程序，应用程序在运行时通过接口规</a:t>
            </a:r>
            <a:r>
              <a:rPr lang="zh-CN" altLang="en-US" dirty="0"/>
              <a:t>约</a:t>
            </a:r>
            <a:r>
              <a:rPr lang="zh-CN" altLang="zh-CN" dirty="0"/>
              <a:t>对插件进行调用，以扩展应用程序的功能。</a:t>
            </a:r>
            <a:endParaRPr lang="en-US" altLang="zh-CN" dirty="0"/>
          </a:p>
          <a:p>
            <a:r>
              <a:rPr lang="zh-CN" altLang="zh-CN" dirty="0"/>
              <a:t>插件的本质在于不修改程序主体（或者程序运行平台）的情况下对软件功能进行扩展与加强</a:t>
            </a:r>
            <a:r>
              <a:rPr lang="zh-CN" altLang="en-US" dirty="0"/>
              <a:t>。</a:t>
            </a:r>
            <a:endParaRPr lang="zh-CN" altLang="en-US" dirty="0"/>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平台</a:t>
            </a:r>
            <a:r>
              <a:rPr lang="en-US" altLang="zh-CN" dirty="0"/>
              <a:t>/</a:t>
            </a:r>
            <a:r>
              <a:rPr lang="zh-CN" altLang="en-US" dirty="0"/>
              <a:t>插件风格（</a:t>
            </a:r>
            <a:r>
              <a:rPr lang="en-US" altLang="zh-CN" dirty="0"/>
              <a:t>2</a:t>
            </a:r>
            <a:r>
              <a:rPr lang="zh-CN" altLang="en-US" dirty="0"/>
              <a:t>）</a:t>
            </a:r>
            <a:endParaRPr lang="zh-CN" altLang="en-US" dirty="0"/>
          </a:p>
        </p:txBody>
      </p:sp>
      <p:sp>
        <p:nvSpPr>
          <p:cNvPr id="67587" name="Rectangle 3"/>
          <p:cNvSpPr>
            <a:spLocks noGrp="1" noChangeArrowheads="1"/>
          </p:cNvSpPr>
          <p:nvPr>
            <p:ph type="body" idx="1"/>
          </p:nvPr>
        </p:nvSpPr>
        <p:spPr>
          <a:xfrm>
            <a:off x="1000100" y="1447800"/>
            <a:ext cx="7933588" cy="5410200"/>
          </a:xfrm>
        </p:spPr>
        <p:txBody>
          <a:bodyPr>
            <a:normAutofit/>
          </a:bodyPr>
          <a:lstStyle/>
          <a:p>
            <a:r>
              <a:rPr lang="en-US" dirty="0"/>
              <a:t>“</a:t>
            </a:r>
            <a:r>
              <a:rPr lang="zh-CN" altLang="en-US" dirty="0"/>
              <a:t>平台</a:t>
            </a:r>
            <a:r>
              <a:rPr lang="en-US" dirty="0"/>
              <a:t>/</a:t>
            </a:r>
            <a:r>
              <a:rPr lang="zh-CN" altLang="en-US" dirty="0"/>
              <a:t>插件</a:t>
            </a:r>
            <a:r>
              <a:rPr lang="en-US" dirty="0"/>
              <a:t>”</a:t>
            </a:r>
            <a:r>
              <a:rPr lang="zh-CN" altLang="en-US" dirty="0"/>
              <a:t>软件结构将待开发的目标软件分为两部分：</a:t>
            </a:r>
            <a:endParaRPr lang="en-US" altLang="zh-CN" dirty="0"/>
          </a:p>
          <a:p>
            <a:pPr lvl="1"/>
            <a:r>
              <a:rPr lang="zh-CN" altLang="en-US" dirty="0"/>
              <a:t>程序的主体或主框架，可定义为平台</a:t>
            </a:r>
            <a:endParaRPr lang="en-US" altLang="zh-CN" dirty="0"/>
          </a:p>
          <a:p>
            <a:pPr lvl="1"/>
            <a:r>
              <a:rPr lang="zh-CN" altLang="en-US" dirty="0"/>
              <a:t>功能扩展或补充模块，可定义为插件</a:t>
            </a:r>
            <a:endParaRPr lang="en-US" altLang="zh-CN" dirty="0"/>
          </a:p>
          <a:p>
            <a:r>
              <a:rPr lang="zh-CN" altLang="en-US" dirty="0"/>
              <a:t>平台所完成的功能应为一个软件系统的核心和基础</a:t>
            </a:r>
            <a:r>
              <a:rPr lang="en-US" altLang="zh-CN" dirty="0"/>
              <a:t>,</a:t>
            </a:r>
            <a:r>
              <a:rPr lang="zh-CN" altLang="en-US" dirty="0"/>
              <a:t>可以把平台基本功能分为两个部分</a:t>
            </a:r>
            <a:r>
              <a:rPr lang="en-US" altLang="zh-CN" dirty="0"/>
              <a:t>:</a:t>
            </a:r>
            <a:endParaRPr lang="en-US" altLang="zh-CN" dirty="0"/>
          </a:p>
          <a:p>
            <a:pPr lvl="1"/>
            <a:r>
              <a:rPr lang="zh-CN" altLang="en-US" dirty="0"/>
              <a:t>内核功能：是整个软件的重要功能，一个软件的大部分功能因由内核功能完成。</a:t>
            </a:r>
            <a:endParaRPr lang="en-US" altLang="zh-CN" dirty="0"/>
          </a:p>
          <a:p>
            <a:pPr lvl="1"/>
            <a:r>
              <a:rPr lang="zh-CN" altLang="en-US" dirty="0"/>
              <a:t>插件处理功能：用于扩展平台和管理插件，为插件操纵平台和与插件通信提供标准平台扩展接口。</a:t>
            </a:r>
            <a:endParaRPr lang="en-US" altLang="zh-CN" dirty="0"/>
          </a:p>
          <a:p>
            <a:pPr lvl="1"/>
            <a:r>
              <a:rPr lang="zh-CN" altLang="en-US" dirty="0"/>
              <a:t>如：</a:t>
            </a:r>
            <a:r>
              <a:rPr lang="en-US" dirty="0"/>
              <a:t>Eclipse IDE</a:t>
            </a:r>
            <a:r>
              <a:rPr lang="zh-CN" altLang="en-US" dirty="0"/>
              <a:t>是</a:t>
            </a:r>
            <a:r>
              <a:rPr lang="en-US" dirty="0"/>
              <a:t>Eclipse</a:t>
            </a:r>
            <a:r>
              <a:rPr lang="zh-CN" altLang="en-US" dirty="0"/>
              <a:t>的运行主体平台，编辑</a:t>
            </a:r>
            <a:r>
              <a:rPr lang="en-US" dirty="0"/>
              <a:t>c/</a:t>
            </a:r>
            <a:r>
              <a:rPr lang="en-US" dirty="0" err="1"/>
              <a:t>c++</a:t>
            </a:r>
            <a:r>
              <a:rPr lang="zh-CN" altLang="en-US" dirty="0"/>
              <a:t>程序可以应用</a:t>
            </a:r>
            <a:r>
              <a:rPr lang="en-US" dirty="0"/>
              <a:t>CDT</a:t>
            </a:r>
            <a:r>
              <a:rPr lang="zh-CN" altLang="en-US" dirty="0"/>
              <a:t>插件；使用</a:t>
            </a:r>
            <a:r>
              <a:rPr lang="en-US" dirty="0"/>
              <a:t>SVN</a:t>
            </a:r>
            <a:r>
              <a:rPr lang="zh-CN" altLang="en-US" dirty="0"/>
              <a:t>可以安装</a:t>
            </a:r>
            <a:r>
              <a:rPr lang="en-US" dirty="0"/>
              <a:t>SVN Repository Exploring</a:t>
            </a:r>
            <a:r>
              <a:rPr lang="zh-CN" altLang="en-US" dirty="0"/>
              <a:t>。</a:t>
            </a:r>
            <a:endParaRPr lang="en-US" altLang="zh-CN" dirty="0"/>
          </a:p>
          <a:p>
            <a:pPr marL="402590" lvl="1" indent="0">
              <a:buNone/>
            </a:pPr>
            <a:endParaRPr lang="zh-CN" altLang="en-US" dirty="0"/>
          </a:p>
        </p:txBody>
      </p:sp>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平台</a:t>
            </a:r>
            <a:r>
              <a:rPr lang="en-US" altLang="zh-CN" dirty="0"/>
              <a:t>/</a:t>
            </a:r>
            <a:r>
              <a:rPr lang="zh-CN" altLang="en-US" dirty="0"/>
              <a:t>插件风格（</a:t>
            </a:r>
            <a:r>
              <a:rPr lang="en-US" altLang="zh-CN" dirty="0"/>
              <a:t>3</a:t>
            </a:r>
            <a:r>
              <a:rPr lang="zh-CN" altLang="en-US" dirty="0"/>
              <a:t>）</a:t>
            </a:r>
            <a:endParaRPr lang="zh-CN" altLang="en-US" dirty="0"/>
          </a:p>
        </p:txBody>
      </p:sp>
      <p:sp>
        <p:nvSpPr>
          <p:cNvPr id="67587" name="Rectangle 3"/>
          <p:cNvSpPr>
            <a:spLocks noGrp="1" noChangeArrowheads="1"/>
          </p:cNvSpPr>
          <p:nvPr>
            <p:ph type="body" idx="1"/>
          </p:nvPr>
        </p:nvSpPr>
        <p:spPr>
          <a:xfrm>
            <a:off x="1000100" y="1447800"/>
            <a:ext cx="7933588" cy="5410200"/>
          </a:xfrm>
        </p:spPr>
        <p:txBody>
          <a:bodyPr>
            <a:normAutofit/>
          </a:bodyPr>
          <a:lstStyle/>
          <a:p>
            <a:r>
              <a:rPr lang="zh-CN" altLang="en-US" dirty="0"/>
              <a:t>实现</a:t>
            </a:r>
            <a:r>
              <a:rPr lang="en-US" dirty="0"/>
              <a:t>“</a:t>
            </a:r>
            <a:r>
              <a:rPr lang="zh-CN" altLang="en-US" dirty="0"/>
              <a:t>平台</a:t>
            </a:r>
            <a:r>
              <a:rPr lang="en-US" dirty="0"/>
              <a:t>/</a:t>
            </a:r>
            <a:r>
              <a:rPr lang="zh-CN" altLang="en-US" dirty="0"/>
              <a:t>插件</a:t>
            </a:r>
            <a:r>
              <a:rPr lang="en-US" dirty="0"/>
              <a:t>”(Platform / Plug-in) </a:t>
            </a:r>
            <a:r>
              <a:rPr lang="zh-CN" altLang="en-US" dirty="0"/>
              <a:t>结构软件需要定义两个标准接口</a:t>
            </a:r>
            <a:endParaRPr lang="en-US" altLang="zh-CN" dirty="0"/>
          </a:p>
          <a:p>
            <a:pPr lvl="1"/>
            <a:r>
              <a:rPr lang="zh-CN" altLang="en-US" dirty="0"/>
              <a:t>平台扩展接口：完全由平台实现，插件只是调用和使用</a:t>
            </a:r>
            <a:endParaRPr lang="en-US" altLang="zh-CN" dirty="0"/>
          </a:p>
          <a:p>
            <a:pPr lvl="1"/>
            <a:r>
              <a:rPr lang="zh-CN" altLang="en-US" dirty="0"/>
              <a:t>插件接口：完全由插件实现，平台也只是调用和使用。</a:t>
            </a:r>
            <a:endParaRPr lang="en-US" altLang="zh-CN" dirty="0"/>
          </a:p>
          <a:p>
            <a:pPr lvl="1"/>
            <a:r>
              <a:rPr lang="zh-CN" altLang="en-US" dirty="0"/>
              <a:t>平台扩展接口实现插件向平台方向的单向通信，插件通过平台扩展接口可获取主框架的各种资源和数据，可包括各种系统句柄，程序内部数据以及内存分配等。</a:t>
            </a:r>
            <a:endParaRPr lang="en-US" altLang="zh-CN" dirty="0"/>
          </a:p>
          <a:p>
            <a:pPr lvl="1"/>
            <a:r>
              <a:rPr lang="zh-CN" altLang="en-US" dirty="0"/>
              <a:t>插件接口为平台向插件方向的单向通信，平台通过插件接口调用插件所实现的功能，读取插件处理数据等。</a:t>
            </a:r>
            <a:endParaRPr lang="zh-CN" altLang="en-US" dirty="0"/>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平台</a:t>
            </a:r>
            <a:r>
              <a:rPr lang="en-US" altLang="zh-CN" dirty="0"/>
              <a:t>/</a:t>
            </a:r>
            <a:r>
              <a:rPr lang="zh-CN" altLang="en-US" dirty="0"/>
              <a:t>插件风格（</a:t>
            </a:r>
            <a:r>
              <a:rPr lang="en-US" altLang="zh-CN" dirty="0"/>
              <a:t>4</a:t>
            </a:r>
            <a:r>
              <a:rPr lang="zh-CN" altLang="en-US" dirty="0"/>
              <a:t>）</a:t>
            </a:r>
            <a:endParaRPr lang="zh-CN" altLang="en-US" dirty="0"/>
          </a:p>
        </p:txBody>
      </p:sp>
      <p:sp>
        <p:nvSpPr>
          <p:cNvPr id="3" name="内容占位符 2"/>
          <p:cNvSpPr>
            <a:spLocks noGrp="1"/>
          </p:cNvSpPr>
          <p:nvPr>
            <p:ph idx="1"/>
          </p:nvPr>
        </p:nvSpPr>
        <p:spPr/>
        <p:txBody>
          <a:bodyPr/>
          <a:lstStyle/>
          <a:p>
            <a:endParaRPr lang="zh-CN" altLang="en-US" dirty="0"/>
          </a:p>
        </p:txBody>
      </p:sp>
      <p:sp>
        <p:nvSpPr>
          <p:cNvPr id="755714"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755713" name="Object 1"/>
          <p:cNvGraphicFramePr>
            <a:graphicFrameLocks noChangeAspect="1"/>
          </p:cNvGraphicFramePr>
          <p:nvPr/>
        </p:nvGraphicFramePr>
        <p:xfrm>
          <a:off x="0" y="3143248"/>
          <a:ext cx="9014093" cy="2571744"/>
        </p:xfrm>
        <a:graphic>
          <a:graphicData uri="http://schemas.openxmlformats.org/presentationml/2006/ole">
            <mc:AlternateContent xmlns:mc="http://schemas.openxmlformats.org/markup-compatibility/2006">
              <mc:Choice xmlns:v="urn:schemas-microsoft-com:vml" Requires="v">
                <p:oleObj spid="_x0000_s23577" name="Visio" r:id="rId1" imgW="8699500" imgH="2489200" progId="Visio.Drawing.11">
                  <p:embed/>
                </p:oleObj>
              </mc:Choice>
              <mc:Fallback>
                <p:oleObj name="Visio" r:id="rId1" imgW="8699500" imgH="24892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43248"/>
                        <a:ext cx="9014093" cy="25717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平台</a:t>
            </a:r>
            <a:r>
              <a:rPr lang="en-US" altLang="zh-CN" dirty="0"/>
              <a:t>/</a:t>
            </a:r>
            <a:r>
              <a:rPr lang="zh-CN" altLang="en-US" dirty="0"/>
              <a:t>插件风格（</a:t>
            </a:r>
            <a:r>
              <a:rPr lang="en-US" altLang="zh-CN" dirty="0"/>
              <a:t>5</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t>优点：</a:t>
            </a:r>
            <a:endParaRPr lang="en-US" altLang="zh-CN" dirty="0"/>
          </a:p>
          <a:p>
            <a:pPr lvl="1"/>
            <a:r>
              <a:rPr lang="zh-CN" altLang="en-US" dirty="0"/>
              <a:t>（</a:t>
            </a:r>
            <a:r>
              <a:rPr lang="en-US" altLang="zh-CN" dirty="0"/>
              <a:t>1</a:t>
            </a:r>
            <a:r>
              <a:rPr lang="zh-CN" altLang="en-US" dirty="0"/>
              <a:t>）</a:t>
            </a:r>
            <a:r>
              <a:rPr lang="zh-CN" altLang="zh-CN" dirty="0"/>
              <a:t>降低系统各模块之间的互依赖性</a:t>
            </a:r>
            <a:endParaRPr lang="en-US" altLang="zh-CN" dirty="0"/>
          </a:p>
          <a:p>
            <a:pPr lvl="1"/>
            <a:r>
              <a:rPr lang="zh-CN" altLang="zh-CN" dirty="0"/>
              <a:t>（</a:t>
            </a:r>
            <a:r>
              <a:rPr lang="en-US" altLang="zh-CN" dirty="0"/>
              <a:t>2</a:t>
            </a:r>
            <a:r>
              <a:rPr lang="zh-CN" altLang="zh-CN" dirty="0"/>
              <a:t>）系统模块独立开发、部署、维护</a:t>
            </a:r>
            <a:endParaRPr lang="en-US" altLang="zh-CN" dirty="0"/>
          </a:p>
          <a:p>
            <a:pPr lvl="1"/>
            <a:r>
              <a:rPr lang="zh-CN" altLang="zh-CN" dirty="0"/>
              <a:t>（</a:t>
            </a:r>
            <a:r>
              <a:rPr lang="en-US" altLang="zh-CN" dirty="0"/>
              <a:t>3</a:t>
            </a:r>
            <a:r>
              <a:rPr lang="zh-CN" altLang="zh-CN" dirty="0"/>
              <a:t>）根据需求动态的组装、分离系统</a:t>
            </a:r>
            <a:endParaRPr lang="en-US" altLang="zh-CN" dirty="0"/>
          </a:p>
          <a:p>
            <a:r>
              <a:rPr lang="zh-CN" altLang="en-US" dirty="0"/>
              <a:t>缺点</a:t>
            </a:r>
            <a:endParaRPr lang="en-US" altLang="zh-CN" dirty="0"/>
          </a:p>
          <a:p>
            <a:pPr lvl="1"/>
            <a:r>
              <a:rPr lang="zh-CN" altLang="en-US" dirty="0"/>
              <a:t>插件是别人开发的可以用到某主程序中的，只服务于该主程序，可重用性差。</a:t>
            </a:r>
            <a:endParaRPr lang="zh-CN" altLang="en-US" dirty="0"/>
          </a:p>
          <a:p>
            <a:endParaRPr lang="en-US" altLang="zh-CN" dirty="0"/>
          </a:p>
          <a:p>
            <a:pPr marL="402590" lvl="1" indent="0">
              <a:buNone/>
            </a:pPr>
            <a:endParaRPr lang="zh-CN" altLang="en-US" dirty="0"/>
          </a:p>
        </p:txBody>
      </p:sp>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平台</a:t>
            </a:r>
            <a:r>
              <a:rPr lang="en-US" altLang="zh-CN" dirty="0"/>
              <a:t>/</a:t>
            </a:r>
            <a:r>
              <a:rPr lang="zh-CN" altLang="en-US" dirty="0"/>
              <a:t>插件风格（</a:t>
            </a:r>
            <a:r>
              <a:rPr lang="en-US" altLang="zh-CN" dirty="0"/>
              <a:t>6</a:t>
            </a:r>
            <a:r>
              <a:rPr lang="zh-CN" altLang="en-US" dirty="0"/>
              <a:t>）</a:t>
            </a:r>
            <a:endParaRPr lang="zh-CN" altLang="en-US" dirty="0"/>
          </a:p>
        </p:txBody>
      </p:sp>
      <p:sp>
        <p:nvSpPr>
          <p:cNvPr id="67587" name="Rectangle 3"/>
          <p:cNvSpPr>
            <a:spLocks noGrp="1" noChangeArrowheads="1"/>
          </p:cNvSpPr>
          <p:nvPr>
            <p:ph type="body" idx="1"/>
          </p:nvPr>
        </p:nvSpPr>
        <p:spPr>
          <a:xfrm>
            <a:off x="628650" y="1484784"/>
            <a:ext cx="7886700" cy="4692179"/>
          </a:xfrm>
        </p:spPr>
        <p:txBody>
          <a:bodyPr>
            <a:normAutofit/>
          </a:bodyPr>
          <a:lstStyle/>
          <a:p>
            <a:r>
              <a:rPr lang="zh-CN" altLang="en-US" dirty="0">
                <a:latin typeface="Arial" panose="020B0604020202020204" pitchFamily="34" charset="0"/>
              </a:rPr>
              <a:t>应用实例</a:t>
            </a:r>
            <a:endParaRPr lang="en-US" altLang="zh-CN" dirty="0">
              <a:latin typeface="Arial" panose="020B0604020202020204" pitchFamily="34" charset="0"/>
            </a:endParaRPr>
          </a:p>
          <a:p>
            <a:pPr lvl="1">
              <a:buSzPct val="60000"/>
            </a:pPr>
            <a:r>
              <a:rPr lang="en-US" altLang="zh-CN" dirty="0"/>
              <a:t>Eclipse</a:t>
            </a:r>
            <a:r>
              <a:rPr lang="zh-CN" altLang="zh-CN" dirty="0"/>
              <a:t>开发平台</a:t>
            </a:r>
            <a:endParaRPr lang="zh-CN" altLang="en-US" dirty="0"/>
          </a:p>
        </p:txBody>
      </p:sp>
      <p:graphicFrame>
        <p:nvGraphicFramePr>
          <p:cNvPr id="4" name="对象 3"/>
          <p:cNvGraphicFramePr>
            <a:graphicFrameLocks noChangeAspect="1"/>
          </p:cNvGraphicFramePr>
          <p:nvPr/>
        </p:nvGraphicFramePr>
        <p:xfrm>
          <a:off x="1713385" y="2428869"/>
          <a:ext cx="6859143" cy="4039274"/>
        </p:xfrm>
        <a:graphic>
          <a:graphicData uri="http://schemas.openxmlformats.org/presentationml/2006/ole">
            <mc:AlternateContent xmlns:mc="http://schemas.openxmlformats.org/markup-compatibility/2006">
              <mc:Choice xmlns:v="urn:schemas-microsoft-com:vml" Requires="v">
                <p:oleObj spid="_x0000_s24601" name="" r:id="rId1" imgW="7048500" imgH="4140200" progId="Visio.Drawing.11">
                  <p:embed/>
                </p:oleObj>
              </mc:Choice>
              <mc:Fallback>
                <p:oleObj name="" r:id="rId1" imgW="7048500" imgH="41402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3385" y="2428869"/>
                        <a:ext cx="6859143" cy="40392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500430" y="6375704"/>
            <a:ext cx="3191704" cy="382541"/>
          </a:xfrm>
          <a:prstGeom prst="rect">
            <a:avLst/>
          </a:prstGeom>
        </p:spPr>
        <p:txBody>
          <a:bodyPr wrap="square">
            <a:spAutoFit/>
          </a:bodyPr>
          <a:lstStyle/>
          <a:p>
            <a:pPr algn="ctr">
              <a:lnSpc>
                <a:spcPct val="115000"/>
              </a:lnSpc>
              <a:spcBef>
                <a:spcPts val="400"/>
              </a:spcBef>
              <a:spcAft>
                <a:spcPts val="400"/>
              </a:spcAft>
            </a:pPr>
            <a:r>
              <a:rPr lang="en-US" altLang="zh-CN" dirty="0" err="1">
                <a:solidFill>
                  <a:srgbClr val="000000"/>
                </a:solidFill>
                <a:latin typeface="Times New Roman" panose="02020603050405020304" pitchFamily="18" charset="0"/>
                <a:ea typeface="宋体" panose="02010600030101010101" pitchFamily="2" charset="-122"/>
              </a:rPr>
              <a:t>Eclipse</a:t>
            </a:r>
            <a:r>
              <a:rPr lang="en-US" altLang="zh-CN" dirty="0" err="1">
                <a:solidFill>
                  <a:srgbClr val="000000"/>
                </a:solidFill>
                <a:latin typeface="宋体" panose="02010600030101010101" pitchFamily="2" charset="-122"/>
                <a:ea typeface="宋体" panose="02010600030101010101" pitchFamily="2" charset="-122"/>
                <a:cs typeface="Times New Roman" panose="02020603050405020304" pitchFamily="18" charset="0"/>
              </a:rPr>
              <a:t>的插件机制</a:t>
            </a:r>
            <a:endParaRPr lang="zh-CN" altLang="zh-CN" dirty="0">
              <a:solidFill>
                <a:srgbClr val="000000"/>
              </a:solidFill>
              <a:latin typeface="Arial" panose="020B0604020202020204" pitchFamily="34" charset="0"/>
              <a:ea typeface="宋体" panose="02010600030101010101" pitchFamily="2" charset="-122"/>
            </a:endParaRPr>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面向</a:t>
            </a:r>
            <a:r>
              <a:rPr lang="en-US" altLang="zh-CN" dirty="0"/>
              <a:t>Agent</a:t>
            </a:r>
            <a:r>
              <a:rPr lang="zh-CN" altLang="en-US" dirty="0"/>
              <a:t>风格（</a:t>
            </a:r>
            <a:r>
              <a:rPr lang="en-US" altLang="zh-CN" dirty="0"/>
              <a:t>1</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zh-CN" dirty="0"/>
              <a:t>面向</a:t>
            </a:r>
            <a:r>
              <a:rPr lang="en-US" altLang="zh-CN" dirty="0"/>
              <a:t>Agent</a:t>
            </a:r>
            <a:r>
              <a:rPr lang="zh-CN" altLang="zh-CN" dirty="0"/>
              <a:t>风格（</a:t>
            </a:r>
            <a:r>
              <a:rPr lang="en-US" altLang="zh-CN" dirty="0"/>
              <a:t>Agent-oriented</a:t>
            </a:r>
            <a:r>
              <a:rPr lang="zh-CN" altLang="zh-CN" dirty="0"/>
              <a:t>）的基本思想是认为事物的属性，特别是动态特性在很大程度上受到与其密切相关的人和环境的影响，将影响事物的主观与客观特征相结合抽象为系统中的</a:t>
            </a:r>
            <a:r>
              <a:rPr lang="en-US" altLang="zh-CN" dirty="0"/>
              <a:t>Agent</a:t>
            </a:r>
            <a:r>
              <a:rPr lang="zh-CN" altLang="zh-CN" dirty="0"/>
              <a:t>，作为系统的基本构成单位，通过</a:t>
            </a:r>
            <a:r>
              <a:rPr lang="en-US" altLang="zh-CN" dirty="0"/>
              <a:t>Agent</a:t>
            </a:r>
            <a:r>
              <a:rPr lang="zh-CN" altLang="zh-CN" dirty="0"/>
              <a:t>之间的合作实现系统的整体目标。</a:t>
            </a:r>
            <a:endParaRPr lang="zh-CN" altLang="en-US" dirty="0"/>
          </a:p>
        </p:txBody>
      </p:sp>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面向</a:t>
            </a:r>
            <a:r>
              <a:rPr lang="en-US" altLang="zh-CN" dirty="0"/>
              <a:t>Agent</a:t>
            </a:r>
            <a:r>
              <a:rPr lang="zh-CN" altLang="en-US" dirty="0"/>
              <a:t>风格（</a:t>
            </a:r>
            <a:r>
              <a:rPr lang="en-US" altLang="zh-CN" dirty="0"/>
              <a:t>2</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en-US" altLang="zh-CN" dirty="0"/>
              <a:t>Agent</a:t>
            </a:r>
            <a:r>
              <a:rPr lang="zh-CN" altLang="en-US" dirty="0"/>
              <a:t>：一个能够根据它对其环境的感知，主动采取决策和行为的软件实体。</a:t>
            </a:r>
            <a:endParaRPr lang="en-US" altLang="zh-CN" dirty="0"/>
          </a:p>
          <a:p>
            <a:r>
              <a:rPr lang="en-US" altLang="zh-CN" dirty="0"/>
              <a:t>Agent</a:t>
            </a:r>
            <a:r>
              <a:rPr lang="zh-CN" altLang="en-US" dirty="0"/>
              <a:t>组件：对系统处理的高度抽象，具有高度灵活和高度智能特色的软件实体。</a:t>
            </a:r>
            <a:endParaRPr lang="en-US" altLang="zh-CN" dirty="0"/>
          </a:p>
          <a:p>
            <a:r>
              <a:rPr lang="en-US" altLang="zh-CN" dirty="0"/>
              <a:t>Agent</a:t>
            </a:r>
            <a:r>
              <a:rPr lang="zh-CN" altLang="en-US" dirty="0"/>
              <a:t>连接件：对复合型组件的连接，该连接能够提供通信、协调、转换、接通等服务。 </a:t>
            </a:r>
            <a:r>
              <a:rPr lang="en-US" dirty="0"/>
              <a:t> </a:t>
            </a:r>
            <a:endParaRPr lang="zh-CN" altLang="en-US" dirty="0"/>
          </a:p>
        </p:txBody>
      </p:sp>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dirty="0"/>
              <a:t>Agent</a:t>
            </a:r>
            <a:r>
              <a:rPr lang="zh-CN" altLang="en-US" dirty="0"/>
              <a:t>组件有别于以往任何系统的组件类型，其所具有的自主性、智能性、交互性等特性是传统体系结构对象所不具备的。</a:t>
            </a:r>
            <a:endParaRPr lang="en-US" altLang="zh-CN" dirty="0"/>
          </a:p>
          <a:p>
            <a:r>
              <a:rPr lang="zh-CN" altLang="en-US" dirty="0"/>
              <a:t>多</a:t>
            </a:r>
            <a:r>
              <a:rPr lang="en-US" dirty="0"/>
              <a:t>Agent</a:t>
            </a:r>
            <a:r>
              <a:rPr lang="zh-CN" altLang="en-US" dirty="0"/>
              <a:t>系统中的连接件并非显式地将两个不同的组件联系起来。不同</a:t>
            </a:r>
            <a:r>
              <a:rPr lang="en-US" dirty="0"/>
              <a:t>Agent</a:t>
            </a:r>
            <a:r>
              <a:rPr lang="zh-CN" altLang="en-US" dirty="0"/>
              <a:t>之间的联系是根据运行时状态来决定的。</a:t>
            </a:r>
            <a:endParaRPr lang="zh-CN" altLang="en-US" dirty="0"/>
          </a:p>
        </p:txBody>
      </p:sp>
      <p:sp>
        <p:nvSpPr>
          <p:cNvPr id="4" name="Rectangle 2"/>
          <p:cNvSpPr txBox="1">
            <a:spLocks noChangeArrowheads="1"/>
          </p:cNvSpPr>
          <p:nvPr/>
        </p:nvSpPr>
        <p:spPr>
          <a:xfrm>
            <a:off x="611560" y="4330"/>
            <a:ext cx="7498080" cy="1143000"/>
          </a:xfrm>
          <a:prstGeom prst="rect">
            <a:avLst/>
          </a:prstGeom>
        </p:spPr>
        <p:txBody>
          <a:bodyPr anchor="ctr">
            <a:normAutofit/>
          </a:bodyPr>
          <a:lstStyle/>
          <a:p>
            <a:pPr lvl="0" eaLnBrk="1" fontAlgn="auto" hangingPunct="1">
              <a:spcAft>
                <a:spcPts val="0"/>
              </a:spcAft>
              <a:defRPr/>
            </a:pPr>
            <a:r>
              <a:rPr lang="zh-CN" altLang="en-US" sz="4400" dirty="0">
                <a:solidFill>
                  <a:schemeClr val="bg1"/>
                </a:solidFill>
                <a:latin typeface="+mj-lt"/>
                <a:ea typeface="+mj-ea"/>
                <a:cs typeface="+mj-cs"/>
              </a:rPr>
              <a:t>面向</a:t>
            </a:r>
            <a:r>
              <a:rPr lang="en-US" altLang="zh-CN" sz="4400" dirty="0">
                <a:solidFill>
                  <a:schemeClr val="bg1"/>
                </a:solidFill>
                <a:latin typeface="+mj-lt"/>
                <a:ea typeface="+mj-ea"/>
                <a:cs typeface="+mj-cs"/>
              </a:rPr>
              <a:t>Agent</a:t>
            </a:r>
            <a:r>
              <a:rPr lang="zh-CN" altLang="en-US" sz="4400" dirty="0">
                <a:solidFill>
                  <a:schemeClr val="bg1"/>
                </a:solidFill>
                <a:latin typeface="+mj-lt"/>
                <a:ea typeface="+mj-ea"/>
                <a:cs typeface="+mj-cs"/>
              </a:rPr>
              <a:t>风格（</a:t>
            </a:r>
            <a:r>
              <a:rPr lang="en-US" altLang="zh-CN" sz="4400" dirty="0">
                <a:solidFill>
                  <a:schemeClr val="bg1"/>
                </a:solidFill>
                <a:latin typeface="+mj-lt"/>
                <a:ea typeface="+mj-ea"/>
                <a:cs typeface="+mj-cs"/>
              </a:rPr>
              <a:t>3</a:t>
            </a:r>
            <a:r>
              <a:rPr lang="zh-CN" altLang="en-US" sz="4400" dirty="0">
                <a:solidFill>
                  <a:schemeClr val="bg1"/>
                </a:solidFill>
                <a:latin typeface="+mj-lt"/>
                <a:ea typeface="+mj-ea"/>
                <a:cs typeface="+mj-cs"/>
              </a:rPr>
              <a:t>）</a:t>
            </a:r>
            <a:endParaRPr lang="zh-CN" altLang="en-US" sz="4400" dirty="0">
              <a:solidFill>
                <a:schemeClr val="bg1"/>
              </a:solidFill>
              <a:latin typeface="+mj-lt"/>
              <a:ea typeface="+mj-ea"/>
              <a:cs typeface="+mj-cs"/>
            </a:endParaRPr>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面向</a:t>
            </a:r>
            <a:r>
              <a:rPr lang="en-US" altLang="zh-CN" dirty="0"/>
              <a:t>Agent</a:t>
            </a:r>
            <a:r>
              <a:rPr lang="zh-CN" altLang="en-US" dirty="0"/>
              <a:t>风格（</a:t>
            </a:r>
            <a:r>
              <a:rPr lang="en-US" altLang="zh-CN" dirty="0"/>
              <a:t>4</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优点</a:t>
            </a:r>
            <a:endParaRPr lang="zh-CN" altLang="en-US" dirty="0">
              <a:latin typeface="Arial" panose="020B0604020202020204" pitchFamily="34" charset="0"/>
            </a:endParaRPr>
          </a:p>
          <a:p>
            <a:pPr lvl="1"/>
            <a:r>
              <a:rPr lang="zh-CN" altLang="zh-CN" dirty="0"/>
              <a:t>面向</a:t>
            </a:r>
            <a:r>
              <a:rPr lang="en-US" altLang="zh-CN" dirty="0"/>
              <a:t>Agent</a:t>
            </a:r>
            <a:r>
              <a:rPr lang="zh-CN" altLang="zh-CN" dirty="0"/>
              <a:t>的软件工程方法对于解决复杂问题是一种好的技术</a:t>
            </a:r>
            <a:r>
              <a:rPr lang="en-US" altLang="zh-CN" dirty="0"/>
              <a:t>, </a:t>
            </a:r>
            <a:r>
              <a:rPr lang="zh-CN" altLang="zh-CN" dirty="0"/>
              <a:t>特别是对于分布开放异构的软件环境。</a:t>
            </a:r>
            <a:endParaRPr lang="en-US" altLang="zh-CN" dirty="0"/>
          </a:p>
          <a:p>
            <a:r>
              <a:rPr lang="zh-CN" altLang="en-US" dirty="0"/>
              <a:t>缺点</a:t>
            </a:r>
            <a:endParaRPr lang="en-US" altLang="zh-CN" dirty="0"/>
          </a:p>
          <a:p>
            <a:pPr lvl="1"/>
            <a:r>
              <a:rPr lang="zh-CN" altLang="zh-CN" dirty="0"/>
              <a:t>大多数结构中</a:t>
            </a:r>
            <a:r>
              <a:rPr lang="en-US" altLang="zh-CN" dirty="0"/>
              <a:t>Agent </a:t>
            </a:r>
            <a:r>
              <a:rPr lang="zh-CN" altLang="zh-CN" dirty="0"/>
              <a:t>自身缺乏社会性结构描述和与环境的交互。</a:t>
            </a:r>
            <a:endParaRPr lang="zh-CN" altLang="zh-CN" dirty="0"/>
          </a:p>
          <a:p>
            <a:pPr lvl="1"/>
            <a:endParaRPr lang="zh-CN" altLang="en-US" dirty="0"/>
          </a:p>
        </p:txBody>
      </p:sp>
    </p:spTree>
  </p:cSld>
  <p:clrMapOvr>
    <a:masterClrMapping/>
  </p:clrMapOvr>
  <p:transition>
    <p:wipe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idx="1"/>
          </p:nvPr>
        </p:nvSpPr>
        <p:spPr/>
        <p:txBody>
          <a:bodyPr/>
          <a:lstStyle/>
          <a:p>
            <a:endParaRPr lang="zh-CN" altLang="en-US" dirty="0"/>
          </a:p>
        </p:txBody>
      </p:sp>
      <p:sp>
        <p:nvSpPr>
          <p:cNvPr id="368642"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368641" name="Object 1"/>
          <p:cNvGraphicFramePr>
            <a:graphicFrameLocks noChangeAspect="1"/>
          </p:cNvGraphicFramePr>
          <p:nvPr/>
        </p:nvGraphicFramePr>
        <p:xfrm>
          <a:off x="1763688" y="1206818"/>
          <a:ext cx="4608512" cy="5675962"/>
        </p:xfrm>
        <a:graphic>
          <a:graphicData uri="http://schemas.openxmlformats.org/presentationml/2006/ole">
            <mc:AlternateContent xmlns:mc="http://schemas.openxmlformats.org/markup-compatibility/2006">
              <mc:Choice xmlns:v="urn:schemas-microsoft-com:vml" Requires="v">
                <p:oleObj spid="_x0000_s25625" name="Visio" r:id="rId1" imgW="11480800" imgH="14160500" progId="Visio.Drawing.11">
                  <p:embed/>
                </p:oleObj>
              </mc:Choice>
              <mc:Fallback>
                <p:oleObj name="Visio" r:id="rId1" imgW="11480800" imgH="14160500" progId="Visio.Drawing.11">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206818"/>
                        <a:ext cx="4608512" cy="5675962"/>
                      </a:xfrm>
                      <a:prstGeom prst="rect">
                        <a:avLst/>
                      </a:prstGeom>
                      <a:noFill/>
                    </p:spPr>
                  </p:pic>
                </p:oleObj>
              </mc:Fallback>
            </mc:AlternateContent>
          </a:graphicData>
        </a:graphic>
      </p:graphicFrame>
      <p:sp>
        <p:nvSpPr>
          <p:cNvPr id="368644" name="Rectangle 4"/>
          <p:cNvSpPr>
            <a:spLocks noChangeArrowheads="1"/>
          </p:cNvSpPr>
          <p:nvPr/>
        </p:nvSpPr>
        <p:spPr bwMode="auto">
          <a:xfrm>
            <a:off x="7918574" y="2392591"/>
            <a:ext cx="492443" cy="3541995"/>
          </a:xfrm>
          <a:prstGeom prst="rect">
            <a:avLst/>
          </a:prstGeom>
          <a:noFill/>
          <a:ln w="9525">
            <a:noFill/>
            <a:miter lim="800000"/>
          </a:ln>
          <a:effectLst/>
        </p:spPr>
        <p:txBody>
          <a:bodyPr vert="eaVert"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LASP</a:t>
            </a:r>
            <a:r>
              <a:rPr kumimoji="0" lang="zh-CN" altLang="en-US" sz="20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物流管理系统的体系结构</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面向方面软件体系结构风格（</a:t>
            </a:r>
            <a:r>
              <a:rPr lang="en-US" altLang="zh-CN" dirty="0"/>
              <a:t>1</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基本思想</a:t>
            </a:r>
            <a:endParaRPr lang="zh-CN" altLang="en-US" dirty="0">
              <a:latin typeface="Arial" panose="020B0604020202020204" pitchFamily="34" charset="0"/>
            </a:endParaRPr>
          </a:p>
          <a:p>
            <a:pPr lvl="1"/>
            <a:r>
              <a:rPr lang="zh-CN" altLang="en-US" dirty="0"/>
              <a:t>一般认为</a:t>
            </a:r>
            <a:r>
              <a:rPr lang="en-US" dirty="0"/>
              <a:t>AOP</a:t>
            </a:r>
            <a:r>
              <a:rPr lang="zh-CN" altLang="en-US" dirty="0"/>
              <a:t>在传统软件体系结构基础上增加了方面组件</a:t>
            </a:r>
            <a:r>
              <a:rPr lang="en-US" dirty="0"/>
              <a:t>(Aspect Component)</a:t>
            </a:r>
            <a:r>
              <a:rPr lang="zh-CN" altLang="en-US" dirty="0"/>
              <a:t>这一新的构成单元，通过方面组件来封装系统的横切关注点。</a:t>
            </a:r>
            <a:endParaRPr lang="en-US" altLang="zh-CN" dirty="0"/>
          </a:p>
          <a:p>
            <a:pPr lvl="1"/>
            <a:r>
              <a:rPr lang="zh-CN" altLang="en-US" dirty="0"/>
              <a:t>系统的有些特性和需求是横切于系统的每一个层面中，并融于系统的每一个组件中，这种特性称为系统的方面</a:t>
            </a:r>
            <a:r>
              <a:rPr lang="en-US" dirty="0"/>
              <a:t>(Aspect)</a:t>
            </a:r>
            <a:r>
              <a:rPr lang="zh-CN" altLang="en-US" dirty="0"/>
              <a:t>需求特性或关注点</a:t>
            </a:r>
            <a:endParaRPr lang="en-US" altLang="zh-CN" dirty="0"/>
          </a:p>
          <a:p>
            <a:pPr lvl="2"/>
            <a:r>
              <a:rPr lang="zh-CN" altLang="en-US" dirty="0"/>
              <a:t>如系统中的时间要求、业务逻辑、性能、安全性和错误检测、</a:t>
            </a:r>
            <a:r>
              <a:rPr lang="en-US" dirty="0" err="1"/>
              <a:t>QoS</a:t>
            </a:r>
            <a:r>
              <a:rPr lang="zh-CN" altLang="en-US" dirty="0"/>
              <a:t>监测等。</a:t>
            </a:r>
            <a:endParaRPr lang="en-US" altLang="zh-CN" dirty="0"/>
          </a:p>
          <a:p>
            <a:pPr lvl="1"/>
            <a:r>
              <a:rPr lang="zh-CN" altLang="en-US" dirty="0"/>
              <a:t>一个复杂的软件系统可以看作是由许多关注点的实现构成的。</a:t>
            </a:r>
            <a:endParaRPr lang="zh-CN" altLang="en-US" dirty="0"/>
          </a:p>
          <a:p>
            <a:pPr lvl="1"/>
            <a:endParaRPr lang="en-US" altLang="zh-CN" dirty="0"/>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面向方面软件体系结构风格（</a:t>
            </a:r>
            <a:r>
              <a:rPr lang="en-US" altLang="zh-CN" dirty="0"/>
              <a:t>2</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t>例如：</a:t>
            </a:r>
            <a:endParaRPr lang="en-US" altLang="zh-CN" dirty="0"/>
          </a:p>
          <a:p>
            <a:pPr lvl="1"/>
            <a:r>
              <a:rPr lang="zh-CN" altLang="en-US" dirty="0"/>
              <a:t>企业应用系统中每一个业务流程的实现就是系统的一个功能或子系统，在每一个业务流程中横切着控制流、数据流和参与者操作等方面的关注，它们反映相互正交的业务逻辑：业务流程、业务活动和参与者。</a:t>
            </a:r>
            <a:endParaRPr lang="en-US" altLang="zh-CN" dirty="0"/>
          </a:p>
        </p:txBody>
      </p:sp>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面向方面软件体系结构风格（</a:t>
            </a:r>
            <a:r>
              <a:rPr lang="en-US" altLang="zh-CN" dirty="0"/>
              <a:t>3</a:t>
            </a:r>
            <a:r>
              <a:rPr lang="zh-CN" altLang="en-US" dirty="0"/>
              <a:t>）</a:t>
            </a:r>
            <a:endParaRPr lang="zh-CN" altLang="en-US" dirty="0"/>
          </a:p>
        </p:txBody>
      </p:sp>
      <p:sp>
        <p:nvSpPr>
          <p:cNvPr id="2" name="Rectangle 2"/>
          <p:cNvSpPr>
            <a:spLocks noChangeArrowheads="1"/>
          </p:cNvSpPr>
          <p:nvPr/>
        </p:nvSpPr>
        <p:spPr bwMode="auto">
          <a:xfrm>
            <a:off x="1435608" y="63563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1682796" y="1438463"/>
          <a:ext cx="6149710" cy="5062371"/>
        </p:xfrm>
        <a:graphic>
          <a:graphicData uri="http://schemas.openxmlformats.org/presentationml/2006/ole">
            <mc:AlternateContent xmlns:mc="http://schemas.openxmlformats.org/markup-compatibility/2006">
              <mc:Choice xmlns:v="urn:schemas-microsoft-com:vml" Requires="v">
                <p:oleObj spid="_x0000_s26649" name="" r:id="rId1" imgW="7391400" imgH="6070600" progId="Visio.Drawing.11">
                  <p:embed/>
                </p:oleObj>
              </mc:Choice>
              <mc:Fallback>
                <p:oleObj name="" r:id="rId1" imgW="7391400" imgH="60706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2796" y="1438463"/>
                        <a:ext cx="6149710" cy="50623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4268926" y="6447118"/>
            <a:ext cx="1338828" cy="382541"/>
          </a:xfrm>
          <a:prstGeom prst="rect">
            <a:avLst/>
          </a:prstGeom>
        </p:spPr>
        <p:txBody>
          <a:bodyPr wrap="none">
            <a:spAutoFit/>
          </a:bodyPr>
          <a:lstStyle/>
          <a:p>
            <a:pPr algn="ctr">
              <a:lnSpc>
                <a:spcPct val="115000"/>
              </a:lnSpc>
              <a:spcBef>
                <a:spcPts val="400"/>
              </a:spcBef>
              <a:spcAft>
                <a:spcPts val="400"/>
              </a:spcAft>
            </a:pPr>
            <a:r>
              <a:rPr lang="en-US" altLang="zh-CN" dirty="0">
                <a:solidFill>
                  <a:srgbClr val="000000"/>
                </a:solidFill>
                <a:latin typeface="Times New Roman" panose="02020603050405020304" pitchFamily="18" charset="0"/>
                <a:ea typeface="宋体" panose="02010600030101010101" pitchFamily="2" charset="-122"/>
              </a:rPr>
              <a:t>AOP</a:t>
            </a:r>
            <a:r>
              <a:rPr lang="zh-CN" altLang="zh-CN"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示意图</a:t>
            </a:r>
            <a:endParaRPr lang="zh-CN" altLang="zh-CN" dirty="0">
              <a:solidFill>
                <a:srgbClr val="000000"/>
              </a:solidFill>
              <a:latin typeface="Arial" panose="020B0604020202020204" pitchFamily="34" charset="0"/>
              <a:ea typeface="宋体" panose="02010600030101010101" pitchFamily="2" charset="-122"/>
            </a:endParaRPr>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面向方面软件体系结构风格（</a:t>
            </a:r>
            <a:r>
              <a:rPr lang="en-US" altLang="zh-CN" dirty="0"/>
              <a:t>4</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优缺点分析</a:t>
            </a:r>
            <a:endParaRPr lang="en-US" altLang="zh-CN" dirty="0">
              <a:latin typeface="Arial" panose="020B0604020202020204" pitchFamily="34" charset="0"/>
            </a:endParaRPr>
          </a:p>
          <a:p>
            <a:pPr lvl="1"/>
            <a:r>
              <a:rPr lang="zh-CN" altLang="en-US" dirty="0"/>
              <a:t>可以定义交叉的关系，并将这些关系应用于跨模块的、彼此不同的对象模型</a:t>
            </a:r>
            <a:endParaRPr lang="en-US" altLang="zh-CN" dirty="0"/>
          </a:p>
          <a:p>
            <a:pPr lvl="1"/>
            <a:r>
              <a:rPr lang="en-US" dirty="0"/>
              <a:t>AOP </a:t>
            </a:r>
            <a:r>
              <a:rPr lang="zh-CN" altLang="en-US" dirty="0"/>
              <a:t>同时还可以让我们层次化功能性而不是嵌入功能性，从而使得代码有更好的可读性和易于维护。</a:t>
            </a:r>
            <a:endParaRPr lang="en-US" altLang="zh-CN" dirty="0"/>
          </a:p>
          <a:p>
            <a:pPr lvl="1"/>
            <a:r>
              <a:rPr lang="zh-CN" altLang="en-US" dirty="0"/>
              <a:t>它会和面向对象编程可以很好地合作，互补</a:t>
            </a:r>
            <a:endParaRPr lang="zh-CN" altLang="en-US" dirty="0">
              <a:latin typeface="Arial" panose="020B0604020202020204" pitchFamily="34" charset="0"/>
            </a:endParaRPr>
          </a:p>
          <a:p>
            <a:pPr lvl="1"/>
            <a:endParaRPr lang="zh-CN" altLang="en-US" dirty="0"/>
          </a:p>
        </p:txBody>
      </p:sp>
    </p:spTree>
  </p:cSld>
  <p:clrMapOvr>
    <a:masterClrMapping/>
  </p:clrMapOvr>
  <p:transition>
    <p:wipe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面向方面软件体系结构风格（</a:t>
            </a:r>
            <a:r>
              <a:rPr lang="en-US" altLang="zh-CN" dirty="0"/>
              <a:t>5</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应用实例</a:t>
            </a:r>
            <a:endParaRPr lang="zh-CN" altLang="en-US" dirty="0"/>
          </a:p>
        </p:txBody>
      </p:sp>
      <p:graphicFrame>
        <p:nvGraphicFramePr>
          <p:cNvPr id="3" name="对象 2"/>
          <p:cNvGraphicFramePr>
            <a:graphicFrameLocks noChangeAspect="1"/>
          </p:cNvGraphicFramePr>
          <p:nvPr/>
        </p:nvGraphicFramePr>
        <p:xfrm>
          <a:off x="1071538" y="2143116"/>
          <a:ext cx="7683201" cy="3907835"/>
        </p:xfrm>
        <a:graphic>
          <a:graphicData uri="http://schemas.openxmlformats.org/presentationml/2006/ole">
            <mc:AlternateContent xmlns:mc="http://schemas.openxmlformats.org/markup-compatibility/2006">
              <mc:Choice xmlns:v="urn:schemas-microsoft-com:vml" Requires="v">
                <p:oleObj spid="_x0000_s27673" name="" r:id="rId1" imgW="7010400" imgH="3568700" progId="Visio.Drawing.11">
                  <p:embed/>
                </p:oleObj>
              </mc:Choice>
              <mc:Fallback>
                <p:oleObj name="" r:id="rId1" imgW="7010400" imgH="35687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38" y="2143116"/>
                        <a:ext cx="7683201" cy="39078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2768582" y="5893463"/>
            <a:ext cx="4572000" cy="354841"/>
          </a:xfrm>
          <a:prstGeom prst="rect">
            <a:avLst/>
          </a:prstGeom>
        </p:spPr>
        <p:txBody>
          <a:bodyPr>
            <a:spAutoFit/>
          </a:bodyPr>
          <a:lstStyle/>
          <a:p>
            <a:pPr algn="ctr">
              <a:lnSpc>
                <a:spcPct val="115000"/>
              </a:lnSpc>
              <a:spcBef>
                <a:spcPts val="400"/>
              </a:spcBef>
              <a:spcAft>
                <a:spcPts val="400"/>
              </a:spcAft>
            </a:pPr>
            <a:r>
              <a:rPr lang="zh-CN" altLang="zh-CN" sz="16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网上支付模型</a:t>
            </a:r>
            <a:r>
              <a:rPr lang="en-US" altLang="zh-CN" sz="1600" kern="100" dirty="0">
                <a:solidFill>
                  <a:srgbClr val="000000"/>
                </a:solidFill>
                <a:latin typeface="Calibri" panose="020F0502020204030204" charset="0"/>
                <a:ea typeface="宋体" panose="02010600030101010101" pitchFamily="2" charset="-122"/>
                <a:cs typeface="Times New Roman" panose="02020603050405020304" pitchFamily="18" charset="0"/>
              </a:rPr>
              <a:t> </a:t>
            </a:r>
            <a:endParaRPr lang="zh-CN" altLang="zh-CN" sz="1600" dirty="0">
              <a:solidFill>
                <a:srgbClr val="000000"/>
              </a:solidFill>
              <a:latin typeface="Arial" panose="020B0604020202020204" pitchFamily="34" charset="0"/>
              <a:ea typeface="宋体" panose="02010600030101010101" pitchFamily="2" charset="-122"/>
            </a:endParaRPr>
          </a:p>
        </p:txBody>
      </p:sp>
    </p:spTree>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面向服务体系结构风格（</a:t>
            </a:r>
            <a:r>
              <a:rPr lang="en-US" altLang="zh-CN" dirty="0"/>
              <a:t>1</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en-US" altLang="zh-CN" dirty="0">
                <a:latin typeface="Arial" panose="020B0604020202020204" pitchFamily="34" charset="0"/>
              </a:rPr>
              <a:t>1996</a:t>
            </a:r>
            <a:r>
              <a:rPr lang="zh-CN" altLang="en-US" dirty="0">
                <a:latin typeface="Arial" panose="020B0604020202020204" pitchFamily="34" charset="0"/>
              </a:rPr>
              <a:t>年，</a:t>
            </a:r>
            <a:r>
              <a:rPr lang="en-US" dirty="0"/>
              <a:t>Gartner Group </a:t>
            </a:r>
            <a:r>
              <a:rPr lang="zh-CN" altLang="en-US" dirty="0"/>
              <a:t>提出面向服务体系结构模型</a:t>
            </a:r>
            <a:r>
              <a:rPr lang="en-US" dirty="0"/>
              <a:t>SOA</a:t>
            </a:r>
            <a:endParaRPr lang="zh-CN" altLang="en-US" dirty="0">
              <a:latin typeface="Arial" panose="020B0604020202020204" pitchFamily="34" charset="0"/>
            </a:endParaRPr>
          </a:p>
          <a:p>
            <a:r>
              <a:rPr lang="en-US" altLang="zh-CN" dirty="0"/>
              <a:t>SOA </a:t>
            </a:r>
            <a:r>
              <a:rPr lang="zh-CN" altLang="zh-CN" dirty="0"/>
              <a:t>是一个组件模型，它将应用程序的不同功能单元（服务）通过这些服务之间定义良好的接口和契约联系起来。</a:t>
            </a:r>
            <a:endParaRPr lang="en-US" altLang="zh-CN" dirty="0"/>
          </a:p>
          <a:p>
            <a:pPr lvl="1"/>
            <a:r>
              <a:rPr lang="zh-CN" altLang="en-US" dirty="0"/>
              <a:t>服务</a:t>
            </a:r>
            <a:r>
              <a:rPr lang="en-US" dirty="0"/>
              <a:t>(service)</a:t>
            </a:r>
            <a:r>
              <a:rPr lang="zh-CN" altLang="en-US" dirty="0"/>
              <a:t>是一个粗粒度的、可发现的软件实体。</a:t>
            </a:r>
            <a:endParaRPr lang="en-US" altLang="zh-CN" dirty="0"/>
          </a:p>
          <a:p>
            <a:pPr lvl="1"/>
            <a:r>
              <a:rPr lang="zh-CN" altLang="en-US" dirty="0"/>
              <a:t>接口是采用中立的方式进行定义的，应独立于实现服务的硬件平台、操作系统和编程语言，便于不同系统中的服务以一种统一和通用的方式进行交互。</a:t>
            </a:r>
            <a:endParaRPr lang="zh-CN" altLang="en-US" dirty="0"/>
          </a:p>
        </p:txBody>
      </p:sp>
    </p:spTree>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面向服务体系结构风格（</a:t>
            </a:r>
            <a:r>
              <a:rPr lang="en-US" altLang="zh-CN" dirty="0"/>
              <a:t>2</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endParaRPr lang="zh-CN" altLang="en-US" dirty="0"/>
          </a:p>
        </p:txBody>
      </p:sp>
      <p:graphicFrame>
        <p:nvGraphicFramePr>
          <p:cNvPr id="4" name="对象 3"/>
          <p:cNvGraphicFramePr>
            <a:graphicFrameLocks noChangeAspect="1"/>
          </p:cNvGraphicFramePr>
          <p:nvPr/>
        </p:nvGraphicFramePr>
        <p:xfrm>
          <a:off x="785786" y="1785926"/>
          <a:ext cx="8079288" cy="3529220"/>
        </p:xfrm>
        <a:graphic>
          <a:graphicData uri="http://schemas.openxmlformats.org/presentationml/2006/ole">
            <mc:AlternateContent xmlns:mc="http://schemas.openxmlformats.org/markup-compatibility/2006">
              <mc:Choice xmlns:v="urn:schemas-microsoft-com:vml" Requires="v">
                <p:oleObj spid="_x0000_s28697" name="" r:id="rId1" imgW="6324600" imgH="2755900" progId="Visio.Drawing.11">
                  <p:embed/>
                </p:oleObj>
              </mc:Choice>
              <mc:Fallback>
                <p:oleObj name="" r:id="rId1" imgW="6324600" imgH="27559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786" y="1785926"/>
                        <a:ext cx="8079288" cy="3529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4399817" y="6001704"/>
            <a:ext cx="1569660" cy="369332"/>
          </a:xfrm>
          <a:prstGeom prst="rect">
            <a:avLst/>
          </a:prstGeom>
        </p:spPr>
        <p:txBody>
          <a:bodyPr wrap="none">
            <a:spAutoFit/>
          </a:bodyPr>
          <a:lstStyle/>
          <a:p>
            <a:pPr algn="ctr">
              <a:spcAft>
                <a:spcPts val="1200"/>
              </a:spcAft>
            </a:pPr>
            <a:r>
              <a:rPr lang="en-US" altLang="zh-CN">
                <a:latin typeface="Times New Roman" panose="02020603050405020304" pitchFamily="18" charset="0"/>
                <a:ea typeface="宋体" panose="02010600030101010101" pitchFamily="2" charset="-122"/>
                <a:cs typeface="Times New Roman" panose="02020603050405020304" pitchFamily="18" charset="0"/>
              </a:rPr>
              <a:t>SOA</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体系结构</a:t>
            </a:r>
            <a:endParaRPr lang="zh-CN" altLang="zh-CN" sz="1400" b="1" dirty="0">
              <a:effectLst/>
              <a:latin typeface="Calibri Light" panose="020F0302020204030204" pitchFamily="34" charset="0"/>
              <a:ea typeface="宋体" panose="02010600030101010101" pitchFamily="2" charset="-122"/>
              <a:cs typeface="Times New Roman" panose="02020603050405020304" pitchFamily="18" charset="0"/>
            </a:endParaRPr>
          </a:p>
        </p:txBody>
      </p:sp>
    </p:spTree>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面向服务体系结构风格（</a:t>
            </a:r>
            <a:r>
              <a:rPr lang="en-US" altLang="zh-CN" dirty="0"/>
              <a:t>3</a:t>
            </a:r>
            <a:r>
              <a:rPr lang="zh-CN" altLang="en-US" dirty="0"/>
              <a:t>）</a:t>
            </a:r>
            <a:endParaRPr lang="zh-CN" altLang="en-US" dirty="0"/>
          </a:p>
        </p:txBody>
      </p:sp>
      <p:sp>
        <p:nvSpPr>
          <p:cNvPr id="3" name="内容占位符 2"/>
          <p:cNvSpPr>
            <a:spLocks noGrp="1"/>
          </p:cNvSpPr>
          <p:nvPr>
            <p:ph idx="1"/>
          </p:nvPr>
        </p:nvSpPr>
        <p:spPr/>
        <p:txBody>
          <a:bodyPr>
            <a:normAutofit/>
          </a:bodyPr>
          <a:lstStyle/>
          <a:p>
            <a:r>
              <a:rPr lang="zh-CN" altLang="en-US" dirty="0"/>
              <a:t>面向服务软件体系结构风格在于具有基于标准、松散耦合、共享服务和粗粒度等优势，表现为易于集成现有系统、具有标准化的体系结构、提升开发效率、降低开发维护复杂度等。</a:t>
            </a:r>
            <a:endParaRPr lang="en-US" altLang="zh-CN" dirty="0"/>
          </a:p>
          <a:p>
            <a:r>
              <a:rPr lang="zh-CN" altLang="en-US" dirty="0"/>
              <a:t>通过采用</a:t>
            </a:r>
            <a:r>
              <a:rPr lang="en-US" dirty="0"/>
              <a:t>SOA</a:t>
            </a:r>
            <a:r>
              <a:rPr lang="zh-CN" altLang="en-US" dirty="0"/>
              <a:t>体系结构，在进行一次开发成本急剧减少的同时，由于系统具有松散耦合的特征使得维护成本也大大减少。</a:t>
            </a:r>
            <a:endParaRPr lang="zh-CN" altLang="en-US" dirty="0"/>
          </a:p>
          <a:p>
            <a:endParaRPr lang="zh-CN" altLang="en-US" dirty="0"/>
          </a:p>
        </p:txBody>
      </p:sp>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面向服务体系结构风格（</a:t>
            </a:r>
            <a:r>
              <a:rPr lang="en-US" altLang="zh-CN" dirty="0"/>
              <a:t>4</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优点</a:t>
            </a:r>
            <a:endParaRPr lang="zh-CN" altLang="en-US" dirty="0">
              <a:latin typeface="Arial" panose="020B0604020202020204" pitchFamily="34" charset="0"/>
            </a:endParaRPr>
          </a:p>
          <a:p>
            <a:pPr lvl="1"/>
            <a:r>
              <a:rPr lang="zh-CN" altLang="zh-CN" dirty="0"/>
              <a:t>（</a:t>
            </a:r>
            <a:r>
              <a:rPr lang="en-US" altLang="zh-CN" dirty="0"/>
              <a:t>1</a:t>
            </a:r>
            <a:r>
              <a:rPr lang="zh-CN" altLang="zh-CN" dirty="0"/>
              <a:t>）灵活性，根据需求变化，重新编排服务。</a:t>
            </a:r>
            <a:endParaRPr lang="en-US" altLang="zh-CN" dirty="0"/>
          </a:p>
          <a:p>
            <a:pPr lvl="1"/>
            <a:r>
              <a:rPr lang="zh-CN" altLang="zh-CN" dirty="0"/>
              <a:t>（</a:t>
            </a:r>
            <a:r>
              <a:rPr lang="en-US" altLang="zh-CN" dirty="0"/>
              <a:t>2</a:t>
            </a:r>
            <a:r>
              <a:rPr lang="zh-CN" altLang="zh-CN" dirty="0"/>
              <a:t>）对</a:t>
            </a:r>
            <a:r>
              <a:rPr lang="en-US" altLang="zh-CN" dirty="0"/>
              <a:t>IT</a:t>
            </a:r>
            <a:r>
              <a:rPr lang="zh-CN" altLang="zh-CN" dirty="0"/>
              <a:t>资产的复用。</a:t>
            </a:r>
            <a:endParaRPr lang="en-US" altLang="zh-CN" dirty="0"/>
          </a:p>
          <a:p>
            <a:pPr lvl="1"/>
            <a:r>
              <a:rPr lang="zh-CN" altLang="zh-CN" dirty="0"/>
              <a:t>（</a:t>
            </a:r>
            <a:r>
              <a:rPr lang="en-US" altLang="zh-CN" dirty="0"/>
              <a:t>3</a:t>
            </a:r>
            <a:r>
              <a:rPr lang="zh-CN" altLang="zh-CN" dirty="0"/>
              <a:t>）使企业的信息化建设真正以业务为核心。业务人员根据需求编排服务，而不必考虑技术细节。</a:t>
            </a:r>
            <a:endParaRPr lang="zh-CN" altLang="zh-CN" dirty="0"/>
          </a:p>
        </p:txBody>
      </p:sp>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面向服务体系结构风格（</a:t>
            </a:r>
            <a:r>
              <a:rPr lang="en-US" altLang="zh-CN" dirty="0"/>
              <a:t>5</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缺点</a:t>
            </a:r>
            <a:endParaRPr lang="zh-CN" altLang="en-US" dirty="0">
              <a:latin typeface="Arial" panose="020B0604020202020204" pitchFamily="34" charset="0"/>
            </a:endParaRPr>
          </a:p>
          <a:p>
            <a:pPr lvl="1"/>
            <a:r>
              <a:rPr lang="zh-CN" altLang="zh-CN" dirty="0"/>
              <a:t>（</a:t>
            </a:r>
            <a:r>
              <a:rPr lang="en-US" altLang="zh-CN" dirty="0"/>
              <a:t>1</a:t>
            </a:r>
            <a:r>
              <a:rPr lang="zh-CN" altLang="zh-CN" dirty="0"/>
              <a:t>）服务的划分很困难。</a:t>
            </a:r>
            <a:endParaRPr lang="en-US" altLang="zh-CN" dirty="0"/>
          </a:p>
          <a:p>
            <a:pPr lvl="1"/>
            <a:r>
              <a:rPr lang="zh-CN" altLang="zh-CN" dirty="0"/>
              <a:t>（</a:t>
            </a:r>
            <a:r>
              <a:rPr lang="en-US" altLang="zh-CN" dirty="0"/>
              <a:t>2</a:t>
            </a:r>
            <a:r>
              <a:rPr lang="zh-CN" altLang="zh-CN" dirty="0"/>
              <a:t>）服务的编排是否得当。</a:t>
            </a:r>
            <a:endParaRPr lang="en-US" altLang="zh-CN" dirty="0"/>
          </a:p>
          <a:p>
            <a:pPr lvl="1"/>
            <a:r>
              <a:rPr lang="zh-CN" altLang="zh-CN" dirty="0"/>
              <a:t>（</a:t>
            </a:r>
            <a:r>
              <a:rPr lang="en-US" altLang="zh-CN" dirty="0"/>
              <a:t>3</a:t>
            </a:r>
            <a:r>
              <a:rPr lang="zh-CN" altLang="zh-CN" dirty="0"/>
              <a:t>）如果选择的接口标准有问题，如主流的</a:t>
            </a:r>
            <a:r>
              <a:rPr lang="en-US" altLang="zh-CN" dirty="0"/>
              <a:t>Web service</a:t>
            </a:r>
            <a:r>
              <a:rPr lang="zh-CN" altLang="zh-CN" dirty="0"/>
              <a:t>之类，会带来系统的额外开销和不稳定性。</a:t>
            </a:r>
            <a:endParaRPr lang="en-US" altLang="zh-CN" dirty="0"/>
          </a:p>
          <a:p>
            <a:pPr lvl="1"/>
            <a:r>
              <a:rPr lang="zh-CN" altLang="zh-CN" dirty="0"/>
              <a:t>（</a:t>
            </a:r>
            <a:r>
              <a:rPr lang="en-US" altLang="zh-CN" dirty="0"/>
              <a:t>4</a:t>
            </a:r>
            <a:r>
              <a:rPr lang="zh-CN" altLang="zh-CN" dirty="0"/>
              <a:t>）对</a:t>
            </a:r>
            <a:r>
              <a:rPr lang="en-US" altLang="zh-CN" dirty="0"/>
              <a:t>IT</a:t>
            </a:r>
            <a:r>
              <a:rPr lang="zh-CN" altLang="zh-CN" dirty="0"/>
              <a:t>硬件资产还谈不上复用。</a:t>
            </a:r>
            <a:endParaRPr lang="en-US" altLang="zh-CN" dirty="0"/>
          </a:p>
          <a:p>
            <a:pPr lvl="1"/>
            <a:r>
              <a:rPr lang="zh-CN" altLang="zh-CN" dirty="0"/>
              <a:t>（</a:t>
            </a:r>
            <a:r>
              <a:rPr lang="en-US" altLang="zh-CN" dirty="0"/>
              <a:t>5</a:t>
            </a:r>
            <a:r>
              <a:rPr lang="zh-CN" altLang="zh-CN" dirty="0"/>
              <a:t>）目前主流实现方式接口很多，从而很松散很脆弱。</a:t>
            </a:r>
            <a:endParaRPr lang="en-US" altLang="zh-CN" dirty="0"/>
          </a:p>
          <a:p>
            <a:pPr lvl="1"/>
            <a:r>
              <a:rPr lang="zh-CN" altLang="zh-CN" dirty="0"/>
              <a:t>（</a:t>
            </a:r>
            <a:r>
              <a:rPr lang="en-US" altLang="zh-CN" dirty="0"/>
              <a:t>6</a:t>
            </a:r>
            <a:r>
              <a:rPr lang="zh-CN" altLang="zh-CN" dirty="0"/>
              <a:t>）目前主流实现方式只局限于不带界面的服务的共享</a:t>
            </a:r>
            <a:r>
              <a:rPr lang="zh-CN" altLang="en-US" dirty="0"/>
              <a:t>。</a:t>
            </a:r>
            <a:endParaRPr lang="zh-CN" altLang="en-US" dirty="0">
              <a:latin typeface="Arial" panose="020B0604020202020204" pitchFamily="34" charset="0"/>
            </a:endParaRPr>
          </a:p>
        </p:txBody>
      </p:sp>
    </p:spTree>
  </p:cSld>
  <p:clrMapOvr>
    <a:masterClrMapping/>
  </p:clrMapOvr>
  <p:transition>
    <p:wipe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a:xfrm>
            <a:off x="714348" y="0"/>
            <a:ext cx="7498080" cy="1143000"/>
          </a:xfrm>
        </p:spPr>
        <p:txBody>
          <a:bodyPr/>
          <a:lstStyle/>
          <a:p>
            <a:pPr>
              <a:defRPr/>
            </a:pPr>
            <a:r>
              <a:rPr lang="zh-CN" altLang="en-US" dirty="0"/>
              <a:t>面向服务体系结构风格（</a:t>
            </a:r>
            <a:r>
              <a:rPr lang="en-US" altLang="zh-CN" dirty="0"/>
              <a:t>6</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应用实例</a:t>
            </a:r>
            <a:endParaRPr lang="zh-CN" altLang="en-US" dirty="0">
              <a:latin typeface="Arial" panose="020B0604020202020204" pitchFamily="34" charset="0"/>
            </a:endParaRPr>
          </a:p>
          <a:p>
            <a:pPr lvl="1"/>
            <a:r>
              <a:rPr lang="zh-CN" altLang="zh-CN" dirty="0"/>
              <a:t>金蝶</a:t>
            </a:r>
            <a:r>
              <a:rPr lang="en-US" altLang="zh-CN" dirty="0"/>
              <a:t>EAS</a:t>
            </a:r>
            <a:endParaRPr lang="en-US" altLang="zh-CN" dirty="0"/>
          </a:p>
        </p:txBody>
      </p:sp>
      <p:graphicFrame>
        <p:nvGraphicFramePr>
          <p:cNvPr id="4" name="对象 3"/>
          <p:cNvGraphicFramePr>
            <a:graphicFrameLocks noChangeAspect="1"/>
          </p:cNvGraphicFramePr>
          <p:nvPr/>
        </p:nvGraphicFramePr>
        <p:xfrm>
          <a:off x="4283967" y="857232"/>
          <a:ext cx="4549205" cy="5937771"/>
        </p:xfrm>
        <a:graphic>
          <a:graphicData uri="http://schemas.openxmlformats.org/presentationml/2006/ole">
            <mc:AlternateContent xmlns:mc="http://schemas.openxmlformats.org/markup-compatibility/2006">
              <mc:Choice xmlns:v="urn:schemas-microsoft-com:vml" Requires="v">
                <p:oleObj spid="_x0000_s29721" name="" r:id="rId1" imgW="6819900" imgH="8902700" progId="Visio.Drawing.11">
                  <p:embed/>
                </p:oleObj>
              </mc:Choice>
              <mc:Fallback>
                <p:oleObj name="" r:id="rId1" imgW="6819900" imgH="89027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7" y="857232"/>
                        <a:ext cx="4549205" cy="59377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1714480" y="6072206"/>
            <a:ext cx="2467342" cy="369332"/>
          </a:xfrm>
          <a:prstGeom prst="rect">
            <a:avLst/>
          </a:prstGeom>
        </p:spPr>
        <p:txBody>
          <a:bodyPr wrap="none">
            <a:spAutoFit/>
          </a:bodyPr>
          <a:lstStyle/>
          <a:p>
            <a:r>
              <a:rPr lang="zh-CN" altLang="zh-CN">
                <a:latin typeface="Times New Roman" panose="02020603050405020304" pitchFamily="18" charset="0"/>
                <a:ea typeface="宋体" panose="02010600030101010101" pitchFamily="2" charset="-122"/>
                <a:cs typeface="Times New Roman" panose="02020603050405020304" pitchFamily="18" charset="0"/>
              </a:rPr>
              <a:t>金</a:t>
            </a:r>
            <a:r>
              <a:rPr lang="zh-CN" altLang="zh-CN" dirty="0">
                <a:latin typeface="Times New Roman" panose="02020603050405020304" pitchFamily="18" charset="0"/>
                <a:ea typeface="宋体" panose="02010600030101010101" pitchFamily="2" charset="-122"/>
                <a:cs typeface="Times New Roman" panose="02020603050405020304" pitchFamily="18" charset="0"/>
              </a:rPr>
              <a:t>蝶</a:t>
            </a:r>
            <a:r>
              <a:rPr lang="en-US" altLang="zh-CN" dirty="0">
                <a:latin typeface="Times New Roman" panose="02020603050405020304" pitchFamily="18" charset="0"/>
                <a:ea typeface="宋体" panose="02010600030101010101" pitchFamily="2" charset="-122"/>
              </a:rPr>
              <a:t>EAS</a:t>
            </a:r>
            <a:r>
              <a:rPr lang="zh-CN" altLang="zh-CN" dirty="0">
                <a:latin typeface="Times New Roman" panose="02020603050405020304" pitchFamily="18" charset="0"/>
                <a:ea typeface="宋体" panose="02010600030101010101" pitchFamily="2" charset="-122"/>
                <a:cs typeface="Times New Roman" panose="02020603050405020304" pitchFamily="18" charset="0"/>
              </a:rPr>
              <a:t>技术</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体系结构</a:t>
            </a:r>
            <a:endParaRPr lang="zh-CN" altLang="en-US" dirty="0"/>
          </a:p>
        </p:txBody>
      </p:sp>
    </p:spTree>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正交体系结构风格（</a:t>
            </a:r>
            <a:r>
              <a:rPr lang="en-US" altLang="zh-CN" dirty="0"/>
              <a:t>1</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zh-CN" dirty="0"/>
              <a:t>正交软件</a:t>
            </a:r>
            <a:r>
              <a:rPr lang="zh-CN" altLang="en-US" dirty="0"/>
              <a:t>体系结构</a:t>
            </a:r>
            <a:r>
              <a:rPr lang="en-US" altLang="zh-CN" dirty="0"/>
              <a:t>(Orthogonal Software Architecture) </a:t>
            </a:r>
            <a:r>
              <a:rPr lang="zh-CN" altLang="zh-CN" dirty="0"/>
              <a:t>由组织层</a:t>
            </a:r>
            <a:r>
              <a:rPr lang="en-US" altLang="zh-CN" dirty="0"/>
              <a:t>(Layer)</a:t>
            </a:r>
            <a:r>
              <a:rPr lang="zh-CN" altLang="zh-CN" dirty="0"/>
              <a:t>和线索</a:t>
            </a:r>
            <a:r>
              <a:rPr lang="en-US" altLang="zh-CN" dirty="0"/>
              <a:t>(Thread)</a:t>
            </a:r>
            <a:r>
              <a:rPr lang="zh-CN" altLang="zh-CN" dirty="0"/>
              <a:t>的组件</a:t>
            </a:r>
            <a:r>
              <a:rPr lang="en-US" altLang="zh-CN" dirty="0"/>
              <a:t>(Component)</a:t>
            </a:r>
            <a:r>
              <a:rPr lang="zh-CN" altLang="en-US" dirty="0"/>
              <a:t>构成</a:t>
            </a:r>
            <a:endParaRPr lang="en-US" altLang="zh-CN" dirty="0"/>
          </a:p>
          <a:p>
            <a:pPr lvl="1"/>
            <a:r>
              <a:rPr lang="zh-CN" altLang="en-US" dirty="0"/>
              <a:t>层是由一组具有相同抽象级别</a:t>
            </a:r>
            <a:r>
              <a:rPr lang="en-US" dirty="0"/>
              <a:t>(Level of Abstraction)</a:t>
            </a:r>
            <a:r>
              <a:rPr lang="zh-CN" altLang="en-US" dirty="0"/>
              <a:t>的组件构成。</a:t>
            </a:r>
            <a:endParaRPr lang="en-US" altLang="zh-CN" dirty="0"/>
          </a:p>
          <a:p>
            <a:pPr lvl="1"/>
            <a:r>
              <a:rPr lang="zh-CN" altLang="en-US" dirty="0"/>
              <a:t>线索是子系统的特例，它是由完成不同层次功能的组件组成</a:t>
            </a:r>
            <a:r>
              <a:rPr lang="en-US" dirty="0"/>
              <a:t>(</a:t>
            </a:r>
            <a:r>
              <a:rPr lang="zh-CN" altLang="en-US" dirty="0"/>
              <a:t>通过相互调用来关联</a:t>
            </a:r>
            <a:r>
              <a:rPr lang="en-US" dirty="0"/>
              <a:t>)</a:t>
            </a:r>
            <a:r>
              <a:rPr lang="zh-CN" altLang="en-US" dirty="0"/>
              <a:t>，每一条线索完成整个系统中相对独立的一部分功能。</a:t>
            </a:r>
            <a:endParaRPr lang="en-US" altLang="zh-CN" dirty="0"/>
          </a:p>
          <a:p>
            <a:pPr lvl="1"/>
            <a:r>
              <a:rPr lang="zh-CN" altLang="en-US" dirty="0"/>
              <a:t>如果线索是相互独立的，即不同线索中的组件之间没有相互调用，那么这个结构就是完全正交的。</a:t>
            </a:r>
            <a:endParaRPr lang="en-US" altLang="zh-CN" dirty="0"/>
          </a:p>
        </p:txBody>
      </p:sp>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正交体系结构风格（</a:t>
            </a:r>
            <a:r>
              <a:rPr lang="en-US" altLang="zh-CN" dirty="0"/>
              <a:t>2</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zh-CN" dirty="0"/>
              <a:t>正交软件</a:t>
            </a:r>
            <a:r>
              <a:rPr lang="zh-CN" altLang="en-US" dirty="0"/>
              <a:t>体系结构</a:t>
            </a:r>
            <a:r>
              <a:rPr lang="zh-CN" altLang="zh-CN" dirty="0"/>
              <a:t>是一种以垂直线索组件族为基础的层次化结构</a:t>
            </a:r>
            <a:endParaRPr lang="en-US" altLang="zh-CN" dirty="0"/>
          </a:p>
          <a:p>
            <a:r>
              <a:rPr lang="zh-CN" altLang="zh-CN" dirty="0"/>
              <a:t>其基本思想是把应用系统的结构按功能的正交相关性，垂直分割为若干个线索</a:t>
            </a:r>
            <a:r>
              <a:rPr lang="en-US" altLang="zh-CN" dirty="0"/>
              <a:t>(</a:t>
            </a:r>
            <a:r>
              <a:rPr lang="zh-CN" altLang="zh-CN" dirty="0"/>
              <a:t>子系统</a:t>
            </a:r>
            <a:r>
              <a:rPr lang="en-US" altLang="zh-CN" dirty="0"/>
              <a:t>)</a:t>
            </a:r>
            <a:r>
              <a:rPr lang="zh-CN" altLang="zh-CN" dirty="0"/>
              <a:t>，线索又分为几个层次，每个线索由多个具有不同层次功能和不同抽象级别的组件构成。</a:t>
            </a:r>
            <a:endParaRPr lang="zh-CN" altLang="en-US" dirty="0"/>
          </a:p>
        </p:txBody>
      </p:sp>
    </p:spTree>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正交体系结构风格（</a:t>
            </a:r>
            <a:r>
              <a:rPr lang="en-US" altLang="zh-CN" dirty="0"/>
              <a:t>3</a:t>
            </a:r>
            <a:r>
              <a:rPr lang="zh-CN" altLang="en-US" dirty="0"/>
              <a:t>）</a:t>
            </a:r>
            <a:endParaRPr lang="zh-CN" altLang="en-US" dirty="0"/>
          </a:p>
        </p:txBody>
      </p:sp>
      <p:graphicFrame>
        <p:nvGraphicFramePr>
          <p:cNvPr id="4" name="对象 3"/>
          <p:cNvGraphicFramePr>
            <a:graphicFrameLocks noChangeAspect="1"/>
          </p:cNvGraphicFramePr>
          <p:nvPr/>
        </p:nvGraphicFramePr>
        <p:xfrm>
          <a:off x="237969" y="1416308"/>
          <a:ext cx="8763187" cy="5013088"/>
        </p:xfrm>
        <a:graphic>
          <a:graphicData uri="http://schemas.openxmlformats.org/presentationml/2006/ole">
            <mc:AlternateContent xmlns:mc="http://schemas.openxmlformats.org/markup-compatibility/2006">
              <mc:Choice xmlns:v="urn:schemas-microsoft-com:vml" Requires="v">
                <p:oleObj spid="_x0000_s30745" name="" r:id="rId1" imgW="12522200" imgH="7175500" progId="Visio.Drawing.11">
                  <p:embed/>
                </p:oleObj>
              </mc:Choice>
              <mc:Fallback>
                <p:oleObj name="" r:id="rId1" imgW="12522200" imgH="71755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969" y="1416308"/>
                        <a:ext cx="8763187" cy="5013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258657" y="6488668"/>
            <a:ext cx="2571217" cy="369332"/>
          </a:xfrm>
          <a:prstGeom prst="rect">
            <a:avLst/>
          </a:prstGeom>
        </p:spPr>
        <p:txBody>
          <a:bodyPr wrap="none">
            <a:spAutoFit/>
          </a:bodyPr>
          <a:lstStyle/>
          <a:p>
            <a:pPr marL="266700" indent="267970" algn="ctr">
              <a:spcAft>
                <a:spcPts val="1200"/>
              </a:spcAft>
            </a:pPr>
            <a:r>
              <a:rPr lang="zh-CN" altLang="zh-CN" dirty="0">
                <a:latin typeface="Times New Roman" panose="02020603050405020304" pitchFamily="18" charset="0"/>
                <a:ea typeface="宋体" panose="02010600030101010101" pitchFamily="2" charset="-122"/>
                <a:cs typeface="Times New Roman" panose="02020603050405020304" pitchFamily="18" charset="0"/>
              </a:rPr>
              <a:t>正交软件</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体系结构</a:t>
            </a:r>
            <a:endParaRPr lang="zh-CN" altLang="zh-CN" sz="1400" b="1" dirty="0">
              <a:effectLst/>
              <a:latin typeface="Calibri Light" panose="020F0302020204030204" pitchFamily="34" charset="0"/>
              <a:ea typeface="宋体" panose="02010600030101010101" pitchFamily="2" charset="-122"/>
              <a:cs typeface="Times New Roman" panose="02020603050405020304" pitchFamily="18" charset="0"/>
            </a:endParaRPr>
          </a:p>
        </p:txBody>
      </p:sp>
    </p:spTree>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正交体系结构风格（</a:t>
            </a:r>
            <a:r>
              <a:rPr lang="en-US" altLang="zh-CN" dirty="0"/>
              <a:t>4</a:t>
            </a:r>
            <a:r>
              <a:rPr lang="zh-CN" altLang="en-US" dirty="0"/>
              <a:t>）</a:t>
            </a:r>
            <a:endParaRPr lang="zh-CN" altLang="en-US" dirty="0"/>
          </a:p>
        </p:txBody>
      </p:sp>
      <p:sp>
        <p:nvSpPr>
          <p:cNvPr id="3" name="内容占位符 2"/>
          <p:cNvSpPr>
            <a:spLocks noGrp="1"/>
          </p:cNvSpPr>
          <p:nvPr>
            <p:ph idx="1"/>
          </p:nvPr>
        </p:nvSpPr>
        <p:spPr/>
        <p:txBody>
          <a:bodyPr/>
          <a:lstStyle/>
          <a:p>
            <a:r>
              <a:rPr lang="zh-CN" altLang="en-US" dirty="0"/>
              <a:t>特点：</a:t>
            </a:r>
            <a:endParaRPr lang="en-US" altLang="zh-CN" dirty="0"/>
          </a:p>
          <a:p>
            <a:pPr lvl="1"/>
            <a:r>
              <a:rPr lang="zh-CN" altLang="en-US" dirty="0"/>
              <a:t>（</a:t>
            </a:r>
            <a:r>
              <a:rPr lang="en-US" dirty="0"/>
              <a:t>1</a:t>
            </a:r>
            <a:r>
              <a:rPr lang="zh-CN" altLang="en-US" dirty="0"/>
              <a:t>）由完成不同功能的</a:t>
            </a:r>
            <a:r>
              <a:rPr lang="en-US" dirty="0"/>
              <a:t>n(n&gt;1)</a:t>
            </a:r>
            <a:r>
              <a:rPr lang="zh-CN" altLang="en-US" dirty="0"/>
              <a:t>个线索</a:t>
            </a:r>
            <a:r>
              <a:rPr lang="en-US" dirty="0"/>
              <a:t>(</a:t>
            </a:r>
            <a:r>
              <a:rPr lang="zh-CN" altLang="en-US" dirty="0"/>
              <a:t>子系统</a:t>
            </a:r>
            <a:r>
              <a:rPr lang="en-US" dirty="0"/>
              <a:t>)</a:t>
            </a:r>
            <a:r>
              <a:rPr lang="zh-CN" altLang="en-US" dirty="0"/>
              <a:t>组成；</a:t>
            </a:r>
            <a:endParaRPr lang="en-US" altLang="zh-CN" dirty="0"/>
          </a:p>
          <a:p>
            <a:pPr lvl="1"/>
            <a:r>
              <a:rPr lang="zh-CN" altLang="en-US" dirty="0"/>
              <a:t>（</a:t>
            </a:r>
            <a:r>
              <a:rPr lang="en-US" dirty="0"/>
              <a:t>2</a:t>
            </a:r>
            <a:r>
              <a:rPr lang="zh-CN" altLang="en-US" dirty="0"/>
              <a:t>）系统具有</a:t>
            </a:r>
            <a:r>
              <a:rPr lang="en-US" dirty="0"/>
              <a:t>m(m &gt;1)</a:t>
            </a:r>
            <a:r>
              <a:rPr lang="zh-CN" altLang="en-US" dirty="0"/>
              <a:t>个不同抽象级别的层；</a:t>
            </a:r>
            <a:endParaRPr lang="en-US" altLang="zh-CN" dirty="0"/>
          </a:p>
          <a:p>
            <a:pPr lvl="1"/>
            <a:r>
              <a:rPr lang="zh-CN" altLang="en-US" dirty="0"/>
              <a:t>（</a:t>
            </a:r>
            <a:r>
              <a:rPr lang="en-US" dirty="0"/>
              <a:t>3</a:t>
            </a:r>
            <a:r>
              <a:rPr lang="zh-CN" altLang="en-US" dirty="0"/>
              <a:t>）线索之间是相互独立的</a:t>
            </a:r>
            <a:r>
              <a:rPr lang="en-US" dirty="0"/>
              <a:t>(</a:t>
            </a:r>
            <a:r>
              <a:rPr lang="zh-CN" altLang="en-US" dirty="0"/>
              <a:t>正交的</a:t>
            </a:r>
            <a:r>
              <a:rPr lang="en-US" dirty="0"/>
              <a:t>)</a:t>
            </a:r>
            <a:r>
              <a:rPr lang="zh-CN" altLang="en-US" dirty="0"/>
              <a:t>；</a:t>
            </a:r>
            <a:endParaRPr lang="en-US" altLang="zh-CN" dirty="0"/>
          </a:p>
          <a:p>
            <a:pPr lvl="1"/>
            <a:r>
              <a:rPr lang="zh-CN" altLang="en-US" dirty="0"/>
              <a:t>（</a:t>
            </a:r>
            <a:r>
              <a:rPr lang="en-US" dirty="0"/>
              <a:t>4</a:t>
            </a:r>
            <a:r>
              <a:rPr lang="zh-CN" altLang="en-US" dirty="0"/>
              <a:t>）系统有一个公共驱动层</a:t>
            </a:r>
            <a:r>
              <a:rPr lang="en-US" dirty="0"/>
              <a:t>(</a:t>
            </a:r>
            <a:r>
              <a:rPr lang="zh-CN" altLang="en-US" dirty="0"/>
              <a:t>一般为最高层</a:t>
            </a:r>
            <a:r>
              <a:rPr lang="en-US" dirty="0"/>
              <a:t>)</a:t>
            </a:r>
            <a:r>
              <a:rPr lang="zh-CN" altLang="en-US" dirty="0"/>
              <a:t>和公共数据结构</a:t>
            </a:r>
            <a:r>
              <a:rPr lang="en-US" dirty="0"/>
              <a:t>(</a:t>
            </a:r>
            <a:r>
              <a:rPr lang="zh-CN" altLang="en-US" dirty="0"/>
              <a:t>一般为最低层</a:t>
            </a:r>
            <a:r>
              <a:rPr lang="en-US" dirty="0"/>
              <a:t>)</a:t>
            </a:r>
            <a:r>
              <a:rPr lang="zh-CN" altLang="en-US" dirty="0"/>
              <a:t>。</a:t>
            </a:r>
            <a:endParaRPr lang="zh-CN" altLang="en-US" dirty="0"/>
          </a:p>
          <a:p>
            <a:pPr lvl="1"/>
            <a:endParaRPr lang="zh-CN" altLang="en-US" dirty="0"/>
          </a:p>
        </p:txBody>
      </p:sp>
    </p:spTree>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正交体系结构风格（</a:t>
            </a:r>
            <a:r>
              <a:rPr lang="en-US" altLang="zh-CN" dirty="0"/>
              <a:t>5</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优点</a:t>
            </a:r>
            <a:endParaRPr lang="zh-CN" altLang="en-US" dirty="0">
              <a:latin typeface="Arial" panose="020B0604020202020204" pitchFamily="34" charset="0"/>
            </a:endParaRPr>
          </a:p>
          <a:p>
            <a:pPr lvl="1"/>
            <a:r>
              <a:rPr lang="zh-CN" altLang="zh-CN" dirty="0"/>
              <a:t>（</a:t>
            </a:r>
            <a:r>
              <a:rPr lang="en-US" altLang="zh-CN" dirty="0"/>
              <a:t>1</a:t>
            </a:r>
            <a:r>
              <a:rPr lang="zh-CN" altLang="zh-CN" dirty="0"/>
              <a:t>）结构清晰，易于理解。</a:t>
            </a:r>
            <a:endParaRPr lang="en-US" altLang="zh-CN" dirty="0"/>
          </a:p>
          <a:p>
            <a:pPr lvl="1"/>
            <a:r>
              <a:rPr lang="zh-CN" altLang="zh-CN" dirty="0"/>
              <a:t>（</a:t>
            </a:r>
            <a:r>
              <a:rPr lang="en-US" altLang="zh-CN" dirty="0"/>
              <a:t>2</a:t>
            </a:r>
            <a:r>
              <a:rPr lang="zh-CN" altLang="zh-CN" dirty="0"/>
              <a:t>）易修改，可维护性强。</a:t>
            </a:r>
            <a:endParaRPr lang="en-US" altLang="zh-CN" dirty="0"/>
          </a:p>
          <a:p>
            <a:pPr lvl="1"/>
            <a:r>
              <a:rPr lang="zh-CN" altLang="zh-CN" dirty="0"/>
              <a:t>（</a:t>
            </a:r>
            <a:r>
              <a:rPr lang="en-US" altLang="zh-CN" dirty="0"/>
              <a:t>3</a:t>
            </a:r>
            <a:r>
              <a:rPr lang="zh-CN" altLang="zh-CN" dirty="0"/>
              <a:t>）可移植性强，重用粒度大。</a:t>
            </a:r>
            <a:endParaRPr lang="zh-CN" altLang="en-US" dirty="0"/>
          </a:p>
        </p:txBody>
      </p:sp>
    </p:spTree>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正交体系结构风格（</a:t>
            </a:r>
            <a:r>
              <a:rPr lang="en-US" altLang="zh-CN" dirty="0"/>
              <a:t>6</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缺点</a:t>
            </a:r>
            <a:endParaRPr lang="zh-CN" altLang="en-US" dirty="0">
              <a:latin typeface="Arial" panose="020B0604020202020204" pitchFamily="34" charset="0"/>
            </a:endParaRPr>
          </a:p>
          <a:p>
            <a:pPr lvl="1"/>
            <a:r>
              <a:rPr lang="zh-CN" altLang="zh-CN" dirty="0"/>
              <a:t>在实际应用中，并不是所有软件系统都能完全正交化，或者有时完全正交化的成本太高。</a:t>
            </a:r>
            <a:endParaRPr lang="en-US" altLang="zh-CN" dirty="0"/>
          </a:p>
          <a:p>
            <a:pPr lvl="1"/>
            <a:r>
              <a:rPr lang="zh-CN" altLang="en-US" dirty="0"/>
              <a:t>实际应用中</a:t>
            </a:r>
            <a:r>
              <a:rPr lang="zh-CN" altLang="zh-CN" dirty="0"/>
              <a:t>，必须反复权衡进一步正交化的额外开销与所得到的更好的性能之间的关系。</a:t>
            </a:r>
            <a:endParaRPr lang="zh-CN" altLang="zh-CN" dirty="0"/>
          </a:p>
        </p:txBody>
      </p:sp>
    </p:spTree>
  </p:cSld>
  <p:clrMapOvr>
    <a:masterClrMapping/>
  </p:clrMapOvr>
  <p:transition>
    <p:wipe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正交体系结构风格（</a:t>
            </a:r>
            <a:r>
              <a:rPr lang="en-US" altLang="zh-CN" dirty="0"/>
              <a:t>7</a:t>
            </a:r>
            <a:r>
              <a:rPr lang="zh-CN" altLang="en-US" dirty="0"/>
              <a:t>）</a:t>
            </a:r>
            <a:endParaRPr lang="zh-CN" altLang="en-US" dirty="0"/>
          </a:p>
        </p:txBody>
      </p:sp>
      <p:sp>
        <p:nvSpPr>
          <p:cNvPr id="67587" name="Rectangle 3"/>
          <p:cNvSpPr>
            <a:spLocks noGrp="1" noChangeArrowheads="1"/>
          </p:cNvSpPr>
          <p:nvPr>
            <p:ph type="body" idx="1"/>
          </p:nvPr>
        </p:nvSpPr>
        <p:spPr>
          <a:xfrm>
            <a:off x="628650" y="1556792"/>
            <a:ext cx="7886700" cy="4620171"/>
          </a:xfrm>
        </p:spPr>
        <p:txBody>
          <a:bodyPr>
            <a:normAutofit/>
          </a:bodyPr>
          <a:lstStyle/>
          <a:p>
            <a:r>
              <a:rPr lang="zh-CN" altLang="en-US" dirty="0">
                <a:latin typeface="Arial" panose="020B0604020202020204" pitchFamily="34" charset="0"/>
              </a:rPr>
              <a:t>应用实例：</a:t>
            </a:r>
            <a:r>
              <a:rPr lang="zh-CN" altLang="zh-CN" dirty="0"/>
              <a:t>汽修服务管理系统</a:t>
            </a:r>
            <a:endParaRPr lang="zh-CN" altLang="en-US" dirty="0"/>
          </a:p>
        </p:txBody>
      </p:sp>
      <p:graphicFrame>
        <p:nvGraphicFramePr>
          <p:cNvPr id="4" name="对象 3"/>
          <p:cNvGraphicFramePr>
            <a:graphicFrameLocks noChangeAspect="1"/>
          </p:cNvGraphicFramePr>
          <p:nvPr/>
        </p:nvGraphicFramePr>
        <p:xfrm>
          <a:off x="2000232" y="2138200"/>
          <a:ext cx="6143668" cy="4379792"/>
        </p:xfrm>
        <a:graphic>
          <a:graphicData uri="http://schemas.openxmlformats.org/presentationml/2006/ole">
            <mc:AlternateContent xmlns:mc="http://schemas.openxmlformats.org/markup-compatibility/2006">
              <mc:Choice xmlns:v="urn:schemas-microsoft-com:vml" Requires="v">
                <p:oleObj spid="_x0000_s31769" name="" r:id="rId1" imgW="10020300" imgH="7175500" progId="Visio.Drawing.11">
                  <p:embed/>
                </p:oleObj>
              </mc:Choice>
              <mc:Fallback>
                <p:oleObj name="" r:id="rId1" imgW="10020300" imgH="71755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32" y="2138200"/>
                        <a:ext cx="6143668" cy="43797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377227" y="6447142"/>
            <a:ext cx="3185487" cy="381323"/>
          </a:xfrm>
          <a:prstGeom prst="rect">
            <a:avLst/>
          </a:prstGeom>
        </p:spPr>
        <p:txBody>
          <a:bodyPr wrap="none">
            <a:spAutoFit/>
          </a:bodyPr>
          <a:lstStyle/>
          <a:p>
            <a:pPr algn="ctr">
              <a:lnSpc>
                <a:spcPct val="115000"/>
              </a:lnSpc>
              <a:spcBef>
                <a:spcPts val="400"/>
              </a:spcBef>
              <a:spcAft>
                <a:spcPts val="400"/>
              </a:spcAft>
            </a:pPr>
            <a:r>
              <a:rPr lang="zh-CN" altLang="zh-CN">
                <a:solidFill>
                  <a:srgbClr val="000000"/>
                </a:solidFill>
                <a:latin typeface="Times New Roman" panose="02020603050405020304" pitchFamily="18" charset="0"/>
                <a:ea typeface="宋体" panose="02010600030101010101" pitchFamily="2" charset="-122"/>
                <a:cs typeface="Times New Roman" panose="02020603050405020304" pitchFamily="18" charset="0"/>
              </a:rPr>
              <a:t>汽</a:t>
            </a:r>
            <a:r>
              <a:rPr lang="zh-CN" altLang="zh-CN"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修服务管理系统的框架结构</a:t>
            </a:r>
            <a:endParaRPr lang="zh-CN" altLang="zh-CN" dirty="0">
              <a:solidFill>
                <a:srgbClr val="000000"/>
              </a:solidFill>
              <a:latin typeface="Arial" panose="020B0604020202020204" pitchFamily="34" charset="0"/>
              <a:ea typeface="宋体" panose="02010600030101010101" pitchFamily="2" charset="-122"/>
            </a:endParaRPr>
          </a:p>
        </p:txBody>
      </p:sp>
    </p:spTree>
  </p:cSld>
  <p:clrMapOvr>
    <a:masterClrMapping/>
  </p:clrMapOvr>
  <p:transition>
    <p:wipe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异构风格（</a:t>
            </a:r>
            <a:r>
              <a:rPr lang="en-US" altLang="zh-CN" dirty="0"/>
              <a:t>1</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t>在设计软件系统时，从不同角度来观察和思考问题，会对体系结构风格的选择产生影响。</a:t>
            </a:r>
            <a:endParaRPr lang="en-US" altLang="zh-CN" dirty="0"/>
          </a:p>
          <a:p>
            <a:r>
              <a:rPr lang="zh-CN" altLang="en-US" dirty="0"/>
              <a:t>每一种体系结构风格都有不同的特点，适用于不同的应用问题，因此，体系结构风格的选择是多样化的和复杂的。</a:t>
            </a:r>
            <a:endParaRPr lang="en-US" altLang="zh-CN" dirty="0"/>
          </a:p>
          <a:p>
            <a:r>
              <a:rPr lang="zh-CN" altLang="en-US" dirty="0"/>
              <a:t>在实际应用中，各种软件体系结构并不是独立存在的，在一个系统中，往往会有多种体系结构共存和相互融合，形成更复杂的框架结构，即异构体系结构。</a:t>
            </a:r>
            <a:endParaRPr lang="zh-CN" altLang="en-US" dirty="0"/>
          </a:p>
        </p:txBody>
      </p:sp>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normAutofit/>
          </a:bodyPr>
          <a:lstStyle/>
          <a:p>
            <a:pPr>
              <a:defRPr/>
            </a:pPr>
            <a:r>
              <a:rPr lang="zh-CN" altLang="en-US" dirty="0"/>
              <a:t>异构风格（</a:t>
            </a:r>
            <a:r>
              <a:rPr lang="en-US" altLang="zh-CN" dirty="0"/>
              <a:t>2</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t>异构体系结构是几种风格的组合，组合方式可能有如下几种：</a:t>
            </a:r>
            <a:endParaRPr lang="en-US" altLang="zh-CN" dirty="0"/>
          </a:p>
          <a:p>
            <a:pPr lvl="1"/>
            <a:r>
              <a:rPr lang="zh-CN" altLang="zh-CN" dirty="0"/>
              <a:t>（</a:t>
            </a:r>
            <a:r>
              <a:rPr lang="en-US" altLang="zh-CN" dirty="0"/>
              <a:t>1</a:t>
            </a:r>
            <a:r>
              <a:rPr lang="zh-CN" altLang="zh-CN" dirty="0"/>
              <a:t>）使用层次结构。一个系统</a:t>
            </a:r>
            <a:r>
              <a:rPr lang="zh-CN" altLang="en-US" dirty="0"/>
              <a:t>组件</a:t>
            </a:r>
            <a:r>
              <a:rPr lang="zh-CN" altLang="zh-CN" dirty="0"/>
              <a:t>被组织成某种</a:t>
            </a:r>
            <a:r>
              <a:rPr lang="zh-CN" altLang="en-US" dirty="0"/>
              <a:t>体系结构</a:t>
            </a:r>
            <a:r>
              <a:rPr lang="zh-CN" altLang="zh-CN" dirty="0"/>
              <a:t>风格，但它的内部结构可能是另一种完全不同的风格。</a:t>
            </a:r>
            <a:endParaRPr lang="en-US" altLang="zh-CN" dirty="0"/>
          </a:p>
          <a:p>
            <a:pPr lvl="1"/>
            <a:r>
              <a:rPr lang="zh-CN" altLang="zh-CN" dirty="0"/>
              <a:t>（</a:t>
            </a:r>
            <a:r>
              <a:rPr lang="en-US" altLang="zh-CN" dirty="0"/>
              <a:t>2</a:t>
            </a:r>
            <a:r>
              <a:rPr lang="zh-CN" altLang="zh-CN" dirty="0"/>
              <a:t>）允许单一</a:t>
            </a:r>
            <a:r>
              <a:rPr lang="zh-CN" altLang="en-US" dirty="0"/>
              <a:t>组件</a:t>
            </a:r>
            <a:r>
              <a:rPr lang="zh-CN" altLang="zh-CN" dirty="0"/>
              <a:t>使用复合的连接件。</a:t>
            </a:r>
            <a:endParaRPr lang="zh-CN" altLang="en-US" dirty="0"/>
          </a:p>
        </p:txBody>
      </p:sp>
    </p:spTree>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a:defRPr/>
            </a:pPr>
            <a:r>
              <a:rPr lang="zh-CN" altLang="en-US" dirty="0"/>
              <a:t>异构风格（</a:t>
            </a:r>
            <a:r>
              <a:rPr lang="en-US" altLang="zh-CN" dirty="0"/>
              <a:t>3</a:t>
            </a:r>
            <a:r>
              <a:rPr lang="zh-CN" altLang="en-US" dirty="0"/>
              <a:t>）</a:t>
            </a:r>
            <a:endParaRPr lang="zh-CN" altLang="en-US" dirty="0"/>
          </a:p>
        </p:txBody>
      </p:sp>
      <p:sp>
        <p:nvSpPr>
          <p:cNvPr id="67587" name="Rectangle 3"/>
          <p:cNvSpPr>
            <a:spLocks noGrp="1" noChangeArrowheads="1"/>
          </p:cNvSpPr>
          <p:nvPr>
            <p:ph type="body" idx="1"/>
          </p:nvPr>
        </p:nvSpPr>
        <p:spPr/>
        <p:txBody>
          <a:bodyPr>
            <a:normAutofit/>
          </a:bodyPr>
          <a:lstStyle/>
          <a:p>
            <a:r>
              <a:rPr lang="zh-CN" altLang="en-US" dirty="0">
                <a:latin typeface="Arial" panose="020B0604020202020204" pitchFamily="34" charset="0"/>
              </a:rPr>
              <a:t>优点</a:t>
            </a:r>
            <a:endParaRPr lang="zh-CN" altLang="en-US" dirty="0">
              <a:latin typeface="Arial" panose="020B0604020202020204" pitchFamily="34" charset="0"/>
            </a:endParaRPr>
          </a:p>
          <a:p>
            <a:pPr lvl="1"/>
            <a:r>
              <a:rPr lang="zh-CN" altLang="zh-CN" dirty="0"/>
              <a:t>（</a:t>
            </a:r>
            <a:r>
              <a:rPr lang="en-US" altLang="zh-CN" dirty="0"/>
              <a:t>1</a:t>
            </a:r>
            <a:r>
              <a:rPr lang="zh-CN" altLang="zh-CN" dirty="0"/>
              <a:t>）选择异构</a:t>
            </a:r>
            <a:r>
              <a:rPr lang="zh-CN" altLang="en-US" dirty="0"/>
              <a:t>体系结构</a:t>
            </a:r>
            <a:r>
              <a:rPr lang="zh-CN" altLang="zh-CN" dirty="0"/>
              <a:t>风格，可以实现遗留代码的重用。</a:t>
            </a:r>
            <a:endParaRPr lang="en-US" altLang="zh-CN" dirty="0"/>
          </a:p>
          <a:p>
            <a:pPr lvl="1"/>
            <a:r>
              <a:rPr lang="zh-CN" altLang="zh-CN" dirty="0"/>
              <a:t>（</a:t>
            </a:r>
            <a:r>
              <a:rPr lang="en-US" altLang="zh-CN" dirty="0"/>
              <a:t>2</a:t>
            </a:r>
            <a:r>
              <a:rPr lang="zh-CN" altLang="zh-CN" dirty="0"/>
              <a:t>）在某一单位中，规定了共享软件包和某些标准，但仍会存在解释和表示习惯上的不</a:t>
            </a:r>
            <a:r>
              <a:rPr lang="zh-CN" altLang="en-US" dirty="0"/>
              <a:t>同</a:t>
            </a:r>
            <a:r>
              <a:rPr lang="zh-CN" altLang="zh-CN" dirty="0"/>
              <a:t>。选择异构</a:t>
            </a:r>
            <a:r>
              <a:rPr lang="zh-CN" altLang="en-US" dirty="0"/>
              <a:t>体系结构</a:t>
            </a:r>
            <a:r>
              <a:rPr lang="zh-CN" altLang="zh-CN" dirty="0"/>
              <a:t>风格，可以解决这一问题。</a:t>
            </a:r>
            <a:endParaRPr lang="en-US" altLang="zh-CN" dirty="0"/>
          </a:p>
          <a:p>
            <a:r>
              <a:rPr lang="zh-CN" altLang="en-US" dirty="0"/>
              <a:t>缺点</a:t>
            </a:r>
            <a:endParaRPr lang="en-US" altLang="zh-CN" dirty="0"/>
          </a:p>
          <a:p>
            <a:pPr lvl="1"/>
            <a:r>
              <a:rPr lang="zh-CN" altLang="en-US" dirty="0"/>
              <a:t>不同风格之间的兼容问题有时很难解决</a:t>
            </a:r>
            <a:endParaRPr lang="zh-CN" altLang="zh-CN" dirty="0"/>
          </a:p>
          <a:p>
            <a:pPr lvl="1"/>
            <a:endParaRPr lang="zh-CN" altLang="en-US" dirty="0"/>
          </a:p>
        </p:txBody>
      </p:sp>
    </p:spTree>
  </p:cSld>
  <p:clrMapOvr>
    <a:masterClrMapping/>
  </p:clrMapOvr>
  <p:transition>
    <p:wipe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a:xfrm>
            <a:off x="1142976" y="0"/>
            <a:ext cx="7498080" cy="1143000"/>
          </a:xfrm>
        </p:spPr>
        <p:txBody>
          <a:bodyPr/>
          <a:lstStyle/>
          <a:p>
            <a:pPr>
              <a:defRPr/>
            </a:pPr>
            <a:r>
              <a:rPr lang="zh-CN" altLang="en-US" dirty="0"/>
              <a:t>异构风格（</a:t>
            </a:r>
            <a:r>
              <a:rPr lang="en-US" altLang="zh-CN" dirty="0"/>
              <a:t>4</a:t>
            </a:r>
            <a:r>
              <a:rPr lang="zh-CN" altLang="en-US" dirty="0"/>
              <a:t>）</a:t>
            </a:r>
            <a:endParaRPr lang="zh-CN" altLang="en-US" dirty="0"/>
          </a:p>
        </p:txBody>
      </p:sp>
      <p:sp>
        <p:nvSpPr>
          <p:cNvPr id="67587" name="Rectangle 3"/>
          <p:cNvSpPr>
            <a:spLocks noGrp="1" noChangeArrowheads="1"/>
          </p:cNvSpPr>
          <p:nvPr>
            <p:ph type="body" idx="1"/>
          </p:nvPr>
        </p:nvSpPr>
        <p:spPr>
          <a:xfrm>
            <a:off x="395536" y="1340768"/>
            <a:ext cx="8433654" cy="5391168"/>
          </a:xfrm>
        </p:spPr>
        <p:txBody>
          <a:bodyPr>
            <a:normAutofit/>
          </a:bodyPr>
          <a:lstStyle/>
          <a:p>
            <a:r>
              <a:rPr lang="zh-CN" altLang="en-US" dirty="0">
                <a:latin typeface="Arial" panose="020B0604020202020204" pitchFamily="34" charset="0"/>
              </a:rPr>
              <a:t>应用实例：</a:t>
            </a:r>
            <a:r>
              <a:rPr lang="en-US" altLang="zh-CN" dirty="0"/>
              <a:t>B/S</a:t>
            </a:r>
            <a:r>
              <a:rPr lang="zh-CN" altLang="en-US" dirty="0"/>
              <a:t>结构和</a:t>
            </a:r>
            <a:r>
              <a:rPr lang="en-US" altLang="zh-CN" dirty="0"/>
              <a:t>C/S</a:t>
            </a:r>
            <a:r>
              <a:rPr lang="zh-CN" altLang="en-US" dirty="0"/>
              <a:t>结构组合</a:t>
            </a:r>
            <a:r>
              <a:rPr lang="en-US" altLang="zh-CN" dirty="0"/>
              <a:t>——</a:t>
            </a:r>
            <a:r>
              <a:rPr lang="en-US" dirty="0"/>
              <a:t> “</a:t>
            </a:r>
            <a:r>
              <a:rPr lang="zh-CN" altLang="en-US" dirty="0"/>
              <a:t>内外有别</a:t>
            </a:r>
            <a:r>
              <a:rPr lang="en-US" dirty="0"/>
              <a:t>”</a:t>
            </a:r>
            <a:r>
              <a:rPr lang="zh-CN" altLang="en-US" dirty="0"/>
              <a:t>模型</a:t>
            </a:r>
            <a:endParaRPr lang="zh-CN" altLang="en-US" dirty="0"/>
          </a:p>
        </p:txBody>
      </p:sp>
      <p:sp>
        <p:nvSpPr>
          <p:cNvPr id="3" name="Rectangle 2"/>
          <p:cNvSpPr>
            <a:spLocks noChangeArrowheads="1"/>
          </p:cNvSpPr>
          <p:nvPr/>
        </p:nvSpPr>
        <p:spPr bwMode="auto">
          <a:xfrm>
            <a:off x="2123727" y="2708919"/>
            <a:ext cx="1012539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87142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71427" name="Object 3"/>
          <p:cNvGraphicFramePr>
            <a:graphicFrameLocks noChangeAspect="1"/>
          </p:cNvGraphicFramePr>
          <p:nvPr/>
        </p:nvGraphicFramePr>
        <p:xfrm>
          <a:off x="5786" y="2000240"/>
          <a:ext cx="8957873" cy="4572032"/>
        </p:xfrm>
        <a:graphic>
          <a:graphicData uri="http://schemas.openxmlformats.org/presentationml/2006/ole">
            <mc:AlternateContent xmlns:mc="http://schemas.openxmlformats.org/markup-compatibility/2006">
              <mc:Choice xmlns:v="urn:schemas-microsoft-com:vml" Requires="v">
                <p:oleObj spid="_x0000_s32793" name="Visio" r:id="rId1" imgW="9004300" imgH="4597400" progId="Visio.Drawing.11">
                  <p:embed/>
                </p:oleObj>
              </mc:Choice>
              <mc:Fallback>
                <p:oleObj name="Visio" r:id="rId1" imgW="9004300" imgH="45974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6" y="2000240"/>
                        <a:ext cx="8957873" cy="45720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a:xfrm>
            <a:off x="1142976" y="0"/>
            <a:ext cx="7498080" cy="1143000"/>
          </a:xfrm>
        </p:spPr>
        <p:txBody>
          <a:bodyPr/>
          <a:lstStyle/>
          <a:p>
            <a:pPr>
              <a:defRPr/>
            </a:pPr>
            <a:r>
              <a:rPr lang="zh-CN" altLang="en-US" dirty="0"/>
              <a:t>异构风格（</a:t>
            </a:r>
            <a:r>
              <a:rPr lang="en-US" altLang="zh-CN" dirty="0"/>
              <a:t>5</a:t>
            </a:r>
            <a:r>
              <a:rPr lang="zh-CN" altLang="en-US" dirty="0"/>
              <a:t>）</a:t>
            </a:r>
            <a:endParaRPr lang="zh-CN" altLang="en-US" dirty="0"/>
          </a:p>
        </p:txBody>
      </p:sp>
      <p:sp>
        <p:nvSpPr>
          <p:cNvPr id="67587" name="Rectangle 3"/>
          <p:cNvSpPr>
            <a:spLocks noGrp="1" noChangeArrowheads="1"/>
          </p:cNvSpPr>
          <p:nvPr>
            <p:ph type="body" idx="1"/>
          </p:nvPr>
        </p:nvSpPr>
        <p:spPr>
          <a:xfrm>
            <a:off x="467544" y="1340768"/>
            <a:ext cx="8433654" cy="5391168"/>
          </a:xfrm>
        </p:spPr>
        <p:txBody>
          <a:bodyPr>
            <a:normAutofit/>
          </a:bodyPr>
          <a:lstStyle/>
          <a:p>
            <a:r>
              <a:rPr lang="zh-CN" altLang="en-US" dirty="0">
                <a:latin typeface="Arial" panose="020B0604020202020204" pitchFamily="34" charset="0"/>
              </a:rPr>
              <a:t>应用实例：</a:t>
            </a:r>
            <a:r>
              <a:rPr lang="en-US" altLang="zh-CN" dirty="0"/>
              <a:t>B/S</a:t>
            </a:r>
            <a:r>
              <a:rPr lang="zh-CN" altLang="en-US" dirty="0"/>
              <a:t>结构和</a:t>
            </a:r>
            <a:r>
              <a:rPr lang="en-US" altLang="zh-CN" dirty="0"/>
              <a:t>C/S</a:t>
            </a:r>
            <a:r>
              <a:rPr lang="zh-CN" altLang="en-US" dirty="0"/>
              <a:t>结构组合</a:t>
            </a:r>
            <a:r>
              <a:rPr lang="en-US" altLang="zh-CN" dirty="0"/>
              <a:t>——</a:t>
            </a:r>
            <a:r>
              <a:rPr lang="en-US" dirty="0"/>
              <a:t> “</a:t>
            </a:r>
            <a:r>
              <a:rPr lang="zh-CN" altLang="en-US" dirty="0"/>
              <a:t>查改有别</a:t>
            </a:r>
            <a:r>
              <a:rPr lang="en-US" dirty="0"/>
              <a:t>”</a:t>
            </a:r>
            <a:r>
              <a:rPr lang="zh-CN" altLang="en-US" dirty="0"/>
              <a:t>模型</a:t>
            </a:r>
            <a:endParaRPr lang="zh-CN" altLang="en-US" dirty="0"/>
          </a:p>
        </p:txBody>
      </p:sp>
      <p:sp>
        <p:nvSpPr>
          <p:cNvPr id="87142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86788" name="Rectangle 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886787" name="Object 3"/>
          <p:cNvGraphicFramePr>
            <a:graphicFrameLocks noChangeAspect="1"/>
          </p:cNvGraphicFramePr>
          <p:nvPr/>
        </p:nvGraphicFramePr>
        <p:xfrm>
          <a:off x="493351" y="2000240"/>
          <a:ext cx="8248667" cy="4857760"/>
        </p:xfrm>
        <a:graphic>
          <a:graphicData uri="http://schemas.openxmlformats.org/presentationml/2006/ole">
            <mc:AlternateContent xmlns:mc="http://schemas.openxmlformats.org/markup-compatibility/2006">
              <mc:Choice xmlns:v="urn:schemas-microsoft-com:vml" Requires="v">
                <p:oleObj spid="_x0000_s33817" name="Visio" r:id="rId1" imgW="8166100" imgH="4838700" progId="Visio.Drawing.11">
                  <p:embed/>
                </p:oleObj>
              </mc:Choice>
              <mc:Fallback>
                <p:oleObj name="Visio" r:id="rId1" imgW="8166100" imgH="483870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351" y="2000240"/>
                        <a:ext cx="8248667" cy="48577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a:xfrm>
            <a:off x="1142976" y="0"/>
            <a:ext cx="7498080" cy="1143000"/>
          </a:xfrm>
        </p:spPr>
        <p:txBody>
          <a:bodyPr/>
          <a:lstStyle/>
          <a:p>
            <a:pPr>
              <a:defRPr/>
            </a:pPr>
            <a:r>
              <a:rPr lang="zh-CN" altLang="en-US" dirty="0"/>
              <a:t>异构风格（</a:t>
            </a:r>
            <a:r>
              <a:rPr lang="en-US" altLang="zh-CN" dirty="0"/>
              <a:t>6</a:t>
            </a:r>
            <a:r>
              <a:rPr lang="zh-CN" altLang="en-US" dirty="0"/>
              <a:t>）</a:t>
            </a:r>
            <a:endParaRPr lang="zh-CN" altLang="en-US" dirty="0"/>
          </a:p>
        </p:txBody>
      </p:sp>
      <p:sp>
        <p:nvSpPr>
          <p:cNvPr id="67587" name="Rectangle 3"/>
          <p:cNvSpPr>
            <a:spLocks noGrp="1" noChangeArrowheads="1"/>
          </p:cNvSpPr>
          <p:nvPr>
            <p:ph type="body" idx="1"/>
          </p:nvPr>
        </p:nvSpPr>
        <p:spPr>
          <a:xfrm>
            <a:off x="822542" y="1196752"/>
            <a:ext cx="7719274" cy="5391168"/>
          </a:xfrm>
        </p:spPr>
        <p:txBody>
          <a:bodyPr>
            <a:normAutofit/>
          </a:bodyPr>
          <a:lstStyle/>
          <a:p>
            <a:r>
              <a:rPr lang="zh-CN" altLang="en-US" dirty="0">
                <a:latin typeface="Arial" panose="020B0604020202020204" pitchFamily="34" charset="0"/>
              </a:rPr>
              <a:t>应用实例：</a:t>
            </a:r>
            <a:r>
              <a:rPr lang="zh-CN" altLang="en-US" dirty="0"/>
              <a:t>供电管理系统</a:t>
            </a:r>
            <a:r>
              <a:rPr lang="en-US" altLang="zh-CN" dirty="0"/>
              <a:t>——B/S</a:t>
            </a:r>
            <a:r>
              <a:rPr lang="zh-CN" altLang="en-US" dirty="0"/>
              <a:t>结构和</a:t>
            </a:r>
            <a:r>
              <a:rPr lang="en-US" altLang="zh-CN" dirty="0"/>
              <a:t>C/S</a:t>
            </a:r>
            <a:r>
              <a:rPr lang="zh-CN" altLang="en-US" dirty="0"/>
              <a:t>结构组合</a:t>
            </a:r>
            <a:endParaRPr lang="zh-CN" altLang="en-US" dirty="0"/>
          </a:p>
        </p:txBody>
      </p:sp>
      <p:sp>
        <p:nvSpPr>
          <p:cNvPr id="3" name="Rectangle 2"/>
          <p:cNvSpPr>
            <a:spLocks noChangeArrowheads="1"/>
          </p:cNvSpPr>
          <p:nvPr/>
        </p:nvSpPr>
        <p:spPr bwMode="auto">
          <a:xfrm>
            <a:off x="2123727" y="2708919"/>
            <a:ext cx="1012539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357158" y="1928801"/>
          <a:ext cx="8650042" cy="4708251"/>
        </p:xfrm>
        <a:graphic>
          <a:graphicData uri="http://schemas.openxmlformats.org/presentationml/2006/ole">
            <mc:AlternateContent xmlns:mc="http://schemas.openxmlformats.org/markup-compatibility/2006">
              <mc:Choice xmlns:v="urn:schemas-microsoft-com:vml" Requires="v">
                <p:oleObj spid="_x0000_s34841" name="" r:id="rId1" imgW="8585200" imgH="4660900" progId="Visio.Drawing.11">
                  <p:embed/>
                </p:oleObj>
              </mc:Choice>
              <mc:Fallback>
                <p:oleObj name="" r:id="rId1" imgW="8585200" imgH="46609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58" y="1928801"/>
                        <a:ext cx="8650042" cy="47082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729867" y="6447118"/>
            <a:ext cx="2723824" cy="381323"/>
          </a:xfrm>
          <a:prstGeom prst="rect">
            <a:avLst/>
          </a:prstGeom>
        </p:spPr>
        <p:txBody>
          <a:bodyPr wrap="none">
            <a:spAutoFit/>
          </a:bodyPr>
          <a:lstStyle/>
          <a:p>
            <a:pPr algn="ctr">
              <a:lnSpc>
                <a:spcPct val="115000"/>
              </a:lnSpc>
              <a:spcBef>
                <a:spcPts val="400"/>
              </a:spcBef>
              <a:spcAft>
                <a:spcPts val="400"/>
              </a:spcAft>
            </a:pPr>
            <a:r>
              <a:rPr lang="zh-CN" altLang="zh-CN"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供电管理系统的</a:t>
            </a:r>
            <a:r>
              <a:rPr lang="zh-CN" altLang="en-US"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体系结构</a:t>
            </a:r>
            <a:endParaRPr lang="zh-CN" altLang="zh-CN" dirty="0">
              <a:solidFill>
                <a:srgbClr val="000000"/>
              </a:solidFill>
              <a:latin typeface="Arial" panose="020B0604020202020204" pitchFamily="34" charset="0"/>
              <a:ea typeface="宋体" panose="02010600030101010101" pitchFamily="2" charset="-122"/>
            </a:endParaRPr>
          </a:p>
        </p:txBody>
      </p:sp>
    </p:spTree>
  </p:cSld>
  <p:clrMapOvr>
    <a:masterClrMapping/>
  </p:clrMapOvr>
  <p:transition>
    <p:wipe dir="u"/>
  </p:transition>
</p:sld>
</file>

<file path=ppt/tags/tag1.xml><?xml version="1.0" encoding="utf-8"?>
<p:tagLst xmlns:p="http://schemas.openxmlformats.org/presentationml/2006/main">
  <p:tag name="commondata" val="eyJoZGlkIjoiYzFhZGY0ZTViYWQyN2I0ZGJhNDk0OThkMjNkNmQ2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6事件驱动</Template>
  <TotalTime>0</TotalTime>
  <Words>4231</Words>
  <Application>WPS 演示</Application>
  <PresentationFormat>全屏显示(4:3)</PresentationFormat>
  <Paragraphs>279</Paragraphs>
  <Slides>43</Slides>
  <Notes>38</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15</vt:i4>
      </vt:variant>
      <vt:variant>
        <vt:lpstr>幻灯片标题</vt:lpstr>
      </vt:variant>
      <vt:variant>
        <vt:i4>43</vt:i4>
      </vt:variant>
    </vt:vector>
  </HeadingPairs>
  <TitlesOfParts>
    <vt:vector size="68" baseType="lpstr">
      <vt:lpstr>Arial</vt:lpstr>
      <vt:lpstr>宋体</vt:lpstr>
      <vt:lpstr>Wingdings</vt:lpstr>
      <vt:lpstr>Calibri Light</vt:lpstr>
      <vt:lpstr>Times New Roman</vt:lpstr>
      <vt:lpstr>黑体</vt:lpstr>
      <vt:lpstr>Calibri</vt:lpstr>
      <vt:lpstr>微软雅黑</vt:lpstr>
      <vt:lpstr>Arial Unicode MS</vt:lpstr>
      <vt:lpstr>Office 主题</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软件体系结构 </vt:lpstr>
      <vt:lpstr>C2风格（1）</vt:lpstr>
      <vt:lpstr>C2风格（2）</vt:lpstr>
      <vt:lpstr>C2风格（3）</vt:lpstr>
      <vt:lpstr>C2风格（4）</vt:lpstr>
      <vt:lpstr>C2风格（5）</vt:lpstr>
      <vt:lpstr>C2风格（6）</vt:lpstr>
      <vt:lpstr>C2风格</vt:lpstr>
      <vt:lpstr>平台/插件风格（1）</vt:lpstr>
      <vt:lpstr>平台/插件风格（2）</vt:lpstr>
      <vt:lpstr>平台/插件风格（3）</vt:lpstr>
      <vt:lpstr>平台/插件风格（4）</vt:lpstr>
      <vt:lpstr>平台/插件风格（5）</vt:lpstr>
      <vt:lpstr>平台/插件风格（6）</vt:lpstr>
      <vt:lpstr>面向Agent风格（1）</vt:lpstr>
      <vt:lpstr>面向Agent风格（2）</vt:lpstr>
      <vt:lpstr>PowerPoint 演示文稿</vt:lpstr>
      <vt:lpstr>面向Agent风格（4）</vt:lpstr>
      <vt:lpstr>PowerPoint 演示文稿</vt:lpstr>
      <vt:lpstr>面向方面软件体系结构风格（1）</vt:lpstr>
      <vt:lpstr>面向方面软件体系结构风格（2）</vt:lpstr>
      <vt:lpstr>面向方面软件体系结构风格（3）</vt:lpstr>
      <vt:lpstr>面向方面软件体系结构风格（4）</vt:lpstr>
      <vt:lpstr>面向方面软件体系结构风格（5）</vt:lpstr>
      <vt:lpstr>面向服务体系结构风格（1）</vt:lpstr>
      <vt:lpstr>面向服务体系结构风格（2）</vt:lpstr>
      <vt:lpstr>面向服务体系结构风格（3）</vt:lpstr>
      <vt:lpstr>面向服务体系结构风格（4）</vt:lpstr>
      <vt:lpstr>面向服务体系结构风格（5）</vt:lpstr>
      <vt:lpstr>面向服务体系结构风格（6）</vt:lpstr>
      <vt:lpstr>正交体系结构风格（1）</vt:lpstr>
      <vt:lpstr>正交体系结构风格（2）</vt:lpstr>
      <vt:lpstr>正交体系结构风格（3）</vt:lpstr>
      <vt:lpstr>正交体系结构风格（4）</vt:lpstr>
      <vt:lpstr>正交体系结构风格（5）</vt:lpstr>
      <vt:lpstr>正交体系结构风格（6）</vt:lpstr>
      <vt:lpstr>正交体系结构风格（7）</vt:lpstr>
      <vt:lpstr>异构风格（1）</vt:lpstr>
      <vt:lpstr>异构风格（2）</vt:lpstr>
      <vt:lpstr>异构风格（3）</vt:lpstr>
      <vt:lpstr>异构风格（4）</vt:lpstr>
      <vt:lpstr>异构风格（5）</vt:lpstr>
      <vt:lpstr>异构风格（6）</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事件驱动</dc:title>
  <dc:creator>zhao</dc:creator>
  <cp:lastModifiedBy>赵庆玲</cp:lastModifiedBy>
  <cp:revision>688</cp:revision>
  <dcterms:created xsi:type="dcterms:W3CDTF">2018-04-12T01:58:00Z</dcterms:created>
  <dcterms:modified xsi:type="dcterms:W3CDTF">2026-06-03T03:43:10Z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2C3F3CC023FF472A820065EA1E24412A_13</vt:lpwstr>
  </property>
</Properties>
</file>