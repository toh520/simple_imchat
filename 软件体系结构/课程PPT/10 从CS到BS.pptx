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
  </p:notesMasterIdLst>
  <p:handoutMasterIdLst>
    <p:handoutMasterId r:id="rId27"/>
  </p:handoutMasterIdLst>
  <p:sldIdLst>
    <p:sldId id="334" r:id="rId3"/>
    <p:sldId id="351" r:id="rId4"/>
    <p:sldId id="352" r:id="rId5"/>
    <p:sldId id="353" r:id="rId6"/>
    <p:sldId id="357" r:id="rId7"/>
    <p:sldId id="354" r:id="rId8"/>
    <p:sldId id="355" r:id="rId9"/>
    <p:sldId id="356" r:id="rId10"/>
    <p:sldId id="358" r:id="rId11"/>
    <p:sldId id="359" r:id="rId13"/>
    <p:sldId id="360" r:id="rId14"/>
    <p:sldId id="361" r:id="rId15"/>
    <p:sldId id="362" r:id="rId16"/>
    <p:sldId id="363" r:id="rId17"/>
    <p:sldId id="364" r:id="rId18"/>
    <p:sldId id="365" r:id="rId19"/>
    <p:sldId id="366" r:id="rId20"/>
    <p:sldId id="367" r:id="rId21"/>
    <p:sldId id="368" r:id="rId22"/>
    <p:sldId id="369" r:id="rId23"/>
    <p:sldId id="370" r:id="rId24"/>
    <p:sldId id="371" r:id="rId25"/>
    <p:sldId id="372" r:id="rId26"/>
  </p:sldIdLst>
  <p:sldSz cx="9144000" cy="6858000" type="screen4x3"/>
  <p:notesSz cx="6858000" cy="9144000"/>
  <p:custDataLst>
    <p:tags r:id="rId31"/>
  </p:custDataLst>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FF3399"/>
    <a:srgbClr val="3333FF"/>
    <a:srgbClr val="0033CC"/>
    <a:srgbClr val="0000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37" autoAdjust="0"/>
    <p:restoredTop sz="83244" autoAdjust="0"/>
  </p:normalViewPr>
  <p:slideViewPr>
    <p:cSldViewPr showGuides="1">
      <p:cViewPr varScale="1">
        <p:scale>
          <a:sx n="95" d="100"/>
          <a:sy n="95" d="100"/>
        </p:scale>
        <p:origin x="1743" y="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gs" Target="tags/tag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099" name="Rectangle 3"/>
          <p:cNvSpPr>
            <a:spLocks noGrp="1" noRot="1" noChangeAspect="1" noChangeArrowheads="1" noTextEdit="1"/>
          </p:cNvSpPr>
          <p:nvPr>
            <p:ph type="sldImg" idx="4294967295"/>
          </p:nvPr>
        </p:nvSpPr>
        <p:spPr bwMode="auto">
          <a:xfrm>
            <a:off x="1149350" y="692150"/>
            <a:ext cx="4559300" cy="34163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1.</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适用面窄，通常用于局域网中。</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2.</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用户群固定。由于程序需要安装才可使用，因此不适合面向一些不可知的用户。</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3.</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维护成本高，发生一次升级，则所有客户端的程序都需要改变。</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在三层体系结构中，提供在客户端和服务器端进行应用功能的分割，系统通过应用将用户定义的界面系统从商业处理逻辑中分割出去。通过将商业处理逻辑集中在中间件服务器中，将能够减小客户端的工作量并使敏感数据访问控制变得简单。   在三层结构中，客户端将与服务器端的数据变化隔离，简单的说，商业处理逻辑不受客户端的用户界面的改变而影响。三层体系中有一个非常重要的特性就是系统具有良好的组件重用</a:t>
            </a:r>
            <a:r>
              <a:rPr lang="zh-CN" altLang="en-US"/>
              <a:t>性。</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1</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）客户端无需安装，有</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浏览器即可。</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2</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BS</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架构可以直接放在广域网上，通过一定的权限控制实现多客户访问的目的，交互性较强。</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3</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BS</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架构无需升级多个客户端，升级服务器即可。</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en-US" altLang="zh-CN" dirty="0"/>
              <a:t>1</a:t>
            </a:r>
            <a:r>
              <a:rPr lang="zh-CN" altLang="en-US" dirty="0"/>
              <a:t>）在跨浏览器上，</a:t>
            </a:r>
            <a:r>
              <a:rPr lang="en-US" altLang="zh-CN" dirty="0"/>
              <a:t>BS</a:t>
            </a:r>
            <a:r>
              <a:rPr lang="zh-CN" altLang="en-US" dirty="0"/>
              <a:t>架构不尽如人意。</a:t>
            </a:r>
            <a:r>
              <a:rPr lang="en-US" altLang="zh-CN" dirty="0"/>
              <a:t>2</a:t>
            </a:r>
            <a:r>
              <a:rPr lang="zh-CN" altLang="en-US" dirty="0"/>
              <a:t>）表现要达到</a:t>
            </a:r>
            <a:r>
              <a:rPr lang="en-US" altLang="zh-CN" dirty="0"/>
              <a:t>CS</a:t>
            </a:r>
            <a:r>
              <a:rPr lang="zh-CN" altLang="en-US" dirty="0"/>
              <a:t>程序的程度需要花费不少精力。</a:t>
            </a:r>
            <a:r>
              <a:rPr lang="en-US" altLang="zh-CN" dirty="0"/>
              <a:t>3</a:t>
            </a:r>
            <a:r>
              <a:rPr lang="zh-CN" altLang="en-US" dirty="0"/>
              <a:t>）在速度和安全性上需要花费巨大的设计成本，这是</a:t>
            </a:r>
            <a:r>
              <a:rPr lang="en-US" altLang="zh-CN" dirty="0"/>
              <a:t>BS</a:t>
            </a:r>
            <a:r>
              <a:rPr lang="zh-CN" altLang="en-US" dirty="0"/>
              <a:t>架构的最大问题。</a:t>
            </a:r>
            <a:r>
              <a:rPr lang="en-US" altLang="zh-CN" dirty="0"/>
              <a:t>4</a:t>
            </a:r>
            <a:r>
              <a:rPr lang="zh-CN" altLang="en-US" dirty="0"/>
              <a:t>）客户端服务器端的交互是请求</a:t>
            </a:r>
            <a:r>
              <a:rPr lang="en-US" altLang="zh-CN" dirty="0"/>
              <a:t>-</a:t>
            </a:r>
            <a:r>
              <a:rPr lang="zh-CN" altLang="en-US" dirty="0"/>
              <a:t>响应模式，通常需要刷新页面，这并不是客户乐意看到的。（在</a:t>
            </a:r>
            <a:r>
              <a:rPr lang="en-US" altLang="zh-CN" dirty="0"/>
              <a:t>Ajax</a:t>
            </a:r>
            <a:r>
              <a:rPr lang="zh-CN" altLang="en-US" dirty="0"/>
              <a:t>风行后此问题得到了一定程度的缓解）</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每个节点既可以充当客户端（</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Client</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），又可以充当服务器端（</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Server</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endParaRPr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纯</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P2P</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模式、集中模式及混合模式</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延时较小。延时就是指信息在从发出到接收这个过程中所用的传输时间。在</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C/S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模式中，信息是先从一个客户端传到服务器端，而后再从服务器端传到另一个客户端。但</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P2P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架构则是让信息直接在两个客户端间传递，这样就比</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C/S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模式减少了一半的传递时间 注意　 延时越小，游戏的实时性越好。</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不需要服务器端。既然</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P2P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架构全是由客户端构建成的，因此也就没必要使用服务器端。这对于无论是游戏开发者还是发布者来说都是一件好事，因为他们不用再为维持运行游戏中央服务器而支付主机托管和管理费了。</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a:p>
            <a:endParaRPr lang="en-US" altLang="zh-CN" dirty="0"/>
          </a:p>
          <a:p>
            <a:endParaRPr lang="en-US" altLang="zh-CN" dirty="0"/>
          </a:p>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P2P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架构的一个缺点就是：没有中心逻辑决策者。还有一些范例更能说明问题。</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两个战斗到</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最后的玩家间互发了一个必杀技，谁先倒下？</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在赛车游戏中，谁第一个冲过终点？</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玩家争着抢地上的钥匙，哪一位先抢到呢？</a:t>
            </a:r>
            <a:endParaRPr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B6A04A70-9EA4-4EF4-9241-66FFDAED7C9C}"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F185D2A4-45B3-4C61-B106-B39DF6C70255}" type="slidenum">
              <a:rPr lang="en-US" altLang="zh-CN" smtClean="0"/>
            </a:fld>
            <a:endParaRPr lang="en-US" altLang="zh-CN"/>
          </a:p>
        </p:txBody>
      </p:sp>
    </p:spTree>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p:nvPicPr>
        <p:blipFill>
          <a:blip r:embed="rId2"/>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p:nvPicPr>
        <p:blipFill>
          <a:blip r:embed="rId4" cstate="screen"/>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3" name="灯片编号占位符 5"/>
          <p:cNvSpPr>
            <a:spLocks noGrp="1"/>
          </p:cNvSpPr>
          <p:nvPr>
            <p:ph type="sldNum" sz="quarter" idx="11"/>
          </p:nvPr>
        </p:nvSpPr>
        <p:spPr/>
        <p:txBody>
          <a:bodyPr/>
          <a:lstStyle>
            <a:lvl1pPr>
              <a:defRPr/>
            </a:lvl1pPr>
          </a:lstStyle>
          <a:p>
            <a:pPr>
              <a:defRPr/>
            </a:pPr>
            <a:fld id="{B12A1F17-4248-4866-8EE5-EC6FA886BE0B}" type="slidenum">
              <a:rPr lang="en-US" altLang="zh-CN" smtClean="0"/>
            </a:fld>
            <a:endParaRPr lang="en-US" altLang="zh-CN"/>
          </a:p>
        </p:txBody>
      </p:sp>
    </p:spTree>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B4D2A30B-39F9-4937-954E-B173BCF13035}" type="slidenum">
              <a:rPr lang="en-US" altLang="zh-CN" smtClean="0"/>
            </a:fld>
            <a:endParaRPr lang="en-US" altLang="zh-CN"/>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AAF55BFC-F128-4273-9AC9-1C9B552DC498}" type="slidenum">
              <a:rPr lang="en-US" altLang="zh-CN" smtClean="0"/>
            </a:fld>
            <a:endParaRPr lang="en-US" altLang="zh-CN"/>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C82A4F97-AA7A-4D08-8DDD-A725FEB0AA51}" type="slidenum">
              <a:rPr lang="en-US" altLang="zh-CN" smtClean="0"/>
            </a:fld>
            <a:endParaRPr lang="en-US" altLang="zh-CN"/>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4" name="灯片编号占位符 5"/>
          <p:cNvSpPr>
            <a:spLocks noGrp="1"/>
          </p:cNvSpPr>
          <p:nvPr>
            <p:ph type="sldNum" sz="quarter" idx="11"/>
          </p:nvPr>
        </p:nvSpPr>
        <p:spPr/>
        <p:txBody>
          <a:bodyPr/>
          <a:lstStyle>
            <a:lvl1pPr>
              <a:defRPr/>
            </a:lvl1pPr>
          </a:lstStyle>
          <a:p>
            <a:pPr>
              <a:defRPr/>
            </a:pPr>
            <a:fld id="{05A95CD7-3FAC-4A45-A559-C0F96C212210}" type="slidenum">
              <a:rPr lang="en-US" altLang="zh-CN" smtClean="0"/>
            </a:fld>
            <a:endParaRPr lang="en-US" altLang="zh-CN"/>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9D5F3393-C375-4FEF-BEA9-79F3BCD37BDB}" type="slidenum">
              <a:rPr lang="en-US" altLang="zh-CN" smtClean="0"/>
            </a:fld>
            <a:endParaRPr lang="en-US" altLang="zh-CN"/>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6DC42B35-9992-4C00-BBD8-37C172B0233F}" type="slidenum">
              <a:rPr lang="en-US" altLang="zh-CN" smtClean="0"/>
            </a:fld>
            <a:endParaRPr lang="en-US" altLang="zh-CN"/>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showMasterSp="0">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6163797F-10CB-4AE4-8A22-5BCAB20488D6}" type="slidenum">
              <a:rPr lang="en-US" altLang="zh-CN" smtClean="0"/>
            </a:fld>
            <a:endParaRPr lang="en-US" altLang="zh-CN"/>
          </a:p>
        </p:txBody>
      </p:sp>
    </p:spTree>
  </p:cSld>
  <p:clrMapOvr>
    <a:masterClrMapping/>
  </p:clrMapOvr>
  <p:transition>
    <p:wipe dir="u"/>
  </p:transition>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2"/>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F163437C-8882-4C09-AA58-0C88AAFB844F}" type="slidenum">
              <a:rPr lang="en-US" altLang="zh-CN" smtClean="0"/>
            </a:fld>
            <a:endParaRPr lang="en-US" altLang="zh-CN"/>
          </a:p>
        </p:txBody>
      </p:sp>
    </p:spTree>
  </p:cSld>
  <p:clrMapOvr>
    <a:masterClrMapping/>
  </p:clrMapOvr>
  <p:transition>
    <p:wipe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showMasterSp="0">
  <p:cSld name="标题，文本与内容">
    <p:bg>
      <p:bgPr>
        <a:gradFill rotWithShape="1">
          <a:gsLst>
            <a:gs pos="0">
              <a:srgbClr val="000000">
                <a:alpha val="100000"/>
              </a:srgbClr>
            </a:gs>
            <a:gs pos="100000">
              <a:srgbClr val="000066">
                <a:alpha val="100000"/>
              </a:srgbClr>
            </a:gs>
            <a:gs pos="100000">
              <a:srgbClr val="0A128C">
                <a:alpha val="100000"/>
              </a:srgbClr>
            </a:gs>
            <a:gs pos="100000">
              <a:srgbClr val="181CC7">
                <a:alpha val="100000"/>
              </a:srgbClr>
            </a:gs>
            <a:gs pos="100000">
              <a:srgbClr val="7005D4">
                <a:alpha val="100000"/>
              </a:srgbClr>
            </a:gs>
            <a:gs pos="100000">
              <a:srgbClr val="8C3D91">
                <a:alpha val="100000"/>
              </a:srgbClr>
            </a:gs>
          </a:gsLst>
          <a:lin ang="16200000"/>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457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4"/>
          <p:cNvSpPr>
            <a:spLocks noGrp="1" noChangeArrowheads="1"/>
          </p:cNvSpPr>
          <p:nvPr>
            <p:ph type="dt" sz="half" idx="12"/>
          </p:nvPr>
        </p:nvSpPr>
        <p:spPr bwMode="auto">
          <a:xfrm>
            <a:off x="457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a:defRPr/>
            </a:pPr>
            <a:fld id="{7C1D221A-3EA7-4855-91B3-E0CBF36C1867}" type="datetime1">
              <a:rPr lang="zh-CN" altLang="en-US" smtClean="0"/>
            </a:fld>
            <a:endParaRPr lang="en-US" altLang="zh-CN"/>
          </a:p>
        </p:txBody>
      </p:sp>
      <p:sp>
        <p:nvSpPr>
          <p:cNvPr id="10" name="Rectangle 5"/>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6553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defRPr/>
            </a:pPr>
            <a:fld id="{6163797F-10CB-4AE4-8A22-5BCAB20488D6}" type="slidenum">
              <a:rPr lang="en-US" altLang="zh-CN" smtClean="0"/>
            </a:fld>
            <a:endParaRPr lang="en-US" altLang="zh-CN"/>
          </a:p>
        </p:txBody>
      </p:sp>
    </p:spTree>
  </p:cSld>
  <p:clrMapOvr>
    <a:masterClrMapping/>
  </p:clrMapOvr>
  <p:transition>
    <p:wipe dir="u"/>
  </p:transition>
  <p:hf sldNum="0"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endParaRPr lang="zh-CN" altLang="en-US"/>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7C1D221A-3EA7-4855-91B3-E0CBF36C1867}" type="datetime1">
              <a:rPr lang="zh-CN" altLang="en-US" smtClean="0"/>
            </a:fld>
            <a:endParaRPr lang="en-US" altLang="zh-CN"/>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6163797F-10CB-4AE4-8A22-5BCAB20488D6}" type="slidenum">
              <a:rPr lang="en-US" altLang="zh-CN" smtClean="0"/>
            </a:fld>
            <a:endParaRPr lang="en-US" altLang="zh-CN"/>
          </a:p>
        </p:txBody>
      </p:sp>
      <p:pic>
        <p:nvPicPr>
          <p:cNvPr id="1030" name="Picture 2" descr="未标题-2 - 副本 (3)"/>
          <p:cNvPicPr>
            <a:picLocks noChangeAspect="1" noChangeArrowheads="1"/>
          </p:cNvPicPr>
          <p:nvPr/>
        </p:nvPicPr>
        <p:blipFill>
          <a:blip r:embed="rId1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u"/>
  </p:transition>
  <p:hf sldNum="0" hdr="0" ftr="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7.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143000" y="983903"/>
            <a:ext cx="6858000" cy="2387600"/>
          </a:xfrm>
        </p:spPr>
        <p:txBody>
          <a:bodyPr lIns="90488" tIns="44450" rIns="90488" bIns="44450"/>
          <a:lstStyle/>
          <a:p>
            <a:pPr algn="ctr" eaLnBrk="1" hangingPunct="1"/>
            <a:r>
              <a:rPr lang="zh-CN" altLang="en-US" sz="5400" b="1" dirty="0">
                <a:solidFill>
                  <a:srgbClr val="000000"/>
                </a:solidFill>
                <a:latin typeface="黑体" panose="02010609060101010101" pitchFamily="49" charset="-122"/>
                <a:ea typeface="黑体" panose="02010609060101010101" pitchFamily="49" charset="-122"/>
              </a:rPr>
              <a:t>软件体系结构</a:t>
            </a:r>
            <a:br>
              <a:rPr lang="zh-CN" altLang="en-US" sz="5400" b="1" dirty="0">
                <a:solidFill>
                  <a:srgbClr val="000000"/>
                </a:solidFill>
                <a:latin typeface="黑体" panose="02010609060101010101" pitchFamily="49" charset="-122"/>
                <a:ea typeface="黑体" panose="02010609060101010101" pitchFamily="49" charset="-122"/>
              </a:rPr>
            </a:br>
            <a:endParaRPr lang="zh-CN" altLang="en-US" sz="5400" b="1" dirty="0">
              <a:solidFill>
                <a:srgbClr val="000000"/>
              </a:solidFill>
              <a:latin typeface="黑体" panose="02010609060101010101" pitchFamily="49" charset="-122"/>
              <a:ea typeface="黑体" panose="02010609060101010101" pitchFamily="49" charset="-122"/>
            </a:endParaRPr>
          </a:p>
        </p:txBody>
      </p:sp>
      <p:sp>
        <p:nvSpPr>
          <p:cNvPr id="4099" name="Rectangle 4"/>
          <p:cNvSpPr>
            <a:spLocks noGrp="1" noChangeArrowheads="1"/>
          </p:cNvSpPr>
          <p:nvPr>
            <p:ph type="subTitle" idx="1"/>
          </p:nvPr>
        </p:nvSpPr>
        <p:spPr/>
        <p:txBody>
          <a:bodyPr/>
          <a:lstStyle/>
          <a:p>
            <a:pPr eaLnBrk="1" hangingPunct="1"/>
            <a:r>
              <a:rPr lang="en-US" altLang="zh-CN" dirty="0"/>
              <a:t>  </a:t>
            </a:r>
            <a:endParaRPr lang="zh-CN" altLang="en-US" dirty="0"/>
          </a:p>
        </p:txBody>
      </p:sp>
      <p:sp>
        <p:nvSpPr>
          <p:cNvPr id="4" name="Rectangle 3"/>
          <p:cNvSpPr txBox="1">
            <a:spLocks noChangeArrowheads="1"/>
          </p:cNvSpPr>
          <p:nvPr/>
        </p:nvSpPr>
        <p:spPr bwMode="auto">
          <a:xfrm>
            <a:off x="395536" y="3140968"/>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dirty="0">
                <a:ea typeface="黑体" panose="02010609060101010101" pitchFamily="49" charset="-122"/>
              </a:rPr>
              <a:t>10</a:t>
            </a:r>
            <a:r>
              <a:rPr lang="zh-CN" altLang="en-US" sz="4000">
                <a:ea typeface="黑体" panose="02010609060101010101" pitchFamily="49" charset="-122"/>
              </a:rPr>
              <a:t>章 从</a:t>
            </a:r>
            <a:r>
              <a:rPr lang="en-US" altLang="zh-CN" sz="4000" dirty="0">
                <a:ea typeface="黑体" panose="02010609060101010101" pitchFamily="49" charset="-122"/>
              </a:rPr>
              <a:t>CS</a:t>
            </a:r>
            <a:r>
              <a:rPr lang="zh-CN" altLang="en-US" sz="4000" dirty="0">
                <a:ea typeface="黑体" panose="02010609060101010101" pitchFamily="49" charset="-122"/>
              </a:rPr>
              <a:t>到</a:t>
            </a:r>
            <a:r>
              <a:rPr lang="en-US" altLang="zh-CN" sz="4000" dirty="0">
                <a:ea typeface="黑体" panose="02010609060101010101" pitchFamily="49" charset="-122"/>
              </a:rPr>
              <a:t>BS</a:t>
            </a:r>
            <a:endParaRPr lang="en-US" altLang="zh-CN" sz="4000" dirty="0">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赵庆玲</a:t>
            </a:r>
            <a:endParaRPr lang="en-US" altLang="zh-CN"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endParaRPr lang="en-US" altLang="zh-CN" sz="2800" dirty="0">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客户机</a:t>
            </a:r>
            <a:r>
              <a:rPr lang="en-US" altLang="zh-CN" dirty="0"/>
              <a:t>/</a:t>
            </a:r>
            <a:r>
              <a:rPr lang="zh-CN" altLang="en-US" dirty="0"/>
              <a:t>服务器风格</a:t>
            </a:r>
            <a:endParaRPr lang="zh-CN" altLang="en-US" dirty="0"/>
          </a:p>
        </p:txBody>
      </p:sp>
      <p:sp>
        <p:nvSpPr>
          <p:cNvPr id="3" name="内容占位符 2"/>
          <p:cNvSpPr>
            <a:spLocks noGrp="1"/>
          </p:cNvSpPr>
          <p:nvPr>
            <p:ph idx="1"/>
          </p:nvPr>
        </p:nvSpPr>
        <p:spPr/>
        <p:txBody>
          <a:bodyPr/>
          <a:lstStyle/>
          <a:p>
            <a:r>
              <a:rPr lang="zh-CN" altLang="zh-CN" dirty="0"/>
              <a:t>客户机</a:t>
            </a:r>
            <a:r>
              <a:rPr lang="en-US" altLang="zh-CN" dirty="0"/>
              <a:t>/</a:t>
            </a:r>
            <a:r>
              <a:rPr lang="zh-CN" altLang="zh-CN" dirty="0"/>
              <a:t>服务器（</a:t>
            </a:r>
            <a:r>
              <a:rPr lang="en-US" altLang="zh-CN" dirty="0"/>
              <a:t>Client/Server)</a:t>
            </a:r>
            <a:r>
              <a:rPr lang="zh-CN" altLang="zh-CN" dirty="0"/>
              <a:t>是</a:t>
            </a:r>
            <a:r>
              <a:rPr lang="en-US" altLang="zh-CN" dirty="0"/>
              <a:t>20</a:t>
            </a:r>
            <a:r>
              <a:rPr lang="zh-CN" altLang="zh-CN" dirty="0"/>
              <a:t>世纪</a:t>
            </a:r>
            <a:r>
              <a:rPr lang="en-US" altLang="zh-CN" dirty="0"/>
              <a:t>90</a:t>
            </a:r>
            <a:r>
              <a:rPr lang="zh-CN" altLang="zh-CN" dirty="0"/>
              <a:t>年代开始成熟的一项技术，主要针对资源不对等问题而提出的一种共享策略。</a:t>
            </a:r>
            <a:endParaRPr lang="en-US" altLang="zh-CN" dirty="0"/>
          </a:p>
          <a:p>
            <a:r>
              <a:rPr lang="zh-CN" altLang="zh-CN" dirty="0"/>
              <a:t>客户机和服务器是两个相互独立的逻辑系统，为了完成特定的任务而形成一种协作关系。</a:t>
            </a:r>
            <a:endParaRPr lang="zh-CN" altLang="zh-CN" dirty="0"/>
          </a:p>
          <a:p>
            <a:pPr lvl="1"/>
            <a:r>
              <a:rPr lang="zh-CN" altLang="zh-CN" dirty="0"/>
              <a:t>客户机</a:t>
            </a:r>
            <a:r>
              <a:rPr lang="en-US" altLang="zh-CN" dirty="0"/>
              <a:t>(</a:t>
            </a:r>
            <a:r>
              <a:rPr lang="zh-CN" altLang="zh-CN" dirty="0"/>
              <a:t>前端，</a:t>
            </a:r>
            <a:r>
              <a:rPr lang="en-US" altLang="zh-CN" dirty="0"/>
              <a:t>front-end)</a:t>
            </a:r>
            <a:r>
              <a:rPr lang="zh-CN" altLang="zh-CN" dirty="0"/>
              <a:t>：业务逻辑、与服务器通讯的接口；</a:t>
            </a:r>
            <a:endParaRPr lang="en-US" altLang="zh-CN" dirty="0"/>
          </a:p>
          <a:p>
            <a:pPr lvl="1"/>
            <a:r>
              <a:rPr lang="zh-CN" altLang="zh-CN" dirty="0"/>
              <a:t>服务器</a:t>
            </a:r>
            <a:r>
              <a:rPr lang="en-US" altLang="zh-CN" dirty="0"/>
              <a:t>(</a:t>
            </a:r>
            <a:r>
              <a:rPr lang="zh-CN" altLang="zh-CN" dirty="0"/>
              <a:t>后端：</a:t>
            </a:r>
            <a:r>
              <a:rPr lang="en-US" altLang="zh-CN" dirty="0"/>
              <a:t>back-end)</a:t>
            </a:r>
            <a:r>
              <a:rPr lang="zh-CN" altLang="zh-CN" dirty="0"/>
              <a:t>：与客户机通讯的接口、业务逻辑、数据管理。</a:t>
            </a:r>
            <a:endParaRPr lang="zh-CN" altLang="zh-CN" dirty="0"/>
          </a:p>
          <a:p>
            <a:endParaRPr lang="zh-CN" altLang="en-US" dirty="0"/>
          </a:p>
          <a:p>
            <a:endParaRPr lang="zh-CN" altLang="en-US" dirty="0"/>
          </a:p>
        </p:txBody>
      </p:sp>
    </p:spTree>
  </p:cSld>
  <p:clrMapOvr>
    <a:masterClrMapping/>
  </p:clrMapOvr>
  <p:transition>
    <p:wipe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grpSp>
        <p:nvGrpSpPr>
          <p:cNvPr id="4" name="Group 7"/>
          <p:cNvGrpSpPr/>
          <p:nvPr/>
        </p:nvGrpSpPr>
        <p:grpSpPr bwMode="auto">
          <a:xfrm>
            <a:off x="395288" y="1557338"/>
            <a:ext cx="4176712" cy="4608512"/>
            <a:chOff x="2653" y="981"/>
            <a:chExt cx="2631" cy="2903"/>
          </a:xfrm>
        </p:grpSpPr>
        <p:sp>
          <p:nvSpPr>
            <p:cNvPr id="5" name="Rectangle 8"/>
            <p:cNvSpPr>
              <a:spLocks noChangeArrowheads="1"/>
            </p:cNvSpPr>
            <p:nvPr/>
          </p:nvSpPr>
          <p:spPr bwMode="auto">
            <a:xfrm>
              <a:off x="2653" y="981"/>
              <a:ext cx="2631" cy="290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p>
          </p:txBody>
        </p:sp>
        <p:graphicFrame>
          <p:nvGraphicFramePr>
            <p:cNvPr id="6" name="Object 9"/>
            <p:cNvGraphicFramePr>
              <a:graphicFrameLocks noChangeAspect="1"/>
            </p:cNvGraphicFramePr>
            <p:nvPr/>
          </p:nvGraphicFramePr>
          <p:xfrm>
            <a:off x="2695" y="1022"/>
            <a:ext cx="2544" cy="2816"/>
          </p:xfrm>
          <a:graphic>
            <a:graphicData uri="http://schemas.openxmlformats.org/presentationml/2006/ole">
              <mc:AlternateContent xmlns:mc="http://schemas.openxmlformats.org/markup-compatibility/2006">
                <mc:Choice xmlns:v="urn:schemas-microsoft-com:vml" Requires="v">
                  <p:oleObj spid="_x0000_s13350" name="Visio" r:id="rId1" imgW="2889885" imgH="3206115" progId="Visio.Drawing.6">
                    <p:embed/>
                  </p:oleObj>
                </mc:Choice>
                <mc:Fallback>
                  <p:oleObj name="Visio" r:id="rId1" imgW="2889885" imgH="3206115" progId="Visio.Drawing.6">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5" y="1022"/>
                          <a:ext cx="2544" cy="281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Group 28"/>
          <p:cNvGrpSpPr/>
          <p:nvPr/>
        </p:nvGrpSpPr>
        <p:grpSpPr bwMode="auto">
          <a:xfrm>
            <a:off x="4286250" y="2349500"/>
            <a:ext cx="4678363" cy="3275013"/>
            <a:chOff x="2700" y="1480"/>
            <a:chExt cx="2947" cy="2063"/>
          </a:xfrm>
        </p:grpSpPr>
        <p:sp>
          <p:nvSpPr>
            <p:cNvPr id="8" name="Text Box 11"/>
            <p:cNvSpPr txBox="1">
              <a:spLocks noChangeArrowheads="1"/>
            </p:cNvSpPr>
            <p:nvPr/>
          </p:nvSpPr>
          <p:spPr bwMode="auto">
            <a:xfrm>
              <a:off x="4014" y="2160"/>
              <a:ext cx="636" cy="616"/>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33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pPr>
              <a:br>
                <a:rPr lang="en-US" altLang="zh-CN" b="1" dirty="0"/>
              </a:br>
              <a:r>
                <a:rPr lang="zh-CN" altLang="en-US" b="1" dirty="0"/>
                <a:t>服务器</a:t>
              </a:r>
              <a:endParaRPr lang="zh-CN" altLang="en-US" b="1" dirty="0"/>
            </a:p>
          </p:txBody>
        </p:sp>
        <p:sp>
          <p:nvSpPr>
            <p:cNvPr id="9" name="Text Box 13"/>
            <p:cNvSpPr txBox="1">
              <a:spLocks noChangeArrowheads="1"/>
            </p:cNvSpPr>
            <p:nvPr/>
          </p:nvSpPr>
          <p:spPr bwMode="auto">
            <a:xfrm>
              <a:off x="3878" y="3294"/>
              <a:ext cx="771" cy="249"/>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33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客户</a:t>
              </a:r>
              <a:endParaRPr lang="zh-CN" altLang="en-US" b="1"/>
            </a:p>
          </p:txBody>
        </p:sp>
        <p:sp>
          <p:nvSpPr>
            <p:cNvPr id="10" name="Text Box 15"/>
            <p:cNvSpPr txBox="1">
              <a:spLocks noChangeArrowheads="1"/>
            </p:cNvSpPr>
            <p:nvPr/>
          </p:nvSpPr>
          <p:spPr bwMode="auto">
            <a:xfrm>
              <a:off x="4830" y="2795"/>
              <a:ext cx="771" cy="249"/>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33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客户</a:t>
              </a:r>
              <a:endParaRPr lang="zh-CN" altLang="en-US" b="1"/>
            </a:p>
          </p:txBody>
        </p:sp>
        <p:sp>
          <p:nvSpPr>
            <p:cNvPr id="11" name="Text Box 16"/>
            <p:cNvSpPr txBox="1">
              <a:spLocks noChangeArrowheads="1"/>
            </p:cNvSpPr>
            <p:nvPr/>
          </p:nvSpPr>
          <p:spPr bwMode="auto">
            <a:xfrm>
              <a:off x="4876" y="1706"/>
              <a:ext cx="771" cy="249"/>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33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客户</a:t>
              </a:r>
              <a:endParaRPr lang="zh-CN" altLang="en-US" b="1"/>
            </a:p>
          </p:txBody>
        </p:sp>
        <p:sp>
          <p:nvSpPr>
            <p:cNvPr id="12" name="Text Box 17"/>
            <p:cNvSpPr txBox="1">
              <a:spLocks noChangeArrowheads="1"/>
            </p:cNvSpPr>
            <p:nvPr/>
          </p:nvSpPr>
          <p:spPr bwMode="auto">
            <a:xfrm>
              <a:off x="3696" y="1480"/>
              <a:ext cx="771" cy="249"/>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33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客户</a:t>
              </a:r>
              <a:endParaRPr lang="zh-CN" altLang="en-US" b="1"/>
            </a:p>
          </p:txBody>
        </p:sp>
        <p:sp>
          <p:nvSpPr>
            <p:cNvPr id="13" name="Text Box 18"/>
            <p:cNvSpPr txBox="1">
              <a:spLocks noChangeArrowheads="1"/>
            </p:cNvSpPr>
            <p:nvPr/>
          </p:nvSpPr>
          <p:spPr bwMode="auto">
            <a:xfrm>
              <a:off x="3016" y="2523"/>
              <a:ext cx="771" cy="249"/>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33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客户</a:t>
              </a:r>
              <a:endParaRPr lang="zh-CN" altLang="en-US" b="1"/>
            </a:p>
          </p:txBody>
        </p:sp>
        <p:sp>
          <p:nvSpPr>
            <p:cNvPr id="14" name="Line 20"/>
            <p:cNvSpPr>
              <a:spLocks noChangeShapeType="1"/>
            </p:cNvSpPr>
            <p:nvPr/>
          </p:nvSpPr>
          <p:spPr bwMode="auto">
            <a:xfrm>
              <a:off x="4059" y="1706"/>
              <a:ext cx="227" cy="454"/>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21"/>
            <p:cNvSpPr>
              <a:spLocks noChangeShapeType="1"/>
            </p:cNvSpPr>
            <p:nvPr/>
          </p:nvSpPr>
          <p:spPr bwMode="auto">
            <a:xfrm flipH="1">
              <a:off x="4649" y="1933"/>
              <a:ext cx="635" cy="408"/>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22"/>
            <p:cNvSpPr>
              <a:spLocks noChangeShapeType="1"/>
            </p:cNvSpPr>
            <p:nvPr/>
          </p:nvSpPr>
          <p:spPr bwMode="auto">
            <a:xfrm flipH="1" flipV="1">
              <a:off x="4649" y="2568"/>
              <a:ext cx="544" cy="22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23"/>
            <p:cNvSpPr>
              <a:spLocks noChangeShapeType="1"/>
            </p:cNvSpPr>
            <p:nvPr/>
          </p:nvSpPr>
          <p:spPr bwMode="auto">
            <a:xfrm flipV="1">
              <a:off x="4241" y="2795"/>
              <a:ext cx="91" cy="499"/>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24"/>
            <p:cNvSpPr>
              <a:spLocks noChangeShapeType="1"/>
            </p:cNvSpPr>
            <p:nvPr/>
          </p:nvSpPr>
          <p:spPr bwMode="auto">
            <a:xfrm flipV="1">
              <a:off x="3787" y="2478"/>
              <a:ext cx="227" cy="136"/>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26"/>
            <p:cNvSpPr>
              <a:spLocks noChangeShapeType="1"/>
            </p:cNvSpPr>
            <p:nvPr/>
          </p:nvSpPr>
          <p:spPr bwMode="auto">
            <a:xfrm flipV="1">
              <a:off x="3742" y="3022"/>
              <a:ext cx="544" cy="136"/>
            </a:xfrm>
            <a:prstGeom prst="line">
              <a:avLst/>
            </a:prstGeom>
            <a:noFill/>
            <a:ln w="76200">
              <a:solidFill>
                <a:srgbClr val="96969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Text Box 27"/>
            <p:cNvSpPr txBox="1">
              <a:spLocks noChangeArrowheads="1"/>
            </p:cNvSpPr>
            <p:nvPr/>
          </p:nvSpPr>
          <p:spPr bwMode="auto">
            <a:xfrm>
              <a:off x="2700" y="3113"/>
              <a:ext cx="1212" cy="231"/>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Local Loopback</a:t>
              </a:r>
              <a:endParaRPr lang="en-US" altLang="zh-CN" b="1"/>
            </a:p>
          </p:txBody>
        </p:sp>
      </p:gr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4)">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dirty="0"/>
              <a:t>一般的，客户机为完成特定的工作向服务器发出请求；服务器处理客户机的请求并返回结果。</a:t>
            </a:r>
            <a:endParaRPr lang="en-US" altLang="zh-CN" dirty="0"/>
          </a:p>
          <a:p>
            <a:r>
              <a:rPr lang="zh-CN" altLang="en-US" dirty="0"/>
              <a:t>客户机程序和服务器程序配置在同一台计算机上时：采用消息、共享存储区和信号量等方法实现通信连接。</a:t>
            </a:r>
            <a:endParaRPr lang="en-US" altLang="zh-CN" dirty="0"/>
          </a:p>
          <a:p>
            <a:r>
              <a:rPr lang="zh-CN" altLang="en-US" dirty="0"/>
              <a:t>客户机程序和服务器程序配置在分布式环境中时：通过远程调用（</a:t>
            </a:r>
            <a:r>
              <a:rPr lang="en-US" altLang="zh-CN" dirty="0"/>
              <a:t>Remote Produce Call</a:t>
            </a:r>
            <a:r>
              <a:rPr lang="zh-CN" altLang="en-US" dirty="0"/>
              <a:t>，</a:t>
            </a:r>
            <a:r>
              <a:rPr lang="en-US" altLang="zh-CN" dirty="0"/>
              <a:t>RPC</a:t>
            </a:r>
            <a:r>
              <a:rPr lang="zh-CN" altLang="en-US" dirty="0"/>
              <a:t>）协议来进行通信。</a:t>
            </a:r>
            <a:endParaRPr lang="zh-CN" altLang="zh-CN" dirty="0"/>
          </a:p>
          <a:p>
            <a:endParaRPr lang="zh-CN" altLang="en-US" dirty="0"/>
          </a:p>
          <a:p>
            <a:endParaRPr lang="zh-CN" altLang="en-US" dirty="0"/>
          </a:p>
        </p:txBody>
      </p:sp>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本地</a:t>
            </a:r>
            <a:r>
              <a:rPr lang="en-US" altLang="zh-CN" dirty="0"/>
              <a:t>C/S</a:t>
            </a:r>
            <a:endParaRPr lang="zh-CN" altLang="en-US" dirty="0"/>
          </a:p>
        </p:txBody>
      </p:sp>
      <p:sp>
        <p:nvSpPr>
          <p:cNvPr id="3" name="内容占位符 2"/>
          <p:cNvSpPr>
            <a:spLocks noGrp="1"/>
          </p:cNvSpPr>
          <p:nvPr>
            <p:ph idx="1"/>
          </p:nvPr>
        </p:nvSpPr>
        <p:spPr/>
        <p:txBody>
          <a:bodyPr/>
          <a:lstStyle/>
          <a:p>
            <a:r>
              <a:rPr lang="zh-CN" altLang="en-US" dirty="0"/>
              <a:t>可以用不同语言编写服务器和客户</a:t>
            </a:r>
            <a:endParaRPr lang="zh-CN" altLang="en-US" dirty="0"/>
          </a:p>
          <a:p>
            <a:r>
              <a:rPr lang="zh-CN" altLang="en-US" dirty="0"/>
              <a:t>一般说来，本地回路的网络状况很好，非常稳定，速度快</a:t>
            </a:r>
            <a:endParaRPr lang="zh-CN" altLang="en-US" dirty="0"/>
          </a:p>
          <a:p>
            <a:r>
              <a:rPr lang="zh-CN" altLang="en-US" dirty="0"/>
              <a:t>可以传递大量数据，但是要进行数据拷贝，开销大</a:t>
            </a:r>
            <a:endParaRPr lang="zh-CN" altLang="en-US" dirty="0"/>
          </a:p>
          <a:p>
            <a:r>
              <a:rPr lang="zh-CN" altLang="en-US" dirty="0"/>
              <a:t>可以远程客户和本地客户协同工作</a:t>
            </a:r>
            <a:endParaRPr lang="zh-CN" altLang="en-US" dirty="0"/>
          </a:p>
          <a:p>
            <a:r>
              <a:rPr lang="zh-CN" altLang="en-US" dirty="0"/>
              <a:t>纯本地</a:t>
            </a:r>
            <a:r>
              <a:rPr lang="en-US" altLang="zh-CN" dirty="0"/>
              <a:t>C/S</a:t>
            </a:r>
            <a:r>
              <a:rPr lang="zh-CN" altLang="en-US" dirty="0"/>
              <a:t>不会受到外界影响</a:t>
            </a:r>
            <a:endParaRPr lang="zh-CN" altLang="en-US" dirty="0"/>
          </a:p>
          <a:p>
            <a:endParaRPr lang="zh-CN" altLang="en-US" dirty="0"/>
          </a:p>
        </p:txBody>
      </p:sp>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C/S</a:t>
            </a:r>
            <a:r>
              <a:rPr lang="zh-CN" altLang="en-US" dirty="0"/>
              <a:t>体系结构基本思想</a:t>
            </a:r>
            <a:endParaRPr lang="zh-CN" altLang="en-US" dirty="0"/>
          </a:p>
        </p:txBody>
      </p:sp>
      <p:sp>
        <p:nvSpPr>
          <p:cNvPr id="3" name="内容占位符 2"/>
          <p:cNvSpPr>
            <a:spLocks noGrp="1"/>
          </p:cNvSpPr>
          <p:nvPr>
            <p:ph idx="1"/>
          </p:nvPr>
        </p:nvSpPr>
        <p:spPr/>
        <p:txBody>
          <a:bodyPr/>
          <a:lstStyle/>
          <a:p>
            <a:r>
              <a:rPr lang="zh-CN" altLang="en-US" dirty="0"/>
              <a:t>两层</a:t>
            </a:r>
            <a:r>
              <a:rPr lang="en-US" altLang="zh-CN" dirty="0"/>
              <a:t>C/S</a:t>
            </a:r>
            <a:r>
              <a:rPr lang="zh-CN" altLang="en-US" dirty="0"/>
              <a:t>体系结构</a:t>
            </a:r>
            <a:endParaRPr lang="zh-CN" altLang="en-US" dirty="0"/>
          </a:p>
        </p:txBody>
      </p:sp>
      <p:graphicFrame>
        <p:nvGraphicFramePr>
          <p:cNvPr id="4" name="Object 1"/>
          <p:cNvGraphicFramePr>
            <a:graphicFrameLocks noChangeAspect="1"/>
          </p:cNvGraphicFramePr>
          <p:nvPr/>
        </p:nvGraphicFramePr>
        <p:xfrm>
          <a:off x="1763688" y="2537107"/>
          <a:ext cx="5929354" cy="3671212"/>
        </p:xfrm>
        <a:graphic>
          <a:graphicData uri="http://schemas.openxmlformats.org/presentationml/2006/ole">
            <mc:AlternateContent xmlns:mc="http://schemas.openxmlformats.org/markup-compatibility/2006">
              <mc:Choice xmlns:v="urn:schemas-microsoft-com:vml" Requires="v">
                <p:oleObj spid="_x0000_s14372" name="Visio" r:id="rId1" imgW="8483600" imgH="5245100" progId="Visio.Drawing.11">
                  <p:embed/>
                </p:oleObj>
              </mc:Choice>
              <mc:Fallback>
                <p:oleObj name="Visio" r:id="rId1" imgW="8483600" imgH="52451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537107"/>
                        <a:ext cx="5929354" cy="3671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graphicFrame>
        <p:nvGraphicFramePr>
          <p:cNvPr id="4" name="Object 1"/>
          <p:cNvGraphicFramePr>
            <a:graphicFrameLocks noChangeAspect="1"/>
          </p:cNvGraphicFramePr>
          <p:nvPr/>
        </p:nvGraphicFramePr>
        <p:xfrm>
          <a:off x="1907704" y="63699"/>
          <a:ext cx="5711327" cy="6500834"/>
        </p:xfrm>
        <a:graphic>
          <a:graphicData uri="http://schemas.openxmlformats.org/presentationml/2006/ole">
            <mc:AlternateContent xmlns:mc="http://schemas.openxmlformats.org/markup-compatibility/2006">
              <mc:Choice xmlns:v="urn:schemas-microsoft-com:vml" Requires="v">
                <p:oleObj spid="_x0000_s15395" name="Visio" r:id="rId1" imgW="7340600" imgH="8331200" progId="Visio.Drawing.11">
                  <p:embed/>
                </p:oleObj>
              </mc:Choice>
              <mc:Fallback>
                <p:oleObj name="Visio" r:id="rId1" imgW="7340600" imgH="83312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63699"/>
                        <a:ext cx="5711327" cy="65008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3534002" y="6540977"/>
            <a:ext cx="3156633"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rPr>
              <a:t>两层</a:t>
            </a:r>
            <a:r>
              <a:rPr lang="en-US" altLang="zh-CN" dirty="0">
                <a:latin typeface="Times New Roman" panose="02020603050405020304" pitchFamily="18" charset="0"/>
                <a:cs typeface="Times New Roman" panose="02020603050405020304" pitchFamily="18" charset="0"/>
              </a:rPr>
              <a:t>C/S</a:t>
            </a:r>
            <a:r>
              <a:rPr lang="zh-CN" altLang="en-US" dirty="0">
                <a:latin typeface="Times New Roman" panose="02020603050405020304" pitchFamily="18" charset="0"/>
                <a:cs typeface="Times New Roman" panose="02020603050405020304" pitchFamily="18" charset="0"/>
              </a:rPr>
              <a:t>体系结构的处理流程</a:t>
            </a:r>
            <a:endParaRPr lang="zh-CN" altLang="en-US" dirty="0"/>
          </a:p>
        </p:txBody>
      </p:sp>
    </p:spTree>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两层</a:t>
            </a:r>
            <a:r>
              <a:rPr lang="en-US" altLang="zh-CN" dirty="0"/>
              <a:t>C/S</a:t>
            </a:r>
            <a:r>
              <a:rPr lang="zh-CN" altLang="en-US" dirty="0"/>
              <a:t>优点</a:t>
            </a:r>
            <a:endParaRPr lang="zh-CN" altLang="en-US" dirty="0"/>
          </a:p>
        </p:txBody>
      </p:sp>
      <p:sp>
        <p:nvSpPr>
          <p:cNvPr id="3" name="内容占位符 2"/>
          <p:cNvSpPr>
            <a:spLocks noGrp="1"/>
          </p:cNvSpPr>
          <p:nvPr>
            <p:ph idx="1"/>
          </p:nvPr>
        </p:nvSpPr>
        <p:spPr>
          <a:xfrm>
            <a:off x="501650" y="1628800"/>
            <a:ext cx="8335838" cy="4476155"/>
          </a:xfrm>
        </p:spPr>
        <p:txBody>
          <a:bodyPr/>
          <a:lstStyle/>
          <a:p>
            <a:r>
              <a:rPr lang="zh-CN" altLang="en-US" dirty="0"/>
              <a:t>（</a:t>
            </a:r>
            <a:r>
              <a:rPr lang="en-US" altLang="zh-CN" dirty="0"/>
              <a:t>1</a:t>
            </a:r>
            <a:r>
              <a:rPr lang="zh-CN" altLang="en-US" dirty="0"/>
              <a:t>）客户机组件和服务器组件分别运行在不同的计算机上，有利于分布式数据的组织和处理。</a:t>
            </a:r>
            <a:endParaRPr lang="en-US" altLang="zh-CN" dirty="0"/>
          </a:p>
          <a:p>
            <a:r>
              <a:rPr lang="zh-CN" altLang="en-US" dirty="0"/>
              <a:t>（</a:t>
            </a:r>
            <a:r>
              <a:rPr lang="en-US" altLang="zh-CN" dirty="0"/>
              <a:t>2</a:t>
            </a:r>
            <a:r>
              <a:rPr lang="zh-CN" altLang="en-US" dirty="0"/>
              <a:t>）组件之间的位置是相互透明的</a:t>
            </a:r>
            <a:endParaRPr lang="en-US" altLang="zh-CN" dirty="0"/>
          </a:p>
          <a:p>
            <a:r>
              <a:rPr lang="zh-CN" altLang="en-US" dirty="0"/>
              <a:t>（</a:t>
            </a:r>
            <a:r>
              <a:rPr lang="en-US" altLang="zh-CN" dirty="0"/>
              <a:t>3</a:t>
            </a:r>
            <a:r>
              <a:rPr lang="zh-CN" altLang="en-US" dirty="0"/>
              <a:t>）客户机程序和服务器程序可运行在不同的操作系统上，便于实现异构环境和多种不同开发技术的融合。</a:t>
            </a:r>
            <a:endParaRPr lang="en-US" altLang="zh-CN" dirty="0"/>
          </a:p>
          <a:p>
            <a:r>
              <a:rPr lang="zh-CN" altLang="en-US" dirty="0"/>
              <a:t>（</a:t>
            </a:r>
            <a:r>
              <a:rPr lang="en-US" altLang="zh-CN" dirty="0"/>
              <a:t>4</a:t>
            </a:r>
            <a:r>
              <a:rPr lang="zh-CN" altLang="en-US" dirty="0"/>
              <a:t>）软件环境和硬件环境的配置具有极大的灵活性，易于系统功能的扩展。</a:t>
            </a:r>
            <a:endParaRPr lang="en-US" altLang="zh-CN" dirty="0"/>
          </a:p>
          <a:p>
            <a:r>
              <a:rPr lang="zh-CN" altLang="en-US" dirty="0"/>
              <a:t>（</a:t>
            </a:r>
            <a:r>
              <a:rPr lang="en-US" altLang="zh-CN" dirty="0"/>
              <a:t>5</a:t>
            </a:r>
            <a:r>
              <a:rPr lang="zh-CN" altLang="en-US" dirty="0"/>
              <a:t>）将大规模的业务逻辑分布到多个通过网络连接的低成本的计算机上，降低了系统的整体开销。</a:t>
            </a:r>
            <a:endParaRPr lang="zh-CN" altLang="en-US" dirty="0"/>
          </a:p>
          <a:p>
            <a:endParaRPr lang="zh-CN" altLang="en-US" dirty="0"/>
          </a:p>
        </p:txBody>
      </p:sp>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两层</a:t>
            </a:r>
            <a:r>
              <a:rPr lang="en-US" altLang="zh-CN" dirty="0"/>
              <a:t>C/S</a:t>
            </a:r>
            <a:r>
              <a:rPr lang="zh-CN" altLang="en-US" dirty="0"/>
              <a:t>缺点</a:t>
            </a:r>
            <a:endParaRPr lang="zh-CN" altLang="en-US" dirty="0"/>
          </a:p>
        </p:txBody>
      </p:sp>
      <p:sp>
        <p:nvSpPr>
          <p:cNvPr id="3" name="内容占位符 2"/>
          <p:cNvSpPr>
            <a:spLocks noGrp="1"/>
          </p:cNvSpPr>
          <p:nvPr>
            <p:ph idx="1"/>
          </p:nvPr>
        </p:nvSpPr>
        <p:spPr>
          <a:xfrm>
            <a:off x="628650" y="1412776"/>
            <a:ext cx="7886700" cy="4764187"/>
          </a:xfrm>
        </p:spPr>
        <p:txBody>
          <a:bodyPr/>
          <a:lstStyle/>
          <a:p>
            <a:r>
              <a:rPr lang="zh-CN" altLang="en-US" dirty="0"/>
              <a:t>（</a:t>
            </a:r>
            <a:r>
              <a:rPr lang="en-US" altLang="zh-CN" dirty="0"/>
              <a:t>1</a:t>
            </a:r>
            <a:r>
              <a:rPr lang="zh-CN" altLang="en-US" dirty="0"/>
              <a:t>）开发成本较高（客户机的软硬件要求高）。</a:t>
            </a:r>
            <a:endParaRPr lang="en-US" altLang="zh-CN" dirty="0"/>
          </a:p>
          <a:p>
            <a:r>
              <a:rPr lang="zh-CN" altLang="en-US" dirty="0"/>
              <a:t>（</a:t>
            </a:r>
            <a:r>
              <a:rPr lang="en-US" altLang="zh-CN" dirty="0"/>
              <a:t>2</a:t>
            </a:r>
            <a:r>
              <a:rPr lang="zh-CN" altLang="en-US" dirty="0"/>
              <a:t>）客户机程序的设计复杂度大，客户机负荷重。</a:t>
            </a:r>
            <a:endParaRPr lang="en-US" altLang="zh-CN" dirty="0"/>
          </a:p>
          <a:p>
            <a:r>
              <a:rPr lang="zh-CN" altLang="en-US" dirty="0"/>
              <a:t>（</a:t>
            </a:r>
            <a:r>
              <a:rPr lang="en-US" altLang="zh-CN" dirty="0"/>
              <a:t>3</a:t>
            </a:r>
            <a:r>
              <a:rPr lang="zh-CN" altLang="en-US" dirty="0"/>
              <a:t>）信息内容和形式单一。</a:t>
            </a:r>
            <a:endParaRPr lang="en-US" altLang="zh-CN" dirty="0"/>
          </a:p>
          <a:p>
            <a:r>
              <a:rPr lang="zh-CN" altLang="en-US" dirty="0"/>
              <a:t>（</a:t>
            </a:r>
            <a:r>
              <a:rPr lang="en-US" altLang="zh-CN" dirty="0"/>
              <a:t>4</a:t>
            </a:r>
            <a:r>
              <a:rPr lang="zh-CN" altLang="en-US" dirty="0"/>
              <a:t>）</a:t>
            </a:r>
            <a:r>
              <a:rPr lang="en-US" altLang="zh-CN" dirty="0"/>
              <a:t>C/S</a:t>
            </a:r>
            <a:r>
              <a:rPr lang="zh-CN" altLang="en-US" dirty="0"/>
              <a:t>体系结构升级需要开发人员到现场更新客户机程序，对运行环境进行重新配置，增加了维护费用。</a:t>
            </a:r>
            <a:endParaRPr lang="en-US" altLang="zh-CN" dirty="0"/>
          </a:p>
          <a:p>
            <a:r>
              <a:rPr lang="zh-CN" altLang="en-US" dirty="0"/>
              <a:t>（</a:t>
            </a:r>
            <a:r>
              <a:rPr lang="en-US" altLang="zh-CN" dirty="0"/>
              <a:t>5</a:t>
            </a:r>
            <a:r>
              <a:rPr lang="zh-CN" altLang="en-US" dirty="0"/>
              <a:t>）两层</a:t>
            </a:r>
            <a:r>
              <a:rPr lang="en-US" altLang="zh-CN" dirty="0"/>
              <a:t>C/S</a:t>
            </a:r>
            <a:r>
              <a:rPr lang="zh-CN" altLang="en-US" dirty="0"/>
              <a:t>结构采用了单一的服务器，同时以局域网为中心，难以扩展到</a:t>
            </a:r>
            <a:r>
              <a:rPr lang="en-US" altLang="zh-CN" dirty="0"/>
              <a:t>Intranet</a:t>
            </a:r>
            <a:r>
              <a:rPr lang="zh-CN" altLang="en-US" dirty="0"/>
              <a:t>和</a:t>
            </a:r>
            <a:r>
              <a:rPr lang="en-US" altLang="zh-CN" dirty="0"/>
              <a:t>Internet</a:t>
            </a:r>
            <a:r>
              <a:rPr lang="zh-CN" altLang="en-US" dirty="0"/>
              <a:t>。</a:t>
            </a:r>
            <a:endParaRPr lang="en-US" altLang="zh-CN" dirty="0"/>
          </a:p>
          <a:p>
            <a:r>
              <a:rPr lang="zh-CN" altLang="en-US" dirty="0"/>
              <a:t>（</a:t>
            </a:r>
            <a:r>
              <a:rPr lang="en-US" altLang="zh-CN" dirty="0"/>
              <a:t>6</a:t>
            </a:r>
            <a:r>
              <a:rPr lang="zh-CN" altLang="en-US" dirty="0"/>
              <a:t>）数据安全性不高。</a:t>
            </a:r>
            <a:endParaRPr lang="zh-CN" altLang="en-US" dirty="0"/>
          </a:p>
          <a:p>
            <a:endParaRPr lang="zh-CN" altLang="en-US" dirty="0"/>
          </a:p>
          <a:p>
            <a:endParaRPr lang="zh-CN" altLang="en-US" dirty="0"/>
          </a:p>
        </p:txBody>
      </p:sp>
    </p:spTree>
  </p:cSld>
  <p:clrMapOvr>
    <a:masterClrMapping/>
  </p:clrMapOvr>
  <p:transition>
    <p:wipe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C/S</a:t>
            </a:r>
            <a:r>
              <a:rPr lang="zh-CN" altLang="en-US" dirty="0"/>
              <a:t>体系结构基本思想</a:t>
            </a:r>
            <a:endParaRPr lang="zh-CN" altLang="en-US" dirty="0"/>
          </a:p>
        </p:txBody>
      </p:sp>
      <p:sp>
        <p:nvSpPr>
          <p:cNvPr id="3" name="内容占位符 2"/>
          <p:cNvSpPr>
            <a:spLocks noGrp="1"/>
          </p:cNvSpPr>
          <p:nvPr>
            <p:ph idx="1"/>
          </p:nvPr>
        </p:nvSpPr>
        <p:spPr/>
        <p:txBody>
          <a:bodyPr/>
          <a:lstStyle/>
          <a:p>
            <a:r>
              <a:rPr lang="zh-CN" altLang="en-US" dirty="0"/>
              <a:t>三层</a:t>
            </a:r>
            <a:r>
              <a:rPr lang="en-US" altLang="zh-CN" dirty="0"/>
              <a:t>C/S</a:t>
            </a:r>
            <a:r>
              <a:rPr lang="zh-CN" altLang="en-US" dirty="0"/>
              <a:t>体系结构</a:t>
            </a:r>
            <a:endParaRPr lang="zh-CN" altLang="en-US" dirty="0"/>
          </a:p>
          <a:p>
            <a:endParaRPr lang="zh-CN" altLang="en-US" dirty="0"/>
          </a:p>
        </p:txBody>
      </p:sp>
      <p:graphicFrame>
        <p:nvGraphicFramePr>
          <p:cNvPr id="4" name="Object 3"/>
          <p:cNvGraphicFramePr>
            <a:graphicFrameLocks noChangeAspect="1"/>
          </p:cNvGraphicFramePr>
          <p:nvPr/>
        </p:nvGraphicFramePr>
        <p:xfrm>
          <a:off x="1259632" y="2708920"/>
          <a:ext cx="6500858" cy="4019203"/>
        </p:xfrm>
        <a:graphic>
          <a:graphicData uri="http://schemas.openxmlformats.org/presentationml/2006/ole">
            <mc:AlternateContent xmlns:mc="http://schemas.openxmlformats.org/markup-compatibility/2006">
              <mc:Choice xmlns:v="urn:schemas-microsoft-com:vml" Requires="v">
                <p:oleObj spid="_x0000_s16413" name="Visio" r:id="rId1" imgW="8343900" imgH="5156200" progId="Visio.Drawing.11">
                  <p:embed/>
                </p:oleObj>
              </mc:Choice>
              <mc:Fallback>
                <p:oleObj name="Visio" r:id="rId1" imgW="8343900" imgH="51562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708920"/>
                        <a:ext cx="6500858" cy="40192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graphicFrame>
        <p:nvGraphicFramePr>
          <p:cNvPr id="4" name="Object 1"/>
          <p:cNvGraphicFramePr>
            <a:graphicFrameLocks noChangeAspect="1"/>
          </p:cNvGraphicFramePr>
          <p:nvPr/>
        </p:nvGraphicFramePr>
        <p:xfrm>
          <a:off x="1547664" y="95641"/>
          <a:ext cx="5929354" cy="6271104"/>
        </p:xfrm>
        <a:graphic>
          <a:graphicData uri="http://schemas.openxmlformats.org/presentationml/2006/ole">
            <mc:AlternateContent xmlns:mc="http://schemas.openxmlformats.org/markup-compatibility/2006">
              <mc:Choice xmlns:v="urn:schemas-microsoft-com:vml" Requires="v">
                <p:oleObj spid="_x0000_s17437" name="Visio" r:id="rId1" imgW="7721600" imgH="8140700" progId="Visio.Drawing.11">
                  <p:embed/>
                </p:oleObj>
              </mc:Choice>
              <mc:Fallback>
                <p:oleObj name="Visio" r:id="rId1" imgW="7721600" imgH="81407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95641"/>
                        <a:ext cx="5929354" cy="6271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3131840" y="6405144"/>
            <a:ext cx="3070071"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rPr>
              <a:t>三层</a:t>
            </a:r>
            <a:r>
              <a:rPr lang="en-US" altLang="zh-CN" dirty="0">
                <a:latin typeface="Times New Roman" panose="02020603050405020304" pitchFamily="18" charset="0"/>
                <a:cs typeface="Times New Roman" panose="02020603050405020304" pitchFamily="18" charset="0"/>
              </a:rPr>
              <a:t>C/S</a:t>
            </a:r>
            <a:r>
              <a:rPr lang="zh-CN" altLang="en-US" dirty="0">
                <a:latin typeface="Times New Roman" panose="02020603050405020304" pitchFamily="18" charset="0"/>
                <a:cs typeface="Times New Roman" panose="02020603050405020304" pitchFamily="18" charset="0"/>
              </a:rPr>
              <a:t>体系结构的处理流程</a:t>
            </a:r>
            <a:endParaRPr lang="zh-CN" altLang="en-US" dirty="0"/>
          </a:p>
        </p:txBody>
      </p:sp>
    </p:spTree>
  </p:cSld>
  <p:clrMapOvr>
    <a:masterClrMapping/>
  </p:clrMapOvr>
  <p:transition>
    <p:wipe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t>三层</a:t>
            </a:r>
            <a:r>
              <a:rPr lang="en-US" altLang="zh-CN" sz="4000" dirty="0"/>
              <a:t>C/S</a:t>
            </a:r>
            <a:r>
              <a:rPr lang="zh-CN" altLang="en-US" sz="4000" dirty="0"/>
              <a:t>相比于两层</a:t>
            </a:r>
            <a:r>
              <a:rPr lang="en-US" altLang="zh-CN" sz="4000" dirty="0"/>
              <a:t>C/S</a:t>
            </a:r>
            <a:r>
              <a:rPr lang="zh-CN" altLang="en-US" sz="4000" dirty="0"/>
              <a:t>的优点</a:t>
            </a:r>
            <a:endParaRPr lang="zh-CN" altLang="en-US" sz="4000" dirty="0"/>
          </a:p>
        </p:txBody>
      </p:sp>
      <p:sp>
        <p:nvSpPr>
          <p:cNvPr id="3" name="内容占位符 2"/>
          <p:cNvSpPr>
            <a:spLocks noGrp="1"/>
          </p:cNvSpPr>
          <p:nvPr>
            <p:ph idx="1"/>
          </p:nvPr>
        </p:nvSpPr>
        <p:spPr/>
        <p:txBody>
          <a:bodyPr/>
          <a:lstStyle/>
          <a:p>
            <a:r>
              <a:rPr lang="zh-CN" altLang="en-US" dirty="0"/>
              <a:t>（</a:t>
            </a:r>
            <a:r>
              <a:rPr lang="en-US" altLang="zh-CN" dirty="0"/>
              <a:t>1</a:t>
            </a:r>
            <a:r>
              <a:rPr lang="zh-CN" altLang="en-US" dirty="0"/>
              <a:t>）合理地划分三层结构的功能，可以使系统的逻辑结构更加清晰，提高软件的可维护性和可扩充性。</a:t>
            </a:r>
            <a:endParaRPr lang="en-US" altLang="zh-CN" dirty="0"/>
          </a:p>
          <a:p>
            <a:r>
              <a:rPr lang="zh-CN" altLang="en-US" dirty="0"/>
              <a:t>（</a:t>
            </a:r>
            <a:r>
              <a:rPr lang="en-US" altLang="zh-CN" dirty="0"/>
              <a:t>2</a:t>
            </a:r>
            <a:r>
              <a:rPr lang="zh-CN" altLang="en-US" dirty="0"/>
              <a:t>）在实现三层</a:t>
            </a:r>
            <a:r>
              <a:rPr lang="en-US" altLang="zh-CN" dirty="0"/>
              <a:t>C/S</a:t>
            </a:r>
            <a:r>
              <a:rPr lang="zh-CN" altLang="en-US" dirty="0"/>
              <a:t>体系结构时，可以更有效地选择运行平台和硬件环境，从而使每一层都具有清晰的逻辑结构、良好的负荷处理能力和较好的开放性。</a:t>
            </a:r>
            <a:endParaRPr lang="en-US" altLang="zh-CN" dirty="0"/>
          </a:p>
          <a:p>
            <a:r>
              <a:rPr lang="zh-CN" altLang="en-US" dirty="0"/>
              <a:t>（</a:t>
            </a:r>
            <a:r>
              <a:rPr lang="en-US" altLang="zh-CN" dirty="0"/>
              <a:t>3</a:t>
            </a:r>
            <a:r>
              <a:rPr lang="zh-CN" altLang="en-US" dirty="0"/>
              <a:t>）在</a:t>
            </a:r>
            <a:r>
              <a:rPr lang="en-US" altLang="zh-CN" dirty="0"/>
              <a:t>C/S</a:t>
            </a:r>
            <a:r>
              <a:rPr lang="zh-CN" altLang="en-US" dirty="0"/>
              <a:t>体系结构中，可以分别选择合适的编程语言并行开发。</a:t>
            </a:r>
            <a:endParaRPr lang="en-US" altLang="zh-CN" dirty="0"/>
          </a:p>
          <a:p>
            <a:r>
              <a:rPr lang="zh-CN" altLang="en-US" dirty="0"/>
              <a:t>（</a:t>
            </a:r>
            <a:r>
              <a:rPr lang="en-US" altLang="zh-CN" dirty="0"/>
              <a:t>4</a:t>
            </a:r>
            <a:r>
              <a:rPr lang="zh-CN" altLang="en-US" dirty="0"/>
              <a:t>）系统具有较高的安全性。</a:t>
            </a:r>
            <a:endParaRPr lang="zh-CN" altLang="en-US" dirty="0"/>
          </a:p>
          <a:p>
            <a:endParaRPr lang="zh-CN" altLang="en-US" dirty="0"/>
          </a:p>
        </p:txBody>
      </p:sp>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t>使用三层</a:t>
            </a:r>
            <a:r>
              <a:rPr lang="en-US" altLang="zh-CN" sz="4000" dirty="0"/>
              <a:t>C/S</a:t>
            </a:r>
            <a:r>
              <a:rPr lang="zh-CN" altLang="en-US" sz="4000" dirty="0"/>
              <a:t>时需注意的问题</a:t>
            </a:r>
            <a:endParaRPr lang="zh-CN" altLang="en-US" sz="4000" dirty="0"/>
          </a:p>
        </p:txBody>
      </p:sp>
      <p:sp>
        <p:nvSpPr>
          <p:cNvPr id="3" name="内容占位符 2"/>
          <p:cNvSpPr>
            <a:spLocks noGrp="1"/>
          </p:cNvSpPr>
          <p:nvPr>
            <p:ph idx="1"/>
          </p:nvPr>
        </p:nvSpPr>
        <p:spPr/>
        <p:txBody>
          <a:bodyPr/>
          <a:lstStyle/>
          <a:p>
            <a:r>
              <a:rPr lang="zh-CN" altLang="en-US" dirty="0"/>
              <a:t>（</a:t>
            </a:r>
            <a:r>
              <a:rPr lang="en-US" altLang="zh-CN" dirty="0"/>
              <a:t>1</a:t>
            </a:r>
            <a:r>
              <a:rPr lang="zh-CN" altLang="en-US" dirty="0"/>
              <a:t>）如果各层之间的通信效率不高，即使每一层的硬件配置都很高，系统的整体性能也不会太高。</a:t>
            </a:r>
            <a:endParaRPr lang="en-US" altLang="zh-CN" dirty="0"/>
          </a:p>
          <a:p>
            <a:r>
              <a:rPr lang="zh-CN" altLang="en-US" dirty="0"/>
              <a:t>（</a:t>
            </a:r>
            <a:r>
              <a:rPr lang="en-US" altLang="zh-CN" dirty="0"/>
              <a:t>2</a:t>
            </a:r>
            <a:r>
              <a:rPr lang="zh-CN" altLang="en-US" dirty="0"/>
              <a:t>）必须慎重考虑三层之间的通信方法、通信频率和传输数据量，这和提高各层的独立性一样也是实现三层</a:t>
            </a:r>
            <a:r>
              <a:rPr lang="en-US" altLang="zh-CN" dirty="0"/>
              <a:t>C/S</a:t>
            </a:r>
            <a:r>
              <a:rPr lang="zh-CN" altLang="en-US" dirty="0"/>
              <a:t>体系结构的关键性问题。</a:t>
            </a:r>
            <a:endParaRPr lang="zh-CN" altLang="en-US" dirty="0"/>
          </a:p>
          <a:p>
            <a:endParaRPr lang="zh-CN" altLang="en-US" dirty="0"/>
          </a:p>
        </p:txBody>
      </p:sp>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C/S</a:t>
            </a:r>
            <a:r>
              <a:rPr lang="zh-CN" altLang="en-US" dirty="0"/>
              <a:t>体系结构总结</a:t>
            </a:r>
            <a:endParaRPr lang="zh-CN" altLang="en-US" dirty="0"/>
          </a:p>
        </p:txBody>
      </p:sp>
      <p:sp>
        <p:nvSpPr>
          <p:cNvPr id="3" name="内容占位符 2"/>
          <p:cNvSpPr>
            <a:spLocks noGrp="1"/>
          </p:cNvSpPr>
          <p:nvPr>
            <p:ph idx="1"/>
          </p:nvPr>
        </p:nvSpPr>
        <p:spPr>
          <a:xfrm>
            <a:off x="628650" y="1484784"/>
            <a:ext cx="7886700" cy="4692179"/>
          </a:xfrm>
        </p:spPr>
        <p:txBody>
          <a:bodyPr/>
          <a:lstStyle/>
          <a:p>
            <a:r>
              <a:rPr lang="zh-CN" altLang="en-US" dirty="0"/>
              <a:t>基本上具备仓库风格的一切特点</a:t>
            </a:r>
            <a:endParaRPr lang="zh-CN" altLang="en-US" dirty="0"/>
          </a:p>
          <a:p>
            <a:r>
              <a:rPr lang="zh-CN" altLang="en-US" dirty="0"/>
              <a:t>服务器和客户可以完全异构，只要遵从统一的网络协议</a:t>
            </a:r>
            <a:endParaRPr lang="zh-CN" altLang="en-US" dirty="0"/>
          </a:p>
          <a:p>
            <a:r>
              <a:rPr lang="zh-CN" altLang="en-US" dirty="0"/>
              <a:t>客户必须知道服务器的地址</a:t>
            </a:r>
            <a:endParaRPr lang="zh-CN" altLang="en-US" dirty="0"/>
          </a:p>
          <a:p>
            <a:r>
              <a:rPr lang="zh-CN" altLang="en-US" dirty="0"/>
              <a:t>服务器的地址必须静态，客户可以动态</a:t>
            </a:r>
            <a:endParaRPr lang="zh-CN" altLang="en-US" dirty="0"/>
          </a:p>
          <a:p>
            <a:r>
              <a:rPr lang="zh-CN" altLang="en-US" dirty="0"/>
              <a:t>必须由客户主动连接服务器</a:t>
            </a:r>
            <a:endParaRPr lang="zh-CN" altLang="en-US" dirty="0"/>
          </a:p>
          <a:p>
            <a:r>
              <a:rPr lang="zh-CN" altLang="en-US" dirty="0"/>
              <a:t>客户之间的信息传递要经过服务器中转</a:t>
            </a:r>
            <a:endParaRPr lang="zh-CN" altLang="en-US" dirty="0"/>
          </a:p>
          <a:p>
            <a:pPr lvl="1"/>
            <a:r>
              <a:rPr lang="zh-CN" altLang="en-US" dirty="0"/>
              <a:t>可以扩展出客户之间的直接通信机制</a:t>
            </a:r>
            <a:endParaRPr lang="zh-CN" altLang="en-US" dirty="0"/>
          </a:p>
          <a:p>
            <a:r>
              <a:rPr lang="zh-CN" altLang="en-US" dirty="0"/>
              <a:t>服务器易受攻击</a:t>
            </a:r>
            <a:endParaRPr lang="zh-CN" altLang="en-US" dirty="0"/>
          </a:p>
          <a:p>
            <a:r>
              <a:rPr lang="zh-CN" altLang="en-US" dirty="0"/>
              <a:t>服务器瘫痪，所有客户失效</a:t>
            </a:r>
            <a:endParaRPr lang="zh-CN" altLang="en-US" dirty="0"/>
          </a:p>
          <a:p>
            <a:endParaRPr lang="zh-CN" altLang="en-US" dirty="0"/>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Arial" panose="020B0604020202020204" pitchFamily="34" charset="0"/>
              </a:rPr>
              <a:t>应用实例</a:t>
            </a:r>
            <a:endParaRPr lang="zh-CN" altLang="en-US" dirty="0"/>
          </a:p>
        </p:txBody>
      </p:sp>
      <p:sp>
        <p:nvSpPr>
          <p:cNvPr id="3" name="内容占位符 2"/>
          <p:cNvSpPr>
            <a:spLocks noGrp="1"/>
          </p:cNvSpPr>
          <p:nvPr>
            <p:ph idx="1"/>
          </p:nvPr>
        </p:nvSpPr>
        <p:spPr>
          <a:xfrm>
            <a:off x="628650" y="1628800"/>
            <a:ext cx="7886700" cy="4548163"/>
          </a:xfrm>
        </p:spPr>
        <p:txBody>
          <a:bodyPr/>
          <a:lstStyle/>
          <a:p>
            <a:r>
              <a:rPr lang="en-US" altLang="zh-CN" dirty="0"/>
              <a:t>AirCG.3D</a:t>
            </a:r>
            <a:r>
              <a:rPr lang="zh-CN" altLang="en-US" dirty="0"/>
              <a:t>三维网络字幕系统的结构</a:t>
            </a:r>
            <a:endParaRPr lang="en-US" altLang="zh-CN" dirty="0"/>
          </a:p>
          <a:p>
            <a:endParaRPr lang="zh-CN" altLang="en-US" dirty="0"/>
          </a:p>
        </p:txBody>
      </p:sp>
      <p:graphicFrame>
        <p:nvGraphicFramePr>
          <p:cNvPr id="4" name="Object 9"/>
          <p:cNvGraphicFramePr>
            <a:graphicFrameLocks noChangeAspect="1"/>
          </p:cNvGraphicFramePr>
          <p:nvPr/>
        </p:nvGraphicFramePr>
        <p:xfrm>
          <a:off x="899592" y="2310069"/>
          <a:ext cx="6696744" cy="4032578"/>
        </p:xfrm>
        <a:graphic>
          <a:graphicData uri="http://schemas.openxmlformats.org/presentationml/2006/ole">
            <mc:AlternateContent xmlns:mc="http://schemas.openxmlformats.org/markup-compatibility/2006">
              <mc:Choice xmlns:v="urn:schemas-microsoft-com:vml" Requires="v">
                <p:oleObj spid="_x0000_s18455" name="Visio" r:id="rId1" imgW="7759700" imgH="4686300" progId="Visio.Drawing.11">
                  <p:embed/>
                </p:oleObj>
              </mc:Choice>
              <mc:Fallback>
                <p:oleObj name="Visio" r:id="rId1" imgW="7759700" imgH="4686300" progId="Visio.Drawing.11">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310069"/>
                        <a:ext cx="6696744" cy="4032578"/>
                      </a:xfrm>
                      <a:prstGeom prst="rect">
                        <a:avLst/>
                      </a:prstGeom>
                      <a:noFill/>
                    </p:spPr>
                  </p:pic>
                </p:oleObj>
              </mc:Fallback>
            </mc:AlternateContent>
          </a:graphicData>
        </a:graphic>
      </p:graphicFrame>
    </p:spTree>
  </p:cSld>
  <p:clrMapOvr>
    <a:masterClrMapping/>
  </p:clrMapOvr>
  <p:transition>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C/S</a:t>
            </a:r>
            <a:r>
              <a:rPr lang="zh-CN" altLang="en-US" dirty="0"/>
              <a:t>的特例</a:t>
            </a:r>
            <a:r>
              <a:rPr lang="en-US" altLang="zh-CN" dirty="0"/>
              <a:t>B/S</a:t>
            </a:r>
            <a:endParaRPr lang="zh-CN" altLang="en-US" dirty="0"/>
          </a:p>
        </p:txBody>
      </p:sp>
      <p:sp>
        <p:nvSpPr>
          <p:cNvPr id="3" name="内容占位符 2"/>
          <p:cNvSpPr>
            <a:spLocks noGrp="1"/>
          </p:cNvSpPr>
          <p:nvPr>
            <p:ph idx="1"/>
          </p:nvPr>
        </p:nvSpPr>
        <p:spPr>
          <a:xfrm>
            <a:off x="628650" y="1556792"/>
            <a:ext cx="7886700" cy="4620171"/>
          </a:xfrm>
        </p:spPr>
        <p:txBody>
          <a:bodyPr/>
          <a:lstStyle/>
          <a:p>
            <a:r>
              <a:rPr lang="zh-CN" altLang="en-US" dirty="0"/>
              <a:t>浏览器</a:t>
            </a:r>
            <a:r>
              <a:rPr lang="en-US" altLang="zh-CN" dirty="0"/>
              <a:t>/</a:t>
            </a:r>
            <a:r>
              <a:rPr lang="zh-CN" altLang="en-US" dirty="0"/>
              <a:t>服务器风格</a:t>
            </a:r>
            <a:r>
              <a:rPr lang="zh-CN" altLang="zh-CN" dirty="0"/>
              <a:t>是三层</a:t>
            </a:r>
            <a:r>
              <a:rPr lang="en-US" altLang="zh-CN" dirty="0"/>
              <a:t>C/S</a:t>
            </a:r>
            <a:r>
              <a:rPr lang="zh-CN" altLang="zh-CN" dirty="0"/>
              <a:t>风格的一种实现方式</a:t>
            </a:r>
            <a:r>
              <a:rPr lang="zh-CN" altLang="en-US" dirty="0"/>
              <a:t>。</a:t>
            </a:r>
            <a:endParaRPr lang="en-US" altLang="zh-CN" dirty="0"/>
          </a:p>
          <a:p>
            <a:r>
              <a:rPr lang="zh-CN" altLang="zh-CN" dirty="0"/>
              <a:t>主要包括浏览器，</a:t>
            </a:r>
            <a:r>
              <a:rPr lang="en-US" altLang="zh-CN" dirty="0"/>
              <a:t>Web</a:t>
            </a:r>
            <a:r>
              <a:rPr lang="zh-CN" altLang="zh-CN" dirty="0"/>
              <a:t>服务器和数据库服务器。</a:t>
            </a:r>
            <a:endParaRPr lang="zh-CN" altLang="en-US" dirty="0"/>
          </a:p>
          <a:p>
            <a:endParaRPr lang="zh-CN" altLang="en-US" dirty="0"/>
          </a:p>
        </p:txBody>
      </p:sp>
      <p:graphicFrame>
        <p:nvGraphicFramePr>
          <p:cNvPr id="4" name="对象 3"/>
          <p:cNvGraphicFramePr>
            <a:graphicFrameLocks noChangeAspect="1"/>
          </p:cNvGraphicFramePr>
          <p:nvPr/>
        </p:nvGraphicFramePr>
        <p:xfrm>
          <a:off x="1142828" y="2996952"/>
          <a:ext cx="6858344" cy="2952898"/>
        </p:xfrm>
        <a:graphic>
          <a:graphicData uri="http://schemas.openxmlformats.org/presentationml/2006/ole">
            <mc:AlternateContent xmlns:mc="http://schemas.openxmlformats.org/markup-compatibility/2006">
              <mc:Choice xmlns:v="urn:schemas-microsoft-com:vml" Requires="v">
                <p:oleObj spid="_x0000_s19476" name="" r:id="rId1" imgW="6324600" imgH="2743200" progId="Visio.Drawing.11">
                  <p:embed/>
                </p:oleObj>
              </mc:Choice>
              <mc:Fallback>
                <p:oleObj name="" r:id="rId1" imgW="6324600" imgH="27432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828" y="2996952"/>
                        <a:ext cx="6858344" cy="29528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C/S</a:t>
            </a:r>
            <a:r>
              <a:rPr lang="zh-CN" altLang="en-US" dirty="0"/>
              <a:t>的特例</a:t>
            </a:r>
            <a:r>
              <a:rPr lang="en-US" altLang="zh-CN" dirty="0"/>
              <a:t>B/S</a:t>
            </a:r>
            <a:endParaRPr lang="zh-CN" altLang="en-US" dirty="0"/>
          </a:p>
        </p:txBody>
      </p:sp>
      <p:sp>
        <p:nvSpPr>
          <p:cNvPr id="3" name="内容占位符 2"/>
          <p:cNvSpPr>
            <a:spLocks noGrp="1"/>
          </p:cNvSpPr>
          <p:nvPr>
            <p:ph idx="1"/>
          </p:nvPr>
        </p:nvSpPr>
        <p:spPr/>
        <p:txBody>
          <a:bodyPr/>
          <a:lstStyle/>
          <a:p>
            <a:r>
              <a:rPr lang="zh-CN" altLang="en-US" dirty="0"/>
              <a:t>客户端有</a:t>
            </a:r>
            <a:r>
              <a:rPr lang="en-US" altLang="zh-CN" dirty="0"/>
              <a:t>http</a:t>
            </a:r>
            <a:r>
              <a:rPr lang="zh-CN" altLang="en-US" dirty="0"/>
              <a:t>浏览器即可</a:t>
            </a:r>
            <a:endParaRPr lang="zh-CN" altLang="en-US" dirty="0"/>
          </a:p>
          <a:p>
            <a:pPr lvl="1"/>
            <a:r>
              <a:rPr lang="zh-CN" altLang="en-US" dirty="0"/>
              <a:t>为增强功能，往往还需要安装</a:t>
            </a:r>
            <a:r>
              <a:rPr lang="en-US" altLang="zh-CN" dirty="0"/>
              <a:t>flash</a:t>
            </a:r>
            <a:r>
              <a:rPr lang="zh-CN" altLang="en-US" dirty="0"/>
              <a:t>、</a:t>
            </a:r>
            <a:r>
              <a:rPr lang="en-US" altLang="zh-CN" dirty="0" err="1"/>
              <a:t>jvm</a:t>
            </a:r>
            <a:r>
              <a:rPr lang="zh-CN" altLang="en-US" dirty="0"/>
              <a:t>及一些专用插件</a:t>
            </a:r>
            <a:endParaRPr lang="zh-CN" altLang="en-US" dirty="0"/>
          </a:p>
          <a:p>
            <a:r>
              <a:rPr lang="zh-CN" altLang="en-US" dirty="0"/>
              <a:t>使用标准</a:t>
            </a:r>
            <a:r>
              <a:rPr lang="en-US" altLang="zh-CN" dirty="0"/>
              <a:t>http/https</a:t>
            </a:r>
            <a:r>
              <a:rPr lang="zh-CN" altLang="en-US" dirty="0"/>
              <a:t>协议，省却很多麻烦</a:t>
            </a:r>
            <a:endParaRPr lang="zh-CN" altLang="en-US" dirty="0"/>
          </a:p>
          <a:p>
            <a:r>
              <a:rPr lang="zh-CN" altLang="en-US" dirty="0"/>
              <a:t>只能“拉”，不能“推”</a:t>
            </a:r>
            <a:endParaRPr lang="zh-CN" altLang="en-US" dirty="0"/>
          </a:p>
          <a:p>
            <a:r>
              <a:rPr lang="zh-CN" altLang="en-US" dirty="0"/>
              <a:t>客户之间的通信只能通过服务器中转</a:t>
            </a:r>
            <a:endParaRPr lang="zh-CN" altLang="en-US" dirty="0"/>
          </a:p>
          <a:p>
            <a:r>
              <a:rPr lang="zh-CN" altLang="en-US" dirty="0"/>
              <a:t>对客户机资源和其他网络资源的利用受限</a:t>
            </a:r>
            <a:endParaRPr lang="zh-CN" altLang="en-US" dirty="0"/>
          </a:p>
          <a:p>
            <a:r>
              <a:rPr lang="zh-CN" altLang="en-US" dirty="0"/>
              <a:t>服务器的负荷大，客户机的资源浪费</a:t>
            </a:r>
            <a:endParaRPr lang="zh-CN" altLang="en-US" dirty="0"/>
          </a:p>
          <a:p>
            <a:pPr lvl="1"/>
            <a:r>
              <a:rPr lang="zh-CN" altLang="en-US" dirty="0"/>
              <a:t>用</a:t>
            </a:r>
            <a:r>
              <a:rPr lang="en-US" altLang="zh-CN" dirty="0" err="1"/>
              <a:t>jvm</a:t>
            </a:r>
            <a:r>
              <a:rPr lang="zh-CN" altLang="en-US" dirty="0"/>
              <a:t>、</a:t>
            </a:r>
            <a:r>
              <a:rPr lang="en-US" altLang="zh-CN" dirty="0"/>
              <a:t>flash</a:t>
            </a:r>
            <a:r>
              <a:rPr lang="zh-CN" altLang="en-US" dirty="0"/>
              <a:t>、</a:t>
            </a:r>
            <a:r>
              <a:rPr lang="en-US" altLang="zh-CN" dirty="0"/>
              <a:t>ActiveX</a:t>
            </a:r>
            <a:r>
              <a:rPr lang="zh-CN" altLang="en-US" dirty="0"/>
              <a:t>等客户端计算技术解决</a:t>
            </a:r>
            <a:endParaRPr lang="zh-CN" altLang="en-US" dirty="0"/>
          </a:p>
          <a:p>
            <a:endParaRPr lang="zh-CN" altLang="en-US" dirty="0"/>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与三层</a:t>
            </a:r>
            <a:r>
              <a:rPr lang="en-US" altLang="zh-CN" dirty="0"/>
              <a:t>C/S</a:t>
            </a:r>
            <a:r>
              <a:rPr lang="zh-CN" altLang="en-US" dirty="0"/>
              <a:t>结构的解决方案相比，</a:t>
            </a:r>
            <a:r>
              <a:rPr lang="en-US" altLang="zh-CN" dirty="0"/>
              <a:t>B/S</a:t>
            </a:r>
            <a:r>
              <a:rPr lang="zh-CN" altLang="en-US" dirty="0"/>
              <a:t>架构在客户机上采用了</a:t>
            </a:r>
            <a:r>
              <a:rPr lang="en-US" altLang="zh-CN" dirty="0"/>
              <a:t>WWW</a:t>
            </a:r>
            <a:r>
              <a:rPr lang="zh-CN" altLang="en-US" dirty="0"/>
              <a:t>浏览器，将</a:t>
            </a:r>
            <a:r>
              <a:rPr lang="en-US" altLang="zh-CN" dirty="0"/>
              <a:t>Web</a:t>
            </a:r>
            <a:r>
              <a:rPr lang="zh-CN" altLang="en-US" dirty="0"/>
              <a:t>服务器作为应用服务器。</a:t>
            </a:r>
            <a:endParaRPr lang="en-US" altLang="zh-CN" dirty="0"/>
          </a:p>
          <a:p>
            <a:r>
              <a:rPr lang="en-US" altLang="zh-CN" dirty="0"/>
              <a:t>B/S</a:t>
            </a:r>
            <a:r>
              <a:rPr lang="zh-CN" altLang="en-US" dirty="0"/>
              <a:t>架构核心是</a:t>
            </a:r>
            <a:r>
              <a:rPr lang="en-US" altLang="zh-CN" dirty="0"/>
              <a:t>Web</a:t>
            </a:r>
            <a:r>
              <a:rPr lang="zh-CN" altLang="en-US" dirty="0"/>
              <a:t>服务器，数据请求、网页生成、数据库访问和应用程序执行全部由</a:t>
            </a:r>
            <a:r>
              <a:rPr lang="en-US" altLang="zh-CN" dirty="0"/>
              <a:t>Web</a:t>
            </a:r>
            <a:r>
              <a:rPr lang="zh-CN" altLang="en-US" dirty="0"/>
              <a:t>服务器来完成。 </a:t>
            </a:r>
            <a:endParaRPr lang="en-US" altLang="zh-CN" dirty="0"/>
          </a:p>
          <a:p>
            <a:r>
              <a:rPr lang="zh-CN" altLang="en-US" dirty="0"/>
              <a:t>在</a:t>
            </a:r>
            <a:r>
              <a:rPr lang="en-US" altLang="zh-CN" dirty="0"/>
              <a:t>B/S</a:t>
            </a:r>
            <a:r>
              <a:rPr lang="zh-CN" altLang="en-US" dirty="0"/>
              <a:t>架构中，系统安装、修改和维护全在服务器端解决，客户端无任何业务逻辑。</a:t>
            </a:r>
            <a:endParaRPr lang="zh-CN" altLang="en-US" dirty="0"/>
          </a:p>
          <a:p>
            <a:endParaRPr lang="zh-CN" altLang="en-US" dirty="0"/>
          </a:p>
        </p:txBody>
      </p:sp>
    </p:spTree>
  </p:cSld>
  <p:clrMapOvr>
    <a:masterClrMapping/>
  </p:clrMapOvr>
  <p:transition>
    <p:wipe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B/S</a:t>
            </a:r>
            <a:r>
              <a:rPr lang="zh-CN" altLang="en-US" dirty="0"/>
              <a:t>的优点</a:t>
            </a:r>
            <a:endParaRPr lang="zh-CN" altLang="en-US" dirty="0"/>
          </a:p>
        </p:txBody>
      </p:sp>
      <p:sp>
        <p:nvSpPr>
          <p:cNvPr id="3" name="内容占位符 2"/>
          <p:cNvSpPr>
            <a:spLocks noGrp="1"/>
          </p:cNvSpPr>
          <p:nvPr>
            <p:ph idx="1"/>
          </p:nvPr>
        </p:nvSpPr>
        <p:spPr/>
        <p:txBody>
          <a:bodyPr/>
          <a:lstStyle/>
          <a:p>
            <a:r>
              <a:rPr lang="zh-CN" altLang="zh-CN" dirty="0"/>
              <a:t>（</a:t>
            </a:r>
            <a:r>
              <a:rPr lang="en-US" altLang="zh-CN" dirty="0"/>
              <a:t>1</a:t>
            </a:r>
            <a:r>
              <a:rPr lang="zh-CN" altLang="zh-CN" dirty="0"/>
              <a:t>）客户端只需要安装浏览器，操作简单，能够发布动态信息和静态信息。</a:t>
            </a:r>
            <a:endParaRPr lang="en-US" altLang="zh-CN" dirty="0"/>
          </a:p>
          <a:p>
            <a:r>
              <a:rPr lang="zh-CN" altLang="zh-CN" dirty="0"/>
              <a:t>（</a:t>
            </a:r>
            <a:r>
              <a:rPr lang="en-US" altLang="zh-CN" dirty="0"/>
              <a:t>2</a:t>
            </a:r>
            <a:r>
              <a:rPr lang="zh-CN" altLang="zh-CN" dirty="0"/>
              <a:t>）运用</a:t>
            </a:r>
            <a:r>
              <a:rPr lang="en-US" altLang="zh-CN" dirty="0"/>
              <a:t>HTTP</a:t>
            </a:r>
            <a:r>
              <a:rPr lang="zh-CN" altLang="zh-CN" dirty="0"/>
              <a:t>标准协议和统一客户端软件，能够实现跨平台通信。</a:t>
            </a:r>
            <a:endParaRPr lang="en-US" altLang="zh-CN" dirty="0"/>
          </a:p>
          <a:p>
            <a:r>
              <a:rPr lang="zh-CN" altLang="zh-CN" dirty="0"/>
              <a:t>（</a:t>
            </a:r>
            <a:r>
              <a:rPr lang="en-US" altLang="zh-CN" dirty="0"/>
              <a:t>3</a:t>
            </a:r>
            <a:r>
              <a:rPr lang="zh-CN" altLang="zh-CN" dirty="0"/>
              <a:t>）开发成本比较低，只需要维护</a:t>
            </a:r>
            <a:r>
              <a:rPr lang="en-US" altLang="zh-CN" dirty="0"/>
              <a:t>Web</a:t>
            </a:r>
            <a:r>
              <a:rPr lang="zh-CN" altLang="zh-CN" dirty="0"/>
              <a:t>服务器程序和中心数据库。客户端升级可以通过升级浏览器来实现</a:t>
            </a:r>
            <a:r>
              <a:rPr lang="zh-CN" altLang="en-US" dirty="0"/>
              <a:t>。</a:t>
            </a:r>
            <a:endParaRPr lang="zh-CN" altLang="en-US" dirty="0"/>
          </a:p>
          <a:p>
            <a:endParaRPr lang="zh-CN" altLang="en-US" dirty="0"/>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B/S</a:t>
            </a:r>
            <a:r>
              <a:rPr lang="zh-CN" altLang="en-US" dirty="0"/>
              <a:t>的缺点</a:t>
            </a:r>
            <a:endParaRPr lang="zh-CN" altLang="en-US" dirty="0"/>
          </a:p>
        </p:txBody>
      </p:sp>
      <p:sp>
        <p:nvSpPr>
          <p:cNvPr id="3" name="内容占位符 2"/>
          <p:cNvSpPr>
            <a:spLocks noGrp="1"/>
          </p:cNvSpPr>
          <p:nvPr>
            <p:ph idx="1"/>
          </p:nvPr>
        </p:nvSpPr>
        <p:spPr>
          <a:xfrm>
            <a:off x="628650" y="1412776"/>
            <a:ext cx="7886700" cy="4764187"/>
          </a:xfrm>
        </p:spPr>
        <p:txBody>
          <a:bodyPr/>
          <a:lstStyle/>
          <a:p>
            <a:r>
              <a:rPr lang="zh-CN" altLang="en-US" dirty="0"/>
              <a:t>（</a:t>
            </a:r>
            <a:r>
              <a:rPr lang="en-US" altLang="zh-CN" dirty="0"/>
              <a:t>1</a:t>
            </a:r>
            <a:r>
              <a:rPr lang="zh-CN" altLang="zh-CN" dirty="0"/>
              <a:t>）个性化程度比较低，所有客户端程序的功能都是一样的。</a:t>
            </a:r>
            <a:endParaRPr lang="en-US" altLang="zh-CN" dirty="0"/>
          </a:p>
          <a:p>
            <a:r>
              <a:rPr lang="zh-CN" altLang="zh-CN" dirty="0"/>
              <a:t>（</a:t>
            </a:r>
            <a:r>
              <a:rPr lang="en-US" altLang="zh-CN" dirty="0"/>
              <a:t>2</a:t>
            </a:r>
            <a:r>
              <a:rPr lang="zh-CN" altLang="zh-CN" dirty="0"/>
              <a:t>）客户端数据处理能力比较差，加重了</a:t>
            </a:r>
            <a:r>
              <a:rPr lang="en-US" altLang="zh-CN" dirty="0"/>
              <a:t>Web</a:t>
            </a:r>
            <a:r>
              <a:rPr lang="zh-CN" altLang="zh-CN" dirty="0"/>
              <a:t>服务器的工作负担，影响系统的整体性能。</a:t>
            </a:r>
            <a:endParaRPr lang="en-US" altLang="zh-CN" dirty="0"/>
          </a:p>
          <a:p>
            <a:r>
              <a:rPr lang="zh-CN" altLang="zh-CN" dirty="0"/>
              <a:t>（</a:t>
            </a:r>
            <a:r>
              <a:rPr lang="en-US" altLang="zh-CN" dirty="0"/>
              <a:t>3</a:t>
            </a:r>
            <a:r>
              <a:rPr lang="zh-CN" altLang="zh-CN" dirty="0"/>
              <a:t>）在</a:t>
            </a:r>
            <a:r>
              <a:rPr lang="en-US" altLang="zh-CN" dirty="0"/>
              <a:t>B/S</a:t>
            </a:r>
            <a:r>
              <a:rPr lang="zh-CN" altLang="zh-CN" dirty="0"/>
              <a:t>架构中，数据提交一般以页面为单位，动态交互性不强，不利于在线事物处理（</a:t>
            </a:r>
            <a:r>
              <a:rPr lang="en-US" altLang="zh-CN" dirty="0"/>
              <a:t>Online Transaction Processing</a:t>
            </a:r>
            <a:r>
              <a:rPr lang="zh-CN" altLang="zh-CN" dirty="0"/>
              <a:t>，</a:t>
            </a:r>
            <a:r>
              <a:rPr lang="en-US" altLang="zh-CN" dirty="0"/>
              <a:t>OLTP</a:t>
            </a:r>
            <a:r>
              <a:rPr lang="zh-CN" altLang="zh-CN" dirty="0"/>
              <a:t>）。</a:t>
            </a:r>
            <a:endParaRPr lang="en-US" altLang="zh-CN" dirty="0"/>
          </a:p>
          <a:p>
            <a:r>
              <a:rPr lang="zh-CN" altLang="zh-CN" dirty="0"/>
              <a:t>（</a:t>
            </a:r>
            <a:r>
              <a:rPr lang="en-US" altLang="zh-CN" dirty="0"/>
              <a:t>4</a:t>
            </a:r>
            <a:r>
              <a:rPr lang="zh-CN" altLang="zh-CN" dirty="0"/>
              <a:t>）</a:t>
            </a:r>
            <a:r>
              <a:rPr lang="en-US" altLang="zh-CN" dirty="0"/>
              <a:t>B/S</a:t>
            </a:r>
            <a:r>
              <a:rPr lang="zh-CN" altLang="zh-CN" dirty="0"/>
              <a:t>架构的可扩展性比较差，系统安全性难以保障。</a:t>
            </a:r>
            <a:endParaRPr lang="en-US" altLang="zh-CN" dirty="0"/>
          </a:p>
          <a:p>
            <a:r>
              <a:rPr lang="zh-CN" altLang="zh-CN" dirty="0"/>
              <a:t>（</a:t>
            </a:r>
            <a:r>
              <a:rPr lang="en-US" altLang="zh-CN" dirty="0"/>
              <a:t>5</a:t>
            </a:r>
            <a:r>
              <a:rPr lang="zh-CN" altLang="zh-CN" dirty="0"/>
              <a:t>）</a:t>
            </a:r>
            <a:r>
              <a:rPr lang="en-US" altLang="zh-CN" dirty="0"/>
              <a:t>B/S</a:t>
            </a:r>
            <a:r>
              <a:rPr lang="zh-CN" altLang="zh-CN" dirty="0"/>
              <a:t>架构的应用系统查询中心数据库，其速度要远低于</a:t>
            </a:r>
            <a:r>
              <a:rPr lang="en-US" altLang="zh-CN" dirty="0"/>
              <a:t>C/S</a:t>
            </a:r>
            <a:r>
              <a:rPr lang="zh-CN" altLang="zh-CN" dirty="0"/>
              <a:t>架构。</a:t>
            </a:r>
            <a:endParaRPr lang="zh-CN" altLang="en-US" dirty="0"/>
          </a:p>
          <a:p>
            <a:endParaRPr lang="zh-CN" altLang="en-US" dirty="0"/>
          </a:p>
        </p:txBody>
      </p:sp>
    </p:spTree>
  </p:cSld>
  <p:clrMapOvr>
    <a:masterClrMapping/>
  </p:clrMapOvr>
  <p:transition>
    <p:wipe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对等网</a:t>
            </a:r>
            <a:r>
              <a:rPr lang="en-US" altLang="zh-CN" dirty="0"/>
              <a:t>(P2P)</a:t>
            </a:r>
            <a:endParaRPr lang="zh-CN" altLang="en-US" dirty="0"/>
          </a:p>
        </p:txBody>
      </p:sp>
      <p:sp>
        <p:nvSpPr>
          <p:cNvPr id="3" name="内容占位符 2"/>
          <p:cNvSpPr>
            <a:spLocks noGrp="1"/>
          </p:cNvSpPr>
          <p:nvPr>
            <p:ph idx="1"/>
          </p:nvPr>
        </p:nvSpPr>
        <p:spPr/>
        <p:txBody>
          <a:bodyPr/>
          <a:lstStyle/>
          <a:p>
            <a:endParaRPr lang="zh-CN" altLang="en-US"/>
          </a:p>
        </p:txBody>
      </p:sp>
      <p:pic>
        <p:nvPicPr>
          <p:cNvPr id="4" name="Picture 4" descr="peer2pee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2651125"/>
            <a:ext cx="403860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6" descr="P2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648200" y="2525713"/>
            <a:ext cx="4038600" cy="2670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P2P</a:t>
            </a:r>
            <a:r>
              <a:rPr lang="zh-CN" altLang="en-US" dirty="0"/>
              <a:t>特点</a:t>
            </a:r>
            <a:endParaRPr lang="zh-CN" altLang="en-US" dirty="0"/>
          </a:p>
        </p:txBody>
      </p:sp>
      <p:sp>
        <p:nvSpPr>
          <p:cNvPr id="3" name="内容占位符 2"/>
          <p:cNvSpPr>
            <a:spLocks noGrp="1"/>
          </p:cNvSpPr>
          <p:nvPr>
            <p:ph idx="1"/>
          </p:nvPr>
        </p:nvSpPr>
        <p:spPr/>
        <p:txBody>
          <a:bodyPr/>
          <a:lstStyle/>
          <a:p>
            <a:r>
              <a:rPr lang="zh-CN" altLang="en-US" dirty="0"/>
              <a:t>整体稳定，不会因为一点的错误影响全局</a:t>
            </a:r>
            <a:endParaRPr lang="zh-CN" altLang="en-US" dirty="0"/>
          </a:p>
          <a:p>
            <a:r>
              <a:rPr lang="zh-CN" altLang="en-US" dirty="0"/>
              <a:t>资源共享，任务分摊</a:t>
            </a:r>
            <a:endParaRPr lang="zh-CN" altLang="en-US" dirty="0"/>
          </a:p>
          <a:p>
            <a:pPr>
              <a:buNone/>
            </a:pPr>
            <a:endParaRPr lang="zh-CN" altLang="en-US" dirty="0"/>
          </a:p>
          <a:p>
            <a:r>
              <a:rPr lang="zh-CN" altLang="en-US" dirty="0"/>
              <a:t>架构</a:t>
            </a:r>
            <a:r>
              <a:rPr lang="en-US" altLang="zh-CN" dirty="0"/>
              <a:t>1</a:t>
            </a:r>
            <a:endParaRPr lang="en-US" altLang="zh-CN" dirty="0"/>
          </a:p>
          <a:p>
            <a:pPr lvl="1"/>
            <a:r>
              <a:rPr lang="zh-CN" altLang="en-US" dirty="0"/>
              <a:t>两点之间可能不通</a:t>
            </a:r>
            <a:endParaRPr lang="zh-CN" altLang="en-US" dirty="0"/>
          </a:p>
          <a:p>
            <a:pPr lvl="2"/>
            <a:r>
              <a:rPr lang="zh-CN" altLang="en-US" dirty="0"/>
              <a:t>某些情况可以从其他点获得同样的资源</a:t>
            </a:r>
            <a:endParaRPr lang="zh-CN" altLang="en-US" dirty="0"/>
          </a:p>
          <a:p>
            <a:r>
              <a:rPr lang="zh-CN" altLang="en-US" dirty="0"/>
              <a:t>架构</a:t>
            </a:r>
            <a:r>
              <a:rPr lang="en-US" altLang="zh-CN" dirty="0"/>
              <a:t>2</a:t>
            </a:r>
            <a:endParaRPr lang="en-US" altLang="zh-CN" dirty="0"/>
          </a:p>
          <a:p>
            <a:pPr lvl="1"/>
            <a:r>
              <a:rPr lang="zh-CN" altLang="en-US" dirty="0"/>
              <a:t>两点之间可以寻求多种路径互通</a:t>
            </a:r>
            <a:endParaRPr lang="zh-CN" altLang="en-US" dirty="0"/>
          </a:p>
          <a:p>
            <a:pPr lvl="1"/>
            <a:r>
              <a:rPr lang="zh-CN" altLang="en-US" dirty="0"/>
              <a:t>每点还要承担一定量</a:t>
            </a:r>
            <a:r>
              <a:rPr lang="en-US" altLang="zh-CN" dirty="0"/>
              <a:t>(</a:t>
            </a:r>
            <a:r>
              <a:rPr lang="zh-CN" altLang="en-US" dirty="0"/>
              <a:t>很可能大量</a:t>
            </a:r>
            <a:r>
              <a:rPr lang="en-US" altLang="zh-CN" dirty="0"/>
              <a:t>)</a:t>
            </a:r>
            <a:r>
              <a:rPr lang="zh-CN" altLang="en-US" dirty="0"/>
              <a:t>的中转负荷</a:t>
            </a:r>
            <a:endParaRPr lang="zh-CN" altLang="en-US" dirty="0"/>
          </a:p>
          <a:p>
            <a:pPr lvl="1"/>
            <a:r>
              <a:rPr lang="zh-CN" altLang="en-US" dirty="0"/>
              <a:t>容易产生泛洪现象，浪费带宽</a:t>
            </a:r>
            <a:endParaRPr lang="zh-CN" altLang="en-US" dirty="0"/>
          </a:p>
          <a:p>
            <a:endParaRPr lang="zh-CN" altLang="en-US" dirty="0"/>
          </a:p>
        </p:txBody>
      </p:sp>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P2P</a:t>
            </a:r>
            <a:r>
              <a:rPr lang="zh-CN" altLang="en-US" dirty="0"/>
              <a:t>面临的人文问题</a:t>
            </a:r>
            <a:endParaRPr lang="zh-CN" altLang="en-US" dirty="0"/>
          </a:p>
        </p:txBody>
      </p:sp>
      <p:sp>
        <p:nvSpPr>
          <p:cNvPr id="3" name="内容占位符 2"/>
          <p:cNvSpPr>
            <a:spLocks noGrp="1"/>
          </p:cNvSpPr>
          <p:nvPr>
            <p:ph idx="1"/>
          </p:nvPr>
        </p:nvSpPr>
        <p:spPr/>
        <p:txBody>
          <a:bodyPr/>
          <a:lstStyle/>
          <a:p>
            <a:r>
              <a:rPr lang="en-US" altLang="zh-CN" dirty="0"/>
              <a:t>P2P</a:t>
            </a:r>
            <a:r>
              <a:rPr lang="zh-CN" altLang="en-US" dirty="0"/>
              <a:t>的内容很难有效控制，所以成为有害信息的温床</a:t>
            </a:r>
            <a:endParaRPr lang="zh-CN" altLang="en-US" dirty="0"/>
          </a:p>
          <a:p>
            <a:r>
              <a:rPr lang="zh-CN" altLang="en-US" dirty="0"/>
              <a:t>“我为人人，人人为我”</a:t>
            </a:r>
            <a:endParaRPr lang="zh-CN" altLang="en-US" dirty="0"/>
          </a:p>
          <a:p>
            <a:pPr lvl="1"/>
            <a:r>
              <a:rPr lang="zh-CN" altLang="en-US" dirty="0"/>
              <a:t>真的很难做到</a:t>
            </a:r>
            <a:endParaRPr lang="zh-CN" altLang="en-US" dirty="0"/>
          </a:p>
          <a:p>
            <a:endParaRPr lang="zh-CN" altLang="en-US" dirty="0"/>
          </a:p>
        </p:txBody>
      </p:sp>
    </p:spTree>
  </p:cSld>
  <p:clrMapOvr>
    <a:masterClrMapping/>
  </p:clrMapOvr>
  <p:transition>
    <p:wipe dir="u"/>
  </p:transition>
</p:sld>
</file>

<file path=ppt/tags/tag1.xml><?xml version="1.0" encoding="utf-8"?>
<p:tagLst xmlns:p="http://schemas.openxmlformats.org/presentationml/2006/main">
  <p:tag name="commondata" val="eyJoZGlkIjoiYzFhZGY0ZTViYWQyN2I0ZGJhNDk0OThkMjNkNmQ2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6事件驱动</Template>
  <TotalTime>0</TotalTime>
  <Words>2253</Words>
  <Application>WPS 演示</Application>
  <PresentationFormat>全屏显示(4:3)</PresentationFormat>
  <Paragraphs>175</Paragraphs>
  <Slides>23</Slides>
  <Notes>7</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7</vt:i4>
      </vt:variant>
      <vt:variant>
        <vt:lpstr>幻灯片标题</vt:lpstr>
      </vt:variant>
      <vt:variant>
        <vt:i4>23</vt:i4>
      </vt:variant>
    </vt:vector>
  </HeadingPairs>
  <TitlesOfParts>
    <vt:vector size="40" baseType="lpstr">
      <vt:lpstr>Arial</vt:lpstr>
      <vt:lpstr>宋体</vt:lpstr>
      <vt:lpstr>Wingdings</vt:lpstr>
      <vt:lpstr>Calibri Light</vt:lpstr>
      <vt:lpstr>Times New Roman</vt:lpstr>
      <vt:lpstr>黑体</vt:lpstr>
      <vt:lpstr>Calibri</vt:lpstr>
      <vt:lpstr>微软雅黑</vt:lpstr>
      <vt:lpstr>Arial Unicode MS</vt:lpstr>
      <vt:lpstr>Office 主题</vt:lpstr>
      <vt:lpstr>Visio.Drawing.6</vt:lpstr>
      <vt:lpstr>Visio.Drawing.11</vt:lpstr>
      <vt:lpstr>Visio.Drawing.11</vt:lpstr>
      <vt:lpstr>Visio.Drawing.11</vt:lpstr>
      <vt:lpstr>Visio.Drawing.11</vt:lpstr>
      <vt:lpstr>Visio.Drawing.11</vt:lpstr>
      <vt:lpstr>Visio.Drawing.11</vt:lpstr>
      <vt:lpstr>软件体系结构 </vt:lpstr>
      <vt:lpstr>客户机/服务器风格</vt:lpstr>
      <vt:lpstr>PowerPoint 演示文稿</vt:lpstr>
      <vt:lpstr>PowerPoint 演示文稿</vt:lpstr>
      <vt:lpstr>本地C/S</vt:lpstr>
      <vt:lpstr>C/S体系结构基本思想</vt:lpstr>
      <vt:lpstr>PowerPoint 演示文稿</vt:lpstr>
      <vt:lpstr>两层C/S优点</vt:lpstr>
      <vt:lpstr>两层C/S缺点</vt:lpstr>
      <vt:lpstr>C/S体系结构基本思想</vt:lpstr>
      <vt:lpstr>PowerPoint 演示文稿</vt:lpstr>
      <vt:lpstr>三层C/S相比于两层C/S的优点</vt:lpstr>
      <vt:lpstr>使用三层C/S时需注意的问题</vt:lpstr>
      <vt:lpstr>C/S体系结构总结</vt:lpstr>
      <vt:lpstr>应用实例</vt:lpstr>
      <vt:lpstr>C/S的特例B/S</vt:lpstr>
      <vt:lpstr>C/S的特例B/S</vt:lpstr>
      <vt:lpstr>PowerPoint 演示文稿</vt:lpstr>
      <vt:lpstr>B/S的优点</vt:lpstr>
      <vt:lpstr>B/S的缺点</vt:lpstr>
      <vt:lpstr>对等网(P2P)</vt:lpstr>
      <vt:lpstr>P2P特点</vt:lpstr>
      <vt:lpstr>P2P面临的人文问题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事件驱动</dc:title>
  <dc:creator>zhao</dc:creator>
  <cp:lastModifiedBy>赵庆玲</cp:lastModifiedBy>
  <cp:revision>670</cp:revision>
  <dcterms:created xsi:type="dcterms:W3CDTF">2018-04-12T01:58:00Z</dcterms:created>
  <dcterms:modified xsi:type="dcterms:W3CDTF">2026-06-03T03:36:30Z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0B66CCFADA214E0C8731024C4D765C24_13</vt:lpwstr>
  </property>
</Properties>
</file>