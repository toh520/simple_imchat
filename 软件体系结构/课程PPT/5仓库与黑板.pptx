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31"/>
  </p:handoutMasterIdLst>
  <p:sldIdLst>
    <p:sldId id="320" r:id="rId3"/>
    <p:sldId id="257" r:id="rId4"/>
    <p:sldId id="258" r:id="rId5"/>
    <p:sldId id="478" r:id="rId6"/>
    <p:sldId id="479" r:id="rId8"/>
    <p:sldId id="480" r:id="rId9"/>
    <p:sldId id="588" r:id="rId10"/>
    <p:sldId id="262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482" r:id="rId22"/>
    <p:sldId id="529" r:id="rId23"/>
    <p:sldId id="483" r:id="rId24"/>
    <p:sldId id="314" r:id="rId25"/>
    <p:sldId id="315" r:id="rId26"/>
    <p:sldId id="319" r:id="rId27"/>
    <p:sldId id="264" r:id="rId28"/>
    <p:sldId id="265" r:id="rId29"/>
    <p:sldId id="298" r:id="rId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3399"/>
    <a:srgbClr val="3333FF"/>
    <a:srgbClr val="0033CC"/>
    <a:srgbClr val="0000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4" autoAdjust="0"/>
    <p:restoredTop sz="92674" autoAdjust="0"/>
  </p:normalViewPr>
  <p:slideViewPr>
    <p:cSldViewPr showGuides="1">
      <p:cViewPr varScale="1">
        <p:scale>
          <a:sx n="61" d="100"/>
          <a:sy n="61" d="100"/>
        </p:scale>
        <p:origin x="143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099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CASE</a:t>
            </a:r>
            <a:r>
              <a:rPr lang="zh-CN" altLang="en-US" dirty="0"/>
              <a:t>环境下的工具对共享的软件信息进行访问和操作，开放表示模块可将软件信息表示格式</a:t>
            </a:r>
            <a:r>
              <a:rPr lang="zh-CN" altLang="en-US"/>
              <a:t>发布出去，从而允许其他方工具可以访问这些信息，转换模块允许将共享软件信息转为其他工具所需的格式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50938" y="692150"/>
            <a:ext cx="4556125" cy="3416300"/>
          </a:xfrm>
          <a:solidFill>
            <a:srgbClr val="FFFFFF"/>
          </a:solidFill>
        </p:spPr>
      </p:sp>
      <p:sp>
        <p:nvSpPr>
          <p:cNvPr id="12290" name="Rectangle 3"/>
          <p:cNvSpPr>
            <a:spLocks noGrp="1" noChangeArrowheads="1"/>
          </p:cNvSpPr>
          <p:nvPr>
            <p:ph type="body" idx="4294967295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要有一个模块来控制哪个</a:t>
            </a:r>
            <a:r>
              <a:rPr lang="en-US" altLang="zh-CN"/>
              <a:t>ks</a:t>
            </a:r>
            <a:r>
              <a:rPr lang="zh-CN" altLang="en-US"/>
              <a:t>工作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HEARSAY-II (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自然语言处理系统，系统输入时自然语言的语音信号，经过语音音节、词汇、句法和语义分析后，获得用户对数据库的查询请求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D7A9F-9514-4913-B6CC-9769F95809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单击以编辑母版副标题样式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4BD0D-AB14-4579-9F8B-64A068F0EAC3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36983-8456-4463-9E24-0F78B1607C2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6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10"/>
          <p:cNvCxnSpPr>
            <a:cxnSpLocks noChangeShapeType="1"/>
          </p:cNvCxnSpPr>
          <p:nvPr/>
        </p:nvCxn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连接符 14"/>
          <p:cNvCxnSpPr>
            <a:cxnSpLocks noChangeShapeType="1"/>
          </p:cNvCxnSpPr>
          <p:nvPr/>
        </p:nvCxn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75" y="247650"/>
            <a:ext cx="19272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1650" y="0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06FF38-7719-41FE-A611-2B36C4FBCEC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AC218-6221-4B72-B423-2558FAB566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771E9-F45F-401F-AAC4-7555D3F1F0B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636F1-1525-4BF7-8F63-6195D99F902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BE72D-AE3A-4E55-8E78-2F672A4E33E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6CF7C-A331-4616-A7FC-C8A47AAB769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C7F5D-48B7-4930-A51B-3F6AC21B545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6B07-9027-4A7A-AEEC-79DC4FD91F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未标题-2 - 副本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6B07-9027-4A7A-AEEC-79DC4FD91F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0066">
                <a:alpha val="100000"/>
              </a:srgbClr>
            </a:gs>
            <a:gs pos="100000">
              <a:srgbClr val="0A128C">
                <a:alpha val="100000"/>
              </a:srgbClr>
            </a:gs>
            <a:gs pos="100000">
              <a:srgbClr val="181CC7">
                <a:alpha val="100000"/>
              </a:srgbClr>
            </a:gs>
            <a:gs pos="100000">
              <a:srgbClr val="7005D4">
                <a:alpha val="100000"/>
              </a:srgbClr>
            </a:gs>
            <a:gs pos="100000">
              <a:srgbClr val="8C3D91">
                <a:alpha val="100000"/>
              </a:srgbClr>
            </a:gs>
          </a:gsLst>
          <a:lin ang="162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>
              <a:defRPr/>
            </a:pPr>
            <a:fld id="{9BA16B07-9027-4A7A-AEEC-79DC4FD91F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01650" y="119063"/>
            <a:ext cx="625792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6A8D27-3681-429D-ABA7-91A1B47AE9DA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A16B07-9027-4A7A-AEEC-79DC4FD91FCF}" type="slidenum">
              <a:rPr lang="en-US" altLang="zh-CN" smtClean="0"/>
            </a:fld>
            <a:endParaRPr lang="en-US" altLang="zh-CN"/>
          </a:p>
        </p:txBody>
      </p:sp>
      <p:pic>
        <p:nvPicPr>
          <p:cNvPr id="1030" name="Picture 2" descr="未标题-2 - 副本 (3)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直接连接符 4"/>
          <p:cNvCxnSpPr>
            <a:cxnSpLocks noChangeShapeType="1"/>
          </p:cNvCxnSpPr>
          <p:nvPr/>
        </p:nvCxn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直接连接符 14"/>
          <p:cNvCxnSpPr>
            <a:cxnSpLocks noChangeShapeType="1"/>
          </p:cNvCxnSpPr>
          <p:nvPr/>
        </p:nvCxn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33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u"/>
  </p:transition>
  <p:hf sldNum="0"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4.3&#20107;&#20214;&#39537;&#21160;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983903"/>
            <a:ext cx="6858000" cy="2387600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zh-CN" altLang="en-US" sz="5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软件体系结构</a:t>
            </a:r>
            <a:br>
              <a:rPr lang="zh-CN" altLang="en-US" sz="5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5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95536" y="3140968"/>
            <a:ext cx="85280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>
                <a:ea typeface="黑体" panose="02010609060101010101" pitchFamily="49" charset="-122"/>
              </a:rPr>
              <a:t>第</a:t>
            </a:r>
            <a:r>
              <a:rPr lang="en-US" altLang="zh-CN" sz="4000" dirty="0">
                <a:ea typeface="黑体" panose="02010609060101010101" pitchFamily="49" charset="-122"/>
              </a:rPr>
              <a:t>5</a:t>
            </a:r>
            <a:r>
              <a:rPr lang="zh-CN" altLang="en-US" sz="4000" dirty="0">
                <a:ea typeface="黑体" panose="02010609060101010101" pitchFamily="49" charset="-122"/>
              </a:rPr>
              <a:t>章 仓库与黑板</a:t>
            </a:r>
            <a:endParaRPr lang="en-US" altLang="zh-CN" sz="4000" dirty="0">
              <a:ea typeface="黑体" panose="02010609060101010101" pitchFamily="49" charset="-122"/>
            </a:endParaRPr>
          </a:p>
          <a:p>
            <a:endParaRPr lang="en-US" altLang="zh-CN" sz="4000" dirty="0">
              <a:ea typeface="黑体" panose="02010609060101010101" pitchFamily="49" charset="-122"/>
            </a:endParaRPr>
          </a:p>
          <a:p>
            <a:r>
              <a:rPr lang="zh-CN" altLang="en-US" sz="2800" dirty="0">
                <a:ea typeface="黑体" panose="02010609060101010101" pitchFamily="49" charset="-122"/>
              </a:rPr>
              <a:t>赵庆玲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r>
              <a:rPr lang="zh-CN" altLang="en-US" sz="2800" dirty="0">
                <a:ea typeface="黑体" panose="02010609060101010101" pitchFamily="49" charset="-122"/>
              </a:rPr>
              <a:t>南京理工大学计算机科学与工程学院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r>
              <a:rPr lang="en-US" altLang="zh-CN" sz="2800">
                <a:ea typeface="黑体" panose="02010609060101010101" pitchFamily="49" charset="-122"/>
              </a:rPr>
              <a:t>ada_zhao@</a:t>
            </a:r>
            <a:r>
              <a:rPr lang="en-US" altLang="zh-CN" sz="2800" dirty="0">
                <a:ea typeface="黑体" panose="02010609060101010101" pitchFamily="49" charset="-122"/>
              </a:rPr>
              <a:t>njust.edu.cn</a:t>
            </a:r>
            <a:endParaRPr lang="en-US" altLang="zh-CN" sz="28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4" descr="BD06663_[1]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52700" y="2111375"/>
            <a:ext cx="4035425" cy="3498850"/>
          </a:xfrm>
        </p:spPr>
      </p:pic>
      <p:sp>
        <p:nvSpPr>
          <p:cNvPr id="6145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42E11955-1CDC-4E71-8F74-6118B80E025C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6146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A436AEA-CBC9-4ED3-9384-E618AB4F9313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Families of Architectural Styles</a:t>
            </a:r>
            <a:endParaRPr lang="en-US" altLang="zh-CN" sz="4000" dirty="0"/>
          </a:p>
        </p:txBody>
      </p:sp>
      <p:sp>
        <p:nvSpPr>
          <p:cNvPr id="7169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9CFD82B-B9A4-4E33-8CC7-6ECB0F06CF19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7170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B37964D8-52B2-4682-BA62-4CF9FA397938}" type="datetime1">
              <a:rPr lang="zh-CN" altLang="en-US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266887"/>
            <a:ext cx="6905625" cy="2647950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仓库风格（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基本思想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zh-CN" dirty="0"/>
              <a:t>仓库是存储和维护数据的中心场所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仓库式风格的两种组件：中央数据结构组件、相对独立的组件集合</a:t>
            </a:r>
            <a:endParaRPr lang="zh-CN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55776" y="35010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82979" y="3477657"/>
          <a:ext cx="5106948" cy="3023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5537200" imgH="3289300" progId="Visio.Drawing.11">
                  <p:embed/>
                </p:oleObj>
              </mc:Choice>
              <mc:Fallback>
                <p:oleObj name="" r:id="rId1" imgW="5537200" imgH="32893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979" y="3477657"/>
                        <a:ext cx="5106948" cy="30231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051846" y="6447118"/>
            <a:ext cx="1742785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4.21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仓库风格</a:t>
            </a:r>
            <a:endParaRPr lang="zh-CN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仓库风格（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优点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zh-CN" dirty="0"/>
              <a:t>便于模块间的数据共享，方便模块的添加、更新和删除，避免了知识源的不必要的重复存储等。</a:t>
            </a:r>
            <a:endParaRPr lang="en-US" altLang="zh-CN" dirty="0"/>
          </a:p>
          <a:p>
            <a:r>
              <a:rPr lang="zh-CN" altLang="zh-CN" dirty="0"/>
              <a:t>缺点</a:t>
            </a:r>
            <a:endParaRPr lang="en-US" altLang="zh-CN" dirty="0"/>
          </a:p>
          <a:p>
            <a:pPr lvl="1"/>
            <a:r>
              <a:rPr lang="zh-CN" altLang="zh-CN" dirty="0"/>
              <a:t>对于各个模块，需要一定的同步</a:t>
            </a:r>
            <a:r>
              <a:rPr lang="en-US" altLang="zh-CN" dirty="0"/>
              <a:t>/</a:t>
            </a:r>
            <a:r>
              <a:rPr lang="zh-CN" altLang="zh-CN" dirty="0"/>
              <a:t>加锁机制保证数据结构的完整性和一致性等。</a:t>
            </a:r>
            <a:endParaRPr lang="zh-CN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仓库风格（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应用实例：</a:t>
            </a:r>
            <a:r>
              <a:rPr lang="zh-CN" altLang="en-US" dirty="0"/>
              <a:t>现代编译器</a:t>
            </a: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45126" y="2000240"/>
          <a:ext cx="6241980" cy="4214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464300" imgH="4381500" progId="Visio.Drawing.11">
                  <p:embed/>
                </p:oleObj>
              </mc:Choice>
              <mc:Fallback>
                <p:oleObj name="" r:id="rId1" imgW="6464300" imgH="43815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126" y="2000240"/>
                        <a:ext cx="6241980" cy="42148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938152" y="6204813"/>
            <a:ext cx="2492990" cy="381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现代的规范编译器结构</a:t>
            </a:r>
            <a:endParaRPr lang="zh-CN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仓库风格（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4422"/>
            <a:ext cx="9715536" cy="4891102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应用实例：</a:t>
            </a:r>
            <a:r>
              <a:rPr lang="zh-CN" altLang="en-US" dirty="0"/>
              <a:t>基于仓库风格的软件研发环境</a:t>
            </a:r>
            <a:r>
              <a:rPr lang="en-US" dirty="0"/>
              <a:t>Eclipse</a:t>
            </a:r>
            <a:endParaRPr lang="en-US" altLang="zh-CN" dirty="0"/>
          </a:p>
        </p:txBody>
      </p:sp>
      <p:sp>
        <p:nvSpPr>
          <p:cNvPr id="66048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60483" name="Object 3"/>
          <p:cNvGraphicFramePr>
            <a:graphicFrameLocks noChangeAspect="1"/>
          </p:cNvGraphicFramePr>
          <p:nvPr/>
        </p:nvGraphicFramePr>
        <p:xfrm>
          <a:off x="857223" y="1771536"/>
          <a:ext cx="7825863" cy="4729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8813800" imgH="5359400" progId="Visio.Drawing.11">
                  <p:embed/>
                </p:oleObj>
              </mc:Choice>
              <mc:Fallback>
                <p:oleObj name="Visio" r:id="rId1" imgW="8813800" imgH="53594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3" y="1771536"/>
                        <a:ext cx="7825863" cy="47292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0485" name="Rectangle 5"/>
          <p:cNvSpPr>
            <a:spLocks noChangeArrowheads="1"/>
          </p:cNvSpPr>
          <p:nvPr/>
        </p:nvSpPr>
        <p:spPr bwMode="auto">
          <a:xfrm>
            <a:off x="2794116" y="6429396"/>
            <a:ext cx="4272323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基于仓库风格的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软件研发环境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Repositories System</a:t>
            </a:r>
            <a:endParaRPr lang="en-US" altLang="zh-CN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Style represents a large variety of systems</a:t>
            </a:r>
            <a:br>
              <a:rPr lang="en-US" altLang="zh-CN" sz="2400" dirty="0"/>
            </a:br>
            <a:r>
              <a:rPr lang="zh-CN" altLang="en-US" sz="2400" dirty="0"/>
              <a:t>这种风格描绘很多种系统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many variants depending on nature of shared data</a:t>
            </a:r>
            <a:br>
              <a:rPr lang="en-US" altLang="zh-CN" sz="2000" dirty="0"/>
            </a:br>
            <a:r>
              <a:rPr lang="zh-CN" altLang="en-US" sz="2000" dirty="0"/>
              <a:t>共同特点是共享数据</a:t>
            </a:r>
            <a:endParaRPr lang="zh-CN" altLang="en-US" sz="20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Style addresses mechanisms for:</a:t>
            </a:r>
            <a:br>
              <a:rPr lang="en-US" altLang="zh-CN" sz="2400" dirty="0"/>
            </a:br>
            <a:r>
              <a:rPr lang="zh-CN" altLang="en-US" sz="2400" dirty="0"/>
              <a:t>风格说明其运行机制是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collecting, manipulating and preserving large bodies of data</a:t>
            </a:r>
            <a:br>
              <a:rPr lang="en-US" altLang="zh-CN" sz="2000" dirty="0"/>
            </a:br>
            <a:r>
              <a:rPr lang="zh-CN" altLang="en-US" sz="2000" dirty="0"/>
              <a:t>收集、操作、保存大量的数据</a:t>
            </a:r>
            <a:endParaRPr lang="zh-CN" altLang="en-US" sz="20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KB is a natural example.</a:t>
            </a:r>
            <a:br>
              <a:rPr lang="en-US" altLang="zh-CN" sz="2400" dirty="0"/>
            </a:br>
            <a:r>
              <a:rPr lang="zh-CN" altLang="en-US" sz="2400" dirty="0"/>
              <a:t>知识库是一个典型的例子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具有成长的特性。</a:t>
            </a:r>
            <a:endParaRPr lang="zh-CN" altLang="en-US" sz="2000" dirty="0"/>
          </a:p>
        </p:txBody>
      </p:sp>
      <p:sp>
        <p:nvSpPr>
          <p:cNvPr id="10241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5DEA6C3-8D90-4540-8279-21A177962553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0242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8B1C175-0F81-4F52-8C42-05258889FFD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Repository (Blackboard)</a:t>
            </a:r>
            <a:endParaRPr lang="en-US" altLang="zh-CN"/>
          </a:p>
        </p:txBody>
      </p:sp>
      <p:sp>
        <p:nvSpPr>
          <p:cNvPr id="11265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6E13E4DC-2650-4F36-81C3-D138040CD0FB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1266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AB21E60-F275-43E1-B9BF-6C91320AAF72}" type="datetime1">
              <a:rPr lang="zh-CN" altLang="en-US"/>
            </a:fld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57224" y="1447800"/>
            <a:ext cx="8076464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Arial" panose="020B0604020202020204" pitchFamily="34" charset="0"/>
              </a:rPr>
              <a:t>组成部分</a:t>
            </a:r>
            <a:endParaRPr lang="zh-CN" altLang="en-US">
              <a:latin typeface="Arial" panose="020B0604020202020204" pitchFamily="34" charset="0"/>
            </a:endParaRPr>
          </a:p>
          <a:p>
            <a:pPr lvl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）知识源（</a:t>
            </a:r>
            <a:r>
              <a:rPr lang="en-US" altLang="zh-CN"/>
              <a:t>2</a:t>
            </a:r>
            <a:r>
              <a:rPr lang="zh-CN" altLang="zh-CN"/>
              <a:t>）黑板数据结构（</a:t>
            </a:r>
            <a:r>
              <a:rPr lang="en-US" altLang="zh-CN"/>
              <a:t>3</a:t>
            </a:r>
            <a:r>
              <a:rPr lang="zh-CN" altLang="zh-CN"/>
              <a:t>）控制器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06339" y="2500306"/>
          <a:ext cx="5863631" cy="385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413500" imgH="4229100" progId="Visio.Drawing.11">
                  <p:embed/>
                </p:oleObj>
              </mc:Choice>
              <mc:Fallback>
                <p:oleObj name="" r:id="rId1" imgW="6413500" imgH="42291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339" y="2500306"/>
                        <a:ext cx="5863631" cy="38576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Blackboard Model</a:t>
            </a:r>
            <a:endParaRPr lang="en-US" altLang="zh-CN"/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Knowledge Sources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Problem-appropriate knowledge partitioned into separate, independent computations</a:t>
            </a:r>
            <a:br>
              <a:rPr lang="en-US" altLang="zh-CN" sz="2000"/>
            </a:br>
            <a:r>
              <a:rPr lang="zh-CN" altLang="en-US" sz="2000"/>
              <a:t>把问题分成几个部分，每个部分独立计算</a:t>
            </a:r>
            <a:endParaRPr lang="zh-CN" altLang="en-US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React to changes in blackboard</a:t>
            </a:r>
            <a:br>
              <a:rPr lang="en-US" altLang="zh-CN" sz="2000"/>
            </a:br>
            <a:r>
              <a:rPr lang="zh-CN" altLang="en-US" sz="2000"/>
              <a:t>响应黑板上的变化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Blackboard Data Structure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Global database containing entire state of problem solution</a:t>
            </a:r>
            <a:br>
              <a:rPr lang="en-US" altLang="zh-CN" sz="2000"/>
            </a:br>
            <a:r>
              <a:rPr lang="zh-CN" altLang="en-US" sz="2000"/>
              <a:t>全局数据库包含解域的全部状态</a:t>
            </a:r>
            <a:endParaRPr lang="zh-CN" altLang="en-US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Only means by which knowledge sources interact</a:t>
            </a:r>
            <a:br>
              <a:rPr lang="en-US" altLang="zh-CN" sz="2000"/>
            </a:br>
            <a:r>
              <a:rPr lang="zh-CN" altLang="en-US" sz="2000"/>
              <a:t>知识源互相作用的唯一媒介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Control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Knowledge sources respond</a:t>
            </a:r>
            <a:endParaRPr lang="en-US" altLang="zh-CN" sz="2000"/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“opportunistically”</a:t>
            </a:r>
            <a:br>
              <a:rPr lang="en-US" altLang="zh-CN" sz="2000"/>
            </a:br>
            <a:r>
              <a:rPr lang="zh-CN" altLang="en-US" sz="2000"/>
              <a:t>让知识源响应偶然事件</a:t>
            </a:r>
            <a:endParaRPr lang="zh-CN" altLang="en-US" sz="2000"/>
          </a:p>
        </p:txBody>
      </p:sp>
      <p:sp>
        <p:nvSpPr>
          <p:cNvPr id="13313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6D5CAE5-E64B-4536-BDDF-48BF2185D96F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3314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E51CE2F-DF7D-47F9-A94C-6E604ED7B0A7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Blackboard Model</a:t>
            </a:r>
            <a:endParaRPr lang="en-US" altLang="zh-CN"/>
          </a:p>
        </p:txBody>
      </p:sp>
      <p:pic>
        <p:nvPicPr>
          <p:cNvPr id="1434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58313"/>
            <a:ext cx="7886700" cy="3885962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7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E776769-2338-4F87-AF75-5F6C310BFCB0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4338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F14AF39-1F66-4F4F-8D34-EDD891C2660D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Blackboard Architecture</a:t>
            </a:r>
            <a:endParaRPr lang="en-US" altLang="zh-CN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Key ideas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knowledge shared and distributed among some number of cooperating processes</a:t>
            </a:r>
            <a:br>
              <a:rPr lang="en-US" altLang="zh-CN" sz="2000"/>
            </a:br>
            <a:r>
              <a:rPr lang="zh-CN" altLang="en-US" sz="2000"/>
              <a:t>知识在一些协作的</a:t>
            </a:r>
            <a:r>
              <a:rPr lang="en-US" altLang="zh-CN" sz="2000"/>
              <a:t>processes</a:t>
            </a:r>
            <a:r>
              <a:rPr lang="zh-CN" altLang="en-US" sz="2000"/>
              <a:t>之间共享和分布</a:t>
            </a:r>
            <a:endParaRPr lang="zh-CN" altLang="en-US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opportunistic processing of data</a:t>
            </a:r>
            <a:br>
              <a:rPr lang="en-US" altLang="zh-CN" sz="2000"/>
            </a:br>
            <a:r>
              <a:rPr lang="zh-CN" altLang="en-US" sz="2000"/>
              <a:t>机会主义地处理数据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The Blackboard Architecture have 3 major components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knowledge sources </a:t>
            </a:r>
            <a:r>
              <a:rPr lang="zh-CN" altLang="en-US" sz="2000"/>
              <a:t>（知识源）</a:t>
            </a:r>
            <a:endParaRPr lang="zh-CN" altLang="en-US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blackboard </a:t>
            </a:r>
            <a:r>
              <a:rPr lang="zh-CN" altLang="en-US" sz="2000"/>
              <a:t>（黑板）</a:t>
            </a:r>
            <a:endParaRPr lang="zh-CN" altLang="en-US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control </a:t>
            </a:r>
            <a:r>
              <a:rPr lang="zh-CN" altLang="en-US" sz="2000"/>
              <a:t>（控制）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Historical examples: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Hearsay I, Hearsay II, HASP/SAIP, CRYSALIS, ATOME</a:t>
            </a:r>
            <a:endParaRPr lang="en-US" altLang="zh-CN" sz="2000"/>
          </a:p>
          <a:p>
            <a:pPr lvl="1">
              <a:lnSpc>
                <a:spcPct val="80000"/>
              </a:lnSpc>
            </a:pPr>
            <a:r>
              <a:rPr lang="en-US" altLang="zh-CN" sz="2000"/>
              <a:t>Originally most were from signal processing/interpretation domains </a:t>
            </a:r>
            <a:r>
              <a:rPr lang="zh-CN" altLang="en-US" sz="2000"/>
              <a:t>（信号处理、专家系统、模式识别领域经常采用）</a:t>
            </a:r>
            <a:endParaRPr lang="zh-CN" altLang="en-US" sz="2000"/>
          </a:p>
        </p:txBody>
      </p:sp>
      <p:sp>
        <p:nvSpPr>
          <p:cNvPr id="15361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B2B42F6-5BD9-48AE-A807-930BE6C4E2B3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5362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4ED68D9D-2479-42A3-B120-EE46FC97F4BB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Blackboard Architecture</a:t>
            </a:r>
            <a:endParaRPr lang="en-US" altLang="zh-CN"/>
          </a:p>
        </p:txBody>
      </p:sp>
      <p:pic>
        <p:nvPicPr>
          <p:cNvPr id="1638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4637"/>
            <a:ext cx="7886700" cy="3913313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5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21E7860-E50C-44F0-B91D-B57071B3E8F2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6386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67DD992-4FEB-40D7-986E-8C0C78F1FC2B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Blackboard Problem</a:t>
            </a:r>
            <a:r>
              <a:rPr lang="en-US" altLang="zh-CN" sz="4000"/>
              <a:t> </a:t>
            </a:r>
            <a:r>
              <a:rPr lang="en-US" altLang="en-US" sz="4000"/>
              <a:t>Characteristics</a:t>
            </a:r>
            <a:endParaRPr lang="en-US" altLang="zh-CN" sz="4000"/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no direct algorithmic solution</a:t>
            </a:r>
            <a:br>
              <a:rPr lang="en-US" altLang="zh-CN" sz="2400"/>
            </a:br>
            <a:r>
              <a:rPr lang="zh-CN" altLang="en-US" sz="2400"/>
              <a:t>没有直接的算法可解</a:t>
            </a:r>
            <a:endParaRPr lang="zh-CN" altLang="en-US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multiple approaches to solving the problem</a:t>
            </a:r>
            <a:br>
              <a:rPr lang="en-US" altLang="zh-CN" sz="2000"/>
            </a:br>
            <a:r>
              <a:rPr lang="zh-CN" altLang="en-US" sz="2000"/>
              <a:t>多种方法都可能解决问题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various domain expertise required to solve the problem</a:t>
            </a:r>
            <a:br>
              <a:rPr lang="en-US" altLang="zh-CN" sz="2000"/>
            </a:br>
            <a:r>
              <a:rPr lang="zh-CN" altLang="en-US" sz="2000"/>
              <a:t>需要多个领域的专门知识协作解决</a:t>
            </a:r>
            <a:endParaRPr lang="zh-CN" altLang="en-US" sz="2000"/>
          </a:p>
          <a:p>
            <a:pPr>
              <a:lnSpc>
                <a:spcPct val="90000"/>
              </a:lnSpc>
            </a:pPr>
            <a:r>
              <a:rPr lang="en-US" altLang="zh-CN" sz="2400"/>
              <a:t>uncertainty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error and variability in data and solution</a:t>
            </a:r>
            <a:br>
              <a:rPr lang="en-US" altLang="zh-CN" sz="2000"/>
            </a:br>
            <a:r>
              <a:rPr lang="zh-CN" altLang="en-US" sz="2000"/>
              <a:t>数据和解决方法可能错误或变化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moderate to low “signal-to-noise-ratio” in data</a:t>
            </a:r>
            <a:br>
              <a:rPr lang="en-US" altLang="zh-CN" sz="2000"/>
            </a:br>
            <a:r>
              <a:rPr lang="zh-CN" altLang="en-US" sz="2000"/>
              <a:t>数据中信噪比的变化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Uncertainty interferes with algorithmic solutions</a:t>
            </a:r>
            <a:br>
              <a:rPr lang="en-US" altLang="zh-CN" sz="2000"/>
            </a:br>
            <a:r>
              <a:rPr lang="zh-CN" altLang="en-US" sz="2000"/>
              <a:t>算法接口的变化</a:t>
            </a:r>
            <a:endParaRPr lang="zh-CN" altLang="en-US" sz="2000"/>
          </a:p>
        </p:txBody>
      </p:sp>
      <p:sp>
        <p:nvSpPr>
          <p:cNvPr id="17409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B05A21DC-0CF0-4B80-9761-DBBE8A5F5A9E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7410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0CF3F57-FE2D-4542-A926-878AA06C782B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Blackboard Problem</a:t>
            </a:r>
            <a:r>
              <a:rPr lang="en-US" altLang="zh-CN" sz="4000"/>
              <a:t> </a:t>
            </a:r>
            <a:r>
              <a:rPr lang="en-US" altLang="en-US" sz="4000"/>
              <a:t>Characteristics</a:t>
            </a:r>
            <a:endParaRPr lang="en-US" altLang="zh-CN" sz="4000"/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“Best-effort” or approximation is good enough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no single discrete answer to problem, or “right” answer may vary</a:t>
            </a:r>
            <a:br>
              <a:rPr lang="en-US" altLang="zh-CN"/>
            </a:br>
            <a:r>
              <a:rPr lang="zh-CN" altLang="en-US"/>
              <a:t>问题没有唯一的解答，或者“正确”答案会变化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en-US" altLang="zh-CN"/>
              <a:t>examples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signal processing </a:t>
            </a:r>
            <a:r>
              <a:rPr lang="zh-CN" altLang="en-US"/>
              <a:t>（信号处理）</a:t>
            </a:r>
            <a:endParaRPr lang="zh-CN" altLang="en-US"/>
          </a:p>
          <a:p>
            <a:pPr lvl="1">
              <a:lnSpc>
                <a:spcPct val="90000"/>
              </a:lnSpc>
            </a:pPr>
            <a:r>
              <a:rPr lang="en-US" altLang="zh-CN"/>
              <a:t>problem solving (planning, logistics, diagnostics)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compiler optimization</a:t>
            </a:r>
            <a:endParaRPr lang="en-US" altLang="zh-CN"/>
          </a:p>
        </p:txBody>
      </p:sp>
      <p:sp>
        <p:nvSpPr>
          <p:cNvPr id="18433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F4A8FD7-3976-44D6-A12A-B92090FFC3CB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8434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6B9C08B-31BF-4179-807A-46FDDFEA4DDA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Knowledge Sources</a:t>
            </a:r>
            <a:endParaRPr lang="en-US" altLang="zh-CN"/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Objective</a:t>
            </a:r>
            <a:r>
              <a:rPr lang="zh-CN" altLang="en-US" sz="2400"/>
              <a:t>目的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contribute knowledge that leads to solution</a:t>
            </a:r>
            <a:br>
              <a:rPr lang="en-US" altLang="zh-CN" sz="2000"/>
            </a:br>
            <a:r>
              <a:rPr lang="zh-CN" altLang="en-US" sz="2000"/>
              <a:t>提供解决问题的知识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Representation</a:t>
            </a:r>
            <a:r>
              <a:rPr lang="zh-CN" altLang="en-US" sz="2400"/>
              <a:t>表征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procedures, sets of rules, logic assertions</a:t>
            </a:r>
            <a:br>
              <a:rPr lang="en-US" altLang="zh-CN" sz="2000"/>
            </a:br>
            <a:r>
              <a:rPr lang="zh-CN" altLang="en-US" sz="2000"/>
              <a:t>过程、规则、逻辑断言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Action</a:t>
            </a:r>
            <a:r>
              <a:rPr lang="zh-CN" altLang="en-US" sz="2400"/>
              <a:t>功用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modify only the blackboard (or control data -- magic)</a:t>
            </a:r>
            <a:br>
              <a:rPr lang="en-US" altLang="zh-CN" sz="2000"/>
            </a:br>
            <a:r>
              <a:rPr lang="zh-CN" altLang="en-US" sz="2000"/>
              <a:t>只修改黑板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Responsibility</a:t>
            </a:r>
            <a:r>
              <a:rPr lang="zh-CN" altLang="en-US" sz="2400"/>
              <a:t>职责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know when it’s possible to help</a:t>
            </a:r>
            <a:br>
              <a:rPr lang="en-US" altLang="zh-CN" sz="2000"/>
            </a:br>
            <a:r>
              <a:rPr lang="zh-CN" altLang="en-US" sz="2000"/>
              <a:t>知道何时能发挥作用</a:t>
            </a:r>
            <a:endParaRPr lang="zh-CN" altLang="en-US" sz="2000"/>
          </a:p>
          <a:p>
            <a:pPr>
              <a:lnSpc>
                <a:spcPct val="80000"/>
              </a:lnSpc>
            </a:pPr>
            <a:r>
              <a:rPr lang="en-US" altLang="zh-CN" sz="2400"/>
              <a:t>Selection: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000"/>
              <a:t>loosely-coupled subtasks, or areas of specialization</a:t>
            </a:r>
            <a:br>
              <a:rPr lang="en-US" altLang="zh-CN" sz="2000"/>
            </a:br>
            <a:r>
              <a:rPr lang="zh-CN" altLang="en-US" sz="2000"/>
              <a:t>低耦合的子任务，或者有特别的能力</a:t>
            </a:r>
            <a:endParaRPr lang="zh-CN" altLang="en-US" sz="2000"/>
          </a:p>
        </p:txBody>
      </p:sp>
      <p:sp>
        <p:nvSpPr>
          <p:cNvPr id="19457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77CB294-D1A9-4EB2-A488-6141B15C49EA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19458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79D1D91-ECC0-4698-9FF6-3B4D2B057A58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Blackboard Data Structure</a:t>
            </a:r>
            <a:endParaRPr lang="en-US" altLang="zh-CN"/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Objective</a:t>
            </a:r>
            <a:r>
              <a:rPr lang="zh-CN" altLang="en-US" sz="2400"/>
              <a:t>目的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hold data for use by knowledge sources</a:t>
            </a:r>
            <a:br>
              <a:rPr lang="en-US" altLang="zh-CN" sz="2000"/>
            </a:br>
            <a:r>
              <a:rPr lang="zh-CN" altLang="en-US" sz="2000"/>
              <a:t>保存知识源要使用的数据 </a:t>
            </a:r>
            <a:endParaRPr lang="zh-CN" altLang="en-US" sz="2000"/>
          </a:p>
          <a:p>
            <a:pPr>
              <a:lnSpc>
                <a:spcPct val="90000"/>
              </a:lnSpc>
            </a:pPr>
            <a:r>
              <a:rPr lang="en-US" altLang="zh-CN" sz="2400"/>
              <a:t>Representation</a:t>
            </a:r>
            <a:r>
              <a:rPr lang="zh-CN" altLang="en-US" sz="2400"/>
              <a:t>表征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stores objects from solution space, including</a:t>
            </a:r>
            <a:br>
              <a:rPr lang="en-US" altLang="zh-CN" sz="2000"/>
            </a:br>
            <a:r>
              <a:rPr lang="zh-CN" altLang="en-US" sz="2000"/>
              <a:t>保存来自解空间的数据，包括</a:t>
            </a:r>
            <a:endParaRPr lang="zh-CN" altLang="en-US" sz="2000"/>
          </a:p>
          <a:p>
            <a:pPr lvl="2">
              <a:lnSpc>
                <a:spcPct val="90000"/>
              </a:lnSpc>
            </a:pPr>
            <a:r>
              <a:rPr lang="en-US" altLang="zh-CN" sz="1800"/>
              <a:t>input data, partial solutions, alternatives, final solutions, control data</a:t>
            </a:r>
            <a:endParaRPr lang="en-US" altLang="zh-CN" sz="1800"/>
          </a:p>
          <a:p>
            <a:pPr lvl="2">
              <a:lnSpc>
                <a:spcPct val="90000"/>
              </a:lnSpc>
            </a:pPr>
            <a:r>
              <a:rPr lang="en-US" altLang="zh-CN" sz="1800"/>
              <a:t>objects and properties define the terms of the discourse</a:t>
            </a:r>
            <a:endParaRPr lang="en-US" altLang="zh-CN" sz="1800"/>
          </a:p>
          <a:p>
            <a:pPr lvl="2">
              <a:lnSpc>
                <a:spcPct val="90000"/>
              </a:lnSpc>
            </a:pPr>
            <a:r>
              <a:rPr lang="en-US" altLang="zh-CN" sz="1800"/>
              <a:t>relationships are denoted by named links (“next-to”, “part-of”)</a:t>
            </a:r>
            <a:endParaRPr lang="en-US" altLang="zh-CN" sz="1800"/>
          </a:p>
          <a:p>
            <a:pPr>
              <a:lnSpc>
                <a:spcPct val="90000"/>
              </a:lnSpc>
            </a:pPr>
            <a:r>
              <a:rPr lang="en-US" altLang="zh-CN" sz="2400"/>
              <a:t>Organization</a:t>
            </a:r>
            <a:r>
              <a:rPr lang="zh-CN" altLang="en-US" sz="2400"/>
              <a:t>组织结构</a:t>
            </a:r>
            <a:r>
              <a:rPr lang="en-US" altLang="zh-CN" sz="2400"/>
              <a:t>: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hierarchical, possibly multiple hierarchies; links between objects on same or different levels</a:t>
            </a:r>
            <a:br>
              <a:rPr lang="en-US" altLang="zh-CN" sz="2000"/>
            </a:br>
            <a:r>
              <a:rPr lang="zh-CN" altLang="en-US" sz="2000"/>
              <a:t>分层；链接同层或不同层的对象</a:t>
            </a:r>
            <a:endParaRPr lang="zh-CN" altLang="en-US" sz="2000"/>
          </a:p>
        </p:txBody>
      </p:sp>
      <p:sp>
        <p:nvSpPr>
          <p:cNvPr id="20481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ECF1BCF-AF14-4BEC-B9FF-FE645E8F29BF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0482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687758F-534D-4C72-9D94-9DBC61298F37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</a:t>
            </a:r>
            <a:endParaRPr lang="en-US" altLang="zh-CN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Objective</a:t>
            </a:r>
            <a:r>
              <a:rPr lang="zh-CN" altLang="en-US" sz="2800"/>
              <a:t>目的</a:t>
            </a:r>
            <a:r>
              <a:rPr lang="en-US" altLang="zh-CN" sz="2800"/>
              <a:t>: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make knowledge sources respond opportunistically</a:t>
            </a:r>
            <a:br>
              <a:rPr lang="en-US" altLang="zh-CN" sz="2400"/>
            </a:br>
            <a:r>
              <a:rPr lang="zh-CN" altLang="en-US" sz="2400"/>
              <a:t>让知识源响应偶然事件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en-US" altLang="zh-CN" sz="2800"/>
              <a:t>Representation</a:t>
            </a:r>
            <a:r>
              <a:rPr lang="zh-CN" altLang="en-US" sz="2800"/>
              <a:t>表征</a:t>
            </a:r>
            <a:r>
              <a:rPr lang="en-US" altLang="zh-CN" sz="2800"/>
              <a:t>: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keeps various sorts of information about which knowledge sources could operate and picks a sequence that allows the solution process to proceed a step at a time</a:t>
            </a:r>
            <a:br>
              <a:rPr lang="en-US" altLang="zh-CN" sz="2400"/>
            </a:br>
            <a:r>
              <a:rPr lang="zh-CN" altLang="en-US" sz="2400"/>
              <a:t>了解各个知识源的能力，决策解决问题的步骤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en-US" altLang="zh-CN" sz="2800"/>
              <a:t>Remark</a:t>
            </a:r>
            <a:r>
              <a:rPr lang="zh-CN" altLang="en-US" sz="2800"/>
              <a:t>备注</a:t>
            </a:r>
            <a:r>
              <a:rPr lang="en-US" altLang="zh-CN" sz="2800"/>
              <a:t>: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the control mechanisms are thoroughly ad hoc</a:t>
            </a:r>
            <a:br>
              <a:rPr lang="en-US" altLang="zh-CN" sz="2400"/>
            </a:br>
            <a:r>
              <a:rPr lang="zh-CN" altLang="en-US" sz="2400"/>
              <a:t>控制机制是彻底的与时俱进</a:t>
            </a:r>
            <a:endParaRPr lang="zh-CN" altLang="en-US" sz="2400"/>
          </a:p>
        </p:txBody>
      </p:sp>
      <p:sp>
        <p:nvSpPr>
          <p:cNvPr id="21505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BE107245-16EA-4722-9137-A0D2A7B56276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1506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380F6EE-F232-45DC-A8B3-0359242C590C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黑板系统风格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优点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）便于多客户共享大量数据，他们不关心数据何时有的、谁提供的、怎样提供的。</a:t>
            </a:r>
            <a:endParaRPr lang="en-US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）既便于添加新的作为知识源代理的应用程序，也便于扩展共享的黑板数据结构。</a:t>
            </a:r>
            <a:endParaRPr lang="en-US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）知识源可重用。</a:t>
            </a:r>
            <a:endParaRPr lang="en-US" altLang="zh-CN" dirty="0"/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）支持容错性和健壮性。</a:t>
            </a:r>
            <a:endParaRPr lang="zh-CN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黑板系统风格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缺点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zh-CN" dirty="0"/>
              <a:t>不同的知识源代理对于共享数据结构要达成一致，而且，这也造成对黑板数据结构的修改较为困难</a:t>
            </a:r>
            <a:r>
              <a:rPr lang="en-US" altLang="zh-CN" dirty="0"/>
              <a:t>——</a:t>
            </a:r>
            <a:r>
              <a:rPr lang="zh-CN" altLang="zh-CN" dirty="0"/>
              <a:t>要考虑到各个代理的调用。</a:t>
            </a:r>
            <a:endParaRPr lang="en-US" altLang="zh-CN" dirty="0"/>
          </a:p>
          <a:p>
            <a:pPr lvl="1"/>
            <a:r>
              <a:rPr lang="zh-CN" altLang="zh-CN" dirty="0"/>
              <a:t>需要一定的同步</a:t>
            </a:r>
            <a:r>
              <a:rPr lang="en-US" altLang="zh-CN" dirty="0"/>
              <a:t>/</a:t>
            </a:r>
            <a:r>
              <a:rPr lang="zh-CN" altLang="zh-CN" dirty="0"/>
              <a:t>加锁机制保证数据结构的完整性和一致性，增大了系统复杂度。</a:t>
            </a:r>
            <a:endParaRPr lang="en-US" altLang="zh-CN" dirty="0"/>
          </a:p>
          <a:p>
            <a:pPr lvl="1"/>
            <a:r>
              <a:rPr lang="zh-CN" altLang="en-US" dirty="0"/>
              <a:t>不能保证有好的解决方案</a:t>
            </a:r>
            <a:endParaRPr lang="en-US" altLang="zh-CN" dirty="0"/>
          </a:p>
          <a:p>
            <a:pPr lvl="1"/>
            <a:r>
              <a:rPr lang="zh-CN" altLang="en-US" dirty="0"/>
              <a:t>测试困难</a:t>
            </a:r>
            <a:endParaRPr lang="en-US" altLang="zh-CN" dirty="0"/>
          </a:p>
          <a:p>
            <a:pPr lvl="1"/>
            <a:r>
              <a:rPr lang="zh-CN" altLang="en-US" dirty="0"/>
              <a:t>低效</a:t>
            </a:r>
            <a:endParaRPr lang="zh-CN" altLang="zh-CN" dirty="0"/>
          </a:p>
          <a:p>
            <a:pPr lvl="1"/>
            <a:r>
              <a:rPr lang="zh-CN" altLang="en-US"/>
              <a:t>开发成本高</a:t>
            </a:r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黑板系统风格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500174"/>
            <a:ext cx="7498080" cy="480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应用实例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en-US" altLang="zh-CN" dirty="0"/>
              <a:t>HEARSAY-II</a:t>
            </a: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28281" y="1071546"/>
          <a:ext cx="4763006" cy="528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5295900" imgH="5880100" progId="Visio.Drawing.11">
                  <p:embed/>
                </p:oleObj>
              </mc:Choice>
              <mc:Fallback>
                <p:oleObj name="" r:id="rId1" imgW="5295900" imgH="58801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281" y="1071546"/>
                        <a:ext cx="4763006" cy="528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275307" y="6447118"/>
            <a:ext cx="1920461" cy="382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HEARSAY-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II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架构</a:t>
            </a:r>
            <a:endParaRPr lang="zh-CN" altLang="zh-CN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Example</a:t>
            </a:r>
            <a:r>
              <a:rPr lang="zh-CN" altLang="en-US" sz="4000" dirty="0"/>
              <a:t>：</a:t>
            </a:r>
            <a:r>
              <a:rPr lang="en-US" altLang="zh-CN" sz="4000" dirty="0"/>
              <a:t>The Puzzle Metaphor</a:t>
            </a:r>
            <a:endParaRPr lang="en-US" altLang="zh-CN" sz="4000" dirty="0"/>
          </a:p>
        </p:txBody>
      </p:sp>
      <p:pic>
        <p:nvPicPr>
          <p:cNvPr id="2253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07799"/>
            <a:ext cx="7886700" cy="4186989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9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0D0303A-6829-4129-8D07-EF8859F24623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2530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68A8978D-149C-4346-B151-022B96BA5A77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Example</a:t>
            </a:r>
            <a:r>
              <a:rPr lang="zh-CN" altLang="en-US" sz="4000"/>
              <a:t>：</a:t>
            </a:r>
            <a:r>
              <a:rPr lang="en-US" altLang="zh-CN" sz="4000"/>
              <a:t>The Puzzle Metaphor</a:t>
            </a:r>
            <a:endParaRPr lang="en-US" altLang="zh-CN" sz="4000"/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/>
              <a:t>Data within the blackboard is often structured hierarchically</a:t>
            </a:r>
            <a:endParaRPr lang="en-US" altLang="zh-CN" sz="2400"/>
          </a:p>
        </p:txBody>
      </p:sp>
      <p:sp>
        <p:nvSpPr>
          <p:cNvPr id="23553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20CA286-C77B-4D8D-84BE-DEB88F3579E3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graphicFrame>
        <p:nvGraphicFramePr>
          <p:cNvPr id="448518" name="Group 6"/>
          <p:cNvGraphicFramePr>
            <a:graphicFrameLocks noGrp="1"/>
          </p:cNvGraphicFramePr>
          <p:nvPr>
            <p:ph idx="4294967295"/>
          </p:nvPr>
        </p:nvGraphicFramePr>
        <p:xfrm>
          <a:off x="0" y="2349500"/>
          <a:ext cx="4762500" cy="3843339"/>
        </p:xfrm>
        <a:graphic>
          <a:graphicData uri="http://schemas.openxmlformats.org/drawingml/2006/table">
            <a:tbl>
              <a:tblPr/>
              <a:tblGrid>
                <a:gridCol w="1295400"/>
                <a:gridCol w="3467100"/>
              </a:tblGrid>
              <a:tr h="960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Level 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assemble chunks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2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Level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build chunks of edges </a:t>
                      </a:r>
                      <a:b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build chunks of sky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0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Level 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collect edge pieces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collect sky pieces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0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Level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b="1">
                          <a:solidFill>
                            <a:srgbClr val="3333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b="1">
                          <a:solidFill>
                            <a:srgbClr val="FF3399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Turn all pieces picture side up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554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0CFBA33-FCE0-4799-A379-554FD9181721}" type="datetime1">
              <a:rPr lang="zh-CN" altLang="en-US"/>
            </a:fld>
            <a:endParaRPr lang="zh-CN" altLang="en-US"/>
          </a:p>
        </p:txBody>
      </p:sp>
      <p:pic>
        <p:nvPicPr>
          <p:cNvPr id="23557" name="Picture 4" descr="j0087334[1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860800"/>
            <a:ext cx="33051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5" descr="BS01344_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2349500"/>
            <a:ext cx="1558925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Lecture Summary</a:t>
            </a:r>
            <a:endParaRPr lang="en-US" altLang="zh-CN"/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/>
              <a:t>Repositories are ubiquitous in computer-based applications.</a:t>
            </a:r>
            <a:br>
              <a:rPr lang="en-US" altLang="zh-CN" sz="2400"/>
            </a:br>
            <a:r>
              <a:rPr lang="zh-CN" altLang="en-US" sz="2400"/>
              <a:t>仓库在计算机应用中几乎无处不在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en-US" altLang="zh-CN" sz="2400"/>
              <a:t>Repositories System in many areas show similar trends, stimulated by similar technological and business pressures.</a:t>
            </a:r>
            <a:br>
              <a:rPr lang="en-US" altLang="zh-CN" sz="2400"/>
            </a:br>
            <a:r>
              <a:rPr lang="zh-CN" altLang="en-US" sz="2400"/>
              <a:t>信息共享系统在很多领域有相似的发展趋势，因为有相似的技术和商业压力的激励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en-US" altLang="zh-CN" sz="2400"/>
              <a:t>Blackboards are specialized types of repositories for dealing with “messy” information processing domains where the control strategy must be opportunistic.</a:t>
            </a:r>
            <a:br>
              <a:rPr lang="en-US" altLang="zh-CN" sz="2400"/>
            </a:br>
            <a:r>
              <a:rPr lang="zh-CN" altLang="en-US" sz="2400"/>
              <a:t>黑板是一种特别的仓库，主要用于需要对凌乱的信息进行处理的领域，其控制策略必须是机会主义的</a:t>
            </a:r>
            <a:endParaRPr lang="zh-CN" altLang="en-US" sz="2400"/>
          </a:p>
        </p:txBody>
      </p:sp>
      <p:sp>
        <p:nvSpPr>
          <p:cNvPr id="24577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4B0F621-D08E-46DA-9B67-966F2F3604AC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4578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C9594D5-35C2-49D0-BD49-937A1983B0D4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Repositories System</a:t>
            </a:r>
            <a:endParaRPr lang="en-US" altLang="zh-CN"/>
          </a:p>
        </p:txBody>
      </p:sp>
      <p:sp>
        <p:nvSpPr>
          <p:cNvPr id="25604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/>
              <a:t>Advantages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easy to add consumers and producers of data</a:t>
            </a:r>
            <a:br>
              <a:rPr lang="en-US" altLang="zh-CN" sz="2400"/>
            </a:br>
            <a:r>
              <a:rPr lang="zh-CN" altLang="en-US" sz="2400"/>
              <a:t>很容易增加数据的生产者和消费者</a:t>
            </a:r>
            <a:endParaRPr lang="zh-CN" altLang="en-US" sz="2400"/>
          </a:p>
          <a:p>
            <a:pPr lvl="2">
              <a:lnSpc>
                <a:spcPct val="80000"/>
              </a:lnSpc>
            </a:pPr>
            <a:r>
              <a:rPr lang="en-US" altLang="zh-CN" sz="2000"/>
              <a:t>How about modifier?</a:t>
            </a:r>
            <a:endParaRPr lang="en-US" altLang="zh-CN" sz="2000"/>
          </a:p>
          <a:p>
            <a:pPr>
              <a:lnSpc>
                <a:spcPct val="80000"/>
              </a:lnSpc>
            </a:pPr>
            <a:r>
              <a:rPr lang="en-US" altLang="zh-CN" sz="2800"/>
              <a:t>Issues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synchronization</a:t>
            </a:r>
            <a:r>
              <a:rPr lang="zh-CN" altLang="en-US" sz="2400"/>
              <a:t>（同步）</a:t>
            </a:r>
            <a:endParaRPr lang="zh-CN" altLang="en-US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configuration and schema management</a:t>
            </a:r>
            <a:r>
              <a:rPr lang="zh-CN" altLang="en-US" sz="2400"/>
              <a:t>（配置和管理）</a:t>
            </a:r>
            <a:endParaRPr lang="zh-CN" altLang="en-US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atomicity</a:t>
            </a:r>
            <a:r>
              <a:rPr lang="zh-CN" altLang="en-US" sz="2400"/>
              <a:t>（原子性）</a:t>
            </a:r>
            <a:endParaRPr lang="zh-CN" altLang="en-US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consistency</a:t>
            </a:r>
            <a:r>
              <a:rPr lang="zh-CN" altLang="en-US" sz="2400"/>
              <a:t>（一致性）</a:t>
            </a:r>
            <a:endParaRPr lang="zh-CN" altLang="en-US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persistence</a:t>
            </a:r>
            <a:r>
              <a:rPr lang="zh-CN" altLang="en-US" sz="2400"/>
              <a:t>（持久性）</a:t>
            </a:r>
            <a:endParaRPr lang="zh-CN" altLang="en-US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performance</a:t>
            </a:r>
            <a:r>
              <a:rPr lang="zh-CN" altLang="en-US" sz="2400"/>
              <a:t>（性能）</a:t>
            </a:r>
            <a:endParaRPr lang="zh-CN" altLang="en-US" sz="2400"/>
          </a:p>
        </p:txBody>
      </p:sp>
      <p:sp>
        <p:nvSpPr>
          <p:cNvPr id="25601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266A5DCE-6195-47A8-B5DF-35879BA591AC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5602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89CFB16-C4C0-4867-965C-33896B9AE595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Repositories System Lineage</a:t>
            </a:r>
            <a:endParaRPr lang="en-US" altLang="zh-CN" sz="40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/>
              <a:t>Earliest repositories appear in batch sequential systems</a:t>
            </a:r>
            <a:br>
              <a:rPr lang="en-US" altLang="zh-CN" sz="2400"/>
            </a:br>
            <a:r>
              <a:rPr lang="zh-CN" altLang="en-US" sz="2400"/>
              <a:t>早期的仓库出现在批处理系统</a:t>
            </a:r>
            <a:endParaRPr lang="zh-CN" altLang="en-US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mainframes, drums, magnetic tapes, disc drives</a:t>
            </a:r>
            <a:endParaRPr lang="en-US" altLang="zh-CN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resources manually managed</a:t>
            </a:r>
            <a:br>
              <a:rPr lang="en-US" altLang="zh-CN" sz="2000"/>
            </a:br>
            <a:r>
              <a:rPr lang="zh-CN" altLang="en-US" sz="2000"/>
              <a:t>人工调配资源</a:t>
            </a:r>
            <a:endParaRPr lang="zh-CN" altLang="en-US" sz="2000"/>
          </a:p>
          <a:p>
            <a:pPr>
              <a:lnSpc>
                <a:spcPct val="90000"/>
              </a:lnSpc>
            </a:pPr>
            <a:r>
              <a:rPr lang="en-US" altLang="zh-CN" sz="2400"/>
              <a:t>Pressure for on-line access to data</a:t>
            </a:r>
            <a:br>
              <a:rPr lang="en-US" altLang="zh-CN" sz="2400"/>
            </a:br>
            <a:r>
              <a:rPr lang="zh-CN" altLang="en-US" sz="2400"/>
              <a:t>迫切需要数据即时存取</a:t>
            </a:r>
            <a:endParaRPr lang="zh-CN" altLang="en-US" sz="2400"/>
          </a:p>
          <a:p>
            <a:pPr lvl="1">
              <a:lnSpc>
                <a:spcPct val="90000"/>
              </a:lnSpc>
            </a:pPr>
            <a:r>
              <a:rPr lang="en-US" altLang="zh-CN" sz="2000"/>
              <a:t>requirement to make access to data easy and instant</a:t>
            </a:r>
            <a:br>
              <a:rPr lang="en-US" altLang="zh-CN" sz="2000"/>
            </a:br>
            <a:r>
              <a:rPr lang="zh-CN" altLang="en-US" sz="2000"/>
              <a:t>简捷地数据存取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en-US" altLang="zh-CN" sz="2000"/>
              <a:t>help to drive the shift from batch-sequential to interactive processing </a:t>
            </a:r>
            <a:br>
              <a:rPr lang="en-US" altLang="zh-CN" sz="2000"/>
            </a:br>
            <a:r>
              <a:rPr lang="zh-CN" altLang="en-US" sz="2000"/>
              <a:t>促进了从批处理到交互式处理的转变</a:t>
            </a:r>
            <a:endParaRPr lang="zh-CN" altLang="en-US" sz="2000"/>
          </a:p>
        </p:txBody>
      </p:sp>
      <p:sp>
        <p:nvSpPr>
          <p:cNvPr id="26625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5C0D947-FA33-46C5-9899-1AB46F6C5DA5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6626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4103DEF-8D59-46CF-84C5-4207AB436E5B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wipe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Repositories System Lineage</a:t>
            </a:r>
            <a:endParaRPr lang="en-US" altLang="zh-CN" sz="4000"/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/>
              <a:t>Today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Repositories System appear everywhere from the smallest business, to the most advanced scientific applications</a:t>
            </a:r>
            <a:br>
              <a:rPr lang="en-US" altLang="zh-CN" sz="2400"/>
            </a:br>
            <a:r>
              <a:rPr lang="zh-CN" altLang="en-US" sz="2400"/>
              <a:t>从最小的商业应用到最顶尖的科学应用，信息共享无处不在</a:t>
            </a:r>
            <a:endParaRPr lang="zh-CN" altLang="en-US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many applications provide access mechanisms to shared data</a:t>
            </a:r>
            <a:br>
              <a:rPr lang="en-US" altLang="zh-CN" sz="2400"/>
            </a:br>
            <a:r>
              <a:rPr lang="zh-CN" altLang="en-US" sz="2400"/>
              <a:t>很多应用提供对共享数据的存取机制</a:t>
            </a:r>
            <a:endParaRPr lang="zh-CN" altLang="en-US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the Web has become a giant distributed repository</a:t>
            </a:r>
            <a:br>
              <a:rPr lang="en-US" altLang="zh-CN" sz="2400"/>
            </a:br>
            <a:r>
              <a:rPr lang="en-US" altLang="zh-CN" sz="2400"/>
              <a:t>Web</a:t>
            </a:r>
            <a:r>
              <a:rPr lang="zh-CN" altLang="en-US" sz="2400"/>
              <a:t>成为庞大的分布式仓库</a:t>
            </a:r>
            <a:endParaRPr lang="zh-CN" altLang="en-US" sz="2400"/>
          </a:p>
        </p:txBody>
      </p:sp>
      <p:sp>
        <p:nvSpPr>
          <p:cNvPr id="27649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1A6150B-4C36-4B72-B1C9-09E9FB470743}" type="slidenum">
              <a:rPr lang="en-US" altLang="zh-CN">
                <a:latin typeface="Arial Black" panose="020B0A04020102020204" pitchFamily="34" charset="0"/>
              </a:rPr>
            </a:fld>
            <a:endParaRPr lang="en-US" altLang="zh-CN">
              <a:latin typeface="Arial Black" panose="020B0A04020102020204" pitchFamily="34" charset="0"/>
            </a:endParaRPr>
          </a:p>
        </p:txBody>
      </p:sp>
      <p:sp>
        <p:nvSpPr>
          <p:cNvPr id="27650" name="日期占位符 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26D52C5C-0909-4530-A368-92C7B94E92C6}" type="datetime1">
              <a:rPr lang="zh-CN" altLang="en-US"/>
            </a:fld>
            <a:endParaRPr lang="zh-CN" altLang="en-US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8001000" y="58674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>
                <a:hlinkClick r:id="rId1"/>
              </a:rPr>
              <a:t>N</a:t>
            </a:r>
            <a:endParaRPr lang="en-US" altLang="zh-CN"/>
          </a:p>
        </p:txBody>
      </p:sp>
    </p:spTree>
  </p:cSld>
  <p:clrMapOvr>
    <a:masterClrMapping/>
  </p:clrMapOvr>
  <p:transition>
    <p:wipe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1概述</Template>
  <TotalTime>0</TotalTime>
  <Words>5292</Words>
  <Application>WPS 演示</Application>
  <PresentationFormat>全屏显示(4:3)</PresentationFormat>
  <Paragraphs>298</Paragraphs>
  <Slides>27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宋体</vt:lpstr>
      <vt:lpstr>Wingdings</vt:lpstr>
      <vt:lpstr>Calibri Light</vt:lpstr>
      <vt:lpstr>Times New Roman</vt:lpstr>
      <vt:lpstr>黑体</vt:lpstr>
      <vt:lpstr>Arial Black</vt:lpstr>
      <vt:lpstr>Calibri</vt:lpstr>
      <vt:lpstr>微软雅黑</vt:lpstr>
      <vt:lpstr>Arial Unicode MS</vt:lpstr>
      <vt:lpstr>等线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软件体系结构 </vt:lpstr>
      <vt:lpstr>PowerPoint 演示文稿</vt:lpstr>
      <vt:lpstr>Families of Architectural Styles</vt:lpstr>
      <vt:lpstr>仓库风格（1）</vt:lpstr>
      <vt:lpstr>仓库风格（2）</vt:lpstr>
      <vt:lpstr>仓库风格（3）</vt:lpstr>
      <vt:lpstr>仓库风格（4）</vt:lpstr>
      <vt:lpstr>Repositories System</vt:lpstr>
      <vt:lpstr>Repository (Blackboard)</vt:lpstr>
      <vt:lpstr>The Blackboard Model</vt:lpstr>
      <vt:lpstr>The Blackboard Model</vt:lpstr>
      <vt:lpstr>Blackboard Architecture</vt:lpstr>
      <vt:lpstr>Blackboard Architecture</vt:lpstr>
      <vt:lpstr>Blackboard Problem Characteristics</vt:lpstr>
      <vt:lpstr>Blackboard Problem Characteristics</vt:lpstr>
      <vt:lpstr>Knowledge Sources</vt:lpstr>
      <vt:lpstr>Blackboard Data Structure</vt:lpstr>
      <vt:lpstr>Control</vt:lpstr>
      <vt:lpstr>黑板系统风格</vt:lpstr>
      <vt:lpstr>黑板系统风格</vt:lpstr>
      <vt:lpstr>黑板系统风格</vt:lpstr>
      <vt:lpstr>Example：The Puzzle Metaphor</vt:lpstr>
      <vt:lpstr>Example：The Puzzle Metaphor</vt:lpstr>
      <vt:lpstr>Lecture Summary</vt:lpstr>
      <vt:lpstr>Repositories System</vt:lpstr>
      <vt:lpstr>Repositories System Lineage</vt:lpstr>
      <vt:lpstr>Repositories System Lineage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介绍</dc:title>
  <dc:creator>zhao</dc:creator>
  <cp:lastModifiedBy>赵庆玲</cp:lastModifiedBy>
  <cp:revision>621</cp:revision>
  <dcterms:created xsi:type="dcterms:W3CDTF">2018-04-12T01:57:00Z</dcterms:created>
  <dcterms:modified xsi:type="dcterms:W3CDTF">2026-05-18T11:23:55Z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DA39DE5D8C26496195711C0977F3080B_13</vt:lpwstr>
  </property>
</Properties>
</file>