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41"/>
  </p:handoutMasterIdLst>
  <p:sldIdLst>
    <p:sldId id="334" r:id="rId3"/>
    <p:sldId id="336" r:id="rId4"/>
    <p:sldId id="355" r:id="rId5"/>
    <p:sldId id="356" r:id="rId6"/>
    <p:sldId id="357" r:id="rId7"/>
    <p:sldId id="358" r:id="rId8"/>
    <p:sldId id="359" r:id="rId9"/>
    <p:sldId id="360" r:id="rId10"/>
    <p:sldId id="339" r:id="rId11"/>
    <p:sldId id="340" r:id="rId12"/>
    <p:sldId id="351" r:id="rId13"/>
    <p:sldId id="361" r:id="rId14"/>
    <p:sldId id="362" r:id="rId15"/>
    <p:sldId id="341" r:id="rId16"/>
    <p:sldId id="337" r:id="rId18"/>
    <p:sldId id="352" r:id="rId19"/>
    <p:sldId id="353" r:id="rId20"/>
    <p:sldId id="342" r:id="rId21"/>
    <p:sldId id="343" r:id="rId22"/>
    <p:sldId id="354" r:id="rId23"/>
    <p:sldId id="344" r:id="rId24"/>
    <p:sldId id="363" r:id="rId25"/>
    <p:sldId id="345" r:id="rId26"/>
    <p:sldId id="364" r:id="rId27"/>
    <p:sldId id="366" r:id="rId28"/>
    <p:sldId id="365" r:id="rId29"/>
    <p:sldId id="346" r:id="rId30"/>
    <p:sldId id="347" r:id="rId31"/>
    <p:sldId id="348" r:id="rId32"/>
    <p:sldId id="349" r:id="rId33"/>
    <p:sldId id="367" r:id="rId34"/>
    <p:sldId id="368" r:id="rId35"/>
    <p:sldId id="369" r:id="rId36"/>
    <p:sldId id="370" r:id="rId37"/>
    <p:sldId id="371" r:id="rId38"/>
    <p:sldId id="372" r:id="rId39"/>
    <p:sldId id="350" r:id="rId40"/>
  </p:sldIdLst>
  <p:sldSz cx="9144000" cy="6858000" type="screen4x3"/>
  <p:notesSz cx="6858000" cy="9144000"/>
  <p:custDataLst>
    <p:tags r:id="rId45"/>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7" autoAdjust="0"/>
    <p:restoredTop sz="83722" autoAdjust="0"/>
  </p:normalViewPr>
  <p:slideViewPr>
    <p:cSldViewPr showGuides="1">
      <p:cViewPr varScale="1">
        <p:scale>
          <a:sx n="95" d="100"/>
          <a:sy n="95" d="100"/>
        </p:scale>
        <p:origin x="1254"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gs" Target="tags/tag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编译</a:t>
            </a:r>
            <a:r>
              <a:rPr lang="en-US" altLang="zh-CN" dirty="0"/>
              <a:t>-</a:t>
            </a:r>
            <a:r>
              <a:rPr lang="zh-CN" altLang="en-US" dirty="0"/>
              <a:t>链接</a:t>
            </a:r>
            <a:r>
              <a:rPr lang="en-US" altLang="zh-CN" dirty="0"/>
              <a:t>-</a:t>
            </a:r>
            <a:r>
              <a:rPr lang="zh-CN" altLang="en-US" dirty="0"/>
              <a:t>执行的时间</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如商场中的优惠措施</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一般用类似自然语言的形式写</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B6A04A70-9EA4-4EF4-9241-66FFDAED7C9C}"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F185D2A4-45B3-4C61-B106-B39DF6C70255}"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cstate="screen"/>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B12A1F17-4248-4866-8EE5-EC6FA886BE0B}"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B4D2A30B-39F9-4937-954E-B173BCF13035}"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AAF55BFC-F128-4273-9AC9-1C9B552DC498}"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C82A4F97-AA7A-4D08-8DDD-A725FEB0AA51}"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05A95CD7-3FAC-4A45-A559-C0F96C212210}"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9D5F3393-C375-4FEF-BEA9-79F3BCD37BDB}"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DC42B35-9992-4C00-BBD8-37C172B0233F}"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F163437C-8882-4C09-AA58-0C88AAFB844F}" type="slidenum">
              <a:rPr lang="en-US" altLang="zh-CN" smtClean="0"/>
            </a:fld>
            <a:endParaRPr lang="en-US" altLang="zh-CN"/>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7C1D221A-3EA7-4855-91B3-E0CBF36C1867}"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7C1D221A-3EA7-4855-91B3-E0CBF36C1867}"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6163797F-10CB-4AE4-8A22-5BCAB20488D6}"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oleObject" Target="../embeddings/oleObject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8</a:t>
            </a:r>
            <a:r>
              <a:rPr lang="zh-CN" altLang="en-US" sz="4000" dirty="0">
                <a:ea typeface="黑体" panose="02010609060101010101" pitchFamily="49" charset="-122"/>
              </a:rPr>
              <a:t>章 解释器与基于规则</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6" name="Picture 102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3975" y="1700213"/>
            <a:ext cx="649605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 name="矩形 3"/>
          <p:cNvSpPr/>
          <p:nvPr/>
        </p:nvSpPr>
        <p:spPr>
          <a:xfrm>
            <a:off x="1331640" y="4869160"/>
            <a:ext cx="3096344" cy="12792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a:t>
            </a:r>
            <a:r>
              <a:rPr lang="zh-CN" altLang="en-US" dirty="0"/>
              <a:t>最吸引人的特性是什么</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35496" y="1325563"/>
            <a:ext cx="9144000" cy="5529278"/>
          </a:xfrm>
          <a:prstGeom prst="rect">
            <a:avLst/>
          </a:prstGeom>
        </p:spPr>
      </p:pic>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一次书写，多次运行</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6765" y="1628800"/>
            <a:ext cx="9144000" cy="4882111"/>
          </a:xfrm>
          <a:prstGeom prst="rect">
            <a:avLst/>
          </a:prstGeom>
        </p:spPr>
      </p:pic>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0" y="1508361"/>
            <a:ext cx="9144000" cy="4985866"/>
          </a:xfrm>
          <a:prstGeom prst="rect">
            <a:avLst/>
          </a:prstGeom>
        </p:spPr>
      </p:pic>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7283" y="1412776"/>
            <a:ext cx="9144000" cy="5405656"/>
          </a:xfrm>
          <a:prstGeom prst="rect">
            <a:avLst/>
          </a:prstGeom>
        </p:spPr>
      </p:pic>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虚拟机分类</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0" y="1556792"/>
            <a:ext cx="9144000" cy="5520433"/>
          </a:xfrm>
          <a:prstGeom prst="rect">
            <a:avLst/>
          </a:prstGeom>
        </p:spPr>
      </p:pic>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MS-DOS</a:t>
            </a:r>
            <a:r>
              <a:rPr lang="zh-CN" altLang="en-US" dirty="0"/>
              <a:t>的命令解释器</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14559" y="1330017"/>
            <a:ext cx="9144000" cy="5740275"/>
          </a:xfrm>
          <a:prstGeom prst="rect">
            <a:avLst/>
          </a:prstGeom>
        </p:spPr>
      </p:pic>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解释器风格</a:t>
            </a:r>
            <a:endParaRPr lang="zh-CN" altLang="en-US" dirty="0"/>
          </a:p>
        </p:txBody>
      </p:sp>
      <p:sp>
        <p:nvSpPr>
          <p:cNvPr id="3" name="内容占位符 2"/>
          <p:cNvSpPr>
            <a:spLocks noGrp="1"/>
          </p:cNvSpPr>
          <p:nvPr>
            <p:ph idx="1"/>
          </p:nvPr>
        </p:nvSpPr>
        <p:spPr/>
        <p:txBody>
          <a:bodyPr/>
          <a:lstStyle/>
          <a:p>
            <a:r>
              <a:rPr lang="zh-CN" altLang="en-US" dirty="0">
                <a:latin typeface="Arial" panose="020B0604020202020204" pitchFamily="34" charset="0"/>
              </a:rPr>
              <a:t>基本思想</a:t>
            </a:r>
            <a:endParaRPr lang="zh-CN" altLang="en-US" dirty="0">
              <a:latin typeface="Arial" panose="020B0604020202020204" pitchFamily="34" charset="0"/>
            </a:endParaRPr>
          </a:p>
          <a:p>
            <a:pPr lvl="1"/>
            <a:r>
              <a:rPr lang="zh-CN" altLang="zh-CN" dirty="0"/>
              <a:t>解释器</a:t>
            </a:r>
            <a:r>
              <a:rPr lang="en-US" altLang="zh-CN" dirty="0"/>
              <a:t>(Interpreter) </a:t>
            </a:r>
            <a:r>
              <a:rPr lang="zh-CN" altLang="zh-CN" dirty="0"/>
              <a:t>是一个用来执行其他程序的程序，它针对不同的硬件平台实现了一个虚拟机，将高抽象层次的程序翻译为低抽象层次所能理解的指令，以弥合程序语义所期望的与硬件提供的计算引擎之间的差距。</a:t>
            </a:r>
            <a:endParaRPr lang="zh-CN" altLang="zh-CN" dirty="0"/>
          </a:p>
          <a:p>
            <a:endParaRPr lang="zh-CN" altLang="en-US" dirty="0"/>
          </a:p>
        </p:txBody>
      </p:sp>
      <p:graphicFrame>
        <p:nvGraphicFramePr>
          <p:cNvPr id="4" name="对象 3"/>
          <p:cNvGraphicFramePr>
            <a:graphicFrameLocks noChangeAspect="1"/>
          </p:cNvGraphicFramePr>
          <p:nvPr/>
        </p:nvGraphicFramePr>
        <p:xfrm>
          <a:off x="1121742" y="4509120"/>
          <a:ext cx="6646516" cy="1166441"/>
        </p:xfrm>
        <a:graphic>
          <a:graphicData uri="http://schemas.openxmlformats.org/presentationml/2006/ole">
            <mc:AlternateContent xmlns:mc="http://schemas.openxmlformats.org/markup-compatibility/2006">
              <mc:Choice xmlns:v="urn:schemas-microsoft-com:vml" Requires="v">
                <p:oleObj spid="_x0000_s6210" name="" r:id="rId1" imgW="5321300" imgH="927100" progId="Visio.Drawing.11">
                  <p:embed/>
                </p:oleObj>
              </mc:Choice>
              <mc:Fallback>
                <p:oleObj name="" r:id="rId1" imgW="5321300" imgH="927100" progId="Visio.Drawing.11">
                  <p:embed/>
                  <p:pic>
                    <p:nvPicPr>
                      <p:cNvPr id="0" name="对象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742" y="4509120"/>
                        <a:ext cx="6646516" cy="1166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809275" y="5651659"/>
            <a:ext cx="1569660" cy="381323"/>
          </a:xfrm>
          <a:prstGeom prst="rect">
            <a:avLst/>
          </a:prstGeom>
        </p:spPr>
        <p:txBody>
          <a:bodyPr wrap="none">
            <a:spAutoFit/>
          </a:bodyPr>
          <a:lstStyle/>
          <a:p>
            <a:pPr algn="ctr">
              <a:lnSpc>
                <a:spcPct val="115000"/>
              </a:lnSpc>
              <a:spcBef>
                <a:spcPts val="400"/>
              </a:spcBef>
              <a:spcAft>
                <a:spcPts val="400"/>
              </a:spcAft>
            </a:pP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解释执行过程</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组成部分</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对象 3"/>
          <p:cNvGraphicFramePr>
            <a:graphicFrameLocks noChangeAspect="1"/>
          </p:cNvGraphicFramePr>
          <p:nvPr/>
        </p:nvGraphicFramePr>
        <p:xfrm>
          <a:off x="1500166" y="1142984"/>
          <a:ext cx="6631079" cy="5374461"/>
        </p:xfrm>
        <a:graphic>
          <a:graphicData uri="http://schemas.openxmlformats.org/presentationml/2006/ole">
            <mc:AlternateContent xmlns:mc="http://schemas.openxmlformats.org/markup-compatibility/2006">
              <mc:Choice xmlns:v="urn:schemas-microsoft-com:vml" Requires="v">
                <p:oleObj spid="_x0000_s7233" name="" r:id="rId1" imgW="6565900" imgH="5321300" progId="Visio.Drawing.11">
                  <p:embed/>
                </p:oleObj>
              </mc:Choice>
              <mc:Fallback>
                <p:oleObj name="" r:id="rId1" imgW="6565900" imgH="53213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66" y="1142984"/>
                        <a:ext cx="6631079" cy="53744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解释器</a:t>
            </a:r>
            <a:endParaRPr lang="zh-CN" altLang="en-US" dirty="0"/>
          </a:p>
        </p:txBody>
      </p:sp>
      <p:sp>
        <p:nvSpPr>
          <p:cNvPr id="3" name="内容占位符 2"/>
          <p:cNvSpPr>
            <a:spLocks noGrp="1"/>
          </p:cNvSpPr>
          <p:nvPr>
            <p:ph idx="1"/>
          </p:nvPr>
        </p:nvSpPr>
        <p:spPr>
          <a:xfrm>
            <a:off x="179512" y="1484784"/>
            <a:ext cx="8928992" cy="5256584"/>
          </a:xfrm>
        </p:spPr>
        <p:txBody>
          <a:bodyPr/>
          <a:lstStyle/>
          <a:p>
            <a:r>
              <a:rPr lang="zh-CN" altLang="en-US" b="1" dirty="0"/>
              <a:t>基本构件：</a:t>
            </a:r>
            <a:endParaRPr lang="zh-CN" altLang="en-US" dirty="0"/>
          </a:p>
          <a:p>
            <a:pPr marL="0" indent="0">
              <a:buNone/>
            </a:pPr>
            <a:r>
              <a:rPr lang="en-US" altLang="zh-CN" dirty="0"/>
              <a:t>–An interpretation engine to do the work (</a:t>
            </a:r>
            <a:r>
              <a:rPr lang="zh-CN" altLang="en-US" dirty="0"/>
              <a:t>解释器引擎</a:t>
            </a:r>
            <a:r>
              <a:rPr lang="en-US" altLang="zh-CN" dirty="0"/>
              <a:t>)</a:t>
            </a:r>
            <a:endParaRPr lang="en-US" altLang="zh-CN" dirty="0"/>
          </a:p>
          <a:p>
            <a:pPr marL="0" indent="0">
              <a:buNone/>
            </a:pPr>
            <a:r>
              <a:rPr lang="en-US" altLang="zh-CN" dirty="0"/>
              <a:t>–A memory that contains (</a:t>
            </a:r>
            <a:r>
              <a:rPr lang="zh-CN" altLang="en-US" dirty="0"/>
              <a:t>存储区</a:t>
            </a:r>
            <a:r>
              <a:rPr lang="en-US" altLang="zh-CN" dirty="0"/>
              <a:t>):</a:t>
            </a:r>
            <a:endParaRPr lang="en-US" altLang="zh-CN" dirty="0"/>
          </a:p>
          <a:p>
            <a:pPr marL="457200" lvl="1" indent="0">
              <a:buNone/>
            </a:pPr>
            <a:r>
              <a:rPr lang="en-US" altLang="zh-CN" dirty="0"/>
              <a:t>•The pseudo-code to be interpreted (</a:t>
            </a:r>
            <a:r>
              <a:rPr lang="zh-CN" altLang="en-US" dirty="0"/>
              <a:t>被解释的源代码</a:t>
            </a:r>
            <a:r>
              <a:rPr lang="en-US" altLang="zh-CN" dirty="0"/>
              <a:t>)</a:t>
            </a:r>
            <a:endParaRPr lang="en-US" altLang="zh-CN" dirty="0"/>
          </a:p>
          <a:p>
            <a:pPr marL="457200" lvl="1" indent="0">
              <a:buNone/>
            </a:pPr>
            <a:r>
              <a:rPr lang="en-US" altLang="zh-CN" dirty="0"/>
              <a:t>•A representation of the control state of the interpretation engine (</a:t>
            </a:r>
            <a:r>
              <a:rPr lang="zh-CN" altLang="en-US" dirty="0"/>
              <a:t>解释器引擎当前的内部控制状态的表示：在某个时刻需要执行哪些指令</a:t>
            </a:r>
            <a:r>
              <a:rPr lang="en-US" altLang="zh-CN" dirty="0"/>
              <a:t>)</a:t>
            </a:r>
            <a:endParaRPr lang="en-US" altLang="zh-CN" dirty="0"/>
          </a:p>
          <a:p>
            <a:pPr marL="457200" lvl="1" indent="0">
              <a:buNone/>
            </a:pPr>
            <a:r>
              <a:rPr lang="en-US" altLang="zh-CN" dirty="0"/>
              <a:t>•A representation of the current state of the program being simulated. (</a:t>
            </a:r>
            <a:r>
              <a:rPr lang="zh-CN" altLang="en-US" dirty="0"/>
              <a:t>程序当前执行状态的表示</a:t>
            </a:r>
            <a:r>
              <a:rPr lang="en-US" altLang="zh-CN" dirty="0"/>
              <a:t>)</a:t>
            </a:r>
            <a:endParaRPr lang="en-US" altLang="zh-CN" dirty="0"/>
          </a:p>
          <a:p>
            <a:pPr marL="457200" lvl="1" indent="0">
              <a:buNone/>
            </a:pPr>
            <a:endParaRPr lang="en-US" altLang="zh-CN" sz="2800" b="1" dirty="0"/>
          </a:p>
          <a:p>
            <a:pPr marL="457200" lvl="1" indent="0">
              <a:buNone/>
            </a:pPr>
            <a:r>
              <a:rPr lang="zh-CN" altLang="en-US" sz="2800" b="1" dirty="0"/>
              <a:t>连接器：</a:t>
            </a:r>
            <a:br>
              <a:rPr lang="zh-CN" altLang="en-US" dirty="0"/>
            </a:br>
            <a:r>
              <a:rPr lang="en-US" altLang="zh-CN" dirty="0"/>
              <a:t>–Data access (</a:t>
            </a:r>
            <a:r>
              <a:rPr lang="zh-CN" altLang="en-US" dirty="0"/>
              <a:t>对存储区的数据访问</a:t>
            </a:r>
            <a:r>
              <a:rPr lang="en-US" altLang="zh-CN" dirty="0"/>
              <a:t>)</a:t>
            </a:r>
            <a:endParaRPr lang="en-US" altLang="zh-CN" dirty="0"/>
          </a:p>
          <a:p>
            <a:endParaRPr lang="zh-CN" altLang="en-US" dirty="0"/>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与解释器相对的编译器</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0" y="1700808"/>
            <a:ext cx="9144000" cy="4843531"/>
          </a:xfrm>
          <a:prstGeom prst="rect">
            <a:avLst/>
          </a:prstGeom>
        </p:spPr>
      </p:pic>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编译器与解释器</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628650" y="1733647"/>
            <a:ext cx="7991872" cy="4535294"/>
          </a:xfrm>
          <a:prstGeom prst="rect">
            <a:avLst/>
          </a:prstGeom>
        </p:spPr>
      </p:pic>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解释器的特点</a:t>
            </a:r>
            <a:endParaRPr lang="zh-CN" altLang="en-US" dirty="0"/>
          </a:p>
        </p:txBody>
      </p:sp>
      <p:sp>
        <p:nvSpPr>
          <p:cNvPr id="3" name="内容占位符 2"/>
          <p:cNvSpPr>
            <a:spLocks noGrp="1"/>
          </p:cNvSpPr>
          <p:nvPr>
            <p:ph idx="1"/>
          </p:nvPr>
        </p:nvSpPr>
        <p:spPr/>
        <p:txBody>
          <a:bodyPr/>
          <a:lstStyle/>
          <a:p>
            <a:r>
              <a:rPr lang="zh-CN" altLang="en-US" dirty="0">
                <a:latin typeface="Arial" panose="020B0604020202020204" pitchFamily="34" charset="0"/>
              </a:rPr>
              <a:t>优点</a:t>
            </a:r>
            <a:endParaRPr lang="zh-CN" altLang="en-US" dirty="0">
              <a:latin typeface="Arial" panose="020B0604020202020204" pitchFamily="34" charset="0"/>
            </a:endParaRPr>
          </a:p>
          <a:p>
            <a:pPr lvl="1"/>
            <a:r>
              <a:rPr lang="zh-CN" altLang="zh-CN" dirty="0"/>
              <a:t>（</a:t>
            </a:r>
            <a:r>
              <a:rPr lang="en-US" altLang="zh-CN" dirty="0"/>
              <a:t>1</a:t>
            </a:r>
            <a:r>
              <a:rPr lang="zh-CN" altLang="zh-CN" dirty="0"/>
              <a:t>）它有利于实现程序的可移植性和语言的跨平台能力；</a:t>
            </a:r>
            <a:endParaRPr lang="en-US" altLang="zh-CN" dirty="0"/>
          </a:p>
          <a:p>
            <a:pPr lvl="1"/>
            <a:r>
              <a:rPr lang="zh-CN" altLang="zh-CN" dirty="0"/>
              <a:t>（</a:t>
            </a:r>
            <a:r>
              <a:rPr lang="en-US" altLang="zh-CN" dirty="0"/>
              <a:t>2</a:t>
            </a:r>
            <a:r>
              <a:rPr lang="zh-CN" altLang="zh-CN" dirty="0"/>
              <a:t>）可以对未来的硬件进行模拟和仿真，能够降低测试所带来的复杂性和昂贵花费</a:t>
            </a:r>
            <a:endParaRPr lang="en-US" altLang="zh-CN" dirty="0"/>
          </a:p>
          <a:p>
            <a:r>
              <a:rPr lang="zh-CN" altLang="zh-CN" dirty="0"/>
              <a:t>缺点</a:t>
            </a:r>
            <a:endParaRPr lang="en-US" altLang="zh-CN" dirty="0"/>
          </a:p>
          <a:p>
            <a:pPr lvl="1"/>
            <a:r>
              <a:rPr lang="zh-CN" altLang="zh-CN" dirty="0"/>
              <a:t>额外的间接层次导致了系统性能的下降，如在不引入</a:t>
            </a:r>
            <a:r>
              <a:rPr lang="en-US" altLang="zh-CN" dirty="0"/>
              <a:t>JIT</a:t>
            </a:r>
            <a:r>
              <a:rPr lang="zh-CN" altLang="zh-CN" dirty="0"/>
              <a:t>（</a:t>
            </a:r>
            <a:r>
              <a:rPr lang="en-US" altLang="zh-CN" dirty="0"/>
              <a:t>Just In Time</a:t>
            </a:r>
            <a:r>
              <a:rPr lang="zh-CN" altLang="zh-CN" dirty="0"/>
              <a:t>）技术的情况下，</a:t>
            </a:r>
            <a:r>
              <a:rPr lang="en-US" altLang="zh-CN" dirty="0"/>
              <a:t>Java</a:t>
            </a:r>
            <a:r>
              <a:rPr lang="zh-CN" altLang="zh-CN" dirty="0"/>
              <a:t>应用程序的运行速度相当慢。</a:t>
            </a:r>
            <a:endParaRPr lang="en-US" altLang="zh-CN" dirty="0"/>
          </a:p>
          <a:p>
            <a:pPr lvl="2"/>
            <a:r>
              <a:rPr lang="zh-CN" altLang="en-US" dirty="0"/>
              <a:t>每次执行要分析程序结构</a:t>
            </a:r>
            <a:endParaRPr lang="en-US" altLang="zh-CN" dirty="0"/>
          </a:p>
          <a:p>
            <a:pPr lvl="2"/>
            <a:r>
              <a:rPr lang="zh-CN" altLang="en-US" dirty="0"/>
              <a:t>内存分配在解释的时候进行</a:t>
            </a:r>
            <a:endParaRPr lang="zh-CN" altLang="en-US" dirty="0"/>
          </a:p>
          <a:p>
            <a:endParaRPr lang="zh-CN" altLang="en-US" dirty="0"/>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解释器的用途</a:t>
            </a:r>
            <a:endParaRPr lang="zh-CN" altLang="en-US" dirty="0"/>
          </a:p>
        </p:txBody>
      </p:sp>
      <p:sp>
        <p:nvSpPr>
          <p:cNvPr id="3" name="内容占位符 2"/>
          <p:cNvSpPr>
            <a:spLocks noGrp="1"/>
          </p:cNvSpPr>
          <p:nvPr>
            <p:ph idx="1"/>
          </p:nvPr>
        </p:nvSpPr>
        <p:spPr/>
        <p:txBody>
          <a:bodyPr/>
          <a:lstStyle/>
          <a:p>
            <a:r>
              <a:rPr lang="zh-CN" altLang="en-US" dirty="0"/>
              <a:t>解释型语言</a:t>
            </a:r>
            <a:endParaRPr lang="zh-CN" altLang="en-US" dirty="0"/>
          </a:p>
          <a:p>
            <a:pPr lvl="1"/>
            <a:r>
              <a:rPr lang="en-US" altLang="zh-CN" dirty="0"/>
              <a:t>VB</a:t>
            </a:r>
            <a:r>
              <a:rPr lang="zh-CN" altLang="en-US" dirty="0"/>
              <a:t>、</a:t>
            </a:r>
            <a:r>
              <a:rPr lang="en-US" altLang="zh-CN" dirty="0" err="1"/>
              <a:t>Javascript</a:t>
            </a:r>
            <a:r>
              <a:rPr lang="zh-CN" altLang="en-US" dirty="0"/>
              <a:t>、</a:t>
            </a:r>
            <a:r>
              <a:rPr lang="en-US" altLang="zh-CN" dirty="0"/>
              <a:t>VBScript</a:t>
            </a:r>
            <a:r>
              <a:rPr lang="zh-CN" altLang="en-US" dirty="0"/>
              <a:t>、</a:t>
            </a:r>
            <a:r>
              <a:rPr lang="en-US" altLang="zh-CN" dirty="0"/>
              <a:t>HTML</a:t>
            </a:r>
            <a:r>
              <a:rPr lang="zh-CN" altLang="en-US" dirty="0"/>
              <a:t>、</a:t>
            </a:r>
            <a:r>
              <a:rPr lang="en-US" altLang="zh-CN" dirty="0"/>
              <a:t>Java</a:t>
            </a:r>
            <a:r>
              <a:rPr lang="zh-CN" altLang="en-US" dirty="0"/>
              <a:t>字节码、</a:t>
            </a:r>
            <a:r>
              <a:rPr lang="en-US" altLang="zh-CN" dirty="0" err="1"/>
              <a:t>Matlab</a:t>
            </a:r>
            <a:endParaRPr lang="en-US" altLang="zh-CN" dirty="0"/>
          </a:p>
          <a:p>
            <a:pPr lvl="1"/>
            <a:r>
              <a:rPr lang="zh-CN" altLang="en-US" dirty="0"/>
              <a:t>脚本、配置文件</a:t>
            </a:r>
            <a:endParaRPr lang="zh-CN" altLang="en-US" dirty="0"/>
          </a:p>
          <a:p>
            <a:r>
              <a:rPr lang="zh-CN" altLang="en-US" dirty="0"/>
              <a:t>通信协议</a:t>
            </a:r>
            <a:endParaRPr lang="zh-CN" altLang="en-US" dirty="0"/>
          </a:p>
          <a:p>
            <a:r>
              <a:rPr lang="zh-CN" altLang="en-US" dirty="0"/>
              <a:t>用户输入</a:t>
            </a:r>
            <a:endParaRPr lang="zh-CN" altLang="en-US" dirty="0"/>
          </a:p>
          <a:p>
            <a:pPr lvl="1"/>
            <a:r>
              <a:rPr lang="zh-CN" altLang="en-US" dirty="0"/>
              <a:t>游戏中的组合按键</a:t>
            </a:r>
            <a:endParaRPr lang="zh-CN" altLang="en-US" dirty="0"/>
          </a:p>
          <a:p>
            <a:endParaRPr lang="zh-CN" altLang="en-US" dirty="0"/>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传统解释器</a:t>
            </a:r>
            <a:endParaRPr lang="zh-CN" altLang="en-US" dirty="0"/>
          </a:p>
        </p:txBody>
      </p:sp>
      <p:sp>
        <p:nvSpPr>
          <p:cNvPr id="3" name="内容占位符 2"/>
          <p:cNvSpPr>
            <a:spLocks noGrp="1"/>
          </p:cNvSpPr>
          <p:nvPr>
            <p:ph idx="1"/>
          </p:nvPr>
        </p:nvSpPr>
        <p:spPr/>
        <p:txBody>
          <a:bodyPr/>
          <a:lstStyle/>
          <a:p>
            <a:r>
              <a:rPr lang="zh-CN" altLang="en-US" dirty="0"/>
              <a:t>解释器直接读取源代码并加以执行</a:t>
            </a:r>
            <a:endParaRPr lang="en-US" altLang="zh-CN" dirty="0"/>
          </a:p>
          <a:p>
            <a:pPr lvl="1"/>
            <a:r>
              <a:rPr lang="en-US" altLang="zh-CN" dirty="0"/>
              <a:t>–ASP</a:t>
            </a:r>
            <a:endParaRPr lang="en-US" altLang="zh-CN" dirty="0"/>
          </a:p>
          <a:p>
            <a:pPr lvl="1"/>
            <a:r>
              <a:rPr lang="en-US" altLang="zh-CN" dirty="0"/>
              <a:t>–Excel</a:t>
            </a:r>
            <a:endParaRPr lang="en-US" altLang="zh-CN" dirty="0"/>
          </a:p>
          <a:p>
            <a:pPr lvl="1"/>
            <a:r>
              <a:rPr lang="en-US" altLang="zh-CN" dirty="0"/>
              <a:t>–JavaScript</a:t>
            </a:r>
            <a:endParaRPr lang="en-US" altLang="zh-CN" dirty="0"/>
          </a:p>
          <a:p>
            <a:pPr lvl="1"/>
            <a:r>
              <a:rPr lang="en-US" altLang="zh-CN" dirty="0"/>
              <a:t>–MATLAB</a:t>
            </a:r>
            <a:endParaRPr lang="en-US" altLang="zh-CN" dirty="0"/>
          </a:p>
          <a:p>
            <a:pPr lvl="1"/>
            <a:r>
              <a:rPr lang="en-US" altLang="zh-CN" dirty="0"/>
              <a:t>–</a:t>
            </a:r>
            <a:r>
              <a:rPr lang="en-US" altLang="zh-CN" dirty="0" err="1"/>
              <a:t>etc</a:t>
            </a:r>
            <a:endParaRPr lang="en-US" altLang="zh-CN" dirty="0"/>
          </a:p>
          <a:p>
            <a:endParaRPr lang="zh-CN" altLang="en-US" dirty="0"/>
          </a:p>
        </p:txBody>
      </p:sp>
      <p:graphicFrame>
        <p:nvGraphicFramePr>
          <p:cNvPr id="4" name="对象 3"/>
          <p:cNvGraphicFramePr>
            <a:graphicFrameLocks noChangeAspect="1"/>
          </p:cNvGraphicFramePr>
          <p:nvPr/>
        </p:nvGraphicFramePr>
        <p:xfrm>
          <a:off x="1121742" y="4509120"/>
          <a:ext cx="6646516" cy="1166441"/>
        </p:xfrm>
        <a:graphic>
          <a:graphicData uri="http://schemas.openxmlformats.org/presentationml/2006/ole">
            <mc:AlternateContent xmlns:mc="http://schemas.openxmlformats.org/markup-compatibility/2006">
              <mc:Choice xmlns:v="urn:schemas-microsoft-com:vml" Requires="v">
                <p:oleObj spid="_x0000_s13367" name="" r:id="rId1" imgW="5321300" imgH="927100" progId="Visio.Drawing.11">
                  <p:embed/>
                </p:oleObj>
              </mc:Choice>
              <mc:Fallback>
                <p:oleObj name="" r:id="rId1" imgW="5321300" imgH="9271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742" y="4509120"/>
                        <a:ext cx="6646516" cy="1166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字节码解释器</a:t>
            </a:r>
            <a:endParaRPr lang="zh-CN" altLang="en-US" dirty="0"/>
          </a:p>
        </p:txBody>
      </p:sp>
      <p:sp>
        <p:nvSpPr>
          <p:cNvPr id="3" name="内容占位符 2"/>
          <p:cNvSpPr>
            <a:spLocks noGrp="1"/>
          </p:cNvSpPr>
          <p:nvPr>
            <p:ph idx="1"/>
          </p:nvPr>
        </p:nvSpPr>
        <p:spPr>
          <a:xfrm>
            <a:off x="628650" y="1325563"/>
            <a:ext cx="7886700" cy="4851400"/>
          </a:xfrm>
        </p:spPr>
        <p:txBody>
          <a:bodyPr/>
          <a:lstStyle/>
          <a:p>
            <a:r>
              <a:rPr lang="zh-CN" altLang="en-US" dirty="0"/>
              <a:t>在该类解释器下，源代码首先被“编译”为高度压缩和优化的字节码，但并不是真正的机器目标代码，因而与硬件平台无关；</a:t>
            </a:r>
            <a:br>
              <a:rPr lang="zh-CN" altLang="en-US" dirty="0"/>
            </a:br>
            <a:br>
              <a:rPr lang="zh-CN" altLang="en-US" dirty="0"/>
            </a:br>
            <a:r>
              <a:rPr lang="zh-CN" altLang="en-US" dirty="0"/>
              <a:t>编译后得到的字节码然后被解释器加以解释；</a:t>
            </a:r>
            <a:endParaRPr lang="zh-CN" altLang="en-US" dirty="0"/>
          </a:p>
          <a:p>
            <a:pPr lvl="1"/>
            <a:r>
              <a:rPr lang="en-US" altLang="zh-CN" dirty="0"/>
              <a:t>–Java</a:t>
            </a:r>
            <a:endParaRPr lang="en-US" altLang="zh-CN" dirty="0"/>
          </a:p>
          <a:p>
            <a:pPr lvl="1"/>
            <a:r>
              <a:rPr lang="en-US" altLang="zh-CN" dirty="0"/>
              <a:t>–Perl</a:t>
            </a:r>
            <a:endParaRPr lang="en-US" altLang="zh-CN" dirty="0"/>
          </a:p>
          <a:p>
            <a:pPr lvl="1"/>
            <a:r>
              <a:rPr lang="en-US" altLang="zh-CN" dirty="0"/>
              <a:t>–PHP</a:t>
            </a:r>
            <a:endParaRPr lang="en-US" altLang="zh-CN" dirty="0"/>
          </a:p>
          <a:p>
            <a:pPr lvl="1"/>
            <a:r>
              <a:rPr lang="en-US" altLang="zh-CN" dirty="0"/>
              <a:t>–Python</a:t>
            </a:r>
            <a:endParaRPr lang="en-US" altLang="zh-CN" dirty="0"/>
          </a:p>
          <a:p>
            <a:pPr lvl="1"/>
            <a:r>
              <a:rPr lang="en-US" altLang="zh-CN" dirty="0"/>
              <a:t>–</a:t>
            </a:r>
            <a:r>
              <a:rPr lang="en-US" altLang="zh-CN" dirty="0" err="1"/>
              <a:t>etc</a:t>
            </a:r>
            <a:endParaRPr lang="en-US" altLang="zh-CN" dirty="0"/>
          </a:p>
          <a:p>
            <a:endParaRPr lang="zh-CN" altLang="en-US" dirty="0"/>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20204" pitchFamily="34" charset="0"/>
              </a:rPr>
              <a:t>应用实例（</a:t>
            </a:r>
            <a:r>
              <a:rPr lang="en-US" altLang="zh-CN" dirty="0">
                <a:latin typeface="Arial" panose="020B0604020202020204" pitchFamily="34" charset="0"/>
              </a:rPr>
              <a:t>JVM</a:t>
            </a:r>
            <a:r>
              <a:rPr lang="zh-CN" altLang="en-US" dirty="0">
                <a:latin typeface="Arial" panose="020B0604020202020204" pitchFamily="34" charset="0"/>
              </a:rPr>
              <a:t>）</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对象 3"/>
          <p:cNvGraphicFramePr>
            <a:graphicFrameLocks noChangeAspect="1"/>
          </p:cNvGraphicFramePr>
          <p:nvPr/>
        </p:nvGraphicFramePr>
        <p:xfrm>
          <a:off x="179512" y="1071546"/>
          <a:ext cx="6047497" cy="5786454"/>
        </p:xfrm>
        <a:graphic>
          <a:graphicData uri="http://schemas.openxmlformats.org/presentationml/2006/ole">
            <mc:AlternateContent xmlns:mc="http://schemas.openxmlformats.org/markup-compatibility/2006">
              <mc:Choice xmlns:v="urn:schemas-microsoft-com:vml" Requires="v">
                <p:oleObj spid="_x0000_s8257" name="" r:id="rId1" imgW="8521700" imgH="8166100" progId="Visio.Drawing.11">
                  <p:embed/>
                </p:oleObj>
              </mc:Choice>
              <mc:Fallback>
                <p:oleObj name="" r:id="rId1" imgW="8521700" imgH="81661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71546"/>
                        <a:ext cx="6047497" cy="5786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716016" y="5229200"/>
            <a:ext cx="4572000" cy="803682"/>
          </a:xfrm>
          <a:prstGeom prst="rect">
            <a:avLst/>
          </a:prstGeom>
        </p:spPr>
        <p:txBody>
          <a:bodyPr>
            <a:spAutoFit/>
          </a:bodyPr>
          <a:lstStyle/>
          <a:p>
            <a:pPr algn="ctr">
              <a:lnSpc>
                <a:spcPct val="115000"/>
              </a:lnSpc>
              <a:spcBef>
                <a:spcPts val="400"/>
              </a:spcBef>
              <a:spcAft>
                <a:spcPts val="400"/>
              </a:spcAft>
            </a:pPr>
            <a:r>
              <a:rPr lang="zh-CN" altLang="zh-CN" dirty="0">
                <a:solidFill>
                  <a:srgbClr val="000000"/>
                </a:solidFill>
                <a:latin typeface="Times New Roman" panose="02020603050405020304" pitchFamily="18" charset="0"/>
                <a:cs typeface="Times New Roman" panose="02020603050405020304" pitchFamily="18" charset="0"/>
              </a:rPr>
              <a:t>基于</a:t>
            </a:r>
            <a:r>
              <a:rPr lang="en-US" altLang="zh-CN" dirty="0">
                <a:solidFill>
                  <a:srgbClr val="000000"/>
                </a:solidFill>
                <a:latin typeface="Times New Roman" panose="02020603050405020304" pitchFamily="18" charset="0"/>
              </a:rPr>
              <a:t>JVM</a:t>
            </a:r>
            <a:r>
              <a:rPr lang="zh-CN" altLang="zh-CN" dirty="0">
                <a:solidFill>
                  <a:srgbClr val="000000"/>
                </a:solidFill>
                <a:latin typeface="Times New Roman" panose="02020603050405020304" pitchFamily="18" charset="0"/>
                <a:cs typeface="Times New Roman" panose="02020603050405020304" pitchFamily="18" charset="0"/>
              </a:rPr>
              <a:t>的</a:t>
            </a:r>
            <a:endParaRPr lang="en-US" altLang="zh-CN" dirty="0">
              <a:solidFill>
                <a:srgbClr val="000000"/>
              </a:solidFill>
              <a:latin typeface="Times New Roman" panose="02020603050405020304" pitchFamily="18" charset="0"/>
              <a:cs typeface="Times New Roman" panose="02020603050405020304" pitchFamily="18" charset="0"/>
            </a:endParaRPr>
          </a:p>
          <a:p>
            <a:pPr algn="ctr">
              <a:lnSpc>
                <a:spcPct val="115000"/>
              </a:lnSpc>
              <a:spcBef>
                <a:spcPts val="400"/>
              </a:spcBef>
              <a:spcAft>
                <a:spcPts val="400"/>
              </a:spcAft>
            </a:pPr>
            <a:r>
              <a:rPr lang="en-US" altLang="zh-CN" dirty="0">
                <a:solidFill>
                  <a:srgbClr val="000000"/>
                </a:solidFill>
                <a:latin typeface="Times New Roman" panose="02020603050405020304" pitchFamily="18" charset="0"/>
              </a:rPr>
              <a:t>Java</a:t>
            </a:r>
            <a:r>
              <a:rPr lang="zh-CN" altLang="zh-CN" dirty="0">
                <a:solidFill>
                  <a:srgbClr val="000000"/>
                </a:solidFill>
                <a:latin typeface="Times New Roman" panose="02020603050405020304" pitchFamily="18" charset="0"/>
                <a:cs typeface="Times New Roman" panose="02020603050405020304" pitchFamily="18" charset="0"/>
              </a:rPr>
              <a:t>程序执行过程</a:t>
            </a:r>
            <a:endParaRPr lang="zh-CN" altLang="zh-CN" dirty="0">
              <a:solidFill>
                <a:srgbClr val="000000"/>
              </a:solidFill>
            </a:endParaRPr>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20204" pitchFamily="34" charset="0"/>
              </a:rPr>
              <a:t>应用实例</a:t>
            </a:r>
            <a:endParaRPr lang="zh-CN" altLang="en-US" dirty="0"/>
          </a:p>
        </p:txBody>
      </p:sp>
      <p:sp>
        <p:nvSpPr>
          <p:cNvPr id="3" name="内容占位符 2"/>
          <p:cNvSpPr>
            <a:spLocks noGrp="1"/>
          </p:cNvSpPr>
          <p:nvPr>
            <p:ph idx="1"/>
          </p:nvPr>
        </p:nvSpPr>
        <p:spPr>
          <a:xfrm>
            <a:off x="628650" y="1556792"/>
            <a:ext cx="7886700" cy="4620171"/>
          </a:xfrm>
        </p:spPr>
        <p:txBody>
          <a:bodyPr/>
          <a:lstStyle/>
          <a:p>
            <a:r>
              <a:rPr lang="en-US" altLang="zh-CN" dirty="0"/>
              <a:t>java class</a:t>
            </a:r>
            <a:r>
              <a:rPr lang="zh-CN" altLang="en-US" dirty="0"/>
              <a:t>文件在</a:t>
            </a:r>
            <a:r>
              <a:rPr lang="en-US" altLang="zh-CN" dirty="0"/>
              <a:t>JVM</a:t>
            </a:r>
            <a:r>
              <a:rPr lang="zh-CN" altLang="en-US" dirty="0"/>
              <a:t>下通过解释器运行</a:t>
            </a:r>
            <a:endParaRPr lang="zh-CN" altLang="en-US" dirty="0"/>
          </a:p>
        </p:txBody>
      </p:sp>
      <p:graphicFrame>
        <p:nvGraphicFramePr>
          <p:cNvPr id="4" name="Object 3"/>
          <p:cNvGraphicFramePr>
            <a:graphicFrameLocks noChangeAspect="1"/>
          </p:cNvGraphicFramePr>
          <p:nvPr/>
        </p:nvGraphicFramePr>
        <p:xfrm>
          <a:off x="547820" y="2492896"/>
          <a:ext cx="8048360" cy="1500198"/>
        </p:xfrm>
        <a:graphic>
          <a:graphicData uri="http://schemas.openxmlformats.org/presentationml/2006/ole">
            <mc:AlternateContent xmlns:mc="http://schemas.openxmlformats.org/markup-compatibility/2006">
              <mc:Choice xmlns:v="urn:schemas-microsoft-com:vml" Requires="v">
                <p:oleObj spid="_x0000_s9280" name="Visio" r:id="rId1" imgW="7620000" imgH="1409700" progId="Visio.Drawing.11">
                  <p:embed/>
                </p:oleObj>
              </mc:Choice>
              <mc:Fallback>
                <p:oleObj name="Visio" r:id="rId1" imgW="7620000" imgH="14097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20" y="2492896"/>
                        <a:ext cx="8048360" cy="1500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5"/>
          <p:cNvSpPr>
            <a:spLocks noChangeArrowheads="1"/>
          </p:cNvSpPr>
          <p:nvPr/>
        </p:nvSpPr>
        <p:spPr bwMode="auto">
          <a:xfrm>
            <a:off x="2955353" y="5000636"/>
            <a:ext cx="3325269"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8605"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通过解释器执行</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文件</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JIT </a:t>
            </a:r>
            <a:r>
              <a:rPr lang="zh-CN" altLang="en-US" dirty="0"/>
              <a:t>实时编译</a:t>
            </a:r>
            <a:endParaRPr lang="zh-CN" altLang="en-US" dirty="0"/>
          </a:p>
        </p:txBody>
      </p:sp>
      <p:sp>
        <p:nvSpPr>
          <p:cNvPr id="3" name="内容占位符 2"/>
          <p:cNvSpPr>
            <a:spLocks noGrp="1"/>
          </p:cNvSpPr>
          <p:nvPr>
            <p:ph idx="1"/>
          </p:nvPr>
        </p:nvSpPr>
        <p:spPr>
          <a:xfrm>
            <a:off x="628650" y="1325564"/>
            <a:ext cx="7886700" cy="5487812"/>
          </a:xfrm>
        </p:spPr>
        <p:txBody>
          <a:bodyPr wrap="square">
            <a:normAutofit fontScale="92500" lnSpcReduction="20000"/>
          </a:bodyPr>
          <a:lstStyle/>
          <a:p>
            <a:r>
              <a:rPr lang="en-US" altLang="zh-CN" dirty="0"/>
              <a:t>Just-in-time compilation (JIT), refers to a technique where bytecode is compiled to native machine code at runtime (</a:t>
            </a:r>
            <a:r>
              <a:rPr lang="zh-CN" altLang="en-US" dirty="0"/>
              <a:t>实时编译</a:t>
            </a:r>
            <a:r>
              <a:rPr lang="en-US" altLang="zh-CN" dirty="0"/>
              <a:t>JIT</a:t>
            </a:r>
            <a:r>
              <a:rPr lang="zh-CN" altLang="en-US" dirty="0"/>
              <a:t>中，字节码在运行时被编译为本机的目标代码</a:t>
            </a:r>
            <a:r>
              <a:rPr lang="en-US" altLang="zh-CN" dirty="0"/>
              <a:t>)</a:t>
            </a:r>
            <a:endParaRPr lang="en-US" altLang="zh-CN" dirty="0"/>
          </a:p>
          <a:p>
            <a:pPr marL="457200" lvl="1" indent="0">
              <a:buNone/>
            </a:pPr>
            <a:r>
              <a:rPr lang="en-US" altLang="zh-CN" dirty="0"/>
              <a:t>–In a JIT environment, bytecode compilation is the first step, reducing source code to a portable and optimizable intermediate representation. (</a:t>
            </a:r>
            <a:r>
              <a:rPr lang="zh-CN" altLang="en-US" dirty="0">
                <a:solidFill>
                  <a:srgbClr val="FF0000"/>
                </a:solidFill>
              </a:rPr>
              <a:t>第一步是编译得到字节码</a:t>
            </a:r>
            <a:r>
              <a:rPr lang="en-US" altLang="zh-CN" dirty="0"/>
              <a:t>)</a:t>
            </a:r>
            <a:endParaRPr lang="en-US" altLang="zh-CN" dirty="0"/>
          </a:p>
          <a:p>
            <a:pPr marL="457200" lvl="1" indent="0">
              <a:buNone/>
            </a:pPr>
            <a:r>
              <a:rPr lang="en-US" altLang="zh-CN" sz="2400" dirty="0"/>
              <a:t>–The bytecode is deployed onto the target system. (</a:t>
            </a:r>
            <a:r>
              <a:rPr lang="zh-CN" altLang="en-US" sz="2400" dirty="0">
                <a:solidFill>
                  <a:srgbClr val="FF0000"/>
                </a:solidFill>
              </a:rPr>
              <a:t>字节码被配置到目标系统中</a:t>
            </a:r>
            <a:r>
              <a:rPr lang="en-US" altLang="zh-CN" sz="2400" dirty="0"/>
              <a:t>)</a:t>
            </a:r>
            <a:endParaRPr lang="en-US" altLang="zh-CN" sz="2400" dirty="0"/>
          </a:p>
          <a:p>
            <a:pPr marL="457200" lvl="1" indent="0">
              <a:buNone/>
            </a:pPr>
            <a:r>
              <a:rPr lang="en-US" altLang="zh-CN" sz="2400" dirty="0"/>
              <a:t>–When the code is executed, the runtime environment‘s compiler translates it into native machine code. (</a:t>
            </a:r>
            <a:r>
              <a:rPr lang="zh-CN" altLang="en-US" sz="2400" dirty="0">
                <a:solidFill>
                  <a:srgbClr val="FF0000"/>
                </a:solidFill>
              </a:rPr>
              <a:t>当字节码被执行时，运行环境下的编译器将其翻译为本地机器码</a:t>
            </a:r>
            <a:r>
              <a:rPr lang="en-US" altLang="zh-CN" sz="2400" dirty="0"/>
              <a:t>)</a:t>
            </a:r>
            <a:endParaRPr lang="en-US" altLang="zh-CN" sz="2400" dirty="0"/>
          </a:p>
          <a:p>
            <a:endParaRPr lang="en-US" altLang="zh-CN" dirty="0"/>
          </a:p>
          <a:p>
            <a:r>
              <a:rPr lang="en-US" altLang="zh-CN" dirty="0"/>
              <a:t>It has gained attention in recent years, which further blurs the distinction between interpreters, byte-code interpreters and compilation. (JIT</a:t>
            </a:r>
            <a:r>
              <a:rPr lang="zh-CN" altLang="en-US" dirty="0"/>
              <a:t>模糊了解释器、字节码解释器和编译器之间的边界与区分</a:t>
            </a:r>
            <a:r>
              <a:rPr lang="en-US" altLang="zh-CN" dirty="0"/>
              <a:t>)</a:t>
            </a:r>
            <a:endParaRPr lang="zh-CN" altLang="en-US" dirty="0"/>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28650" y="1484784"/>
            <a:ext cx="7886700" cy="4692179"/>
          </a:xfrm>
        </p:spPr>
        <p:txBody>
          <a:bodyPr/>
          <a:lstStyle/>
          <a:p>
            <a:r>
              <a:rPr lang="zh-CN" altLang="en-US" dirty="0">
                <a:latin typeface="Arial" panose="020B0604020202020204" pitchFamily="34" charset="0"/>
              </a:rPr>
              <a:t>应用实例</a:t>
            </a:r>
            <a:r>
              <a:rPr lang="en-US" altLang="zh-CN" dirty="0"/>
              <a:t>java class</a:t>
            </a:r>
            <a:r>
              <a:rPr lang="zh-CN" altLang="en-US" dirty="0"/>
              <a:t>文件在</a:t>
            </a:r>
            <a:r>
              <a:rPr lang="en-US" altLang="zh-CN" dirty="0"/>
              <a:t>JVM</a:t>
            </a:r>
            <a:r>
              <a:rPr lang="zh-CN" altLang="en-US" dirty="0"/>
              <a:t>下通过</a:t>
            </a:r>
            <a:r>
              <a:rPr lang="en-US" altLang="zh-CN" dirty="0"/>
              <a:t>JIT</a:t>
            </a:r>
            <a:r>
              <a:rPr lang="zh-CN" altLang="en-US" dirty="0"/>
              <a:t>（</a:t>
            </a:r>
            <a:r>
              <a:rPr lang="en-US" altLang="zh-CN" dirty="0"/>
              <a:t>just-in-time</a:t>
            </a:r>
            <a:r>
              <a:rPr lang="zh-CN" altLang="en-US" dirty="0"/>
              <a:t>）编译器运行</a:t>
            </a:r>
            <a:endParaRPr lang="zh-CN" altLang="en-US" dirty="0"/>
          </a:p>
          <a:p>
            <a:endParaRPr lang="zh-CN" altLang="en-US" dirty="0"/>
          </a:p>
        </p:txBody>
      </p:sp>
      <p:sp>
        <p:nvSpPr>
          <p:cNvPr id="5" name="Rectangle 5"/>
          <p:cNvSpPr>
            <a:spLocks noChangeArrowheads="1"/>
          </p:cNvSpPr>
          <p:nvPr/>
        </p:nvSpPr>
        <p:spPr bwMode="auto">
          <a:xfrm>
            <a:off x="2285984" y="5572140"/>
            <a:ext cx="4092787" cy="707886"/>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通过实时编译方式执行</a:t>
            </a: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.class</a:t>
            </a:r>
            <a:r>
              <a:rPr kumimoji="0" lang="zh-CN" altLang="en-US"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文件</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cstate="screen"/>
          <a:stretch>
            <a:fillRect/>
          </a:stretch>
        </p:blipFill>
        <p:spPr>
          <a:xfrm>
            <a:off x="606217" y="2708920"/>
            <a:ext cx="7909133" cy="2487413"/>
          </a:xfrm>
          <a:prstGeom prst="rect">
            <a:avLst/>
          </a:prstGeom>
        </p:spPr>
      </p:pic>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JIT</a:t>
            </a:r>
            <a:r>
              <a:rPr lang="zh-CN" altLang="en-US" dirty="0"/>
              <a:t>编译什么？</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0" y="2204326"/>
            <a:ext cx="9144000" cy="3593936"/>
          </a:xfrm>
          <a:prstGeom prst="rect">
            <a:avLst/>
          </a:prstGeom>
        </p:spPr>
      </p:pic>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基于规则的系统风格</a:t>
            </a:r>
            <a:endParaRPr lang="zh-CN" altLang="en-US" dirty="0"/>
          </a:p>
        </p:txBody>
      </p:sp>
      <p:sp>
        <p:nvSpPr>
          <p:cNvPr id="3" name="内容占位符 2"/>
          <p:cNvSpPr>
            <a:spLocks noGrp="1"/>
          </p:cNvSpPr>
          <p:nvPr>
            <p:ph idx="1"/>
          </p:nvPr>
        </p:nvSpPr>
        <p:spPr/>
        <p:txBody>
          <a:bodyPr/>
          <a:lstStyle/>
          <a:p>
            <a:r>
              <a:rPr lang="zh-CN" altLang="en-US" sz="3600" dirty="0"/>
              <a:t>现实问题：</a:t>
            </a:r>
            <a:endParaRPr lang="en-US" altLang="zh-CN" sz="3600" dirty="0"/>
          </a:p>
          <a:p>
            <a:r>
              <a:rPr lang="zh-CN" altLang="zh-CN" dirty="0"/>
              <a:t>现实里的业务需求</a:t>
            </a:r>
            <a:r>
              <a:rPr lang="zh-CN" altLang="zh-CN" dirty="0">
                <a:solidFill>
                  <a:srgbClr val="FF0000"/>
                </a:solidFill>
              </a:rPr>
              <a:t>经常频繁的发生变化</a:t>
            </a:r>
            <a:r>
              <a:rPr lang="zh-CN" altLang="en-US" dirty="0"/>
              <a:t>，不断修</a:t>
            </a:r>
            <a:r>
              <a:rPr lang="zh-CN" altLang="zh-CN" dirty="0"/>
              <a:t>改代码效率低</a:t>
            </a:r>
            <a:r>
              <a:rPr lang="zh-CN" altLang="en-US" dirty="0"/>
              <a:t>、</a:t>
            </a:r>
            <a:r>
              <a:rPr lang="zh-CN" altLang="zh-CN" dirty="0"/>
              <a:t>成本高</a:t>
            </a:r>
            <a:r>
              <a:rPr lang="zh-CN" altLang="en-US" dirty="0"/>
              <a:t>。</a:t>
            </a:r>
            <a:r>
              <a:rPr lang="zh-CN" altLang="en-US" dirty="0">
                <a:solidFill>
                  <a:srgbClr val="FF0000"/>
                </a:solidFill>
              </a:rPr>
              <a:t>业务逻辑有时在需求阶段可能还未明确。</a:t>
            </a:r>
            <a:endParaRPr lang="en-US" altLang="zh-CN" dirty="0">
              <a:solidFill>
                <a:srgbClr val="FF0000"/>
              </a:solidFill>
            </a:endParaRPr>
          </a:p>
          <a:p>
            <a:endParaRPr lang="zh-CN" altLang="en-US" dirty="0"/>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程序中的业务规则</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421212" y="1299084"/>
            <a:ext cx="8090369" cy="5298558"/>
          </a:xfrm>
          <a:prstGeom prst="rect">
            <a:avLst/>
          </a:prstGeom>
        </p:spPr>
      </p:pic>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业务逻辑与代码的语义鸿沟</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0" y="1916832"/>
            <a:ext cx="9144000" cy="3459197"/>
          </a:xfrm>
          <a:prstGeom prst="rect">
            <a:avLst/>
          </a:prstGeom>
        </p:spPr>
      </p:pic>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解决思路</a:t>
            </a:r>
            <a:endParaRPr lang="zh-CN" altLang="en-US" dirty="0"/>
          </a:p>
        </p:txBody>
      </p:sp>
      <p:sp>
        <p:nvSpPr>
          <p:cNvPr id="3" name="内容占位符 2"/>
          <p:cNvSpPr>
            <a:spLocks noGrp="1"/>
          </p:cNvSpPr>
          <p:nvPr>
            <p:ph idx="1"/>
          </p:nvPr>
        </p:nvSpPr>
        <p:spPr/>
        <p:txBody>
          <a:bodyPr/>
          <a:lstStyle/>
          <a:p>
            <a:r>
              <a:rPr lang="en-US" altLang="zh-CN" dirty="0"/>
              <a:t>OO</a:t>
            </a:r>
            <a:r>
              <a:rPr lang="zh-CN" altLang="en-US" dirty="0"/>
              <a:t>设计的原则：将可变部分和不变部分分离</a:t>
            </a:r>
            <a:endParaRPr lang="en-US" altLang="zh-CN" dirty="0"/>
          </a:p>
          <a:p>
            <a:pPr lvl="1"/>
            <a:r>
              <a:rPr lang="en-US" altLang="zh-CN" dirty="0"/>
              <a:t>Open-Closed Principle(</a:t>
            </a:r>
            <a:r>
              <a:rPr lang="zh-CN" altLang="en-US" dirty="0"/>
              <a:t>开放封闭原则</a:t>
            </a:r>
            <a:r>
              <a:rPr lang="en-US" altLang="zh-CN" dirty="0"/>
              <a:t>)</a:t>
            </a:r>
            <a:endParaRPr lang="en-US" altLang="zh-CN" dirty="0"/>
          </a:p>
          <a:p>
            <a:pPr lvl="1"/>
            <a:endParaRPr lang="en-US" altLang="zh-CN" dirty="0"/>
          </a:p>
          <a:p>
            <a:r>
              <a:rPr lang="zh-CN" altLang="en-US" dirty="0"/>
              <a:t>最好的办法是</a:t>
            </a:r>
            <a:r>
              <a:rPr lang="zh-CN" altLang="zh-CN" dirty="0"/>
              <a:t>把</a:t>
            </a:r>
            <a:r>
              <a:rPr lang="zh-CN" altLang="zh-CN" dirty="0">
                <a:solidFill>
                  <a:srgbClr val="FF0000"/>
                </a:solidFill>
              </a:rPr>
              <a:t>频繁变化的业务逻辑抽取出来</a:t>
            </a:r>
            <a:r>
              <a:rPr lang="zh-CN" altLang="zh-CN" dirty="0"/>
              <a:t>，形成独立的规则库。</a:t>
            </a:r>
            <a:endParaRPr lang="en-US" altLang="zh-CN" dirty="0"/>
          </a:p>
          <a:p>
            <a:r>
              <a:rPr lang="zh-CN" altLang="en-US" dirty="0"/>
              <a:t>这些规则可独立于软件系统而存在，可被随时的更新。</a:t>
            </a:r>
            <a:endParaRPr lang="en-US" altLang="zh-CN" dirty="0"/>
          </a:p>
          <a:p>
            <a:r>
              <a:rPr lang="zh-CN" altLang="en-US" dirty="0"/>
              <a:t>系统运行时，读取规则库，依据当前运行状态，从规则库中选择与之匹配的规则，对规则进行解释，根据结果控制系统运行的流程。</a:t>
            </a:r>
            <a:endParaRPr lang="zh-CN" altLang="en-US" dirty="0"/>
          </a:p>
          <a:p>
            <a:endParaRPr lang="zh-CN" altLang="en-US" dirty="0"/>
          </a:p>
        </p:txBody>
      </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基于规则系统（</a:t>
            </a:r>
            <a:r>
              <a:rPr lang="en-US" altLang="zh-CN" dirty="0"/>
              <a:t>Rule-based System</a:t>
            </a:r>
            <a:r>
              <a:rPr lang="zh-CN" altLang="en-US" dirty="0"/>
              <a:t>）</a:t>
            </a:r>
            <a:endParaRPr lang="en-US" altLang="zh-CN" dirty="0"/>
          </a:p>
          <a:p>
            <a:pPr lvl="1"/>
            <a:r>
              <a:rPr lang="zh-CN" altLang="en-US" dirty="0"/>
              <a:t>一个使用模式匹配搜索来寻找规则并在正确的时候应用正确的逻辑知识的虚拟机。</a:t>
            </a:r>
            <a:endParaRPr lang="en-US" altLang="zh-CN" dirty="0"/>
          </a:p>
          <a:p>
            <a:pPr lvl="1"/>
            <a:r>
              <a:rPr lang="zh-CN" altLang="en-US" dirty="0"/>
              <a:t>基于规则系统提供了一种基于专家系统解决问题的手段，将知识表示为</a:t>
            </a:r>
            <a:r>
              <a:rPr lang="en-US" altLang="zh-CN" dirty="0"/>
              <a:t>“</a:t>
            </a:r>
            <a:r>
              <a:rPr lang="zh-CN" altLang="en-US" dirty="0"/>
              <a:t>条件</a:t>
            </a:r>
            <a:r>
              <a:rPr lang="en-US" altLang="zh-CN" dirty="0"/>
              <a:t>-</a:t>
            </a:r>
            <a:r>
              <a:rPr lang="zh-CN" altLang="en-US" dirty="0"/>
              <a:t>行为</a:t>
            </a:r>
            <a:r>
              <a:rPr lang="en-US" altLang="zh-CN" dirty="0"/>
              <a:t>”</a:t>
            </a:r>
            <a:r>
              <a:rPr lang="zh-CN" altLang="en-US" dirty="0"/>
              <a:t>的规则，当满足条件时触发相应的行为，而不是将这些规则直接写在程序源代码中。</a:t>
            </a:r>
            <a:endParaRPr lang="zh-CN" altLang="en-US" dirty="0"/>
          </a:p>
          <a:p>
            <a:endParaRPr lang="zh-CN" altLang="en-US" dirty="0"/>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28650" y="1628800"/>
            <a:ext cx="7886700" cy="4548163"/>
          </a:xfrm>
        </p:spPr>
        <p:txBody>
          <a:bodyPr/>
          <a:lstStyle/>
          <a:p>
            <a:r>
              <a:rPr lang="zh-CN" altLang="en-US" dirty="0"/>
              <a:t>基于规则的系统风格的基本组件与解释器风格的组件相似</a:t>
            </a:r>
            <a:endParaRPr lang="zh-CN" altLang="en-US" dirty="0"/>
          </a:p>
          <a:p>
            <a:endParaRPr lang="zh-CN" altLang="en-US" dirty="0"/>
          </a:p>
        </p:txBody>
      </p:sp>
      <p:graphicFrame>
        <p:nvGraphicFramePr>
          <p:cNvPr id="4" name="表格 3"/>
          <p:cNvGraphicFramePr>
            <a:graphicFrameLocks noGrp="1"/>
          </p:cNvGraphicFramePr>
          <p:nvPr/>
        </p:nvGraphicFramePr>
        <p:xfrm>
          <a:off x="1043608" y="2852936"/>
          <a:ext cx="7572428" cy="2320707"/>
        </p:xfrm>
        <a:graphic>
          <a:graphicData uri="http://schemas.openxmlformats.org/drawingml/2006/table">
            <a:tbl>
              <a:tblPr firstRow="1" bandRow="1">
                <a:tableStyleId>{5C22544A-7EE6-4342-B048-85BDC9FD1C3A}</a:tableStyleId>
              </a:tblPr>
              <a:tblGrid>
                <a:gridCol w="3266538"/>
                <a:gridCol w="4305890"/>
              </a:tblGrid>
              <a:tr h="470258">
                <a:tc>
                  <a:txBody>
                    <a:bodyPr/>
                    <a:lstStyle/>
                    <a:p>
                      <a:pPr marL="266700">
                        <a:lnSpc>
                          <a:spcPct val="114000"/>
                        </a:lnSpc>
                        <a:spcAft>
                          <a:spcPts val="0"/>
                        </a:spcAft>
                      </a:pPr>
                      <a:r>
                        <a:rPr lang="zh-CN" sz="2400" b="1" kern="100" dirty="0">
                          <a:latin typeface="Times New Roman" panose="02020603050405020304"/>
                          <a:ea typeface="宋体" panose="02010600030101010101" pitchFamily="2" charset="-122"/>
                          <a:cs typeface="Times New Roman" panose="02020603050405020304"/>
                        </a:rPr>
                        <a:t>基于规则的系统</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marL="266700">
                        <a:lnSpc>
                          <a:spcPct val="114000"/>
                        </a:lnSpc>
                        <a:spcAft>
                          <a:spcPts val="0"/>
                        </a:spcAft>
                      </a:pPr>
                      <a:r>
                        <a:rPr lang="zh-CN" sz="2400" b="1" kern="100" dirty="0">
                          <a:latin typeface="Times New Roman" panose="02020603050405020304"/>
                          <a:ea typeface="宋体" panose="02010600030101010101" pitchFamily="2" charset="-122"/>
                          <a:cs typeface="Times New Roman" panose="02020603050405020304"/>
                        </a:rPr>
                        <a:t>解释器风格</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nchor="ctr"/>
                </a:tc>
              </a:tr>
              <a:tr h="463318">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知识库</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待解释的程序（伪码</a:t>
                      </a:r>
                      <a:r>
                        <a:rPr lang="zh-CN" altLang="en-US" sz="2400" kern="100" dirty="0">
                          <a:solidFill>
                            <a:srgbClr val="000000"/>
                          </a:solidFill>
                          <a:latin typeface="Times New Roman" panose="02020603050405020304"/>
                          <a:ea typeface="宋体" panose="02010600030101010101" pitchFamily="2" charset="-122"/>
                          <a:cs typeface="Times New Roman" panose="02020603050405020304"/>
                        </a:rPr>
                        <a:t>）</a:t>
                      </a:r>
                      <a:endParaRPr lang="zh-CN" sz="2400" kern="100" dirty="0">
                        <a:solidFill>
                          <a:srgbClr val="000000"/>
                        </a:solidFill>
                        <a:latin typeface="Arial" panose="020B0604020202020204"/>
                        <a:ea typeface="Arial" panose="020B0604020202020204"/>
                      </a:endParaRPr>
                    </a:p>
                  </a:txBody>
                  <a:tcPr marL="68580" marR="68580" marT="0" marB="0" anchor="ctr"/>
                </a:tc>
              </a:tr>
              <a:tr h="463318">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规则解释器</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解释器引擎</a:t>
                      </a:r>
                      <a:endParaRPr lang="zh-CN" sz="2400" kern="100" dirty="0">
                        <a:solidFill>
                          <a:srgbClr val="000000"/>
                        </a:solidFill>
                        <a:latin typeface="Arial" panose="020B0604020202020204"/>
                        <a:ea typeface="Arial" panose="020B0604020202020204"/>
                      </a:endParaRPr>
                    </a:p>
                  </a:txBody>
                  <a:tcPr marL="68580" marR="68580" marT="0" marB="0" anchor="ctr"/>
                </a:tc>
              </a:tr>
              <a:tr h="460495">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规则与数据元素选择</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解释器引擎内部的控制状态</a:t>
                      </a:r>
                      <a:endParaRPr lang="zh-CN" sz="2400" kern="100" dirty="0">
                        <a:solidFill>
                          <a:srgbClr val="000000"/>
                        </a:solidFill>
                        <a:latin typeface="Arial" panose="020B0604020202020204"/>
                        <a:ea typeface="Arial" panose="020B0604020202020204"/>
                      </a:endParaRPr>
                    </a:p>
                  </a:txBody>
                  <a:tcPr marL="68580" marR="68580" marT="0" marB="0" anchor="ctr"/>
                </a:tc>
              </a:tr>
              <a:tr h="463318">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工作内存</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程序当前的运行状态</a:t>
                      </a:r>
                      <a:endParaRPr lang="zh-CN" sz="2400" kern="100" dirty="0">
                        <a:solidFill>
                          <a:srgbClr val="000000"/>
                        </a:solidFill>
                        <a:latin typeface="Arial" panose="020B0604020202020204"/>
                        <a:ea typeface="Arial" panose="020B0604020202020204"/>
                      </a:endParaRPr>
                    </a:p>
                  </a:txBody>
                  <a:tcPr marL="68580" marR="68580" marT="0" marB="0" anchor="ctr"/>
                </a:tc>
              </a:tr>
            </a:tbl>
          </a:graphicData>
        </a:graphic>
      </p:graphicFrame>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基于规则的系统风格</a:t>
            </a:r>
            <a:endParaRPr lang="zh-CN" altLang="en-US" dirty="0"/>
          </a:p>
        </p:txBody>
      </p:sp>
      <p:sp>
        <p:nvSpPr>
          <p:cNvPr id="3" name="内容占位符 2"/>
          <p:cNvSpPr>
            <a:spLocks noGrp="1"/>
          </p:cNvSpPr>
          <p:nvPr>
            <p:ph idx="1"/>
          </p:nvPr>
        </p:nvSpPr>
        <p:spPr/>
        <p:txBody>
          <a:bodyPr/>
          <a:lstStyle/>
          <a:p>
            <a:endParaRPr lang="zh-CN" altLang="en-US"/>
          </a:p>
        </p:txBody>
      </p:sp>
      <p:graphicFrame>
        <p:nvGraphicFramePr>
          <p:cNvPr id="4" name="Object 1"/>
          <p:cNvGraphicFramePr>
            <a:graphicFrameLocks noChangeAspect="1"/>
          </p:cNvGraphicFramePr>
          <p:nvPr/>
        </p:nvGraphicFramePr>
        <p:xfrm>
          <a:off x="1357322" y="1283579"/>
          <a:ext cx="7072330" cy="5288693"/>
        </p:xfrm>
        <a:graphic>
          <a:graphicData uri="http://schemas.openxmlformats.org/presentationml/2006/ole">
            <mc:AlternateContent xmlns:mc="http://schemas.openxmlformats.org/markup-compatibility/2006">
              <mc:Choice xmlns:v="urn:schemas-microsoft-com:vml" Requires="v">
                <p:oleObj spid="_x0000_s11323" name="Visio" r:id="rId1" imgW="7188200" imgH="5359400" progId="Visio.Drawing.11">
                  <p:embed/>
                </p:oleObj>
              </mc:Choice>
              <mc:Fallback>
                <p:oleObj name="Visio" r:id="rId1" imgW="7188200" imgH="53594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22" y="1283579"/>
                        <a:ext cx="7072330" cy="52886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基于规则的系统和解释器风格的系统比较</a:t>
            </a:r>
            <a:endParaRPr lang="zh-CN" altLang="en-US" dirty="0"/>
          </a:p>
        </p:txBody>
      </p:sp>
      <p:sp>
        <p:nvSpPr>
          <p:cNvPr id="3" name="内容占位符 2"/>
          <p:cNvSpPr>
            <a:spLocks noGrp="1"/>
          </p:cNvSpPr>
          <p:nvPr>
            <p:ph idx="1"/>
          </p:nvPr>
        </p:nvSpPr>
        <p:spPr>
          <a:xfrm>
            <a:off x="628650" y="4839740"/>
            <a:ext cx="7886700" cy="1325564"/>
          </a:xfrm>
        </p:spPr>
        <p:txBody>
          <a:bodyPr/>
          <a:lstStyle/>
          <a:p>
            <a:r>
              <a:rPr lang="zh-CN" altLang="en-US" dirty="0"/>
              <a:t>基于规则的系统的优缺点与解释器风格的系统类似。</a:t>
            </a:r>
            <a:endParaRPr lang="zh-CN" altLang="en-US" dirty="0"/>
          </a:p>
          <a:p>
            <a:endParaRPr lang="zh-CN" altLang="en-US" dirty="0"/>
          </a:p>
        </p:txBody>
      </p:sp>
      <p:graphicFrame>
        <p:nvGraphicFramePr>
          <p:cNvPr id="5" name="表格 4"/>
          <p:cNvGraphicFramePr>
            <a:graphicFrameLocks noGrp="1"/>
          </p:cNvGraphicFramePr>
          <p:nvPr/>
        </p:nvGraphicFramePr>
        <p:xfrm>
          <a:off x="851916" y="1556792"/>
          <a:ext cx="7572428" cy="2915898"/>
        </p:xfrm>
        <a:graphic>
          <a:graphicData uri="http://schemas.openxmlformats.org/drawingml/2006/table">
            <a:tbl>
              <a:tblPr firstRow="1" bandRow="1">
                <a:tableStyleId>{5C22544A-7EE6-4342-B048-85BDC9FD1C3A}</a:tableStyleId>
              </a:tblPr>
              <a:tblGrid>
                <a:gridCol w="1143008"/>
                <a:gridCol w="3421196"/>
                <a:gridCol w="3008224"/>
              </a:tblGrid>
              <a:tr h="470258">
                <a:tc>
                  <a:txBody>
                    <a:bodyPr/>
                    <a:lstStyle/>
                    <a:p>
                      <a:pPr marL="266700">
                        <a:lnSpc>
                          <a:spcPct val="114000"/>
                        </a:lnSpc>
                        <a:spcAft>
                          <a:spcPts val="0"/>
                        </a:spcAft>
                      </a:pP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marL="266700">
                        <a:lnSpc>
                          <a:spcPct val="114000"/>
                        </a:lnSpc>
                        <a:spcAft>
                          <a:spcPts val="0"/>
                        </a:spcAft>
                      </a:pPr>
                      <a:r>
                        <a:rPr lang="zh-CN" sz="2400" b="1" kern="100" dirty="0">
                          <a:latin typeface="Times New Roman" panose="02020603050405020304"/>
                          <a:ea typeface="宋体" panose="02010600030101010101" pitchFamily="2" charset="-122"/>
                          <a:cs typeface="Times New Roman" panose="02020603050405020304"/>
                        </a:rPr>
                        <a:t>基于规则的系统</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marL="266700">
                        <a:lnSpc>
                          <a:spcPct val="114000"/>
                        </a:lnSpc>
                        <a:spcAft>
                          <a:spcPts val="0"/>
                        </a:spcAft>
                      </a:pPr>
                      <a:r>
                        <a:rPr lang="zh-CN" sz="2400" b="1" kern="100" dirty="0">
                          <a:latin typeface="Times New Roman" panose="02020603050405020304"/>
                          <a:ea typeface="宋体" panose="02010600030101010101" pitchFamily="2" charset="-122"/>
                          <a:cs typeface="Times New Roman" panose="02020603050405020304"/>
                        </a:rPr>
                        <a:t>解释器风格</a:t>
                      </a:r>
                      <a:r>
                        <a:rPr lang="zh-CN" altLang="en-US" sz="2400" b="1" kern="100" dirty="0">
                          <a:latin typeface="Times New Roman" panose="02020603050405020304"/>
                          <a:ea typeface="宋体" panose="02010600030101010101" pitchFamily="2" charset="-122"/>
                          <a:cs typeface="Times New Roman" panose="02020603050405020304"/>
                        </a:rPr>
                        <a:t>的系统</a:t>
                      </a:r>
                      <a:endParaRPr lang="zh-CN" sz="2400" kern="100" dirty="0">
                        <a:latin typeface="Calibri" panose="020F0502020204030204"/>
                        <a:ea typeface="宋体" panose="02010600030101010101" pitchFamily="2" charset="-122"/>
                        <a:cs typeface="Times New Roman" panose="02020603050405020304"/>
                      </a:endParaRPr>
                    </a:p>
                  </a:txBody>
                  <a:tcPr marL="68580" marR="68580" marT="0" marB="0" anchor="ctr"/>
                </a:tc>
              </a:tr>
              <a:tr h="463318">
                <a:tc>
                  <a:txBody>
                    <a:bodyPr/>
                    <a:lstStyle/>
                    <a:p>
                      <a:pPr algn="l">
                        <a:lnSpc>
                          <a:spcPct val="115000"/>
                        </a:lnSpc>
                        <a:spcBef>
                          <a:spcPts val="200"/>
                        </a:spcBef>
                        <a:spcAft>
                          <a:spcPts val="200"/>
                        </a:spcAft>
                      </a:pPr>
                      <a:r>
                        <a:rPr lang="en-US" sz="2400" kern="100" dirty="0" err="1">
                          <a:solidFill>
                            <a:srgbClr val="000000"/>
                          </a:solidFill>
                          <a:latin typeface="宋体" panose="02010600030101010101" pitchFamily="2" charset="-122"/>
                          <a:ea typeface="Arial" panose="020B0604020202020204"/>
                          <a:cs typeface="Times New Roman" panose="02020603050405020304"/>
                        </a:rPr>
                        <a:t>相同点</a:t>
                      </a:r>
                      <a:endParaRPr lang="zh-CN" sz="2400" kern="100" dirty="0">
                        <a:solidFill>
                          <a:srgbClr val="000000"/>
                        </a:solidFill>
                        <a:latin typeface="Arial" panose="020B0604020202020204"/>
                        <a:ea typeface="Arial" panose="020B0604020202020204"/>
                      </a:endParaRPr>
                    </a:p>
                  </a:txBody>
                  <a:tcPr marL="68580" marR="68580" marT="0" marB="0" anchor="ctr"/>
                </a:tc>
                <a:tc gridSpan="2">
                  <a:txBody>
                    <a:bodyPr/>
                    <a:lstStyle/>
                    <a:p>
                      <a:pPr algn="l">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基于规则的系统本质上是与解释器风格一致的，都是通过</a:t>
                      </a:r>
                      <a:r>
                        <a:rPr lang="en-US" sz="2400" kern="100" dirty="0">
                          <a:solidFill>
                            <a:srgbClr val="000000"/>
                          </a:solidFill>
                          <a:latin typeface="Times New Roman" panose="02020603050405020304"/>
                          <a:ea typeface="Arial" panose="020B0604020202020204"/>
                        </a:rPr>
                        <a:t>“</a:t>
                      </a:r>
                      <a:r>
                        <a:rPr lang="zh-CN" sz="2400" kern="100" dirty="0">
                          <a:solidFill>
                            <a:srgbClr val="000000"/>
                          </a:solidFill>
                          <a:latin typeface="Times New Roman" panose="02020603050405020304"/>
                          <a:ea typeface="宋体" panose="02010600030101010101" pitchFamily="2" charset="-122"/>
                          <a:cs typeface="Times New Roman" panose="02020603050405020304"/>
                        </a:rPr>
                        <a:t>解释器</a:t>
                      </a:r>
                      <a:r>
                        <a:rPr lang="en-US" sz="2400" kern="100" dirty="0">
                          <a:solidFill>
                            <a:srgbClr val="000000"/>
                          </a:solidFill>
                          <a:latin typeface="Times New Roman" panose="02020603050405020304"/>
                          <a:ea typeface="Arial" panose="020B0604020202020204"/>
                        </a:rPr>
                        <a:t>”(“</a:t>
                      </a:r>
                      <a:r>
                        <a:rPr lang="zh-CN" sz="2400" kern="100" dirty="0">
                          <a:solidFill>
                            <a:srgbClr val="000000"/>
                          </a:solidFill>
                          <a:latin typeface="Times New Roman" panose="02020603050405020304"/>
                          <a:ea typeface="宋体" panose="02010600030101010101" pitchFamily="2" charset="-122"/>
                          <a:cs typeface="Times New Roman" panose="02020603050405020304"/>
                        </a:rPr>
                        <a:t>规则引擎</a:t>
                      </a:r>
                      <a:r>
                        <a:rPr lang="en-US" sz="2400" kern="100" dirty="0">
                          <a:solidFill>
                            <a:srgbClr val="000000"/>
                          </a:solidFill>
                          <a:latin typeface="Times New Roman" panose="02020603050405020304"/>
                          <a:ea typeface="Arial" panose="020B0604020202020204"/>
                        </a:rPr>
                        <a:t>”)</a:t>
                      </a:r>
                      <a:r>
                        <a:rPr lang="zh-CN" sz="2400" kern="100" dirty="0">
                          <a:solidFill>
                            <a:srgbClr val="000000"/>
                          </a:solidFill>
                          <a:latin typeface="Times New Roman" panose="02020603050405020304"/>
                          <a:ea typeface="宋体" panose="02010600030101010101" pitchFamily="2" charset="-122"/>
                          <a:cs typeface="Times New Roman" panose="02020603050405020304"/>
                        </a:rPr>
                        <a:t>，在两个不同的抽象层次之间建立起一种虚拟的环境。</a:t>
                      </a:r>
                      <a:endParaRPr lang="zh-CN" sz="2400" kern="100" dirty="0">
                        <a:solidFill>
                          <a:srgbClr val="000000"/>
                        </a:solidFill>
                        <a:latin typeface="Arial" panose="020B0604020202020204"/>
                        <a:ea typeface="Arial" panose="020B0604020202020204"/>
                      </a:endParaRPr>
                    </a:p>
                  </a:txBody>
                  <a:tcPr marL="68580" marR="68580" marT="0" marB="0" anchor="ctr"/>
                </a:tc>
                <a:tc hMerge="1">
                  <a:tcPr/>
                </a:tc>
              </a:tr>
              <a:tr h="463318">
                <a:tc>
                  <a:txBody>
                    <a:bodyPr/>
                    <a:lstStyle/>
                    <a:p>
                      <a:pPr algn="l">
                        <a:lnSpc>
                          <a:spcPct val="115000"/>
                        </a:lnSpc>
                        <a:spcBef>
                          <a:spcPts val="200"/>
                        </a:spcBef>
                        <a:spcAft>
                          <a:spcPts val="200"/>
                        </a:spcAft>
                      </a:pPr>
                      <a:r>
                        <a:rPr lang="en-US" sz="2400" kern="100" dirty="0" err="1">
                          <a:solidFill>
                            <a:srgbClr val="000000"/>
                          </a:solidFill>
                          <a:latin typeface="宋体" panose="02010600030101010101" pitchFamily="2" charset="-122"/>
                          <a:ea typeface="Arial" panose="020B0604020202020204"/>
                          <a:cs typeface="Times New Roman" panose="02020603050405020304"/>
                        </a:rPr>
                        <a:t>不同点</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gn="l">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在自然语言</a:t>
                      </a:r>
                      <a:r>
                        <a:rPr lang="en-US" sz="2400" kern="100" dirty="0">
                          <a:solidFill>
                            <a:srgbClr val="000000"/>
                          </a:solidFill>
                          <a:latin typeface="Times New Roman" panose="02020603050405020304"/>
                          <a:ea typeface="Arial" panose="020B0604020202020204"/>
                        </a:rPr>
                        <a:t>/XML</a:t>
                      </a:r>
                      <a:r>
                        <a:rPr lang="zh-CN" sz="2400" kern="100" dirty="0">
                          <a:solidFill>
                            <a:srgbClr val="000000"/>
                          </a:solidFill>
                          <a:latin typeface="Times New Roman" panose="02020603050405020304"/>
                          <a:ea typeface="宋体" panose="02010600030101010101" pitchFamily="2" charset="-122"/>
                          <a:cs typeface="Times New Roman" panose="02020603050405020304"/>
                        </a:rPr>
                        <a:t>的规则和高级语言的程序源代码之间建立虚拟机环境</a:t>
                      </a:r>
                      <a:endParaRPr lang="zh-CN" sz="2400" kern="100" dirty="0">
                        <a:solidFill>
                          <a:srgbClr val="000000"/>
                        </a:solidFill>
                        <a:latin typeface="Arial" panose="020B0604020202020204"/>
                        <a:ea typeface="Arial" panose="020B0604020202020204"/>
                      </a:endParaRPr>
                    </a:p>
                  </a:txBody>
                  <a:tcPr marL="68580" marR="68580" marT="0" marB="0" anchor="ctr"/>
                </a:tc>
                <a:tc>
                  <a:txBody>
                    <a:bodyPr/>
                    <a:lstStyle/>
                    <a:p>
                      <a:pPr algn="l">
                        <a:lnSpc>
                          <a:spcPct val="115000"/>
                        </a:lnSpc>
                        <a:spcBef>
                          <a:spcPts val="200"/>
                        </a:spcBef>
                        <a:spcAft>
                          <a:spcPts val="200"/>
                        </a:spcAft>
                      </a:pPr>
                      <a:r>
                        <a:rPr lang="zh-CN" sz="2400" kern="100" dirty="0">
                          <a:solidFill>
                            <a:srgbClr val="000000"/>
                          </a:solidFill>
                          <a:latin typeface="Times New Roman" panose="02020603050405020304"/>
                          <a:ea typeface="宋体" panose="02010600030101010101" pitchFamily="2" charset="-122"/>
                          <a:cs typeface="Times New Roman" panose="02020603050405020304"/>
                        </a:rPr>
                        <a:t>在高级语言程序源代码和</a:t>
                      </a:r>
                      <a:r>
                        <a:rPr lang="en-US" sz="2400" kern="100" dirty="0">
                          <a:solidFill>
                            <a:srgbClr val="000000"/>
                          </a:solidFill>
                          <a:latin typeface="Times New Roman" panose="02020603050405020304"/>
                          <a:ea typeface="Arial" panose="020B0604020202020204"/>
                        </a:rPr>
                        <a:t>OS/</a:t>
                      </a:r>
                      <a:r>
                        <a:rPr lang="zh-CN" sz="2400" kern="100" dirty="0">
                          <a:solidFill>
                            <a:srgbClr val="000000"/>
                          </a:solidFill>
                          <a:latin typeface="Times New Roman" panose="02020603050405020304"/>
                          <a:ea typeface="宋体" panose="02010600030101010101" pitchFamily="2" charset="-122"/>
                          <a:cs typeface="Times New Roman" panose="02020603050405020304"/>
                        </a:rPr>
                        <a:t>硬件平台之间建立虚拟机环境</a:t>
                      </a:r>
                      <a:endParaRPr lang="zh-CN" sz="2400" kern="100" dirty="0">
                        <a:solidFill>
                          <a:srgbClr val="000000"/>
                        </a:solidFill>
                        <a:latin typeface="Arial" panose="020B0604020202020204"/>
                        <a:ea typeface="Arial" panose="020B0604020202020204"/>
                      </a:endParaRPr>
                    </a:p>
                  </a:txBody>
                  <a:tcPr marL="68580" marR="68580" marT="0" marB="0" anchor="ctr"/>
                </a:tc>
              </a:tr>
            </a:tbl>
          </a:graphicData>
        </a:graphic>
      </p:graphicFrame>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基于规则的系统优点</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393342" y="1916832"/>
            <a:ext cx="8357315" cy="3179622"/>
          </a:xfrm>
          <a:prstGeom prst="rect">
            <a:avLst/>
          </a:prstGeom>
        </p:spPr>
      </p:pic>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179512" y="1628800"/>
            <a:ext cx="8535830" cy="3566475"/>
          </a:xfrm>
          <a:prstGeom prst="rect">
            <a:avLst/>
          </a:prstGeom>
        </p:spPr>
      </p:pic>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执行过程</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506848" y="1801873"/>
            <a:ext cx="8172400" cy="4528599"/>
          </a:xfrm>
          <a:prstGeom prst="rect">
            <a:avLst/>
          </a:prstGeom>
        </p:spPr>
      </p:pic>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规则的表达</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107504" y="1700808"/>
            <a:ext cx="8540815" cy="4078397"/>
          </a:xfrm>
          <a:prstGeom prst="rect">
            <a:avLst/>
          </a:prstGeom>
        </p:spPr>
      </p:pic>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screen"/>
          <a:stretch>
            <a:fillRect/>
          </a:stretch>
        </p:blipFill>
        <p:spPr>
          <a:xfrm>
            <a:off x="628650" y="1628800"/>
            <a:ext cx="8100392" cy="4643174"/>
          </a:xfrm>
          <a:prstGeom prst="rect">
            <a:avLst/>
          </a:prstGeom>
        </p:spPr>
      </p:pic>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一些例子</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1" cstate="email"/>
          <a:stretch>
            <a:fillRect/>
          </a:stretch>
        </p:blipFill>
        <p:spPr>
          <a:xfrm>
            <a:off x="371787" y="1772816"/>
            <a:ext cx="8400426" cy="4582050"/>
          </a:xfrm>
          <a:prstGeom prst="rect">
            <a:avLst/>
          </a:prstGeom>
        </p:spPr>
      </p:pic>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Arial" panose="020B0604020202020204" pitchFamily="34" charset="0"/>
              </a:rPr>
              <a:t>应用实例：</a:t>
            </a:r>
            <a:r>
              <a:rPr lang="zh-CN" altLang="en-US" sz="3600" dirty="0"/>
              <a:t>基于规则的专家系统</a:t>
            </a:r>
            <a:endParaRPr lang="zh-CN" altLang="en-US" sz="3600" dirty="0"/>
          </a:p>
        </p:txBody>
      </p:sp>
      <p:sp>
        <p:nvSpPr>
          <p:cNvPr id="3" name="内容占位符 2"/>
          <p:cNvSpPr>
            <a:spLocks noGrp="1"/>
          </p:cNvSpPr>
          <p:nvPr>
            <p:ph idx="1"/>
          </p:nvPr>
        </p:nvSpPr>
        <p:spPr/>
        <p:txBody>
          <a:bodyPr/>
          <a:lstStyle/>
          <a:p>
            <a:endParaRPr lang="zh-CN" altLang="en-US"/>
          </a:p>
        </p:txBody>
      </p:sp>
      <p:graphicFrame>
        <p:nvGraphicFramePr>
          <p:cNvPr id="4" name="对象 3"/>
          <p:cNvGraphicFramePr>
            <a:graphicFrameLocks noChangeAspect="1"/>
          </p:cNvGraphicFramePr>
          <p:nvPr/>
        </p:nvGraphicFramePr>
        <p:xfrm>
          <a:off x="4399616" y="1281113"/>
          <a:ext cx="4120670" cy="5440362"/>
        </p:xfrm>
        <a:graphic>
          <a:graphicData uri="http://schemas.openxmlformats.org/presentationml/2006/ole">
            <mc:AlternateContent xmlns:mc="http://schemas.openxmlformats.org/markup-compatibility/2006">
              <mc:Choice xmlns:v="urn:schemas-microsoft-com:vml" Requires="v">
                <p:oleObj spid="_x0000_s12345" name="" r:id="rId1" imgW="6311900" imgH="8343900" progId="Visio.Drawing.11">
                  <p:embed/>
                </p:oleObj>
              </mc:Choice>
              <mc:Fallback>
                <p:oleObj name="" r:id="rId1" imgW="6311900" imgH="83439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9616" y="1281113"/>
                        <a:ext cx="4120670" cy="544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图片 4"/>
          <p:cNvPicPr>
            <a:picLocks noChangeAspect="1"/>
          </p:cNvPicPr>
          <p:nvPr/>
        </p:nvPicPr>
        <p:blipFill>
          <a:blip r:embed="rId3" cstate="screen"/>
          <a:stretch>
            <a:fillRect/>
          </a:stretch>
        </p:blipFill>
        <p:spPr>
          <a:xfrm>
            <a:off x="107504" y="1870075"/>
            <a:ext cx="4121644" cy="3185542"/>
          </a:xfrm>
          <a:prstGeom prst="rect">
            <a:avLst/>
          </a:prstGeom>
        </p:spPr>
      </p:pic>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6事件驱动</Template>
  <TotalTime>0</TotalTime>
  <Words>2548</Words>
  <Application>WPS 演示</Application>
  <PresentationFormat>全屏显示(4:3)</PresentationFormat>
  <Paragraphs>198</Paragraphs>
  <Slides>37</Slides>
  <Notes>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7</vt:i4>
      </vt:variant>
      <vt:variant>
        <vt:lpstr>幻灯片标题</vt:lpstr>
      </vt:variant>
      <vt:variant>
        <vt:i4>37</vt:i4>
      </vt:variant>
    </vt:vector>
  </HeadingPairs>
  <TitlesOfParts>
    <vt:vector size="57" baseType="lpstr">
      <vt:lpstr>Arial</vt:lpstr>
      <vt:lpstr>宋体</vt:lpstr>
      <vt:lpstr>Wingdings</vt:lpstr>
      <vt:lpstr>Calibri Light</vt:lpstr>
      <vt:lpstr>Times New Roman</vt:lpstr>
      <vt:lpstr>黑体</vt:lpstr>
      <vt:lpstr>Calibri</vt:lpstr>
      <vt:lpstr>微软雅黑</vt:lpstr>
      <vt:lpstr>Arial Unicode MS</vt:lpstr>
      <vt:lpstr>Times New Roman</vt:lpstr>
      <vt:lpstr>Calibri</vt:lpstr>
      <vt:lpstr>Arial</vt:lpstr>
      <vt:lpstr>Office 主题</vt:lpstr>
      <vt:lpstr>Visio.Drawing.11</vt:lpstr>
      <vt:lpstr>Visio.Drawing.11</vt:lpstr>
      <vt:lpstr>Visio.Drawing.11</vt:lpstr>
      <vt:lpstr>Visio.Drawing.11</vt:lpstr>
      <vt:lpstr>Visio.Drawing.11</vt:lpstr>
      <vt:lpstr>Visio.Drawing.11</vt:lpstr>
      <vt:lpstr>Visio.Drawing.11</vt:lpstr>
      <vt:lpstr>软件体系结构 </vt:lpstr>
      <vt:lpstr>PowerPoint 演示文稿</vt:lpstr>
      <vt:lpstr>Java最吸引人的特性是什么</vt:lpstr>
      <vt:lpstr>一次书写，多次运行</vt:lpstr>
      <vt:lpstr>PowerPoint 演示文稿</vt:lpstr>
      <vt:lpstr>虚拟机</vt:lpstr>
      <vt:lpstr>虚拟机分类</vt:lpstr>
      <vt:lpstr>MS-DOS的命令解释器</vt:lpstr>
      <vt:lpstr>解释器风格</vt:lpstr>
      <vt:lpstr>组成部分</vt:lpstr>
      <vt:lpstr>解释器</vt:lpstr>
      <vt:lpstr>与解释器相对的编译器</vt:lpstr>
      <vt:lpstr>编译器与解释器</vt:lpstr>
      <vt:lpstr>解释器的特点</vt:lpstr>
      <vt:lpstr>解释器的用途</vt:lpstr>
      <vt:lpstr>传统解释器</vt:lpstr>
      <vt:lpstr>字节码解释器</vt:lpstr>
      <vt:lpstr>应用实例（JVM）</vt:lpstr>
      <vt:lpstr>应用实例</vt:lpstr>
      <vt:lpstr>JIT 实时编译</vt:lpstr>
      <vt:lpstr>PowerPoint 演示文稿</vt:lpstr>
      <vt:lpstr>JIT编译什么？</vt:lpstr>
      <vt:lpstr>基于规则的系统风格</vt:lpstr>
      <vt:lpstr>程序中的业务规则</vt:lpstr>
      <vt:lpstr>业务逻辑与代码的语义鸿沟</vt:lpstr>
      <vt:lpstr>解决思路</vt:lpstr>
      <vt:lpstr>PowerPoint 演示文稿</vt:lpstr>
      <vt:lpstr>PowerPoint 演示文稿</vt:lpstr>
      <vt:lpstr>基于规则的系统风格</vt:lpstr>
      <vt:lpstr>基于规则的系统和解释器风格的系统比较</vt:lpstr>
      <vt:lpstr>基于规则的系统优点</vt:lpstr>
      <vt:lpstr>PowerPoint 演示文稿</vt:lpstr>
      <vt:lpstr>执行过程</vt:lpstr>
      <vt:lpstr>规则的表达</vt:lpstr>
      <vt:lpstr>一些例子</vt:lpstr>
      <vt:lpstr>一些例子</vt:lpstr>
      <vt:lpstr>应用实例：基于规则的专家系统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事件驱动</dc:title>
  <dc:creator>zhao</dc:creator>
  <cp:lastModifiedBy>赵庆玲</cp:lastModifiedBy>
  <cp:revision>683</cp:revision>
  <dcterms:created xsi:type="dcterms:W3CDTF">2018-04-12T01:58:00Z</dcterms:created>
  <dcterms:modified xsi:type="dcterms:W3CDTF">2026-06-03T03:36:12Z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180590F9B6B4454F8A6EF141D765FC29_13</vt:lpwstr>
  </property>
</Properties>
</file>