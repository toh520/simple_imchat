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793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大家好，我是toh。今天我将为大家汇报我的软件体系结构课程设计项目——Simple_IMChat。本次汇报将围绕一个高性能分布式即时通讯系统的体系结构设计与质量评估展开，详细介绍我们如何通过自研架构 Simple_IMChat 来应对现代IM系统面临的核心挑战。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在当今数字时代，即时通讯系统已成为基础设施，但其设计面临四大核心挑战：高并发连接管理、网络不确定性下的可靠投递、系统水平伸缩能力以及高可用自愈性。为了应对这些挑战，我们设计的Simple_IMChat架构采用了Epoll Reactor模式、双向ACK确认机制、无状态分布式节点和Lazy Reconnect懒重连等策略，旨在构建一个高性能、高可用的系统。</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8000"/>
              </a:lnSpc>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本页主要汇报系统的核心目标与整体技术栈。我们的核心目标是构建一个支持万级并发、消息可靠且易于扩展的分布式IM平台。技术栈方面，服务端基于C++和Linux Epoll构建高性能网络模型，结合Protobuf、Redis与MySQL实现高效通信与数据存储；客户端采用Qt 6跨平台框架保障多端体验；运维层面通过Docker容器化与Nginx负载均衡，确保系统的高可用性与弹性扩展能力。</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8000"/>
              </a:lnSpc>
            </a:pPr>
            <a:r>
              <a:rPr lang="en-US" sz="1300" b="0" i="0" u="none" strike="noStrike">
                <a:solidFill>
                  <a:srgbClr val="333333"/>
                </a:solidFill>
              </a:rPr>
              <a:t>在需求分析阶段，我们明确了系统的功能与非功能性需求。功能上，实现了用户账户、好友管理、单聊、群聊和离线消息同步等核心社交功能。非功能性需求是架构设计的核心驱动力，主要包括高并发性、可靠性与可用性，以及水平可扩展性，确保系统能稳定、高效地支撑业务发展。</a:t>
            </a:r>
            <a:endParaRPr lang="en-US" sz="1300" b="0" i="0" u="none" strike="noStrike">
              <a:solidFill>
                <a:srgbClr val="333333"/>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8000"/>
              </a:lnSpc>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场景视图（用例图）从用户视角描述了系统的核心功能。终端用户作为核心参与者，可与系统完成注册登录、好友管理、单聊群聊及离线消息同步等交互，构成了系统的基础功能骨架。</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为了应对复杂的业务需求，我们的Simple_IMChat采用了异构混合的体系结构风格。这并非单一风格的堆砌，而是有机融合了客户机/服务器、分层、事件驱动和仓库这四种经典风格。左侧的架构图展示了这种融合后的宏观结构，右侧则列出了这四种核心风格。</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具体来说，C/S风格构成了系统的骨架，而分层风格则指导了内部代码的组织，实现了关注点分离。同时，我们在单机层面采用Reactor事件驱动模式，在分布式层面采用Pub/Sub消息驱动模式，实现了高效的并发处理和节点解耦。最后，通过Redis和MySQL这两个共享仓库，我们保证了分布式环境下数据的一致性。</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这张图直观地展示了我们系统的整体架构。从下至上，分别是数据存储层、业务处理服务集群、负载均衡网关层和客户端展现层。客户端的请求通过Nginx分发到后端的ChatServer集群，ChatServer之间通过Redis进行通信和状态同步，并最终将数据持久化到MySQL中。整个架构清晰地体现了我们之前提到的多种风格的融合。</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接下来我们进入“4+1”视图模型的分析。首先是逻辑视图，它关注系统的功能实现和核心类设计。在客户端，IMClient类是核心，负责管理连接和消息状态。在服务端，ChatService单例是大脑，负责消息的分发和路由，而TcpServer和ConnectionPool则分别处理网络I/O和数据库连接。</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过程视图展示了系统运行时的动态行为。这里我们重点看应用层的双向ACK机制。为了保证消息可靠投递，我们在应用层实现了类似TCP的确认机制。发送端发送消息后会启动定时器，服务端收到后立即回复ACK，发送端收到ACK后取消定时器。接收端收到消息后也会回复ACK，服务端收到后才认为消息已成功送达。这个机制确保了消息的“至少一次”投递。</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当用户连接在不同服务器时，消息如何路由？这就是我们的分布式Pub/Sub机制。发送方服务器首先查询本地连接，如果找不到接收方，就去Redis查询接收方所在的服务器地址，然后将消息发布到对应服务器订阅的Redis通道中。接收方服务器收到订阅消息后，再将消息推送给最终用户。这个过程实现了服务节点的完全解耦。</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开发视图和物理视图描述了系统的静态结构和部署方式。我们使用Docker Compose来编排整个系统。如左图所示，Nginx容器作为流量入口，将请求转发给多个ChatServer容器。ChatServer、Redis和MySQL都运行在Docker的桥接网络中。这种容器化部署方式不仅实现了环境隔离，也使得水平扩展变得非常容易。</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架构的优劣最终需要通过质量属性来衡量。我们采用了质量属性效用树和“激励-环境-响应”情景模型进行评估。左侧的效用树将质量属性分为外部和内部两大类，外部质量关注用户可见的运行态指标，如可用性、性能和安全性；内部质量则聚焦于开发态的效率，如可重用性和可维护性。</a:t>
            </a:r>
            <a:endParaRPr lang="en-US" sz="1200" b="0" i="0" u="none" strike="noStrike">
              <a:solidFill>
                <a:srgbClr val="000000"/>
              </a:solidFill>
            </a:endParaRPr>
          </a:p>
          <a:p>
            <a:pPr marL="0" indent="0" algn="l">
              <a:lnSpc>
                <a:spcPct val="100000"/>
              </a:lnSpc>
            </a:pPr>
            <a:r>
              <a:rPr lang="en-US" sz="1200" b="0" i="0" u="none" strike="noStrike">
                <a:solidFill>
                  <a:srgbClr val="000000"/>
                </a:solidFill>
              </a:rPr>
              <a:t>右侧我们列举了几个关键的评估情景，这些是对架构设计的实战检验：比如在网络瞬断时，系统如何通过重传和去重机制保证可用性；在高并发压力下，如何通过异步处理和索引优化来保证性能；以及如何通过严格的鉴权机制来保障系统的安全性。这些情景验证了架构设计在面对真实复杂环境时的鲁棒性。</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这里我们具体看三个核心质量场景的评估。在可用性方面，我们的重传和去重机制保证了消息在网络不稳定时的可靠投递。在性能方面，通过异步批量刷盘，我们将核心业务与磁盘I/O解耦，大大提升了系统吞吐。在安全性方面，严格的Session Token鉴权机制能有效防止非法访问和身份冒充。</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最后，对本次项目进行总结。我们成功设计并实现了Simple_IMChat系统，融合了多种架构风格，并通过“4+1”视图和质量评估验证了设计的有效性。展望未来，当前的单体应用可以向微服务架构演进。我们可以将系统拆分为多个独立的微服务，通过API网关统一入口，使用gRPC进行内部通信，从而进一步提升系统的可扩展性和可用性。</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我的汇报到此结束，感谢各位老师和同学的聆听。现在是问答环节，欢迎大家提问。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863600" y="1778000"/>
            <a:ext cx="127000" cy="3302000"/>
          </a:xfrm>
          <a:prstGeom prst="roundRect">
            <a:avLst>
              <a:gd name="adj" fmla="val 0"/>
            </a:avLst>
          </a:prstGeom>
          <a:solidFill>
            <a:srgbClr val="0052CC">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320800" y="1778000"/>
            <a:ext cx="5969000" cy="3302000"/>
          </a:xfrm>
          <a:prstGeom prst="rect">
            <a:avLst/>
          </a:prstGeom>
          <a:noFill/>
          <a:ln w="12687" cap="flat" cmpd="sng">
            <a:noFill/>
            <a:prstDash val="solid"/>
            <a:round/>
          </a:ln>
        </p:spPr>
        <p:txBody>
          <a:bodyPr vert="horz" wrap="square" lIns="88900" tIns="50800" rIns="88900" bIns="50800" rtlCol="0" anchor="ctr" anchorCtr="0"/>
          <a:lstStyle/>
          <a:p>
            <a:pPr marL="0" indent="0" algn="l">
              <a:lnSpc>
                <a:spcPct val="100000"/>
              </a:lnSpc>
              <a:spcAft>
                <a:spcPts val="2000"/>
              </a:spcAft>
              <a:defRPr/>
            </a:pPr>
            <a:r>
              <a:rPr lang="en-US" sz="32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高性能分布式即时通讯系统的</a:t>
            </a:r>
            <a:b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32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体系结构设计与质量评估报告</a:t>
            </a:r>
            <a:endParaRPr lang="en-US" sz="1100"/>
          </a:p>
          <a:p>
            <a:pPr marL="0" indent="0" algn="l">
              <a:lnSpc>
                <a:spcPct val="117000"/>
              </a:lnSpc>
            </a:pPr>
            <a:r>
              <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以自研</a:t>
            </a:r>
            <a:r>
              <a:rPr lang="en-US" sz="1800" b="1" i="0" u="none" strike="noStrike">
                <a:solidFill>
                  <a:srgbClr val="0052CC"/>
                </a:solidFill>
                <a:latin typeface="Calibri" panose="020F0502020204030204"/>
                <a:ea typeface="Calibri" panose="020F0502020204030204"/>
                <a:cs typeface="Calibri" panose="020F0502020204030204"/>
                <a:sym typeface="Calibri" panose="020F0502020204030204"/>
              </a:rPr>
              <a:t>Simple_IMChat</a:t>
            </a:r>
            <a:r>
              <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架构实现为例</a:t>
            </a:r>
            <a:endPar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5" name="Picture 5"/>
          <p:cNvPicPr>
            <a:picLocks noChangeAspect="1"/>
          </p:cNvPicPr>
          <p:nvPr/>
        </p:nvPicPr>
        <p:blipFill>
          <a:blip r:embed="rId1"/>
          <a:srcRect l="73" r="73"/>
          <a:stretch>
            <a:fillRect/>
          </a:stretch>
        </p:blipFill>
        <p:spPr>
          <a:xfrm>
            <a:off x="7620000" y="2286000"/>
            <a:ext cx="3810000" cy="2146300"/>
          </a:xfrm>
          <a:prstGeom prst="rect">
            <a:avLst/>
          </a:prstGeom>
          <a:noFill/>
          <a:ln w="25400" cap="flat" cmpd="sng">
            <a:noFill/>
            <a:prstDash val="solid"/>
            <a:round/>
          </a:ln>
          <a:effectLst>
            <a:outerShdw blurRad="152400" dist="50800" dir="5400000" algn="tl" rotWithShape="0">
              <a:srgbClr val="0052CC">
                <a:alpha val="18000"/>
              </a:srgbClr>
            </a:outerShdw>
          </a:effectLst>
        </p:spPr>
      </p:pic>
      <p:sp>
        <p:nvSpPr>
          <p:cNvPr id="6" name="AutoShape 6"/>
          <p:cNvSpPr/>
          <p:nvPr/>
        </p:nvSpPr>
        <p:spPr>
          <a:xfrm>
            <a:off x="1016000" y="5461000"/>
            <a:ext cx="10414000" cy="12700"/>
          </a:xfrm>
          <a:prstGeom prst="roundRect">
            <a:avLst>
              <a:gd name="adj" fmla="val 0"/>
            </a:avLst>
          </a:prstGeom>
          <a:solidFill>
            <a:srgbClr val="DDDDDD">
              <a:alpha val="100000"/>
            </a:srgbClr>
          </a:solidFill>
          <a:ln w="25400" cap="flat" cmpd="sng">
            <a:noFill/>
            <a:prstDash val="solid"/>
            <a:round/>
          </a:ln>
        </p:spPr>
        <p:txBody>
          <a:bodyPr vert="horz" wrap="square" lIns="0" tIns="0" rIns="0" bIns="0" rtlCol="0" anchor="ctr" anchorCtr="0"/>
          <a:lstStyle/>
          <a:p>
            <a:pPr algn="ctr">
              <a:defRPr/>
            </a:pPr>
          </a:p>
        </p:txBody>
      </p:sp>
      <p:sp>
        <p:nvSpPr>
          <p:cNvPr id="7" name="AutoShape 7"/>
          <p:cNvSpPr/>
          <p:nvPr/>
        </p:nvSpPr>
        <p:spPr>
          <a:xfrm>
            <a:off x="1016000" y="5715000"/>
            <a:ext cx="10414000" cy="7620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en-US" sz="1400" b="1" i="0" u="none" strike="noStrike">
                <a:solidFill>
                  <a:srgbClr val="333333"/>
                </a:solidFill>
                <a:latin typeface="Calibri" panose="020F0502020204030204"/>
                <a:ea typeface="Calibri" panose="020F0502020204030204"/>
                <a:cs typeface="Calibri" panose="020F0502020204030204"/>
                <a:sym typeface="Calibri" panose="020F0502020204030204"/>
              </a:rPr>
              <a:t>toh</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指导老师：赵庆玲 / 李恒松 | 单位：南京理工大学计算机学院</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36600" y="508000"/>
            <a:ext cx="101600" cy="406400"/>
          </a:xfrm>
          <a:prstGeom prst="roundRect">
            <a:avLst>
              <a:gd name="adj" fmla="val 0"/>
            </a:avLst>
          </a:prstGeom>
          <a:solidFill>
            <a:srgbClr val="0052CC">
              <a:alpha val="100000"/>
            </a:srgbClr>
          </a:solidFill>
          <a:ln w="25400" cap="flat" cmpd="sng">
            <a:noFill/>
            <a:prstDash val="solid"/>
            <a:round/>
          </a:ln>
        </p:spPr>
        <p:txBody>
          <a:bodyPr vert="horz" lIns="63500" tIns="63500" rIns="63500" bIns="63500" rtlCol="0" anchor="ctr"/>
          <a:lstStyle/>
          <a:p>
            <a:pPr algn="ctr">
              <a:defRPr/>
            </a:pPr>
          </a:p>
        </p:txBody>
      </p:sp>
      <p:sp>
        <p:nvSpPr>
          <p:cNvPr id="4" name="AutoShape 4"/>
          <p:cNvSpPr/>
          <p:nvPr/>
        </p:nvSpPr>
        <p:spPr>
          <a:xfrm>
            <a:off x="1016000" y="406400"/>
            <a:ext cx="10160000" cy="635000"/>
          </a:xfrm>
          <a:prstGeom prst="rect">
            <a:avLst/>
          </a:prstGeom>
          <a:noFill/>
          <a:ln w="12687" cap="flat" cmpd="sng">
            <a:noFill/>
            <a:prstDash val="solid"/>
            <a:round/>
          </a:ln>
        </p:spPr>
        <p:txBody>
          <a:bodyPr vert="horz" wrap="square" lIns="0" tIns="0" rIns="0" bIns="0" rtlCol="0" anchor="ctr" anchorCtr="0"/>
          <a:lstStyle/>
          <a:p>
            <a:pPr marL="0" indent="0" algn="l">
              <a:lnSpc>
                <a:spcPct val="100000"/>
              </a:lnSpc>
              <a:defRPr/>
            </a:pPr>
            <a:r>
              <a:rPr lang="en-US" sz="2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研究背景与即时通讯系统设计的核心挑战</a:t>
            </a:r>
            <a:endParaRPr lang="en-US" sz="1100"/>
          </a:p>
        </p:txBody>
      </p:sp>
      <p:sp>
        <p:nvSpPr>
          <p:cNvPr id="5" name="AutoShape 5"/>
          <p:cNvSpPr/>
          <p:nvPr/>
        </p:nvSpPr>
        <p:spPr>
          <a:xfrm>
            <a:off x="736600" y="1524000"/>
            <a:ext cx="5118100" cy="4826000"/>
          </a:xfrm>
          <a:prstGeom prst="roundRect">
            <a:avLst>
              <a:gd name="adj" fmla="val 2631"/>
            </a:avLst>
          </a:prstGeom>
          <a:solidFill>
            <a:srgbClr val="F8F9FA">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6" name="AutoShape 6"/>
          <p:cNvSpPr/>
          <p:nvPr/>
        </p:nvSpPr>
        <p:spPr>
          <a:xfrm>
            <a:off x="914400" y="1714500"/>
            <a:ext cx="4749800" cy="4445000"/>
          </a:xfrm>
          <a:prstGeom prst="rect">
            <a:avLst/>
          </a:prstGeom>
          <a:noFill/>
          <a:ln w="12687" cap="flat" cmpd="sng">
            <a:noFill/>
            <a:prstDash val="solid"/>
            <a:round/>
          </a:ln>
        </p:spPr>
        <p:txBody>
          <a:bodyPr vert="horz" wrap="square" lIns="127000" tIns="101600" rIns="127000" bIns="101600" rtlCol="0" anchor="t" anchorCtr="0"/>
          <a:lstStyle/>
          <a:p>
            <a:pPr marL="0" indent="0" algn="l">
              <a:lnSpc>
                <a:spcPct val="117000"/>
              </a:lnSpc>
              <a:spcAft>
                <a:spcPts val="2000"/>
              </a:spcAft>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即时通讯 (IM) 设计核心痛点</a:t>
            </a:r>
            <a:endParaRPr lang="en-US" sz="1100"/>
          </a:p>
          <a:p>
            <a:pPr marL="0" indent="0" algn="l">
              <a:lnSpc>
                <a:spcPct val="117000"/>
              </a:lnSpc>
              <a:spcAft>
                <a:spcPts val="1600"/>
              </a:spcAft>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[ 01 ] 高并发长连接：</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单机需维持数万TCP活跃连接，海量并发请求极易引发网络IO拥堵与资源争用。</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1600"/>
              </a:spcAft>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[ 02 ] 数据抖动丢包：</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移动网络下长连接易瞬断，传统协议感知延迟高，常引发消息丢包、乱序与重复投递。</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1600"/>
              </a:spcAft>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[ 03 ] 水平伸缩性差：</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单体节点业务与状态深度耦合，多机部署时难以高效中转流量与同步路由状态。</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1600"/>
              </a:spcAft>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[ 04 ] 系统雪崩风险：</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依赖容器冷启动时序紊乱或DB连接失败时，会引发级联故障，导致系统整体不可用。</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311900" y="1524000"/>
            <a:ext cx="5118100" cy="4826000"/>
          </a:xfrm>
          <a:prstGeom prst="roundRect">
            <a:avLst>
              <a:gd name="adj" fmla="val 2631"/>
            </a:avLst>
          </a:prstGeom>
          <a:solidFill>
            <a:srgbClr val="F8F9FA">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8" name="AutoShape 8"/>
          <p:cNvSpPr/>
          <p:nvPr/>
        </p:nvSpPr>
        <p:spPr>
          <a:xfrm>
            <a:off x="6489700" y="1714500"/>
            <a:ext cx="4749800" cy="4445000"/>
          </a:xfrm>
          <a:prstGeom prst="rect">
            <a:avLst/>
          </a:prstGeom>
          <a:noFill/>
          <a:ln w="12687" cap="flat" cmpd="sng">
            <a:noFill/>
            <a:prstDash val="solid"/>
            <a:round/>
          </a:ln>
        </p:spPr>
        <p:txBody>
          <a:bodyPr vert="horz" wrap="square" lIns="127000" tIns="101600" rIns="127000" bIns="101600" rtlCol="0" anchor="t" anchorCtr="0"/>
          <a:lstStyle/>
          <a:p>
            <a:pPr marL="0" indent="0" algn="l">
              <a:lnSpc>
                <a:spcPct val="117000"/>
              </a:lnSpc>
              <a:spcAft>
                <a:spcPts val="2000"/>
              </a:spcAft>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Simple_IMChat 架构应对策略</a:t>
            </a:r>
            <a:endParaRPr lang="en-US" sz="1100"/>
          </a:p>
          <a:p>
            <a:pPr marL="0" indent="0" algn="l">
              <a:lnSpc>
                <a:spcPct val="117000"/>
              </a:lnSpc>
              <a:spcAft>
                <a:spcPts val="1600"/>
              </a:spcAft>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[ 01 ] Epoll Reactor 网络模型：</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基于Linux Epoll实现IO多路复用，配合多线程池并行处理，支撑万级并发连接。</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1600"/>
              </a:spcAft>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[ 02 ] 双向 ACK 可靠投递：</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设计应用层心跳、超时重传与滑动窗口机制，保障消息 At-Least-Once 语义送达。</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1600"/>
              </a:spcAft>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[ 03 ] 无状态分布式节点：</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节点向Redis动态注册路由，通过用户SUID/IP解耦状态，支持流量弹性扩缩容。</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1600"/>
              </a:spcAft>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[ 04 ] Lazy Reconnect 自愈机制：</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业务层按需检测连接有效性，实现毫秒级透明重连，避免短断导致的服务不可用。</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36600" y="457200"/>
            <a:ext cx="139700" cy="457200"/>
          </a:xfrm>
          <a:prstGeom prst="roundRect">
            <a:avLst>
              <a:gd name="adj" fmla="val 0"/>
            </a:avLst>
          </a:prstGeom>
          <a:solidFill>
            <a:srgbClr val="0052CC">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03300" y="368300"/>
            <a:ext cx="10058400" cy="635000"/>
          </a:xfrm>
          <a:prstGeom prst="rect">
            <a:avLst/>
          </a:prstGeom>
          <a:noFill/>
          <a:ln w="12687" cap="flat" cmpd="sng">
            <a:noFill/>
            <a:prstDash val="solid"/>
            <a:round/>
          </a:ln>
        </p:spPr>
        <p:txBody>
          <a:bodyPr vert="horz" wrap="square" lIns="0" tIns="0" rIns="0" bIns="0" rtlCol="0" anchor="ctr" anchorCtr="0"/>
          <a:lstStyle/>
          <a:p>
            <a:pPr marL="0" indent="0" algn="l">
              <a:lnSpc>
                <a:spcPct val="100000"/>
              </a:lnSpc>
              <a:defRPr/>
            </a:pPr>
            <a:r>
              <a:rPr lang="en-US" sz="2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系统核心目标与技术栈全景解析</a:t>
            </a:r>
            <a:endParaRPr lang="en-US" sz="1100"/>
          </a:p>
        </p:txBody>
      </p:sp>
      <p:sp>
        <p:nvSpPr>
          <p:cNvPr id="5" name="AutoShape 5"/>
          <p:cNvSpPr/>
          <p:nvPr/>
        </p:nvSpPr>
        <p:spPr>
          <a:xfrm>
            <a:off x="736600" y="1460500"/>
            <a:ext cx="3378200" cy="4826000"/>
          </a:xfrm>
          <a:prstGeom prst="roundRect">
            <a:avLst>
              <a:gd name="adj" fmla="val 3759"/>
            </a:avLst>
          </a:prstGeom>
          <a:solidFill>
            <a:srgbClr val="F5F8FF">
              <a:alpha val="100000"/>
            </a:srgbClr>
          </a:solidFill>
          <a:ln w="12700" cap="flat" cmpd="sng">
            <a:solidFill>
              <a:srgbClr val="0052CC">
                <a:alpha val="60000"/>
              </a:srgbClr>
            </a:solidFill>
            <a:prstDash val="solid"/>
            <a:miter lim="10000000"/>
          </a:ln>
          <a:effectLst>
            <a:outerShdw blurRad="101600" dist="50800" dir="5400000" rotWithShape="0">
              <a:srgbClr val="0052CC">
                <a:alpha val="15000"/>
              </a:srgbClr>
            </a:outerShdw>
          </a:effectLst>
        </p:spPr>
        <p:txBody>
          <a:bodyPr vert="horz" wrap="square" lIns="0" tIns="0" rIns="0" bIns="0" rtlCol="0" anchor="ctr" anchorCtr="0"/>
          <a:lstStyle/>
          <a:p>
            <a:pPr algn="ctr">
              <a:defRPr/>
            </a:pPr>
          </a:p>
        </p:txBody>
      </p:sp>
      <p:sp>
        <p:nvSpPr>
          <p:cNvPr id="6" name="AutoShape 6"/>
          <p:cNvSpPr/>
          <p:nvPr/>
        </p:nvSpPr>
        <p:spPr>
          <a:xfrm>
            <a:off x="863600" y="1651000"/>
            <a:ext cx="3124200" cy="4445000"/>
          </a:xfrm>
          <a:prstGeom prst="rect">
            <a:avLst/>
          </a:prstGeom>
          <a:noFill/>
          <a:ln w="12687" cap="flat" cmpd="sng">
            <a:noFill/>
            <a:prstDash val="solid"/>
            <a:round/>
          </a:ln>
        </p:spPr>
        <p:txBody>
          <a:bodyPr vert="horz" wrap="square" lIns="101600" tIns="76200" rIns="101600" bIns="76200" rtlCol="0" anchor="t" anchorCtr="0"/>
          <a:lstStyle/>
          <a:p>
            <a:pPr marL="0" indent="0" algn="l">
              <a:lnSpc>
                <a:spcPct val="100000"/>
              </a:lnSpc>
              <a:defRPr/>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[ 01 ] 核心愿景</a:t>
            </a:r>
            <a:endParaRPr lang="en-US" sz="1100"/>
          </a:p>
          <a:p>
            <a:pPr marL="0" indent="0" algn="l">
              <a:lnSpc>
                <a:spcPct val="108000"/>
              </a:lnSpc>
              <a:spcAft>
                <a:spcPts val="1200"/>
              </a:spcAft>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构建高可用分布式 IM 基座</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目标定义：打造支持万级并发长连接、消息毫秒级可靠投递、支持无限水平扩展的即时通讯平台，满足千万级用户的实时交互需求。</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10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架构原则：采用“无状态服务 + 分布式存储”架构，实现服务节点的弹性扩容；通过分层解耦设计，将通信层、业务层、存储层分离，保障系统的高可用性、可维护性与迭代效率。</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4394200" y="1460500"/>
            <a:ext cx="3378200" cy="4826000"/>
          </a:xfrm>
          <a:prstGeom prst="roundRect">
            <a:avLst>
              <a:gd name="adj" fmla="val 3759"/>
            </a:avLst>
          </a:prstGeom>
          <a:solidFill>
            <a:srgbClr val="F5F8FF">
              <a:alpha val="100000"/>
            </a:srgbClr>
          </a:solidFill>
          <a:ln w="12700" cap="flat" cmpd="sng">
            <a:solidFill>
              <a:srgbClr val="0052CC">
                <a:alpha val="60000"/>
              </a:srgbClr>
            </a:solidFill>
            <a:prstDash val="solid"/>
            <a:miter lim="10000000"/>
          </a:ln>
          <a:effectLst>
            <a:outerShdw blurRad="101600" dist="50800" dir="5400000" rotWithShape="0">
              <a:srgbClr val="0052CC">
                <a:alpha val="15000"/>
              </a:srgbClr>
            </a:outerShdw>
          </a:effectLst>
        </p:spPr>
        <p:txBody>
          <a:bodyPr vert="horz" wrap="square" lIns="0" tIns="0" rIns="0" bIns="0" rtlCol="0" anchor="ctr" anchorCtr="0"/>
          <a:lstStyle/>
          <a:p>
            <a:pPr algn="ctr">
              <a:defRPr/>
            </a:pPr>
          </a:p>
        </p:txBody>
      </p:sp>
      <p:sp>
        <p:nvSpPr>
          <p:cNvPr id="8" name="AutoShape 8"/>
          <p:cNvSpPr/>
          <p:nvPr/>
        </p:nvSpPr>
        <p:spPr>
          <a:xfrm>
            <a:off x="4521200" y="1651000"/>
            <a:ext cx="3124200" cy="4445000"/>
          </a:xfrm>
          <a:prstGeom prst="rect">
            <a:avLst/>
          </a:prstGeom>
          <a:noFill/>
          <a:ln w="12687" cap="flat" cmpd="sng">
            <a:noFill/>
            <a:prstDash val="solid"/>
            <a:round/>
          </a:ln>
        </p:spPr>
        <p:txBody>
          <a:bodyPr vert="horz" wrap="square" lIns="101600" tIns="76200" rIns="101600" bIns="76200" rtlCol="0" anchor="t" anchorCtr="0"/>
          <a:lstStyle/>
          <a:p>
            <a:pPr marL="0" indent="0" algn="l">
              <a:lnSpc>
                <a:spcPct val="100000"/>
              </a:lnSpc>
              <a:defRPr/>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[ 02 ] 服务端引擎</a:t>
            </a:r>
            <a:endParaRPr lang="en-US" sz="1100"/>
          </a:p>
          <a:p>
            <a:pPr marL="0" indent="0" algn="l">
              <a:lnSpc>
                <a:spcPct val="108000"/>
              </a:lnSpc>
              <a:spcAft>
                <a:spcPts val="1200"/>
              </a:spcAft>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高性能与高吞吐技术基座</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语言与网络：</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C++11 作为开发核心，兼顾极致性能与内存可控；基于 Linux Epoll 实现 Reactor 高并发模型，单节点支撑万级长连接，低延迟处理网络 IO。</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1000"/>
              </a:spcBef>
            </a:pP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数据与协议：</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Protobuf 实现高效序列化，降低带宽损耗；Redis 承载在线状态与消息缓存，MySQL 负责用户关系与历史消息持久化，实现冷热数据分层存储，兼顾速度与可靠性。</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8051800" y="1460500"/>
            <a:ext cx="3378200" cy="4826000"/>
          </a:xfrm>
          <a:prstGeom prst="roundRect">
            <a:avLst>
              <a:gd name="adj" fmla="val 3759"/>
            </a:avLst>
          </a:prstGeom>
          <a:solidFill>
            <a:srgbClr val="F5F8FF">
              <a:alpha val="100000"/>
            </a:srgbClr>
          </a:solidFill>
          <a:ln w="12700" cap="flat" cmpd="sng">
            <a:solidFill>
              <a:srgbClr val="0052CC">
                <a:alpha val="60000"/>
              </a:srgbClr>
            </a:solidFill>
            <a:prstDash val="solid"/>
            <a:miter lim="10000000"/>
          </a:ln>
          <a:effectLst>
            <a:outerShdw blurRad="101600" dist="50800" dir="5400000" rotWithShape="0">
              <a:srgbClr val="0052CC">
                <a:alpha val="15000"/>
              </a:srgbClr>
            </a:outerShdw>
          </a:effectLst>
        </p:spPr>
        <p:txBody>
          <a:bodyPr vert="horz" wrap="square" lIns="0" tIns="0" rIns="0" bIns="0" rtlCol="0" anchor="ctr" anchorCtr="0"/>
          <a:lstStyle/>
          <a:p>
            <a:pPr algn="ctr">
              <a:defRPr/>
            </a:pPr>
          </a:p>
        </p:txBody>
      </p:sp>
      <p:sp>
        <p:nvSpPr>
          <p:cNvPr id="10" name="AutoShape 10"/>
          <p:cNvSpPr/>
          <p:nvPr/>
        </p:nvSpPr>
        <p:spPr>
          <a:xfrm>
            <a:off x="8178800" y="1651000"/>
            <a:ext cx="3124200" cy="4445000"/>
          </a:xfrm>
          <a:prstGeom prst="rect">
            <a:avLst/>
          </a:prstGeom>
          <a:noFill/>
          <a:ln w="12687" cap="flat" cmpd="sng">
            <a:noFill/>
            <a:prstDash val="solid"/>
            <a:round/>
          </a:ln>
        </p:spPr>
        <p:txBody>
          <a:bodyPr vert="horz" wrap="square" lIns="101600" tIns="76200" rIns="101600" bIns="76200" rtlCol="0" anchor="t" anchorCtr="0"/>
          <a:lstStyle/>
          <a:p>
            <a:pPr marL="0" indent="0" algn="l">
              <a:lnSpc>
                <a:spcPct val="100000"/>
              </a:lnSpc>
              <a:defRPr/>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[ 03 ] 终端与运维</a:t>
            </a:r>
            <a:endParaRPr lang="en-US" sz="1100"/>
          </a:p>
          <a:p>
            <a:pPr marL="0" indent="0" algn="l">
              <a:lnSpc>
                <a:spcPct val="108000"/>
              </a:lnSpc>
              <a:spcAft>
                <a:spcPts val="1200"/>
              </a:spcAft>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跨端体验与云原生部署</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多端适配：</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 Qt 6 C++ 跨平台框架，一套代码适配 Windows、Linux、macOS 主流桌面端，大幅降低开发与维护成本，保障多端体验一致性。</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1000"/>
              </a:spcBef>
            </a:pP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运维保障：</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Docker + Compose 实现服务容器化编排，秒级启停与弹性扩缩容；Nginx 作为 TCP 负载均衡网关，实现流量智能分发与故障转移，筑牢服务高可用防线。</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36600" y="457200"/>
            <a:ext cx="139700" cy="457200"/>
          </a:xfrm>
          <a:prstGeom prst="roundRect">
            <a:avLst>
              <a:gd name="adj" fmla="val 0"/>
            </a:avLst>
          </a:prstGeom>
          <a:solidFill>
            <a:srgbClr val="0052CC">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03300" y="368300"/>
            <a:ext cx="10058400" cy="635000"/>
          </a:xfrm>
          <a:prstGeom prst="rect">
            <a:avLst/>
          </a:prstGeom>
          <a:noFill/>
          <a:ln w="12687" cap="flat" cmpd="sng">
            <a:noFill/>
            <a:prstDash val="solid"/>
            <a:round/>
          </a:ln>
        </p:spPr>
        <p:txBody>
          <a:bodyPr vert="horz" wrap="square" lIns="0" tIns="0" rIns="0" bIns="0" rtlCol="0" anchor="ctr" anchorCtr="0"/>
          <a:lstStyle/>
          <a:p>
            <a:pPr marL="0" indent="0" algn="l">
              <a:lnSpc>
                <a:spcPct val="100000"/>
              </a:lnSpc>
              <a:defRPr/>
            </a:pPr>
            <a:r>
              <a:rPr lang="en-US" sz="2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需求分析：功能与非功能性需求</a:t>
            </a:r>
            <a:endParaRPr lang="en-US" sz="1100"/>
          </a:p>
        </p:txBody>
      </p:sp>
      <p:sp>
        <p:nvSpPr>
          <p:cNvPr id="5" name="AutoShape 5"/>
          <p:cNvSpPr/>
          <p:nvPr/>
        </p:nvSpPr>
        <p:spPr>
          <a:xfrm>
            <a:off x="736600" y="1460500"/>
            <a:ext cx="5118100" cy="4826000"/>
          </a:xfrm>
          <a:prstGeom prst="roundRect">
            <a:avLst>
              <a:gd name="adj" fmla="val 2631"/>
            </a:avLst>
          </a:prstGeom>
          <a:solidFill>
            <a:srgbClr val="F0F7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6" name="AutoShape 6"/>
          <p:cNvSpPr/>
          <p:nvPr/>
        </p:nvSpPr>
        <p:spPr>
          <a:xfrm>
            <a:off x="914400" y="1651000"/>
            <a:ext cx="4749800" cy="4445000"/>
          </a:xfrm>
          <a:prstGeom prst="rect">
            <a:avLst/>
          </a:prstGeom>
          <a:noFill/>
          <a:ln w="12687" cap="flat" cmpd="sng">
            <a:noFill/>
            <a:prstDash val="solid"/>
            <a:round/>
          </a:ln>
        </p:spPr>
        <p:txBody>
          <a:bodyPr vert="horz" wrap="square" lIns="127000" tIns="101600" rIns="127000" bIns="101600" rtlCol="0" anchor="t" anchorCtr="0"/>
          <a:lstStyle/>
          <a:p>
            <a:pPr marL="0" indent="0" algn="l">
              <a:lnSpc>
                <a:spcPct val="100000"/>
              </a:lnSpc>
              <a:spcAft>
                <a:spcPts val="1200"/>
              </a:spcAft>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核心功能性需求概览</a:t>
            </a:r>
            <a:endParaRPr lang="en-US" sz="1100"/>
          </a:p>
          <a:p>
            <a:pPr marL="0" indent="0" algn="l">
              <a:lnSpc>
                <a:spcPct val="108000"/>
              </a:lnSpc>
              <a:spcAft>
                <a:spcPts val="10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[ 01 ] 账户与社交体系</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支持用户注册登录全流程，实现好友申请处理、在线状态实时同步及群组创建与管理，构建完整的社交关系网络。</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Aft>
                <a:spcPts val="10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[ 02 ] 实时消息通讯</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覆盖单聊与群聊场景，提供低延迟的文字消息互通能力，内置消息确认（ACK）机制确保消息触达。</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Aft>
                <a:spcPts val="10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[ 03 ] 离线消息保障</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服务端持久化存储用户离线期间的消息数据，用户重新上线后自动触发增量同步，避免信息丢失。</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[ 04 ] 会话状态管理</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维护多端会话的一致性，支持消息已读/未读状态同步，保障跨设备的使用体验统一。</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311900" y="1460500"/>
            <a:ext cx="5118100" cy="4826000"/>
          </a:xfrm>
          <a:prstGeom prst="roundRect">
            <a:avLst>
              <a:gd name="adj" fmla="val 2631"/>
            </a:avLst>
          </a:prstGeom>
          <a:solidFill>
            <a:srgbClr val="F0F7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8" name="AutoShape 8"/>
          <p:cNvSpPr/>
          <p:nvPr/>
        </p:nvSpPr>
        <p:spPr>
          <a:xfrm>
            <a:off x="6489700" y="1651000"/>
            <a:ext cx="4749800" cy="4445000"/>
          </a:xfrm>
          <a:prstGeom prst="rect">
            <a:avLst/>
          </a:prstGeom>
          <a:noFill/>
          <a:ln w="12687" cap="flat" cmpd="sng">
            <a:noFill/>
            <a:prstDash val="solid"/>
            <a:round/>
          </a:ln>
        </p:spPr>
        <p:txBody>
          <a:bodyPr vert="horz" wrap="square" lIns="127000" tIns="101600" rIns="127000" bIns="101600" rtlCol="0" anchor="t" anchorCtr="0"/>
          <a:lstStyle/>
          <a:p>
            <a:pPr marL="0" indent="0" algn="l">
              <a:lnSpc>
                <a:spcPct val="100000"/>
              </a:lnSpc>
              <a:spcAft>
                <a:spcPts val="1200"/>
              </a:spcAft>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关键非功能性质量属性</a:t>
            </a:r>
            <a:endParaRPr lang="en-US" sz="1100"/>
          </a:p>
          <a:p>
            <a:pPr marL="0" indent="0" algn="l">
              <a:lnSpc>
                <a:spcPct val="108000"/>
              </a:lnSpc>
              <a:spcAft>
                <a:spcPts val="10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[ 01 ] 高并发与低延迟</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单节点可承载万级并发长连接，优化网络传输与处理逻辑，将消息端到端延迟严格控制在100ms以内。</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Aft>
                <a:spcPts val="10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[ 02 ] 高可靠与高可用</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确保消息“至少一次”投递，系统整体可用性达到99.9%以上，具备故障自动检测与自愈能力，避免单点故障。</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Aft>
                <a:spcPts val="10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[ 03 ] 弹性水平扩展</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业务处理节点实现无状态化设计，支持通过动态增加节点的方式实现水平扩容，灵活应对用户规模增长。</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[ 04 ] 数据安全与合规</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传输层采用加密协议保障数据安全，用户隐私数据脱敏存储，满足系统的安全性与合规性要求。</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36600" y="457200"/>
            <a:ext cx="139700" cy="457200"/>
          </a:xfrm>
          <a:prstGeom prst="roundRect">
            <a:avLst>
              <a:gd name="adj" fmla="val 0"/>
            </a:avLst>
          </a:prstGeom>
          <a:solidFill>
            <a:srgbClr val="0052CC">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03300" y="368300"/>
            <a:ext cx="10058400" cy="635000"/>
          </a:xfrm>
          <a:prstGeom prst="rect">
            <a:avLst/>
          </a:prstGeom>
          <a:noFill/>
          <a:ln w="12687"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核心用例图 (场景视图) —— Simple_IMChat 功能全景</a:t>
            </a:r>
            <a:endParaRPr lang="en-US" sz="1100"/>
          </a:p>
        </p:txBody>
      </p:sp>
      <p:sp>
        <p:nvSpPr>
          <p:cNvPr id="5" name="AutoShape 5"/>
          <p:cNvSpPr/>
          <p:nvPr/>
        </p:nvSpPr>
        <p:spPr>
          <a:xfrm>
            <a:off x="736600" y="1460500"/>
            <a:ext cx="5308600" cy="4394200"/>
          </a:xfrm>
          <a:prstGeom prst="roundRect">
            <a:avLst>
              <a:gd name="adj" fmla="val 2890"/>
            </a:avLst>
          </a:prstGeom>
          <a:solidFill>
            <a:srgbClr val="F0F8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6" name="AutoShape 6"/>
          <p:cNvSpPr/>
          <p:nvPr/>
        </p:nvSpPr>
        <p:spPr>
          <a:xfrm>
            <a:off x="914400" y="1651000"/>
            <a:ext cx="4940300" cy="4025900"/>
          </a:xfrm>
          <a:prstGeom prst="rect">
            <a:avLst/>
          </a:prstGeom>
          <a:noFill/>
          <a:ln w="12687" cap="flat" cmpd="sng">
            <a:noFill/>
            <a:prstDash val="solid"/>
            <a:round/>
          </a:ln>
        </p:spPr>
        <p:txBody>
          <a:bodyPr vert="horz" wrap="square" lIns="127000" tIns="101600" rIns="127000" bIns="101600" rtlCol="0" anchor="t" anchorCtr="0"/>
          <a:lstStyle/>
          <a:p>
            <a:pPr marL="0" indent="0" algn="l">
              <a:lnSpc>
                <a:spcPct val="117000"/>
              </a:lnSpc>
              <a:spcAft>
                <a:spcPts val="1200"/>
              </a:spcAft>
              <a:defRPr/>
            </a:pPr>
            <a:r>
              <a:rPr lang="en-US" sz="1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场景视图：需求与交互的基石</a:t>
            </a:r>
            <a:endParaRPr lang="en-US" sz="1100"/>
          </a:p>
          <a:p>
            <a:pPr marL="0" indent="0" algn="l">
              <a:lnSpc>
                <a:spcPct val="117000"/>
              </a:lnSpc>
              <a:spcAft>
                <a:spcPts val="1000"/>
              </a:spcAft>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场景视图（用例图）从终端用户视角出发，定义了系统的核心功能边界与交互契约。它不仅描述了“系统能做什么”，更明确了参与者与系统功能之间的动态交互关系。</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核心参与者 (Actor)：</a:t>
            </a: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终端用户（普通用户），是系统功能的直接使用者与受益者。</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目标系统 (System)：</a:t>
            </a: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Simple_IMChat 轻量级即时通讯系统，提供安全、实时、可靠的通讯服务。</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311900" y="1460500"/>
            <a:ext cx="5118100" cy="1054100"/>
          </a:xfrm>
          <a:prstGeom prst="roundRect">
            <a:avLst>
              <a:gd name="adj" fmla="val 12048"/>
            </a:avLst>
          </a:prstGeom>
          <a:solidFill>
            <a:srgbClr val="FFFF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8" name="AutoShape 8"/>
          <p:cNvSpPr/>
          <p:nvPr/>
        </p:nvSpPr>
        <p:spPr>
          <a:xfrm>
            <a:off x="6489700" y="1549400"/>
            <a:ext cx="4749800" cy="863600"/>
          </a:xfrm>
          <a:prstGeom prst="rect">
            <a:avLst/>
          </a:prstGeom>
          <a:noFill/>
          <a:ln w="12687" cap="flat" cmpd="sng">
            <a:noFill/>
            <a:prstDash val="solid"/>
            <a:round/>
          </a:ln>
        </p:spPr>
        <p:txBody>
          <a:bodyPr vert="horz" wrap="square" lIns="101600" tIns="63500" rIns="101600" bIns="63500" rtlCol="0" anchor="ctr" anchorCtr="0"/>
          <a:lstStyle/>
          <a:p>
            <a:pPr marL="0" indent="0" algn="l">
              <a:lnSpc>
                <a:spcPct val="108000"/>
              </a:lnSpc>
              <a:spcAft>
                <a:spcPts val="400"/>
              </a:spcAft>
              <a:defRPr/>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[ 01 ] 身份认证与安全准入</a:t>
            </a:r>
            <a:endParaRPr lang="en-US" sz="1100"/>
          </a:p>
          <a:p>
            <a:pPr marL="0" indent="0" algn="l">
              <a:lnSpc>
                <a:spcPct val="108000"/>
              </a:lnSpc>
            </a:pP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涵盖账户注册、密码加密存储与安全登录流程。系统通过Token机制验证用户身份，确保只有合法授权的终端用户才能接入，保障通讯入口的安全性。</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311900" y="2628900"/>
            <a:ext cx="5118100" cy="1054100"/>
          </a:xfrm>
          <a:prstGeom prst="roundRect">
            <a:avLst>
              <a:gd name="adj" fmla="val 12048"/>
            </a:avLst>
          </a:prstGeom>
          <a:solidFill>
            <a:srgbClr val="FFFF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10" name="AutoShape 10"/>
          <p:cNvSpPr/>
          <p:nvPr/>
        </p:nvSpPr>
        <p:spPr>
          <a:xfrm>
            <a:off x="6489700" y="2717800"/>
            <a:ext cx="4749800" cy="863600"/>
          </a:xfrm>
          <a:prstGeom prst="rect">
            <a:avLst/>
          </a:prstGeom>
          <a:noFill/>
          <a:ln w="12687" cap="flat" cmpd="sng">
            <a:noFill/>
            <a:prstDash val="solid"/>
            <a:round/>
          </a:ln>
        </p:spPr>
        <p:txBody>
          <a:bodyPr vert="horz" wrap="square" lIns="101600" tIns="63500" rIns="101600" bIns="63500" rtlCol="0" anchor="ctr" anchorCtr="0"/>
          <a:lstStyle/>
          <a:p>
            <a:pPr marL="0" indent="0" algn="l">
              <a:lnSpc>
                <a:spcPct val="108000"/>
              </a:lnSpc>
              <a:spcAft>
                <a:spcPts val="400"/>
              </a:spcAft>
              <a:defRPr/>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[ 02 ] 社交图谱与状态感知</a:t>
            </a:r>
            <a:endParaRPr lang="en-US" sz="1100"/>
          </a:p>
          <a:p>
            <a:pPr marL="0" indent="0" algn="l">
              <a:lnSpc>
                <a:spcPct val="108000"/>
              </a:lnSpc>
            </a:pP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支持好友搜索、添加、删除及分组管理。实时同步好友在线、离线、忙碌等状态（Presence），构建透明的用户连接感知，为即时通讯提供社交基础。</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6311900" y="3797300"/>
            <a:ext cx="5118100" cy="1054100"/>
          </a:xfrm>
          <a:prstGeom prst="roundRect">
            <a:avLst>
              <a:gd name="adj" fmla="val 12048"/>
            </a:avLst>
          </a:prstGeom>
          <a:solidFill>
            <a:srgbClr val="FFFF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12" name="AutoShape 12"/>
          <p:cNvSpPr/>
          <p:nvPr/>
        </p:nvSpPr>
        <p:spPr>
          <a:xfrm>
            <a:off x="6489700" y="3886200"/>
            <a:ext cx="4749800" cy="863600"/>
          </a:xfrm>
          <a:prstGeom prst="rect">
            <a:avLst/>
          </a:prstGeom>
          <a:noFill/>
          <a:ln w="12687" cap="flat" cmpd="sng">
            <a:noFill/>
            <a:prstDash val="solid"/>
            <a:round/>
          </a:ln>
        </p:spPr>
        <p:txBody>
          <a:bodyPr vert="horz" wrap="square" lIns="101600" tIns="63500" rIns="101600" bIns="63500" rtlCol="0" anchor="ctr" anchorCtr="0"/>
          <a:lstStyle/>
          <a:p>
            <a:pPr marL="0" indent="0" algn="l">
              <a:lnSpc>
                <a:spcPct val="108000"/>
              </a:lnSpc>
              <a:spcAft>
                <a:spcPts val="400"/>
              </a:spcAft>
              <a:defRPr/>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[ 03 ] 单聊与群聊交互核心</a:t>
            </a:r>
            <a:endParaRPr lang="en-US" sz="1100"/>
          </a:p>
          <a:p>
            <a:pPr marL="0" indent="0" algn="l">
              <a:lnSpc>
                <a:spcPct val="108000"/>
              </a:lnSpc>
            </a:pP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实现低延迟的单对单（P2P）即时文字通讯，支持消息已读回执。同时支持群组创建、群成员管理及高并发群消息广播，满足多人群体沟通需求。</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311900" y="4965700"/>
            <a:ext cx="5118100" cy="1054100"/>
          </a:xfrm>
          <a:prstGeom prst="roundRect">
            <a:avLst>
              <a:gd name="adj" fmla="val 12048"/>
            </a:avLst>
          </a:prstGeom>
          <a:solidFill>
            <a:srgbClr val="FFFF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14" name="AutoShape 14"/>
          <p:cNvSpPr/>
          <p:nvPr/>
        </p:nvSpPr>
        <p:spPr>
          <a:xfrm>
            <a:off x="6489700" y="5054600"/>
            <a:ext cx="4749800" cy="863600"/>
          </a:xfrm>
          <a:prstGeom prst="rect">
            <a:avLst/>
          </a:prstGeom>
          <a:noFill/>
          <a:ln w="12687" cap="flat" cmpd="sng">
            <a:noFill/>
            <a:prstDash val="solid"/>
            <a:round/>
          </a:ln>
        </p:spPr>
        <p:txBody>
          <a:bodyPr vert="horz" wrap="square" lIns="101600" tIns="63500" rIns="101600" bIns="63500" rtlCol="0" anchor="ctr" anchorCtr="0"/>
          <a:lstStyle/>
          <a:p>
            <a:pPr marL="0" indent="0" algn="l">
              <a:lnSpc>
                <a:spcPct val="108000"/>
              </a:lnSpc>
              <a:spcAft>
                <a:spcPts val="400"/>
              </a:spcAft>
              <a:defRPr/>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[ 04 ] 离线消息与增量同步</a:t>
            </a:r>
            <a:endParaRPr lang="en-US" sz="1100"/>
          </a:p>
          <a:p>
            <a:pPr marL="0" indent="0" algn="l">
              <a:lnSpc>
                <a:spcPct val="108000"/>
              </a:lnSpc>
            </a:pP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用户离线期间的消息由服务器持久化存储。客户端重连后，通过增量拉取机制高效同步历史消息，确保消息不丢失，实现跨设备的消息一致性。</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36600" y="457200"/>
            <a:ext cx="139700" cy="457200"/>
          </a:xfrm>
          <a:prstGeom prst="roundRect">
            <a:avLst>
              <a:gd name="adj" fmla="val 0"/>
            </a:avLst>
          </a:prstGeom>
          <a:solidFill>
            <a:srgbClr val="0052CC">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16000" y="406400"/>
            <a:ext cx="10160000" cy="635000"/>
          </a:xfrm>
          <a:prstGeom prst="rect">
            <a:avLst/>
          </a:prstGeom>
          <a:noFill/>
          <a:ln w="12687" cap="flat" cmpd="sng">
            <a:noFill/>
            <a:prstDash val="solid"/>
            <a:round/>
          </a:ln>
        </p:spPr>
        <p:txBody>
          <a:bodyPr vert="horz" wrap="square" lIns="0" tIns="0" rIns="0" bIns="0" rtlCol="0" anchor="ctr" anchorCtr="0"/>
          <a:lstStyle/>
          <a:p>
            <a:pPr marL="0" indent="0" algn="l">
              <a:lnSpc>
                <a:spcPct val="92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异构混合体系结构风格的选择</a:t>
            </a:r>
            <a:r>
              <a:rPr lang="en-US" sz="18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(Heterogeneous Style)</a:t>
            </a:r>
            <a:endParaRPr lang="en-US" sz="1100"/>
          </a:p>
        </p:txBody>
      </p:sp>
      <p:sp>
        <p:nvSpPr>
          <p:cNvPr id="5" name="AutoShape 5"/>
          <p:cNvSpPr/>
          <p:nvPr/>
        </p:nvSpPr>
        <p:spPr>
          <a:xfrm>
            <a:off x="736600" y="1397000"/>
            <a:ext cx="5308600" cy="4826000"/>
          </a:xfrm>
          <a:prstGeom prst="roundRect">
            <a:avLst>
              <a:gd name="adj" fmla="val 2631"/>
            </a:avLst>
          </a:prstGeom>
          <a:solidFill>
            <a:srgbClr val="F0F7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6" name="AutoShape 6"/>
          <p:cNvSpPr/>
          <p:nvPr/>
        </p:nvSpPr>
        <p:spPr>
          <a:xfrm>
            <a:off x="927100" y="1587500"/>
            <a:ext cx="4927600" cy="4445000"/>
          </a:xfrm>
          <a:prstGeom prst="rect">
            <a:avLst/>
          </a:prstGeom>
          <a:noFill/>
          <a:ln w="12687" cap="flat" cmpd="sng">
            <a:noFill/>
            <a:prstDash val="solid"/>
            <a:round/>
          </a:ln>
        </p:spPr>
        <p:txBody>
          <a:bodyPr vert="horz" wrap="square" lIns="127000" tIns="101600" rIns="127000" bIns="101600" rtlCol="0" anchor="t" anchorCtr="0"/>
          <a:lstStyle/>
          <a:p>
            <a:pPr marL="0" indent="0" algn="l">
              <a:lnSpc>
                <a:spcPct val="108000"/>
              </a:lnSpc>
              <a:spcAft>
                <a:spcPts val="1200"/>
              </a:spcAft>
              <a:defRPr/>
            </a:pPr>
            <a:r>
              <a:rPr lang="en-US" sz="1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整体架构拓扑视图</a:t>
            </a:r>
            <a:endParaRPr lang="en-US" sz="1100"/>
          </a:p>
          <a:p>
            <a:pPr marL="0" indent="0" algn="l">
              <a:lnSpc>
                <a:spcPct val="117000"/>
              </a:lnSpc>
              <a:spcAft>
                <a:spcPts val="1000"/>
              </a:spcAft>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系统宏观架构呈现多风格融合的分布式形态，自上而下涵盖四层核心单元：</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1. 终端接入层：多端客户端（PC/移动端）提供用户交互入口；</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2. 流量网关层：负载均衡组件实现请求路由与流量分发；</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3. 核心服务层：业务处理集群承载会话管理、消息路由等逻辑；</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4. 数据存储层：共享存储中心整合缓存与持久化存储，保障数据一致性。</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该拓扑通过模块化拆分，实现了高可用、高扩展的系统基础支撑。</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311900" y="1397000"/>
            <a:ext cx="5118100" cy="1079500"/>
          </a:xfrm>
          <a:prstGeom prst="roundRect">
            <a:avLst>
              <a:gd name="adj" fmla="val 11764"/>
            </a:avLst>
          </a:prstGeom>
          <a:solidFill>
            <a:srgbClr val="FFFFFF">
              <a:alpha val="100000"/>
            </a:srgbClr>
          </a:solidFill>
          <a:ln w="12700" cap="flat" cmpd="sng">
            <a:solidFill>
              <a:srgbClr val="0052CC">
                <a:alpha val="100000"/>
              </a:srgbClr>
            </a:solidFill>
            <a:prstDash val="solid"/>
            <a:miter lim="10000000"/>
          </a:ln>
          <a:effectLst>
            <a:outerShdw blurRad="101600" dist="25400" dir="5400000" rotWithShape="0">
              <a:srgbClr val="000000">
                <a:alpha val="8000"/>
              </a:srgbClr>
            </a:outerShdw>
          </a:effectLst>
        </p:spPr>
        <p:txBody>
          <a:bodyPr vert="horz" wrap="square" lIns="0" tIns="0" rIns="0" bIns="0" rtlCol="0" anchor="ctr" anchorCtr="0"/>
          <a:lstStyle/>
          <a:p>
            <a:pPr algn="ctr">
              <a:defRPr/>
            </a:pPr>
          </a:p>
        </p:txBody>
      </p:sp>
      <p:sp>
        <p:nvSpPr>
          <p:cNvPr id="8" name="AutoShape 8"/>
          <p:cNvSpPr/>
          <p:nvPr/>
        </p:nvSpPr>
        <p:spPr>
          <a:xfrm>
            <a:off x="6477000" y="1498600"/>
            <a:ext cx="4800600" cy="889000"/>
          </a:xfrm>
          <a:prstGeom prst="rect">
            <a:avLst/>
          </a:prstGeom>
          <a:noFill/>
          <a:ln w="12687" cap="flat" cmpd="sng">
            <a:noFill/>
            <a:prstDash val="solid"/>
            <a:round/>
          </a:ln>
        </p:spPr>
        <p:txBody>
          <a:bodyPr vert="horz" wrap="square" lIns="101600" tIns="63500" rIns="101600" bIns="63500" rtlCol="0" anchor="ctr" anchorCtr="0"/>
          <a:lstStyle/>
          <a:p>
            <a:pPr marL="0" indent="0" algn="l">
              <a:lnSpc>
                <a:spcPct val="100000"/>
              </a:lnSpc>
              <a:spcAft>
                <a:spcPts val="400"/>
              </a:spcAft>
              <a:defRPr/>
            </a:pPr>
            <a:r>
              <a:rPr lang="en-US" sz="13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[ 01 ] 客户机/服务器 (C/S) 架构</a:t>
            </a:r>
            <a:endParaRPr lang="en-US" sz="1100"/>
          </a:p>
          <a:p>
            <a:pPr marL="0" indent="0" algn="l">
              <a:lnSpc>
                <a:spcPct val="100000"/>
              </a:lnSpc>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客户端聚焦UI交互与本地状态管理，服务端专注业务逻辑与数据处理，实现人机交互与数据处理的高效分离。</a:t>
            </a:r>
            <a:endPar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311900" y="2730500"/>
            <a:ext cx="5118100" cy="1079500"/>
          </a:xfrm>
          <a:prstGeom prst="roundRect">
            <a:avLst>
              <a:gd name="adj" fmla="val 11764"/>
            </a:avLst>
          </a:prstGeom>
          <a:solidFill>
            <a:srgbClr val="FFFFFF">
              <a:alpha val="100000"/>
            </a:srgbClr>
          </a:solidFill>
          <a:ln w="12700" cap="flat" cmpd="sng">
            <a:solidFill>
              <a:srgbClr val="0052CC">
                <a:alpha val="100000"/>
              </a:srgbClr>
            </a:solidFill>
            <a:prstDash val="solid"/>
            <a:miter lim="10000000"/>
          </a:ln>
          <a:effectLst>
            <a:outerShdw blurRad="101600" dist="25400" dir="5400000" rotWithShape="0">
              <a:srgbClr val="000000">
                <a:alpha val="8000"/>
              </a:srgbClr>
            </a:outerShdw>
          </a:effectLst>
        </p:spPr>
        <p:txBody>
          <a:bodyPr vert="horz" wrap="square" lIns="0" tIns="0" rIns="0" bIns="0" rtlCol="0" anchor="ctr" anchorCtr="0"/>
          <a:lstStyle/>
          <a:p>
            <a:pPr algn="ctr">
              <a:defRPr/>
            </a:pPr>
          </a:p>
        </p:txBody>
      </p:sp>
      <p:sp>
        <p:nvSpPr>
          <p:cNvPr id="10" name="AutoShape 10"/>
          <p:cNvSpPr/>
          <p:nvPr/>
        </p:nvSpPr>
        <p:spPr>
          <a:xfrm>
            <a:off x="6477000" y="2832100"/>
            <a:ext cx="4800600" cy="889000"/>
          </a:xfrm>
          <a:prstGeom prst="rect">
            <a:avLst/>
          </a:prstGeom>
          <a:noFill/>
          <a:ln w="12687" cap="flat" cmpd="sng">
            <a:noFill/>
            <a:prstDash val="solid"/>
            <a:round/>
          </a:ln>
        </p:spPr>
        <p:txBody>
          <a:bodyPr vert="horz" wrap="square" lIns="101600" tIns="63500" rIns="101600" bIns="63500" rtlCol="0" anchor="ctr" anchorCtr="0"/>
          <a:lstStyle/>
          <a:p>
            <a:pPr marL="0" indent="0" algn="l">
              <a:lnSpc>
                <a:spcPct val="100000"/>
              </a:lnSpc>
              <a:spcAft>
                <a:spcPts val="400"/>
              </a:spcAft>
              <a:defRPr/>
            </a:pPr>
            <a:r>
              <a:rPr lang="en-US" sz="13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[ 02 ] 分层体系 (Layered) 架构</a:t>
            </a:r>
            <a:endParaRPr lang="en-US" sz="1100"/>
          </a:p>
          <a:p>
            <a:pPr marL="0" indent="0" algn="l">
              <a:lnSpc>
                <a:spcPct val="100000"/>
              </a:lnSpc>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从表现层、业务逻辑层到数据访问层逐层解耦，层级间单向依赖，降低模块耦合度，提升系统可维护性与迭代效率。</a:t>
            </a:r>
            <a:endPar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6311900" y="4064000"/>
            <a:ext cx="5118100" cy="1079500"/>
          </a:xfrm>
          <a:prstGeom prst="roundRect">
            <a:avLst>
              <a:gd name="adj" fmla="val 11764"/>
            </a:avLst>
          </a:prstGeom>
          <a:solidFill>
            <a:srgbClr val="FFFFFF">
              <a:alpha val="100000"/>
            </a:srgbClr>
          </a:solidFill>
          <a:ln w="12700" cap="flat" cmpd="sng">
            <a:solidFill>
              <a:srgbClr val="0052CC">
                <a:alpha val="100000"/>
              </a:srgbClr>
            </a:solidFill>
            <a:prstDash val="solid"/>
            <a:miter lim="10000000"/>
          </a:ln>
          <a:effectLst>
            <a:outerShdw blurRad="101600" dist="25400" dir="5400000" rotWithShape="0">
              <a:srgbClr val="000000">
                <a:alpha val="8000"/>
              </a:srgbClr>
            </a:outerShdw>
          </a:effectLst>
        </p:spPr>
        <p:txBody>
          <a:bodyPr vert="horz" wrap="square" lIns="0" tIns="0" rIns="0" bIns="0" rtlCol="0" anchor="ctr" anchorCtr="0"/>
          <a:lstStyle/>
          <a:p>
            <a:pPr algn="ctr">
              <a:defRPr/>
            </a:pPr>
          </a:p>
        </p:txBody>
      </p:sp>
      <p:sp>
        <p:nvSpPr>
          <p:cNvPr id="12" name="AutoShape 12"/>
          <p:cNvSpPr/>
          <p:nvPr/>
        </p:nvSpPr>
        <p:spPr>
          <a:xfrm>
            <a:off x="6477000" y="4165600"/>
            <a:ext cx="4800600" cy="889000"/>
          </a:xfrm>
          <a:prstGeom prst="rect">
            <a:avLst/>
          </a:prstGeom>
          <a:noFill/>
          <a:ln w="12687" cap="flat" cmpd="sng">
            <a:noFill/>
            <a:prstDash val="solid"/>
            <a:round/>
          </a:ln>
        </p:spPr>
        <p:txBody>
          <a:bodyPr vert="horz" wrap="square" lIns="101600" tIns="63500" rIns="101600" bIns="63500" rtlCol="0" anchor="ctr" anchorCtr="0"/>
          <a:lstStyle/>
          <a:p>
            <a:pPr marL="0" indent="0" algn="l">
              <a:lnSpc>
                <a:spcPct val="100000"/>
              </a:lnSpc>
              <a:spcAft>
                <a:spcPts val="400"/>
              </a:spcAft>
              <a:defRPr/>
            </a:pPr>
            <a:r>
              <a:rPr lang="en-US" sz="13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[ 03 ] 事件/消息驱动 (Reactor/Pub/Sub)</a:t>
            </a:r>
            <a:endParaRPr lang="en-US" sz="1100"/>
          </a:p>
          <a:p>
            <a:pPr marL="0" indent="0" algn="l">
              <a:lnSpc>
                <a:spcPct val="100000"/>
              </a:lnSpc>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单机内基于Reactor模式实现高并发IO复用，分布式节点间通过Pub/Sub解耦，实现异步通信，支撑高吞吐场景。</a:t>
            </a:r>
            <a:endPar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311900" y="5207000"/>
            <a:ext cx="5118100" cy="1079500"/>
          </a:xfrm>
          <a:prstGeom prst="roundRect">
            <a:avLst>
              <a:gd name="adj" fmla="val 11764"/>
            </a:avLst>
          </a:prstGeom>
          <a:solidFill>
            <a:srgbClr val="FFFFFF">
              <a:alpha val="100000"/>
            </a:srgbClr>
          </a:solidFill>
          <a:ln w="12700" cap="flat" cmpd="sng">
            <a:solidFill>
              <a:srgbClr val="0052CC">
                <a:alpha val="100000"/>
              </a:srgbClr>
            </a:solidFill>
            <a:prstDash val="solid"/>
            <a:miter lim="10000000"/>
          </a:ln>
          <a:effectLst>
            <a:outerShdw blurRad="101600" dist="25400" dir="5400000" rotWithShape="0">
              <a:srgbClr val="000000">
                <a:alpha val="8000"/>
              </a:srgbClr>
            </a:outerShdw>
          </a:effectLst>
        </p:spPr>
        <p:txBody>
          <a:bodyPr vert="horz" wrap="square" lIns="0" tIns="0" rIns="0" bIns="0" rtlCol="0" anchor="ctr" anchorCtr="0"/>
          <a:lstStyle/>
          <a:p>
            <a:pPr algn="ctr">
              <a:defRPr/>
            </a:pPr>
          </a:p>
        </p:txBody>
      </p:sp>
      <p:sp>
        <p:nvSpPr>
          <p:cNvPr id="14" name="AutoShape 14"/>
          <p:cNvSpPr/>
          <p:nvPr/>
        </p:nvSpPr>
        <p:spPr>
          <a:xfrm>
            <a:off x="6477000" y="5308600"/>
            <a:ext cx="4800600" cy="889000"/>
          </a:xfrm>
          <a:prstGeom prst="rect">
            <a:avLst/>
          </a:prstGeom>
          <a:noFill/>
          <a:ln w="12687" cap="flat" cmpd="sng">
            <a:noFill/>
            <a:prstDash val="solid"/>
            <a:round/>
          </a:ln>
        </p:spPr>
        <p:txBody>
          <a:bodyPr vert="horz" wrap="square" lIns="101600" tIns="63500" rIns="101600" bIns="63500" rtlCol="0" anchor="ctr" anchorCtr="0"/>
          <a:lstStyle/>
          <a:p>
            <a:pPr marL="0" indent="0" algn="l">
              <a:lnSpc>
                <a:spcPct val="100000"/>
              </a:lnSpc>
              <a:spcAft>
                <a:spcPts val="400"/>
              </a:spcAft>
              <a:defRPr/>
            </a:pPr>
            <a:r>
              <a:rPr lang="en-US" sz="13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[ 04 ] 共享仓库 (Repository) 模式</a:t>
            </a:r>
            <a:endParaRPr lang="en-US" sz="1100"/>
          </a:p>
          <a:p>
            <a:pPr marL="0" indent="0" algn="l">
              <a:lnSpc>
                <a:spcPct val="100000"/>
              </a:lnSpc>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整合Redis与MySQL构建统一数据中心，Redis负责缓存，MySQL负责持久化，多源协同保障数据一致性与高可用。</a:t>
            </a:r>
            <a:endPar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36600" y="457200"/>
            <a:ext cx="139700" cy="457200"/>
          </a:xfrm>
          <a:prstGeom prst="roundRect">
            <a:avLst>
              <a:gd name="adj" fmla="val 0"/>
            </a:avLst>
          </a:prstGeom>
          <a:solidFill>
            <a:srgbClr val="0052CC">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03300" y="368300"/>
            <a:ext cx="10058400" cy="635000"/>
          </a:xfrm>
          <a:prstGeom prst="rect">
            <a:avLst/>
          </a:prstGeom>
          <a:noFill/>
          <a:ln w="12687" cap="flat" cmpd="sng">
            <a:noFill/>
            <a:prstDash val="solid"/>
            <a:round/>
          </a:ln>
        </p:spPr>
        <p:txBody>
          <a:bodyPr vert="horz" wrap="square" lIns="0" tIns="0" rIns="0" bIns="0" rtlCol="0" anchor="t" anchorCtr="0"/>
          <a:lstStyle/>
          <a:p>
            <a:pPr marL="0" indent="0" algn="l">
              <a:lnSpc>
                <a:spcPct val="100000"/>
              </a:lnSpc>
              <a:defRPr/>
            </a:pPr>
            <a:r>
              <a:rPr lang="en-US" sz="2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核心架构风格详解 (1/2)</a:t>
            </a:r>
            <a:endParaRPr lang="en-US" sz="1100"/>
          </a:p>
        </p:txBody>
      </p:sp>
      <p:sp>
        <p:nvSpPr>
          <p:cNvPr id="5" name="AutoShape 5"/>
          <p:cNvSpPr/>
          <p:nvPr/>
        </p:nvSpPr>
        <p:spPr>
          <a:xfrm>
            <a:off x="736600" y="1003300"/>
            <a:ext cx="10693400" cy="5461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00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深入解析系统的核心架构风格，涵盖客户机/服务器（C/S）与分层设计，以及事件驱动、消息机制与数据持久化方案。</a:t>
            </a:r>
            <a:endParaRPr lang="en-US" sz="1100"/>
          </a:p>
        </p:txBody>
      </p:sp>
      <p:sp>
        <p:nvSpPr>
          <p:cNvPr id="6" name="AutoShape 6"/>
          <p:cNvSpPr/>
          <p:nvPr/>
        </p:nvSpPr>
        <p:spPr>
          <a:xfrm>
            <a:off x="736600" y="1778000"/>
            <a:ext cx="5118100" cy="4114800"/>
          </a:xfrm>
          <a:prstGeom prst="roundRect">
            <a:avLst>
              <a:gd name="adj" fmla="val 3086"/>
            </a:avLst>
          </a:prstGeom>
          <a:solidFill>
            <a:srgbClr val="F0F7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7" name="AutoShape 7"/>
          <p:cNvSpPr/>
          <p:nvPr/>
        </p:nvSpPr>
        <p:spPr>
          <a:xfrm>
            <a:off x="914400" y="1955800"/>
            <a:ext cx="4749800" cy="37465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08000"/>
              </a:lnSpc>
              <a:spcAft>
                <a:spcPts val="1200"/>
              </a:spcAft>
              <a:defRPr/>
            </a:pPr>
            <a:r>
              <a:rPr lang="en-US" sz="1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01 / 客户机/服务器 (C/S) 与分层架构</a:t>
            </a:r>
            <a:endParaRPr lang="en-US" sz="1100"/>
          </a:p>
          <a:p>
            <a:pPr marL="0" indent="0" algn="l">
              <a:lnSpc>
                <a:spcPct val="117000"/>
              </a:lnSpc>
              <a:spcAft>
                <a:spcPts val="800"/>
              </a:spcAft>
            </a:pPr>
            <a:r>
              <a:rPr lang="en-US" sz="1400" b="1" i="0" u="none" strike="noStrike">
                <a:solidFill>
                  <a:srgbClr val="141E28"/>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▍系统骨架与分层设计</a:t>
            </a:r>
            <a:endParaRPr lang="en-US" sz="1400" b="1" i="0" u="none" strike="noStrike">
              <a:solidFill>
                <a:srgbClr val="141E2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C/S模式：</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客户端（Qt Client）作为“胖客户端”负责UI渲染、交互逻辑与本地状态管理；服务端集群专注于高并发连接维持、业务逻辑处理与数据一致性保障。</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分层解耦：</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客户端划分为表现层、业务逻辑层与网络连接层；服务端采用网络驱动层、消息分发层、业务模型层与数据访问层的四层架构，实现关注点分离，降低模块耦合。</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优势：架构清晰易维护，便于团队并行开发与功能迭代扩展。</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311900" y="1778000"/>
            <a:ext cx="5118100" cy="4114800"/>
          </a:xfrm>
          <a:prstGeom prst="roundRect">
            <a:avLst>
              <a:gd name="adj" fmla="val 3086"/>
            </a:avLst>
          </a:prstGeom>
          <a:solidFill>
            <a:srgbClr val="F0F7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9" name="AutoShape 9"/>
          <p:cNvSpPr/>
          <p:nvPr/>
        </p:nvSpPr>
        <p:spPr>
          <a:xfrm>
            <a:off x="6489700" y="1955800"/>
            <a:ext cx="4749800" cy="37465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08000"/>
              </a:lnSpc>
              <a:spcAft>
                <a:spcPts val="1200"/>
              </a:spcAft>
              <a:defRPr/>
            </a:pPr>
            <a:r>
              <a:rPr lang="en-US" sz="1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02 / 事件驱动与共享仓库模式</a:t>
            </a:r>
            <a:endParaRPr lang="en-US" sz="1100"/>
          </a:p>
          <a:p>
            <a:pPr marL="0" indent="0" algn="l">
              <a:lnSpc>
                <a:spcPct val="117000"/>
              </a:lnSpc>
              <a:spcAft>
                <a:spcPts val="800"/>
              </a:spcAft>
            </a:pPr>
            <a:r>
              <a:rPr lang="en-US" sz="1400" b="1" i="0" u="none" strike="noStrike">
                <a:solidFill>
                  <a:srgbClr val="141E28"/>
                </a:solidFill>
                <a:latin typeface="Noto Sans SC" panose="020B0200000000000000" charset="-122"/>
                <a:ea typeface="Noto Sans SC" panose="020B0200000000000000" charset="-122"/>
                <a:cs typeface="Noto Sans SC" panose="020B0200000000000000" charset="-122"/>
                <a:sym typeface="Noto Sans SC" panose="020B0200000000000000" charset="-122"/>
              </a:rPr>
              <a:t>▍高并发处理与数据持久化</a:t>
            </a:r>
            <a:endParaRPr lang="en-US" sz="1400" b="1" i="0" u="none" strike="noStrike">
              <a:solidFill>
                <a:srgbClr val="141E2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事件驱动：</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单机层采用Reactor模式（Epoll）高效处理网络IO事件；分布式层基于Redis Pub/Sub实现节点间解耦与消息广播，支撑高并发消息吞吐。</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双仓设计：</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Redis作为在线状态与路由信息的“高速缓存仓”，实现毫秒级读写；MySQL作为聊天记录与Timeline的“持久化仓”，通过事务与索引保障数据最终一致性。</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优势：兼顾高吞吐性能与数据可靠性，适配IM系统核心诉求。</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36600" y="457200"/>
            <a:ext cx="139700" cy="457200"/>
          </a:xfrm>
          <a:prstGeom prst="roundRect">
            <a:avLst>
              <a:gd name="adj" fmla="val 0"/>
            </a:avLst>
          </a:prstGeom>
          <a:solidFill>
            <a:srgbClr val="0052CC">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03300" y="368300"/>
            <a:ext cx="10058400" cy="635000"/>
          </a:xfrm>
          <a:prstGeom prst="rect">
            <a:avLst/>
          </a:prstGeom>
          <a:noFill/>
          <a:ln w="12687" cap="flat" cmpd="sng">
            <a:noFill/>
            <a:prstDash val="solid"/>
            <a:round/>
          </a:ln>
        </p:spPr>
        <p:txBody>
          <a:bodyPr vert="horz" wrap="square" lIns="0" tIns="0" rIns="0" bIns="0" rtlCol="0" anchor="t" anchorCtr="0"/>
          <a:lstStyle/>
          <a:p>
            <a:pPr marL="0" indent="0" algn="l">
              <a:lnSpc>
                <a:spcPct val="100000"/>
              </a:lnSpc>
              <a:defRPr/>
            </a:pPr>
            <a:r>
              <a:rPr lang="en-US" sz="2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整体架构拓扑图与全链路设计</a:t>
            </a:r>
            <a:endParaRPr lang="en-US" sz="1100"/>
          </a:p>
        </p:txBody>
      </p:sp>
      <p:sp>
        <p:nvSpPr>
          <p:cNvPr id="5" name="AutoShape 5"/>
          <p:cNvSpPr/>
          <p:nvPr/>
        </p:nvSpPr>
        <p:spPr>
          <a:xfrm>
            <a:off x="736600" y="1092200"/>
            <a:ext cx="10693400" cy="5461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08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构建高可用、高并发的分布式IM通信架构，融合分层设计与集群化部署，实现从接入到存储的全链路高效协同。</a:t>
            </a:r>
            <a:endParaRPr lang="en-US" sz="1100"/>
          </a:p>
        </p:txBody>
      </p:sp>
      <p:sp>
        <p:nvSpPr>
          <p:cNvPr id="6" name="AutoShape 6"/>
          <p:cNvSpPr/>
          <p:nvPr/>
        </p:nvSpPr>
        <p:spPr>
          <a:xfrm>
            <a:off x="736600" y="1968500"/>
            <a:ext cx="5118100" cy="4445000"/>
          </a:xfrm>
          <a:prstGeom prst="roundRect">
            <a:avLst>
              <a:gd name="adj" fmla="val 2857"/>
            </a:avLst>
          </a:prstGeom>
          <a:solidFill>
            <a:srgbClr val="F7F9FC">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7" name="AutoShape 7"/>
          <p:cNvSpPr/>
          <p:nvPr/>
        </p:nvSpPr>
        <p:spPr>
          <a:xfrm>
            <a:off x="914400" y="2133600"/>
            <a:ext cx="4749800" cy="41275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08000"/>
              </a:lnSpc>
              <a:spcAft>
                <a:spcPts val="1200"/>
              </a:spcAft>
              <a:defRPr/>
            </a:pPr>
            <a:r>
              <a:rPr lang="en-US" sz="1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四层核心架构体系</a:t>
            </a:r>
            <a:endParaRPr lang="en-US" sz="1100"/>
          </a:p>
          <a:p>
            <a:pPr marL="0" indent="0" algn="l">
              <a:lnSpc>
                <a:spcPct val="117000"/>
              </a:lnSpc>
              <a:spcAft>
                <a:spcPts val="8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客户端层 (Client Layer)</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Qt C++ 开发，封装UI交互、业务逻辑与TCP网络传输模块，实现跨平台接入与长连接维护。</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8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网关层 (Gateway Layer)</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Nginx L4 TCP反向代理，承担流量入口，实现请求负载均衡与故障节点自动剔除，保障服务高可用。</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8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服务层 (Service Layer)</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C++ Epoll 驱动的 ChatServer 集群，基于Reactor模型处理高并发连接，承载消息路由、会话管理等核心业务。</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数据层 (Data Layer)</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Redis 作为分布式路由表与消息总线，支撑在线状态感知；MySQL 负责用户账户、历史消息的持久化存储。</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311900" y="1968500"/>
            <a:ext cx="5118100" cy="4445000"/>
          </a:xfrm>
          <a:prstGeom prst="roundRect">
            <a:avLst>
              <a:gd name="adj" fmla="val 2857"/>
            </a:avLst>
          </a:prstGeom>
          <a:solidFill>
            <a:srgbClr val="F7F9FC">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9" name="AutoShape 9"/>
          <p:cNvSpPr/>
          <p:nvPr/>
        </p:nvSpPr>
        <p:spPr>
          <a:xfrm>
            <a:off x="6489700" y="2133600"/>
            <a:ext cx="4749800" cy="41275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08000"/>
              </a:lnSpc>
              <a:spcAft>
                <a:spcPts val="1200"/>
              </a:spcAft>
              <a:defRPr/>
            </a:pPr>
            <a:r>
              <a:rPr lang="en-US" sz="1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全链路请求处理流程</a:t>
            </a:r>
            <a:endParaRPr lang="en-US" sz="1100"/>
          </a:p>
          <a:p>
            <a:pPr marL="0" indent="0" algn="l">
              <a:lnSpc>
                <a:spcPct val="117000"/>
              </a:lnSpc>
              <a:spcAft>
                <a:spcPts val="8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1：连接建立与分发</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客户端发起TCP连接请求，经Nginx负载均衡器按策略分发至集群中健康的ChatServer节点，建立长连接通道。</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8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2：集群协同与路由</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ChatServer 通过 Redis 共享用户在线状态与路由信息，实现跨节点消息的精准路由与集群间通信协同。</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8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3：业务处理与异步存储</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服务端处理消息编解码与业务逻辑，通过异步线程池将聊天记录、用户行为等数据持久化写入MySQL，避免阻塞主线程。</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4：高可用与容灾保障</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利用Redis主从复制与哨兵机制保证缓存高可用，配合MySQL主从架构实现数据备份，确保系统稳定性。</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36600" y="457200"/>
            <a:ext cx="139700" cy="457200"/>
          </a:xfrm>
          <a:prstGeom prst="roundRect">
            <a:avLst>
              <a:gd name="adj" fmla="val 0"/>
            </a:avLst>
          </a:prstGeom>
          <a:solidFill>
            <a:srgbClr val="0052CC">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03300" y="368300"/>
            <a:ext cx="10058400" cy="635000"/>
          </a:xfrm>
          <a:prstGeom prst="rect">
            <a:avLst/>
          </a:prstGeom>
          <a:noFill/>
          <a:ln w="12687" cap="flat" cmpd="sng">
            <a:noFill/>
            <a:prstDash val="solid"/>
            <a:round/>
          </a:ln>
        </p:spPr>
        <p:txBody>
          <a:bodyPr vert="horz" wrap="square" lIns="0" tIns="0" rIns="0" bIns="0" rtlCol="0" anchor="t" anchorCtr="0"/>
          <a:lstStyle/>
          <a:p>
            <a:pPr marL="0" indent="0" algn="l">
              <a:lnSpc>
                <a:spcPct val="100000"/>
              </a:lnSpc>
              <a:defRPr/>
            </a:pPr>
            <a:r>
              <a:rPr lang="en-US" sz="2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“4+1”模型之逻辑视图 (面向对象)</a:t>
            </a:r>
            <a:endParaRPr lang="en-US" sz="1100"/>
          </a:p>
        </p:txBody>
      </p:sp>
      <p:sp>
        <p:nvSpPr>
          <p:cNvPr id="5" name="AutoShape 5"/>
          <p:cNvSpPr/>
          <p:nvPr/>
        </p:nvSpPr>
        <p:spPr>
          <a:xfrm>
            <a:off x="736600" y="1460500"/>
            <a:ext cx="5308600" cy="4394200"/>
          </a:xfrm>
          <a:prstGeom prst="roundRect">
            <a:avLst>
              <a:gd name="adj" fmla="val 2890"/>
            </a:avLst>
          </a:prstGeom>
          <a:solidFill>
            <a:srgbClr val="F0F8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6" name="AutoShape 6"/>
          <p:cNvSpPr/>
          <p:nvPr/>
        </p:nvSpPr>
        <p:spPr>
          <a:xfrm>
            <a:off x="914400" y="1651000"/>
            <a:ext cx="4940300" cy="40259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00000"/>
              </a:lnSpc>
              <a:spcAft>
                <a:spcPts val="1600"/>
              </a:spcAft>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▍客户端核心类结构</a:t>
            </a:r>
            <a:endParaRPr lang="en-US" sz="1100"/>
          </a:p>
          <a:p>
            <a:pPr marL="0" indent="0" algn="l">
              <a:lnSpc>
                <a:spcPct val="108000"/>
              </a:lnSpc>
              <a:spcAft>
                <a:spcPts val="12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IMClient (核心控制)</a:t>
            </a:r>
            <a:b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客户端逻辑中枢，负责管理长连接生命周期、消息的发送/接收状态同步，是所有业务模块的调度核心。</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Aft>
                <a:spcPts val="12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ChatWindow (交互界面)</a:t>
            </a:r>
            <a:b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聊天会话的可视化载体，依赖IMClient的API实现消息输入、发送触发与消息流展示，直接响应用户操作。</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FriendListWindow (状态订阅)</a:t>
            </a:r>
            <a:b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维护好友关系与在线状态的视图层，主动订阅IMClient的状态变更事件，实时刷新好友列表的在线/离线状态。</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311900" y="1460500"/>
            <a:ext cx="5118100" cy="4394200"/>
          </a:xfrm>
          <a:prstGeom prst="roundRect">
            <a:avLst>
              <a:gd name="adj" fmla="val 2890"/>
            </a:avLst>
          </a:prstGeom>
          <a:solidFill>
            <a:srgbClr val="F0F8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8" name="AutoShape 8"/>
          <p:cNvSpPr/>
          <p:nvPr/>
        </p:nvSpPr>
        <p:spPr>
          <a:xfrm>
            <a:off x="6489700" y="1651000"/>
            <a:ext cx="4749800" cy="40259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00000"/>
              </a:lnSpc>
              <a:spcAft>
                <a:spcPts val="1600"/>
              </a:spcAft>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▍服务端核心类结构</a:t>
            </a:r>
            <a:endParaRPr lang="en-US" sz="1100"/>
          </a:p>
          <a:p>
            <a:pPr marL="0" indent="0" algn="l">
              <a:lnSpc>
                <a:spcPct val="108000"/>
              </a:lnSpc>
              <a:spcAft>
                <a:spcPts val="12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TcpServer (网络基石)</a:t>
            </a:r>
            <a:b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基于Epoll的Reactor高性能模型，负责监听端口、处理IO多路复用事件循环，支撑海量并发连接的接入与读写。</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Aft>
                <a:spcPts val="1200"/>
              </a:spcAft>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ChatService (业务大脑)</a:t>
            </a:r>
            <a:b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单例模式的业务核心，统筹消息的路由分发、用户会话管理、好友关系校验，是服务端的逻辑决策中心。</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ConnectionPool (数据保障)</a:t>
            </a:r>
            <a:b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数据库连接池组件，实现连接复用、自动健康检查与故障自愈，保障高并发场景下数据层的稳定与高效访问。</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36600" y="457200"/>
            <a:ext cx="139700" cy="457200"/>
          </a:xfrm>
          <a:prstGeom prst="roundRect">
            <a:avLst>
              <a:gd name="adj" fmla="val 0"/>
            </a:avLst>
          </a:prstGeom>
          <a:solidFill>
            <a:srgbClr val="0052CC">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03300" y="368300"/>
            <a:ext cx="10058400" cy="635000"/>
          </a:xfrm>
          <a:prstGeom prst="rect">
            <a:avLst/>
          </a:prstGeom>
          <a:noFill/>
          <a:ln w="12687"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过程视图(Process View) - 应用层双向可靠 ACK 机制</a:t>
            </a:r>
            <a:endParaRPr lang="en-US" sz="1100"/>
          </a:p>
        </p:txBody>
      </p:sp>
      <p:sp>
        <p:nvSpPr>
          <p:cNvPr id="5" name="AutoShape 5"/>
          <p:cNvSpPr/>
          <p:nvPr/>
        </p:nvSpPr>
        <p:spPr>
          <a:xfrm>
            <a:off x="736600" y="1460500"/>
            <a:ext cx="5308600" cy="4394200"/>
          </a:xfrm>
          <a:prstGeom prst="roundRect">
            <a:avLst>
              <a:gd name="adj" fmla="val 2890"/>
            </a:avLst>
          </a:prstGeom>
          <a:solidFill>
            <a:srgbClr val="F7F9FC">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6" name="AutoShape 6"/>
          <p:cNvSpPr/>
          <p:nvPr/>
        </p:nvSpPr>
        <p:spPr>
          <a:xfrm>
            <a:off x="914400" y="1651000"/>
            <a:ext cx="4940300" cy="4025900"/>
          </a:xfrm>
          <a:prstGeom prst="rect">
            <a:avLst/>
          </a:prstGeom>
          <a:noFill/>
          <a:ln w="12687" cap="flat" cmpd="sng">
            <a:noFill/>
            <a:prstDash val="solid"/>
            <a:round/>
          </a:ln>
        </p:spPr>
        <p:txBody>
          <a:bodyPr vert="horz" wrap="square" lIns="127000" tIns="101600" rIns="127000" bIns="101600" rtlCol="0" anchor="t" anchorCtr="0"/>
          <a:lstStyle/>
          <a:p>
            <a:pPr marL="0" indent="0" algn="l">
              <a:lnSpc>
                <a:spcPct val="108000"/>
              </a:lnSpc>
              <a:spcAft>
                <a:spcPts val="1600"/>
              </a:spcAft>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核心机制：双向确认与去重闭环</a:t>
            </a:r>
            <a:endParaRPr lang="en-US" sz="1100"/>
          </a:p>
          <a:p>
            <a:pPr marL="0" indent="0" algn="l">
              <a:lnSpc>
                <a:spcPct val="117000"/>
              </a:lnSpc>
              <a:spcAft>
                <a:spcPts val="1400"/>
              </a:spcAft>
            </a:pPr>
            <a:r>
              <a:rPr lang="en-US" sz="15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01 发送端：可靠触达保障</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消息进入待确认队列，即刻启动3秒重传定时器，超时未收到ACK则自动补发，从源头杜绝丢包。</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1400"/>
              </a:spcAft>
            </a:pPr>
            <a:r>
              <a:rPr lang="en-US" sz="15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02 服务端：流量清洗与转发</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收到消息后立即回送ACK，同时通过滑动窗口机制进行幂等校验，过滤重复包，确保下游不重复处理。</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5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03 接收端：消费落地确认</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消息持久化并在UI渲染完成后，向服务端回复最终ACK，服务端收到后清理上下文，形成完整闭环。</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311900" y="1460500"/>
            <a:ext cx="5118100" cy="4394200"/>
          </a:xfrm>
          <a:prstGeom prst="roundRect">
            <a:avLst>
              <a:gd name="adj" fmla="val 2890"/>
            </a:avLst>
          </a:prstGeom>
          <a:solidFill>
            <a:srgbClr val="F7F9FC">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8" name="AutoShape 8"/>
          <p:cNvSpPr/>
          <p:nvPr/>
        </p:nvSpPr>
        <p:spPr>
          <a:xfrm>
            <a:off x="6489700" y="1651000"/>
            <a:ext cx="4749800" cy="4025900"/>
          </a:xfrm>
          <a:prstGeom prst="rect">
            <a:avLst/>
          </a:prstGeom>
          <a:noFill/>
          <a:ln w="12687" cap="flat" cmpd="sng">
            <a:noFill/>
            <a:prstDash val="solid"/>
            <a:round/>
          </a:ln>
        </p:spPr>
        <p:txBody>
          <a:bodyPr vert="horz" wrap="square" lIns="127000" tIns="101600" rIns="127000" bIns="101600" rtlCol="0" anchor="t" anchorCtr="0"/>
          <a:lstStyle/>
          <a:p>
            <a:pPr marL="0" indent="0" algn="l">
              <a:lnSpc>
                <a:spcPct val="108000"/>
              </a:lnSpc>
              <a:spcAft>
                <a:spcPts val="1800"/>
              </a:spcAft>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消息可靠投递的四步时序</a:t>
            </a:r>
            <a:endParaRPr lang="en-US" sz="1100"/>
          </a:p>
          <a:p>
            <a:pPr marL="0" indent="0" algn="l">
              <a:lnSpc>
                <a:spcPct val="108000"/>
              </a:lnSpc>
              <a:spcAft>
                <a:spcPts val="1200"/>
              </a:spcAft>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01 客户端封装与缓存</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生成全局唯一自增Seq，将消息写入pendingSendAckMap缓存表，同时挂载3秒超时重传定时器，进入“待确认”状态。</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Aft>
                <a:spcPts val="1200"/>
              </a:spcAft>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02 服务端去重与应答</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通过滑动窗口检测是否为重复包，若是则丢弃但强制回ACK；若非重复则转发给接收端，并暂存消息上下文。</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Aft>
                <a:spcPts val="1200"/>
              </a:spcAft>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03 接收端消费确认</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将消息写入本地数据库并完成UI渲染后，向服务端发送“消费成功”ACK，确认消息已触达用户侧。</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04 发送端收尾或补发</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收到ACK则按Seq清理缓存并销毁定时器；若超时未收到，立即触发补发流程，直至收到确认或达到最大重试次数。</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36600" y="457200"/>
            <a:ext cx="139700" cy="457200"/>
          </a:xfrm>
          <a:prstGeom prst="roundRect">
            <a:avLst>
              <a:gd name="adj" fmla="val 0"/>
            </a:avLst>
          </a:prstGeom>
          <a:solidFill>
            <a:srgbClr val="0052CC">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79500" y="406400"/>
            <a:ext cx="10160000" cy="635000"/>
          </a:xfrm>
          <a:prstGeom prst="rect">
            <a:avLst/>
          </a:prstGeom>
          <a:noFill/>
          <a:ln w="12687" cap="flat" cmpd="sng">
            <a:noFill/>
            <a:prstDash val="solid"/>
            <a:round/>
          </a:ln>
        </p:spPr>
        <p:txBody>
          <a:bodyPr vert="horz" wrap="square" lIns="0" tIns="0" rIns="0" bIns="0" rtlCol="0" anchor="ctr" anchorCtr="0"/>
          <a:lstStyle/>
          <a:p>
            <a:pPr marL="0" indent="0" algn="l">
              <a:lnSpc>
                <a:spcPct val="100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过程视图(Process View) - 分布式多节点Pub/Sub路由转发</a:t>
            </a:r>
            <a:endParaRPr lang="en-US" sz="1100"/>
          </a:p>
        </p:txBody>
      </p:sp>
      <p:sp>
        <p:nvSpPr>
          <p:cNvPr id="5" name="AutoShape 5"/>
          <p:cNvSpPr/>
          <p:nvPr/>
        </p:nvSpPr>
        <p:spPr>
          <a:xfrm>
            <a:off x="736600" y="1460500"/>
            <a:ext cx="5308600" cy="4826000"/>
          </a:xfrm>
          <a:prstGeom prst="roundRect">
            <a:avLst>
              <a:gd name="adj" fmla="val 2631"/>
            </a:avLst>
          </a:prstGeom>
          <a:solidFill>
            <a:srgbClr val="F5F8FC">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6" name="AutoShape 6"/>
          <p:cNvSpPr/>
          <p:nvPr/>
        </p:nvSpPr>
        <p:spPr>
          <a:xfrm>
            <a:off x="914400" y="1651000"/>
            <a:ext cx="4940300" cy="4445000"/>
          </a:xfrm>
          <a:prstGeom prst="rect">
            <a:avLst/>
          </a:prstGeom>
          <a:noFill/>
          <a:ln w="12687" cap="flat" cmpd="sng">
            <a:noFill/>
            <a:prstDash val="solid"/>
            <a:round/>
          </a:ln>
        </p:spPr>
        <p:txBody>
          <a:bodyPr vert="horz" wrap="square" lIns="127000" tIns="101600" rIns="127000" bIns="101600" rtlCol="0" anchor="t" anchorCtr="0"/>
          <a:lstStyle/>
          <a:p>
            <a:pPr marL="0" indent="0" algn="l">
              <a:lnSpc>
                <a:spcPct val="108000"/>
              </a:lnSpc>
              <a:spcAft>
                <a:spcPts val="1600"/>
              </a:spcAft>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架构核心：Redis 驱动的无状态路由</a:t>
            </a:r>
            <a:endParaRPr lang="en-US" sz="1100"/>
          </a:p>
          <a:p>
            <a:pPr marL="0" indent="0" algn="l">
              <a:lnSpc>
                <a:spcPct val="117000"/>
              </a:lnSpc>
              <a:spcAft>
                <a:spcPts val="1400"/>
              </a:spcAft>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Redis 的 Hash 全局寻址与 Pub/Sub 异步消息机制，构建去中心化的多节点通信网络。该架构打破了单服务器的连接瓶颈，实现了用户会话的跨节点透明流转，是支撑高并发 IM 系统的关键基石。</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1000"/>
              </a:spcAft>
            </a:pPr>
            <a:r>
              <a:rPr lang="en-US" sz="15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核心设计原则：</a:t>
            </a:r>
            <a:endParaRPr lang="en-US" sz="15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1. 本地优先：优先检索本地连接表，减少跨网开销</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2. 状态集中：Redis 作为全局状态源，实时维护映射</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3. 异步解耦：利用消息队列特性实现削峰填谷与解耦</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4. 弹性伸缩：服务节点无状态，支持动态扩容缩容</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311900" y="1460500"/>
            <a:ext cx="5118100" cy="4826000"/>
          </a:xfrm>
          <a:prstGeom prst="roundRect">
            <a:avLst>
              <a:gd name="adj" fmla="val 2631"/>
            </a:avLst>
          </a:prstGeom>
          <a:solidFill>
            <a:srgbClr val="F5F8FC">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8" name="AutoShape 8"/>
          <p:cNvSpPr/>
          <p:nvPr/>
        </p:nvSpPr>
        <p:spPr>
          <a:xfrm>
            <a:off x="6489700" y="1651000"/>
            <a:ext cx="4749800" cy="4445000"/>
          </a:xfrm>
          <a:prstGeom prst="rect">
            <a:avLst/>
          </a:prstGeom>
          <a:noFill/>
          <a:ln w="12687" cap="flat" cmpd="sng">
            <a:noFill/>
            <a:prstDash val="solid"/>
            <a:round/>
          </a:ln>
        </p:spPr>
        <p:txBody>
          <a:bodyPr vert="horz" wrap="square" lIns="127000" tIns="101600" rIns="127000" bIns="101600" rtlCol="0" anchor="t" anchorCtr="0"/>
          <a:lstStyle/>
          <a:p>
            <a:pPr marL="0" indent="0" algn="l">
              <a:lnSpc>
                <a:spcPct val="108000"/>
              </a:lnSpc>
              <a:spcAft>
                <a:spcPts val="1800"/>
              </a:spcAft>
              <a:defRPr/>
            </a:pPr>
            <a:r>
              <a:rPr lang="en-US" sz="17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跨节点消息流转的关键四步：</a:t>
            </a:r>
            <a:endParaRPr lang="en-US" sz="1100"/>
          </a:p>
          <a:p>
            <a:pPr marL="0" indent="0" algn="l">
              <a:lnSpc>
                <a:spcPct val="108000"/>
              </a:lnSpc>
              <a:spcAft>
                <a:spcPts val="1200"/>
              </a:spcAft>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[ 01 ] 本地路由检索</a:t>
            </a:r>
            <a:b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UserA 在 Server1 发送消息，Server1 优先查询本地连接表 `_userConnMap`，若未发现 UserB 的连接记录，立即触发跨服务器寻址流程。</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Aft>
                <a:spcPts val="1200"/>
              </a:spcAft>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[ 02 ] 全局状态寻址</a:t>
            </a:r>
            <a:b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Server1 访问 Redis 共享存储，查询 `user:route` 哈希表，通过 `HGET UserB` 获取目标用户所在的 Server2 节点 IP 及端口信息。</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Aft>
                <a:spcPts val="1200"/>
              </a:spcAft>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[ 03 ] 跨节点异步发布</a:t>
            </a:r>
            <a:b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Server1 将消息封装后，通过 `PUBLISH` 指令推送到 Redis 中 Server2 对应的专属通道 `chat_server_channel_2`，完成消息的异步中转。</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[ 04 ] 目标节点投递</a:t>
            </a:r>
            <a:b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Server2 后台进程持续监听该通道，收到消息后检索本地连接表，定位 UserB 的 Socket 连接，最终将消息实时推送给接收端用户。</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36600" y="457200"/>
            <a:ext cx="139700" cy="457200"/>
          </a:xfrm>
          <a:prstGeom prst="roundRect">
            <a:avLst>
              <a:gd name="adj" fmla="val 0"/>
            </a:avLst>
          </a:prstGeom>
          <a:solidFill>
            <a:srgbClr val="0052CC">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03300" y="368300"/>
            <a:ext cx="10058400" cy="635000"/>
          </a:xfrm>
          <a:prstGeom prst="rect">
            <a:avLst/>
          </a:prstGeom>
          <a:noFill/>
          <a:ln w="12687" cap="flat" cmpd="sng">
            <a:noFill/>
            <a:prstDash val="solid"/>
            <a:round/>
          </a:ln>
        </p:spPr>
        <p:txBody>
          <a:bodyPr vert="horz" wrap="square" lIns="0" tIns="0" rIns="0" bIns="0" rtlCol="0" anchor="t" anchorCtr="0"/>
          <a:lstStyle/>
          <a:p>
            <a:pPr marL="0" indent="0" algn="l">
              <a:lnSpc>
                <a:spcPct val="100000"/>
              </a:lnSpc>
              <a:defRPr/>
            </a:pPr>
            <a:r>
              <a:rPr lang="en-US" sz="2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“4+1”模型之开发视图与物理部署视图</a:t>
            </a:r>
            <a:endParaRPr lang="en-US" sz="1100"/>
          </a:p>
        </p:txBody>
      </p:sp>
      <p:sp>
        <p:nvSpPr>
          <p:cNvPr id="5" name="AutoShape 5"/>
          <p:cNvSpPr/>
          <p:nvPr/>
        </p:nvSpPr>
        <p:spPr>
          <a:xfrm>
            <a:off x="736600" y="1460500"/>
            <a:ext cx="5308600" cy="4394200"/>
          </a:xfrm>
          <a:prstGeom prst="roundRect">
            <a:avLst>
              <a:gd name="adj" fmla="val 16763"/>
            </a:avLst>
          </a:prstGeom>
          <a:solidFill>
            <a:srgbClr val="F0F7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6" name="AutoShape 6"/>
          <p:cNvSpPr/>
          <p:nvPr/>
        </p:nvSpPr>
        <p:spPr>
          <a:xfrm>
            <a:off x="914400" y="1651000"/>
            <a:ext cx="4940300" cy="40259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08000"/>
              </a:lnSpc>
              <a:spcAft>
                <a:spcPts val="1600"/>
              </a:spcAft>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基于Docker Compose的物理部署拓扑</a:t>
            </a:r>
            <a:endParaRPr lang="en-US" sz="1100"/>
          </a:p>
          <a:p>
            <a:pPr marL="0" indent="0" algn="l">
              <a:lnSpc>
                <a:spcPct val="117000"/>
              </a:lnSpc>
              <a:spcAft>
                <a:spcPts val="1200"/>
              </a:spcAft>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01 流量接入层：</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客户端通过公网访问宿主机8000端口，Nginx容器作为TCP负载均衡器，采用轮询策略将请求转发至后端服务集群，实现流量的均匀分发。</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1200"/>
              </a:spcAft>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02 核心服务层：</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ChatServer容器承载核心业务逻辑，支持水平扩展（Scale Out），可根据并发量动态增减容器实例，弹性应对业务负载变化。</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1200"/>
              </a:spcAft>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03 数据支撑层：</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Redis容器提供高速缓存服务，加速热点数据读取；MySQL容器负责业务数据的持久化存储，两者独立部署保障数据可靠性。</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04 网络互通性：</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所有容器运行在Docker桥接网络（Bridge）下，服务间通过容器名直接通信，实现网络层面的隔离与高效互通。</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311900" y="1460500"/>
            <a:ext cx="5118100" cy="4394200"/>
          </a:xfrm>
          <a:prstGeom prst="roundRect">
            <a:avLst>
              <a:gd name="adj" fmla="val 16763"/>
            </a:avLst>
          </a:prstGeom>
          <a:solidFill>
            <a:srgbClr val="F0F7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8" name="AutoShape 8"/>
          <p:cNvSpPr/>
          <p:nvPr/>
        </p:nvSpPr>
        <p:spPr>
          <a:xfrm>
            <a:off x="6489700" y="1651000"/>
            <a:ext cx="4749800" cy="40259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08000"/>
              </a:lnSpc>
              <a:spcAft>
                <a:spcPts val="1600"/>
              </a:spcAft>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静态开发分解与动态映射机制</a:t>
            </a:r>
            <a:endParaRPr lang="en-US" sz="1100"/>
          </a:p>
          <a:p>
            <a:pPr marL="0" indent="0" algn="l">
              <a:lnSpc>
                <a:spcPct val="117000"/>
              </a:lnSpc>
              <a:spcAft>
                <a:spcPts val="1400"/>
              </a:spcAft>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▍开发环境与工具链分层</a:t>
            </a:r>
            <a:b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服务端基于Linux+CMake编译，利用Epoll实现高并发网络IO模型；客户端基于Windows+Qt Creator开发，聚焦跨平台UI渲染与交互体验，前后端开发环境解耦，独立迭代。</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1400"/>
              </a:spcAft>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▍部署解耦与流量动态分流</a:t>
            </a:r>
            <a:b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通过Docker Bridge构建容器网络隔离，Nginx作为反向代理层，基于轮询算法将TCP长连接请求均匀分发至后端多台ChatServer容器，实现无状态服务的负载均衡与故障转移。</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▍依赖编排与服务自愈保障</a:t>
            </a:r>
            <a:b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通过Docker Compose一键编排中间件依赖；配置文件指定端口映射（如MySQL 3307）实现环境隔离；容器化特性支持服务异常时自动重启，配合健康检查实现系统级自愈。</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36600" y="457200"/>
            <a:ext cx="139700" cy="457200"/>
          </a:xfrm>
          <a:prstGeom prst="roundRect">
            <a:avLst>
              <a:gd name="adj" fmla="val 0"/>
            </a:avLst>
          </a:prstGeom>
          <a:solidFill>
            <a:srgbClr val="0052CC">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03300" y="368300"/>
            <a:ext cx="10160000" cy="635000"/>
          </a:xfrm>
          <a:prstGeom prst="rect">
            <a:avLst/>
          </a:prstGeom>
          <a:noFill/>
          <a:ln w="12687"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软件体系结构质量评估 — 效用树与情景评估</a:t>
            </a:r>
            <a:endParaRPr lang="en-US" sz="1100"/>
          </a:p>
        </p:txBody>
      </p:sp>
      <p:sp>
        <p:nvSpPr>
          <p:cNvPr id="5" name="AutoShape 5"/>
          <p:cNvSpPr/>
          <p:nvPr/>
        </p:nvSpPr>
        <p:spPr>
          <a:xfrm>
            <a:off x="736600" y="1460500"/>
            <a:ext cx="5308600" cy="4826000"/>
          </a:xfrm>
          <a:prstGeom prst="roundRect">
            <a:avLst>
              <a:gd name="adj" fmla="val 2631"/>
            </a:avLst>
          </a:prstGeom>
          <a:solidFill>
            <a:srgbClr val="F5F8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6" name="AutoShape 6"/>
          <p:cNvSpPr/>
          <p:nvPr/>
        </p:nvSpPr>
        <p:spPr>
          <a:xfrm>
            <a:off x="914400" y="1651000"/>
            <a:ext cx="4940300" cy="4445000"/>
          </a:xfrm>
          <a:prstGeom prst="rect">
            <a:avLst/>
          </a:prstGeom>
          <a:noFill/>
          <a:ln w="12687" cap="flat" cmpd="sng">
            <a:noFill/>
            <a:prstDash val="solid"/>
            <a:round/>
          </a:ln>
        </p:spPr>
        <p:txBody>
          <a:bodyPr vert="horz" wrap="square" lIns="127000" tIns="101600" rIns="127000" bIns="101600" rtlCol="0" anchor="t" anchorCtr="0"/>
          <a:lstStyle/>
          <a:p>
            <a:pPr marL="0" indent="0" algn="ctr">
              <a:lnSpc>
                <a:spcPct val="108000"/>
              </a:lnSpc>
              <a:spcAft>
                <a:spcPts val="2000"/>
              </a:spcAft>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质量属性效用树 (Utility Tree)</a:t>
            </a:r>
            <a:endParaRPr lang="en-US" sz="1100"/>
          </a:p>
          <a:p>
            <a:pPr marL="0" indent="0" algn="l">
              <a:lnSpc>
                <a:spcPct val="117000"/>
              </a:lnSpc>
              <a:spcAft>
                <a:spcPts val="1800"/>
              </a:spcAft>
            </a:pPr>
            <a:r>
              <a:rPr lang="en-US" sz="15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01 外部质量（运行态）</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聚焦系统运行时的用户感知与服务稳定性，是架构设计的“用户价值锚点”。</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核心维度：可用性（故障自愈）、性能（高并发低延迟）、安全性（数据防篡改）。</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5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02 内部质量（开发态）</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决定系统的开发效率与维护成本，是架构演进的“技术底座”。</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核心维度：可重用性（模块复用）、可移植性（跨平台适配）、可测试性（易自动化验证）。</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311900" y="1460500"/>
            <a:ext cx="5118100" cy="4826000"/>
          </a:xfrm>
          <a:prstGeom prst="roundRect">
            <a:avLst>
              <a:gd name="adj" fmla="val 2631"/>
            </a:avLst>
          </a:prstGeom>
          <a:solidFill>
            <a:srgbClr val="F5F8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8" name="AutoShape 8"/>
          <p:cNvSpPr/>
          <p:nvPr/>
        </p:nvSpPr>
        <p:spPr>
          <a:xfrm>
            <a:off x="6489700" y="1651000"/>
            <a:ext cx="4749800" cy="4445000"/>
          </a:xfrm>
          <a:prstGeom prst="rect">
            <a:avLst/>
          </a:prstGeom>
          <a:noFill/>
          <a:ln w="12687" cap="flat" cmpd="sng">
            <a:noFill/>
            <a:prstDash val="solid"/>
            <a:round/>
          </a:ln>
        </p:spPr>
        <p:txBody>
          <a:bodyPr vert="horz" wrap="square" lIns="127000" tIns="101600" rIns="127000" bIns="101600" rtlCol="0" anchor="t" anchorCtr="0"/>
          <a:lstStyle/>
          <a:p>
            <a:pPr marL="0" indent="0" algn="ctr">
              <a:lnSpc>
                <a:spcPct val="108000"/>
              </a:lnSpc>
              <a:spcAft>
                <a:spcPts val="1800"/>
              </a:spcAft>
              <a:defRPr/>
            </a:pPr>
            <a:r>
              <a:rPr lang="en-US" sz="17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“激励-环境-响应” 关键评估情景</a:t>
            </a:r>
            <a:endParaRPr lang="en-US" sz="1100"/>
          </a:p>
          <a:p>
            <a:pPr marL="0" indent="0" algn="l">
              <a:lnSpc>
                <a:spcPct val="117000"/>
              </a:lnSpc>
              <a:spcAft>
                <a:spcPts val="1400"/>
              </a:spcAft>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情景一：可用性保障（网络异常自愈）</a:t>
            </a:r>
            <a:b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激励：</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网络瞬断引发连接异常，数据库连接池失效。</a:t>
            </a:r>
            <a:b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生产环境高频消息交互，服务不可中断。</a:t>
            </a:r>
            <a:b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响应：</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客户端自动重传+服务端幂等去重；连接池Lazy Reconnect实现无感自愈。</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1400"/>
              </a:spcAft>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情景二：性能优化（高并发吞吐）</a:t>
            </a:r>
            <a:b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激励：</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万级并发消息写入，海量离线消息拉取请求。</a:t>
            </a:r>
            <a:b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核心业务逻辑与慢速磁盘I/O资源竞争。</a:t>
            </a:r>
            <a:b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响应：</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异步批量刷盘隔离I/O；索引优化实现毫秒级范围查询，削峰填谷保障低延迟。</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情景三：安全防护（身份鉴权）</a:t>
            </a:r>
            <a:b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激励：</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非法请求尝试冒充用户身份越权访问。</a:t>
            </a:r>
            <a:b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公网暴露的开放服务接口，面临恶意攻击。</a:t>
            </a:r>
            <a:b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响应：</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全链路Session Token动态鉴权，消息包级身份校验，杜绝非法访问与数据泄露。</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36600" y="457200"/>
            <a:ext cx="139700" cy="457200"/>
          </a:xfrm>
          <a:prstGeom prst="roundRect">
            <a:avLst>
              <a:gd name="adj" fmla="val 0"/>
            </a:avLst>
          </a:prstGeom>
          <a:solidFill>
            <a:srgbClr val="0052CC">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03300" y="368300"/>
            <a:ext cx="10058400" cy="635000"/>
          </a:xfrm>
          <a:prstGeom prst="rect">
            <a:avLst/>
          </a:prstGeom>
          <a:noFill/>
          <a:ln w="12687" cap="flat" cmpd="sng">
            <a:noFill/>
            <a:prstDash val="solid"/>
            <a:round/>
          </a:ln>
        </p:spPr>
        <p:txBody>
          <a:bodyPr vert="horz" wrap="square" lIns="0" tIns="0" rIns="0" bIns="0" rtlCol="0" anchor="t" anchorCtr="0"/>
          <a:lstStyle/>
          <a:p>
            <a:pPr marL="0" indent="0" algn="l">
              <a:lnSpc>
                <a:spcPct val="100000"/>
              </a:lnSpc>
              <a:defRPr/>
            </a:pPr>
            <a:r>
              <a:rPr lang="en-US" sz="2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核心质量场景评估</a:t>
            </a:r>
            <a:endParaRPr lang="en-US" sz="1100"/>
          </a:p>
        </p:txBody>
      </p:sp>
      <p:sp>
        <p:nvSpPr>
          <p:cNvPr id="5" name="AutoShape 5"/>
          <p:cNvSpPr/>
          <p:nvPr/>
        </p:nvSpPr>
        <p:spPr>
          <a:xfrm>
            <a:off x="736600" y="1460500"/>
            <a:ext cx="3378200" cy="4394200"/>
          </a:xfrm>
          <a:prstGeom prst="roundRect">
            <a:avLst>
              <a:gd name="adj" fmla="val 16541"/>
            </a:avLst>
          </a:prstGeom>
          <a:solidFill>
            <a:srgbClr val="F5F8FA">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6" name="AutoShape 6"/>
          <p:cNvSpPr/>
          <p:nvPr/>
        </p:nvSpPr>
        <p:spPr>
          <a:xfrm>
            <a:off x="825500" y="1600200"/>
            <a:ext cx="3200400" cy="41148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00000"/>
              </a:lnSpc>
              <a:defRPr/>
            </a:pPr>
            <a:r>
              <a:rPr lang="en-US" sz="1400" b="0"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[ 01 ] 可用性</a:t>
            </a:r>
            <a:endParaRPr lang="en-US" sz="1100"/>
          </a:p>
          <a:p>
            <a:pPr marL="0" indent="0" algn="l">
              <a:lnSpc>
                <a:spcPct val="100000"/>
              </a:lnSpc>
              <a:spcAft>
                <a:spcPts val="1400"/>
              </a:spcAft>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弱网环境下的可靠投递保障</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场景挑战：</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移动网络频繁切换（如电梯、地铁场景）导致TCP连接瞬断，消息在传输层极易丢失，直接影响通信连续性。</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Bef>
                <a:spcPts val="1000"/>
              </a:spcBef>
            </a:pPr>
            <a:r>
              <a:rPr lang="en-US" sz="1300" b="0"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技术响应：</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客户端启动应用层重传定时器兜底；服务端通过滑动去重窗口机制严格保证消息幂等性，确保每条消息实现“至少一次”的可靠到达，消除弱网影响。</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4394200" y="1460500"/>
            <a:ext cx="3378200" cy="4394200"/>
          </a:xfrm>
          <a:prstGeom prst="roundRect">
            <a:avLst>
              <a:gd name="adj" fmla="val 16541"/>
            </a:avLst>
          </a:prstGeom>
          <a:solidFill>
            <a:srgbClr val="F5F8FA">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8" name="AutoShape 8"/>
          <p:cNvSpPr/>
          <p:nvPr/>
        </p:nvSpPr>
        <p:spPr>
          <a:xfrm>
            <a:off x="4483100" y="1600200"/>
            <a:ext cx="3200400" cy="41148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00000"/>
              </a:lnSpc>
              <a:defRPr/>
            </a:pPr>
            <a:r>
              <a:rPr lang="en-US" sz="1400" b="0"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[ 02 ] 性能</a:t>
            </a:r>
            <a:endParaRPr lang="en-US" sz="1100"/>
          </a:p>
          <a:p>
            <a:pPr marL="0" indent="0" algn="l">
              <a:lnSpc>
                <a:spcPct val="100000"/>
              </a:lnSpc>
              <a:spcAft>
                <a:spcPts val="1400"/>
              </a:spcAft>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高并发场景的吞吐与隔离设计</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场景挑战：</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晚间高峰时段海量用户同时并发发送消息，网络IO处理不及时或磁盘写入阻塞会导致系统响应延迟激增，吞吐量骤降。</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Bef>
                <a:spcPts val="1000"/>
              </a:spcBef>
            </a:pPr>
            <a:r>
              <a:rPr lang="en-US" sz="1300" b="0"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技术响应：</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采用Epoll Reactor模型实现网络事件的高效非阻塞处理；业务逻辑由独立线程池并行承载；数据落地采用异步线程批量写入MySQL，实现核心业务计算与慢速磁盘I/O的物理隔离，保障高吞吐低延迟。</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8051800" y="1460500"/>
            <a:ext cx="3378200" cy="4394200"/>
          </a:xfrm>
          <a:prstGeom prst="roundRect">
            <a:avLst>
              <a:gd name="adj" fmla="val 16541"/>
            </a:avLst>
          </a:prstGeom>
          <a:solidFill>
            <a:srgbClr val="F5F8FA">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10" name="AutoShape 10"/>
          <p:cNvSpPr/>
          <p:nvPr/>
        </p:nvSpPr>
        <p:spPr>
          <a:xfrm>
            <a:off x="8140700" y="1600200"/>
            <a:ext cx="3200400" cy="41148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00000"/>
              </a:lnSpc>
              <a:defRPr/>
            </a:pPr>
            <a:r>
              <a:rPr lang="en-US" sz="1400" b="0"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[ 03 ] 安全性</a:t>
            </a:r>
            <a:endParaRPr lang="en-US" sz="1100"/>
          </a:p>
          <a:p>
            <a:pPr marL="0" indent="0" algn="l">
              <a:lnSpc>
                <a:spcPct val="100000"/>
              </a:lnSpc>
              <a:spcAft>
                <a:spcPts val="1400"/>
              </a:spcAft>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非法访问的全链路鉴权拦截</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场景挑战：</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恶意攻击者伪造协议包、冒充合法用户身份发起请求，可能导致垃圾消息泛滥、用户数据泄露及服务资源被非法占用。</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spcBef>
                <a:spcPts val="1000"/>
              </a:spcBef>
            </a:pPr>
            <a:r>
              <a:rPr lang="en-US" sz="1300" b="0"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技术响应：</a:t>
            </a:r>
            <a:b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业务层ChatService对每个上行消息包强制校验Session Token合法性；一旦鉴权失败，立即主动关闭连接并记录审计日志，从入口处拦截非法访问，杜绝身份冒充风险。</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36600" y="457200"/>
            <a:ext cx="139700" cy="457200"/>
          </a:xfrm>
          <a:prstGeom prst="roundRect">
            <a:avLst>
              <a:gd name="adj" fmla="val 0"/>
            </a:avLst>
          </a:prstGeom>
          <a:solidFill>
            <a:srgbClr val="0052CC">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03300" y="368300"/>
            <a:ext cx="10058400" cy="635000"/>
          </a:xfrm>
          <a:prstGeom prst="rect">
            <a:avLst/>
          </a:prstGeom>
          <a:noFill/>
          <a:ln w="12687" cap="flat" cmpd="sng">
            <a:noFill/>
            <a:prstDash val="solid"/>
            <a:round/>
          </a:ln>
        </p:spPr>
        <p:txBody>
          <a:bodyPr vert="horz" wrap="square" lIns="0" tIns="0" rIns="0" bIns="0" rtlCol="0" anchor="t" anchorCtr="0"/>
          <a:lstStyle/>
          <a:p>
            <a:pPr marL="0" indent="0" algn="l">
              <a:lnSpc>
                <a:spcPct val="100000"/>
              </a:lnSpc>
              <a:defRPr/>
            </a:pPr>
            <a:r>
              <a:rPr lang="en-US" sz="2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Simple_IMChat 项目总结与未来展望</a:t>
            </a:r>
            <a:endParaRPr lang="en-US" sz="1100"/>
          </a:p>
        </p:txBody>
      </p:sp>
      <p:sp>
        <p:nvSpPr>
          <p:cNvPr id="5" name="AutoShape 5"/>
          <p:cNvSpPr/>
          <p:nvPr/>
        </p:nvSpPr>
        <p:spPr>
          <a:xfrm>
            <a:off x="736600" y="1460500"/>
            <a:ext cx="5308600" cy="4394200"/>
          </a:xfrm>
          <a:prstGeom prst="roundRect">
            <a:avLst>
              <a:gd name="adj" fmla="val 16763"/>
            </a:avLst>
          </a:prstGeom>
          <a:solidFill>
            <a:srgbClr val="EBF4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6" name="AutoShape 6"/>
          <p:cNvSpPr/>
          <p:nvPr/>
        </p:nvSpPr>
        <p:spPr>
          <a:xfrm>
            <a:off x="914400" y="1651000"/>
            <a:ext cx="4940300" cy="40259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08000"/>
              </a:lnSpc>
              <a:spcAft>
                <a:spcPts val="1800"/>
              </a:spcAft>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项目核心成果回顾</a:t>
            </a:r>
            <a:endParaRPr lang="en-US" sz="1100"/>
          </a:p>
          <a:p>
            <a:pPr marL="0" indent="0" algn="l">
              <a:lnSpc>
                <a:spcPct val="117000"/>
              </a:lnSpc>
              <a:spcAft>
                <a:spcPts val="1200"/>
              </a:spcAft>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混合架构融合：</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成功实践高并发、松耦合的分布式架构，兼顾系统的高性能与可扩展性，支撑业务灵活迭代。</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1200"/>
              </a:spcAft>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多维建模验证：</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通过“4+1”视图模型清晰拆解系统设计，从逻辑、物理、开发等维度完成架构可视化。</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1200"/>
              </a:spcAft>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质量体系闭环：</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完成全链路架构评估与压测验证，核心指标达标，验证了高可用设计的可行性与稳定性。</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小结：系统从架构设计到功能落地均实现技术指标全面达标，为后续业务扩展与技术演进奠定了坚实基础。</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311900" y="1460500"/>
            <a:ext cx="5118100" cy="4394200"/>
          </a:xfrm>
          <a:prstGeom prst="roundRect">
            <a:avLst>
              <a:gd name="adj" fmla="val 16763"/>
            </a:avLst>
          </a:prstGeom>
          <a:solidFill>
            <a:srgbClr val="EBF4FF">
              <a:alpha val="100000"/>
            </a:srgbClr>
          </a:solidFill>
          <a:ln w="12700" cap="flat" cmpd="sng">
            <a:solidFill>
              <a:srgbClr val="0052CC">
                <a:alpha val="100000"/>
              </a:srgbClr>
            </a:solidFill>
            <a:prstDash val="solid"/>
            <a:miter lim="10000000"/>
          </a:ln>
        </p:spPr>
        <p:txBody>
          <a:bodyPr vert="horz" wrap="square" lIns="0" tIns="0" rIns="0" bIns="0" rtlCol="0" anchor="ctr" anchorCtr="0"/>
          <a:lstStyle/>
          <a:p>
            <a:pPr algn="ctr">
              <a:defRPr/>
            </a:pPr>
          </a:p>
        </p:txBody>
      </p:sp>
      <p:sp>
        <p:nvSpPr>
          <p:cNvPr id="8" name="AutoShape 8"/>
          <p:cNvSpPr/>
          <p:nvPr/>
        </p:nvSpPr>
        <p:spPr>
          <a:xfrm>
            <a:off x="6489700" y="1651000"/>
            <a:ext cx="4749800" cy="4025900"/>
          </a:xfrm>
          <a:prstGeom prst="rect">
            <a:avLst/>
          </a:prstGeom>
          <a:noFill/>
          <a:ln w="12687" cap="flat" cmpd="sng">
            <a:noFill/>
            <a:prstDash val="solid"/>
            <a:round/>
          </a:ln>
        </p:spPr>
        <p:txBody>
          <a:bodyPr vert="horz" wrap="square" lIns="88900" tIns="50800" rIns="88900" bIns="50800" rtlCol="0" anchor="t" anchorCtr="0"/>
          <a:lstStyle/>
          <a:p>
            <a:pPr marL="0" indent="0" algn="l">
              <a:lnSpc>
                <a:spcPct val="108000"/>
              </a:lnSpc>
              <a:spcAft>
                <a:spcPts val="1800"/>
              </a:spcAft>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演进方向：微服务化重构</a:t>
            </a:r>
            <a:endParaRPr lang="en-US" sz="1100"/>
          </a:p>
          <a:p>
            <a:pPr marL="0" indent="0" algn="l">
              <a:lnSpc>
                <a:spcPct val="117000"/>
              </a:lnSpc>
              <a:spcAft>
                <a:spcPts val="1200"/>
              </a:spcAft>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1. 单体架构解耦拆分</a:t>
            </a:r>
            <a:b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将核心 ChatServer 单体应用拆分为</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认证、用户、好友、消息</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等独立微服务，实现业务模块隔离，支持独立部署、扩容与技术选型。</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Aft>
                <a:spcPts val="1200"/>
              </a:spcAft>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 网关治理与通信升级</a:t>
            </a:r>
            <a:b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 API 网关作为统一流量入口，负责鉴权、路由与流控；内部服务间采用</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gRPC</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协议通信，提升接口调用的效率与安全性。</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重构目标：实现系统的弹性伸缩能力，从容应对用户量的爆发式增长，打造可持续演进、易于维护的高可用分布式通讯平台。</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2032000"/>
            <a:ext cx="101600" cy="3302000"/>
          </a:xfrm>
          <a:prstGeom prst="roundRect">
            <a:avLst>
              <a:gd name="adj" fmla="val 0"/>
            </a:avLst>
          </a:prstGeom>
          <a:solidFill>
            <a:srgbClr val="0052CC">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524000" y="2032000"/>
            <a:ext cx="9652000" cy="3048000"/>
          </a:xfrm>
          <a:prstGeom prst="rect">
            <a:avLst/>
          </a:prstGeom>
          <a:noFill/>
          <a:ln w="12687" cap="flat" cmpd="sng">
            <a:noFill/>
            <a:prstDash val="solid"/>
            <a:round/>
          </a:ln>
        </p:spPr>
        <p:txBody>
          <a:bodyPr vert="horz" wrap="square" lIns="127000" tIns="101600" rIns="127000" bIns="101600" rtlCol="0" anchor="ctr" anchorCtr="0"/>
          <a:lstStyle/>
          <a:p>
            <a:pPr marL="0" indent="0" algn="l">
              <a:lnSpc>
                <a:spcPct val="108000"/>
              </a:lnSpc>
              <a:spcAft>
                <a:spcPts val="3200"/>
              </a:spcAft>
              <a:defRPr/>
            </a:pPr>
            <a:r>
              <a:rPr lang="en-US" sz="4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a:p>
            <a:pPr marL="0" indent="0" algn="l">
              <a:lnSpc>
                <a:spcPct val="117000"/>
              </a:lnSpc>
              <a:spcAft>
                <a:spcPts val="2000"/>
              </a:spcAft>
            </a:pPr>
            <a:r>
              <a:rPr lang="en-US" sz="2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 互动问答环节</a:t>
            </a:r>
            <a:endParaRPr lang="en-US" sz="2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8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技术探讨 · 经验交流 · 共同进步</a:t>
            </a:r>
            <a:endParaRPr lang="en-US" sz="18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1524000" y="5334000"/>
            <a:ext cx="9652000" cy="12700"/>
          </a:xfrm>
          <a:prstGeom prst="roundRect">
            <a:avLst>
              <a:gd name="adj" fmla="val 0"/>
            </a:avLst>
          </a:prstGeom>
          <a:solidFill>
            <a:srgbClr val="DDDDDD">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524000" y="5588000"/>
            <a:ext cx="9652000" cy="762000"/>
          </a:xfrm>
          <a:prstGeom prst="rect">
            <a:avLst/>
          </a:prstGeom>
          <a:noFill/>
          <a:ln w="12687" cap="flat" cmpd="sng">
            <a:noFill/>
            <a:prstDash val="solid"/>
            <a:round/>
          </a:ln>
        </p:spPr>
        <p:txBody>
          <a:bodyPr vert="horz" wrap="square" lIns="127000" tIns="76200" rIns="127000" bIns="76200" rtlCol="0" anchor="t" anchorCtr="0"/>
          <a:lstStyle/>
          <a:p>
            <a:pPr marL="0" indent="0" algn="l">
              <a:lnSpc>
                <a:spcPct val="117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感谢各位老师和同学的耐心聆听，欢迎大家提出问题、批评与建议，我们共同交流！</a:t>
            </a:r>
            <a:endParaRPr lang="en-US" sz="1100"/>
          </a:p>
        </p:txBody>
      </p:sp>
      <p:pic>
        <p:nvPicPr>
          <p:cNvPr id="7" name="Picture 7"/>
          <p:cNvPicPr>
            <a:picLocks noChangeAspect="1"/>
          </p:cNvPicPr>
          <p:nvPr/>
        </p:nvPicPr>
        <p:blipFill>
          <a:blip r:embed="rId1"/>
          <a:stretch>
            <a:fillRect/>
          </a:stretch>
        </p:blipFill>
        <p:spPr>
          <a:xfrm>
            <a:off x="10656888" y="6190807"/>
            <a:ext cx="1522412" cy="667193"/>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7838</Words>
  <Application>WPS 演示</Application>
  <PresentationFormat/>
  <Paragraphs>217</Paragraphs>
  <Slides>16</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16</vt:i4>
      </vt:variant>
    </vt:vector>
  </HeadingPairs>
  <TitlesOfParts>
    <vt:vector size="26" baseType="lpstr">
      <vt:lpstr>Arial</vt:lpstr>
      <vt:lpstr>宋体</vt:lpstr>
      <vt:lpstr>Wingdings</vt:lpstr>
      <vt:lpstr>Arial</vt:lpstr>
      <vt:lpstr>Noto Sans SC</vt:lpstr>
      <vt:lpstr>Calibri</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ruka</cp:lastModifiedBy>
  <cp:revision>1</cp:revision>
  <dcterms:created xsi:type="dcterms:W3CDTF">2026-06-28T09:10:20Z</dcterms:created>
  <dcterms:modified xsi:type="dcterms:W3CDTF">2026-06-28T09:10:20Z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{"Label":"1","ContentProducer":"001191110102MACQD9K64010000","ProduceID":"7656370670348471253","ReservedCode1":"","ContentPropagator":"","PropagateID":"","ReservedCode2":""}</vt:lpwstr>
  </property>
  <property fmtid="{D5CDD505-2E9C-101B-9397-08002B2CF9AE}" pid="3" name="ICV">
    <vt:lpwstr>FE500CC4BEB647D6BC5D9B9183B95D0C_13</vt:lpwstr>
  </property>
  <property fmtid="{D5CDD505-2E9C-101B-9397-08002B2CF9AE}" pid="4" name="KSOProductBuildVer">
    <vt:lpwstr>2052-12.1.0.26375</vt:lpwstr>
  </property>
</Properties>
</file>