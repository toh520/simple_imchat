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1 封面】</a:t>
            </a:r>
          </a:p>
          <a:p>
            <a:r>
              <a:t>各位老师、同学们，大家晚上好！我是汇报人 toh。今天我分享的大作业题目是《高性能分布式即时通讯系统的体系结构设计与评估》。我们将结合本学期所学的软件体系结构核心理论，深入剖析我做的项目 Simple_IMChat 的异构混合风格、4+1 视图建模，并使用效用树对该系统的动态运行外部质量与开发态静态内部质量进行具体的场景评估与设计权衡。下面请允许我开始汇报。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2 选题背景】</a:t>
            </a:r>
          </a:p>
          <a:p>
            <a:r>
              <a:t>在架构设计之初，我们需要理清 IM 系统的核心痛点。对于长连接即时通讯系统来说，有四大物理限制：第一是高并发连接的性能瓶颈；第二是网络抖动下的可靠性变差；第三是单点故障与不易横向扩容；第四是由于依赖项未就绪导致的冷启动失败。我们的 Simple_IMChat 针对这四个痛点，分别设计了 Epoll Reactor 多路复用、应用层双向 ACK 投递确认、基于 Redis 的无状态状态网关、以及懒重连（Lazy Reconnect）自愈连接池。这些设计决策将在报告后面详细分析。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3 混合架构风格】</a:t>
            </a:r>
          </a:p>
          <a:p>
            <a:r>
              <a:t>我们系统的核心设计在于它不是单一风格，而是一个异构混合体系结构风格。</a:t>
            </a:r>
          </a:p>
          <a:p>
            <a:r>
              <a:t>首先，大格局上是经典 C/S 风格，Qt 胖客户端分担了大量的可靠投递状态机计算。</a:t>
            </a:r>
          </a:p>
          <a:p>
            <a:r>
              <a:t>第二，是分层结构。我们将客户端切为三层，服务端切为四层，保证单向依赖和层间接口隔离。</a:t>
            </a:r>
          </a:p>
          <a:p>
            <a:r>
              <a:t>第三，是事件驱动。单机内是基于 Linux Epoll 的 I/O 多路复用 Reactor，多节点跨服则是基于 Redis 发布订阅的消息总线。</a:t>
            </a:r>
          </a:p>
          <a:p>
            <a:r>
              <a:t>第四，则是仓库风格。我们通过 Redis 集中共享状态，MySQL 作为 Timeline 消息的大仓库。这四种风格相辅相成。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4 场景与逻辑视图】</a:t>
            </a:r>
          </a:p>
          <a:p>
            <a:r>
              <a:t>根据 Kruchten 的理论，“4+1”视图模型是体系结构描述的经典标准。这里我先汇报前两个视图。</a:t>
            </a:r>
          </a:p>
          <a:p>
            <a:r>
              <a:t>第一，是场景视图，它是体系结构的驱动源。我们提取了登录鉴权、好友上线感知、双向 ACK 单聊、群聊和离线增量同步这 5 个最具代表性的用例。</a:t>
            </a:r>
          </a:p>
          <a:p>
            <a:r>
              <a:t>第二，是逻辑视图。在面向对象设计中，逻辑视图直接呈现为设计类图。我们的客户端以 IMClient 为核心，在 imclient.cpp 中维护网络套接字和待确认重传队列；服务端则以 ChatService 为核心，在 chatservice.cpp 中通过 msgHandlerMap 映射表对消息进行路由分发，这极大地避免了大量的 if-else 硬编码耦合。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5 过程视图一：双向 ACK】</a:t>
            </a:r>
          </a:p>
          <a:p>
            <a:r>
              <a:t>过程视图描述的是并发与动态同步机制。我们的第一个核心动态机制是‘应用层双向 ACK 保障可靠消息投递’。</a:t>
            </a:r>
          </a:p>
          <a:p>
            <a:r>
              <a:t>在不稳定的移动网络下，底层 TCP 协议的探活和超时机制响应很慢，无法解决高层应用包的丢失和乱序。</a:t>
            </a:r>
          </a:p>
          <a:p>
            <a:r>
              <a:t>我们在客户端 imclient.cpp 中实现了待确认队列，发出消息后在本地缓存并启动重传定时器。</a:t>
            </a:r>
          </a:p>
          <a:p>
            <a:r>
              <a:t>服务端接收时，通过滑动去重窗口规避了由于重传引发的重复消息。通过这种双确认时序，我们为 IMChat 提供了 At-Least-Once，即‘至少一次’的应用层投递保证，完美地保证了消息可用性。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6 过程视图二：分布式路由】</a:t>
            </a:r>
          </a:p>
          <a:p>
            <a:r>
              <a:t>过程视图中另一个关键动态设计是‘分布式跨服寻址与路由’。</a:t>
            </a:r>
          </a:p>
          <a:p>
            <a:r>
              <a:t>在一个分布式集群中，用户是随机分流到不同的物理节点上的。当 Server1 发现接收消息的用户不在本节点时，它会向共享的 Redis 在线状态网关发起寻址。获取目标用户所在的物理服务器后，通过 Redis Pub/Sub 机制跨节点中转。Server2 异步订阅到消息后，检索本地连接表将消息最终推送出去。</a:t>
            </a:r>
          </a:p>
          <a:p>
            <a:r>
              <a:t>这种机制成功将原本 O(N^2) 的多对多连接复杂度，降低到了以 Redis 为中心的 O(1) 无状态扩展，这为系统的水平伸缩性奠定了坚实的架构基础。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7 开发与物理部署视图】</a:t>
            </a:r>
          </a:p>
          <a:p>
            <a:r>
              <a:t>第三个视图是开发视图。它关注模块组织。我们通过接口抽象，将服务端和客户端的跨平台依赖隔离开，服务端专注于 Linux 环境，客户端则基于标准 Qt 库以进行 Windows 跨平台构建。项目利用 vcpkg 和 CMake 管理复杂的 Protobuf 等第三方库，划分清晰的目录结构以方便团队组织与工作分配。</a:t>
            </a:r>
          </a:p>
          <a:p>
            <a:r>
              <a:t>第四个视图是物理视图，也即部署视图。我们采用了一套 Docker 容器化桥接网络设计。最前端是 Nginx 七层或四层反向代理负责轮询分流。后台是两台隔离部署的 ChatServer 节点，以及映射在宿主机 3307 和 6379 端口的 MySQL 和 Redis 容器。这提供了一键启动并自动组网的能力。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8 质量属性评估】</a:t>
            </a:r>
          </a:p>
          <a:p>
            <a:r>
              <a:t>按照课程课件的体系结构评估大纲要求，质量保障需区分为内部静态质量和外部动态质量。</a:t>
            </a:r>
          </a:p>
          <a:p>
            <a:r>
              <a:t>首先，在开发态内部质量上，我们展示了 Protobuf 带来的高可重用性、Qt 实现的平台无关可移植性、以及接口解耦实现的可测试性。</a:t>
            </a:r>
          </a:p>
          <a:p>
            <a:r>
              <a:t>其次，在运行态外部质量上，我们严格遵循‘激励-环境-响应’的三要素框架进行情景评估。对于可用性，我们的激励是连接瞬断，系统在活跃环境下通过心跳定时器重传和去重窗口来响应；对于性能，我们的激励是高频写盘，主线程 Reactor 避免同步写盘，而通过写 Redis 并使用异步落盘线程池批量刷写 MySQL 来响应。这为系统在大并发下的表现提供了定性评估。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9 架构亮点与折中】</a:t>
            </a:r>
          </a:p>
          <a:p>
            <a:r>
              <a:t>这里我向老师总结我们在 Simple_IMChat 架构上付出的优化努力和设计折中。</a:t>
            </a:r>
          </a:p>
          <a:p>
            <a:r>
              <a:t>第一，应用层双向 ACK 保障了网络瞬断下的消息可靠投递。它的设计折中是稍微增加了心跳包网络带宽开销，但换取了极高的数据可用性。</a:t>
            </a:r>
          </a:p>
          <a:p>
            <a:r>
              <a:t>第二，是 Lazy Reconnect 数据库自愈机制，它成功解决了 Docker compose 部署时的服务冷启动时序问题，服务秒级防雪崩自愈。</a:t>
            </a:r>
          </a:p>
          <a:p>
            <a:r>
              <a:t>第三，是 Redis ZSet 缓存加异步存盘线程池。主线程 Reactor 和慢速磁盘 IO 彻底隔离，它的设计折中是在微秒级极极端崩溃下，可能牺牲少量的 Timeline 强一致性，但为我们带来了万级高吞吐的并发性能提升。这是一项经典的性能与可用性折中决策。</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10 总结与展望】</a:t>
            </a:r>
          </a:p>
          <a:p>
            <a:r>
              <a:t>最后，针对系统整体体系结构，我提出两个未来演进方向：</a:t>
            </a:r>
          </a:p>
          <a:p>
            <a:r>
              <a:t>一是将单体 ChatServer 演进为微服务，剥离出鉴权、群组等逻辑；二是引入专业的 Kafka 消息中间件来应对百万级并发路由。</a:t>
            </a:r>
          </a:p>
          <a:p>
            <a:r>
              <a:t>在答辩准备中，我们对 Redis 状态网关单点故障、双向 ACK 的小包网络负荷等设计细节进行了容错和降级演进规划，这确保了整个软件体系结构的演进灵活性。</a:t>
            </a:r>
          </a:p>
          <a:p>
            <a:r>
              <a:t>以上就是我关于 Simple_IMChat 软件体系结构设计大作业的完整汇报。感谢各位老师的聆听，请老师批评指正！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743200"/>
          </a:xfrm>
          <a:prstGeom prst="rect">
            <a:avLst/>
          </a:prstGeom>
          <a:noFill/>
        </p:spPr>
        <p:txBody>
          <a:bodyPr wrap="square">
            <a:spAutoFit/>
          </a:bodyPr>
          <a:lstStyle/>
          <a:p>
            <a:pPr>
              <a:spcAft>
                <a:spcPts val="2000"/>
              </a:spcAft>
              <a:defRPr sz="4000" b="1">
                <a:solidFill>
                  <a:srgbClr val="00D2FF"/>
                </a:solidFill>
                <a:latin typeface="Trebuchet MS"/>
              </a:defRPr>
            </a:pPr>
            <a:r>
              <a:t>高性能分布式即时通讯系统的</a:t>
            </a:r>
            <a:br/>
            <a:r>
              <a:t>体系结构设计与质量评估报告</a:t>
            </a:r>
          </a:p>
          <a:p>
            <a:pPr>
              <a:defRPr sz="2200">
                <a:solidFill>
                  <a:srgbClr val="FFFFFF"/>
                </a:solidFill>
                <a:latin typeface="Calibri"/>
              </a:defRPr>
            </a:pPr>
            <a:r>
              <a:t>以自研 Simple_IMChat 架构实现为例</a:t>
            </a:r>
          </a:p>
        </p:txBody>
      </p:sp>
      <p:sp>
        <p:nvSpPr>
          <p:cNvPr id="4" name="TextBox 3"/>
          <p:cNvSpPr txBox="1"/>
          <p:nvPr/>
        </p:nvSpPr>
        <p:spPr>
          <a:xfrm>
            <a:off x="914400" y="5303520"/>
            <a:ext cx="10332720" cy="914400"/>
          </a:xfrm>
          <a:prstGeom prst="rect">
            <a:avLst/>
          </a:prstGeom>
          <a:noFill/>
        </p:spPr>
        <p:txBody>
          <a:bodyPr wrap="none">
            <a:spAutoFit/>
          </a:bodyPr>
          <a:lstStyle/>
          <a:p>
            <a:pPr>
              <a:defRPr sz="1600">
                <a:solidFill>
                  <a:srgbClr val="A0A0A0"/>
                </a:solidFill>
                <a:latin typeface="Calibri"/>
              </a:defRPr>
            </a:pPr>
            <a:r>
              <a:t>汇报人: toh  |  课程: 软件体系结构大作业</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选题背景与即时通讯系统设计的核心挑战</a:t>
            </a:r>
          </a:p>
        </p:txBody>
      </p:sp>
      <p:sp>
        <p:nvSpPr>
          <p:cNvPr id="4" name="Rounded Rectangle 3"/>
          <p:cNvSpPr/>
          <p:nvPr/>
        </p:nvSpPr>
        <p:spPr>
          <a:xfrm>
            <a:off x="73152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663440" cy="3749039"/>
          </a:xfrm>
          <a:prstGeom prst="rect">
            <a:avLst/>
          </a:prstGeom>
          <a:noFill/>
        </p:spPr>
        <p:txBody>
          <a:bodyPr wrap="square">
            <a:spAutoFit/>
          </a:bodyPr>
          <a:lstStyle/>
          <a:p>
            <a:pPr>
              <a:spcAft>
                <a:spcPts val="1400"/>
              </a:spcAft>
              <a:defRPr sz="2000" b="1">
                <a:solidFill>
                  <a:srgbClr val="00D2FF"/>
                </a:solidFill>
              </a:defRPr>
            </a:pPr>
            <a:r>
              <a:t>即时通讯 (IM) 设计核心痛点：</a:t>
            </a:r>
          </a:p>
          <a:p>
            <a:pPr>
              <a:spcAft>
                <a:spcPts val="1000"/>
              </a:spcAft>
              <a:defRPr sz="1500">
                <a:solidFill>
                  <a:srgbClr val="FFFFFF"/>
                </a:solidFill>
              </a:defRPr>
            </a:pPr>
            <a:r>
              <a:t>1. 高并发连接：单机需要维持并分发上万个 TCP 活跃长连接事件。</a:t>
            </a:r>
          </a:p>
          <a:p>
            <a:pPr>
              <a:spcAft>
                <a:spcPts val="1000"/>
              </a:spcAft>
              <a:defRPr sz="1500">
                <a:solidFill>
                  <a:srgbClr val="FFFFFF"/>
                </a:solidFill>
              </a:defRPr>
            </a:pPr>
            <a:r>
              <a:t>2. 网络抖动丢包：移动端切网、瞬断引起的应用层丢包与消息乱序。</a:t>
            </a:r>
          </a:p>
          <a:p>
            <a:pPr>
              <a:spcAft>
                <a:spcPts val="1000"/>
              </a:spcAft>
              <a:defRPr sz="1500">
                <a:solidFill>
                  <a:srgbClr val="FFFFFF"/>
                </a:solidFill>
              </a:defRPr>
            </a:pPr>
            <a:r>
              <a:t>3. 无法单机扩容：传统单体 IM 系统无法无缝水平扩展服务节点。</a:t>
            </a:r>
          </a:p>
          <a:p>
            <a:pPr>
              <a:spcAft>
                <a:spcPts val="1000"/>
              </a:spcAft>
              <a:defRPr sz="1500">
                <a:solidFill>
                  <a:srgbClr val="FFFFFF"/>
                </a:solidFill>
              </a:defRPr>
            </a:pPr>
            <a:r>
              <a:t>4. 环境崩溃容错：数据库/缓存瞬断导致服务器雪崩失败。</a:t>
            </a:r>
          </a:p>
        </p:txBody>
      </p:sp>
      <p:sp>
        <p:nvSpPr>
          <p:cNvPr id="6" name="Rounded Rectangle 5"/>
          <p:cNvSpPr/>
          <p:nvPr/>
        </p:nvSpPr>
        <p:spPr>
          <a:xfrm>
            <a:off x="640080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3749039"/>
          </a:xfrm>
          <a:prstGeom prst="rect">
            <a:avLst/>
          </a:prstGeom>
          <a:noFill/>
        </p:spPr>
        <p:txBody>
          <a:bodyPr wrap="square">
            <a:spAutoFit/>
          </a:bodyPr>
          <a:lstStyle/>
          <a:p>
            <a:pPr>
              <a:spcAft>
                <a:spcPts val="1400"/>
              </a:spcAft>
              <a:defRPr sz="2000" b="1">
                <a:solidFill>
                  <a:srgbClr val="00D2FF"/>
                </a:solidFill>
              </a:defRPr>
            </a:pPr>
            <a:r>
              <a:t>Simple_IMChat 架构应对策略：</a:t>
            </a:r>
          </a:p>
          <a:p>
            <a:pPr>
              <a:spcAft>
                <a:spcPts val="1000"/>
              </a:spcAft>
              <a:defRPr sz="1500">
                <a:solidFill>
                  <a:srgbClr val="FFFFFF"/>
                </a:solidFill>
              </a:defRPr>
            </a:pPr>
            <a:r>
              <a:t>1. Epoll Reactor：采用网络 I/O 多路复用，配合非阻塞线程池驱动。</a:t>
            </a:r>
          </a:p>
          <a:p>
            <a:pPr>
              <a:spcAft>
                <a:spcPts val="1000"/>
              </a:spcAft>
              <a:defRPr sz="1500">
                <a:solidFill>
                  <a:srgbClr val="FFFFFF"/>
                </a:solidFill>
              </a:defRPr>
            </a:pPr>
            <a:r>
              <a:t>2. 双向 ACK 确认：应用层心跳重传定时器，滑动去重窗口保障送达。</a:t>
            </a:r>
          </a:p>
          <a:p>
            <a:pPr>
              <a:spcAft>
                <a:spcPts val="1000"/>
              </a:spcAft>
              <a:defRPr sz="1500">
                <a:solidFill>
                  <a:srgbClr val="FFFFFF"/>
                </a:solidFill>
              </a:defRPr>
            </a:pPr>
            <a:r>
              <a:t>3. Redis 状态网关：节点无状态，基于 Pub/Sub 转发跨服消息。</a:t>
            </a:r>
          </a:p>
          <a:p>
            <a:pPr>
              <a:spcAft>
                <a:spcPts val="1000"/>
              </a:spcAft>
              <a:defRPr sz="1500">
                <a:solidFill>
                  <a:srgbClr val="FFFFFF"/>
                </a:solidFill>
              </a:defRPr>
            </a:pPr>
            <a:r>
              <a:t>4. Lazy Reconnect：自研池化懒重连，网络时序秒级防雪崩自愈。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异构混合体系结构风格 (Heterogeneous Style)</a:t>
            </a:r>
          </a:p>
        </p:txBody>
      </p:sp>
      <p:sp>
        <p:nvSpPr>
          <p:cNvPr id="4" name="Rounded Rectangle 3"/>
          <p:cNvSpPr/>
          <p:nvPr/>
        </p:nvSpPr>
        <p:spPr>
          <a:xfrm>
            <a:off x="731520" y="1645920"/>
            <a:ext cx="24688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2286000" cy="3657600"/>
          </a:xfrm>
          <a:prstGeom prst="rect">
            <a:avLst/>
          </a:prstGeom>
          <a:noFill/>
        </p:spPr>
        <p:txBody>
          <a:bodyPr wrap="square">
            <a:spAutoFit/>
          </a:bodyPr>
          <a:lstStyle/>
          <a:p>
            <a:pPr>
              <a:spcAft>
                <a:spcPts val="600"/>
              </a:spcAft>
              <a:defRPr sz="1500" b="1">
                <a:solidFill>
                  <a:srgbClr val="00D2FF"/>
                </a:solidFill>
              </a:defRPr>
            </a:pPr>
            <a:r>
              <a:t>客户机/服务器风格 (C/S)</a:t>
            </a:r>
          </a:p>
          <a:p>
            <a:pPr>
              <a:spcAft>
                <a:spcPts val="1200"/>
              </a:spcAft>
              <a:defRPr sz="1100" i="1">
                <a:solidFill>
                  <a:srgbClr val="A0A0A0"/>
                </a:solidFill>
              </a:defRPr>
            </a:pPr>
            <a:r>
              <a:t>系统大格局的划分方式。</a:t>
            </a:r>
          </a:p>
          <a:p>
            <a:pPr>
              <a:defRPr sz="1150">
                <a:solidFill>
                  <a:srgbClr val="FFFFFF"/>
                </a:solidFill>
              </a:defRPr>
            </a:pPr>
            <a:r>
              <a:t>胖客户端 (Qt) 负责UI展示、协议二进制打包 (Protobuf) 和 ACK 状态机；</a:t>
            </a:r>
            <a:br/>
            <a:br/>
            <a:r>
              <a:t>服务端 (ChatServer) 负责高并发寻址与分布式路由分发。</a:t>
            </a:r>
          </a:p>
        </p:txBody>
      </p:sp>
      <p:sp>
        <p:nvSpPr>
          <p:cNvPr id="6" name="Rounded Rectangle 5"/>
          <p:cNvSpPr/>
          <p:nvPr/>
        </p:nvSpPr>
        <p:spPr>
          <a:xfrm>
            <a:off x="3474720" y="1645920"/>
            <a:ext cx="24688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83080"/>
            <a:ext cx="2286000" cy="3657600"/>
          </a:xfrm>
          <a:prstGeom prst="rect">
            <a:avLst/>
          </a:prstGeom>
          <a:noFill/>
        </p:spPr>
        <p:txBody>
          <a:bodyPr wrap="square">
            <a:spAutoFit/>
          </a:bodyPr>
          <a:lstStyle/>
          <a:p>
            <a:pPr>
              <a:spcAft>
                <a:spcPts val="600"/>
              </a:spcAft>
              <a:defRPr sz="1500" b="1">
                <a:solidFill>
                  <a:srgbClr val="00D2FF"/>
                </a:solidFill>
              </a:defRPr>
            </a:pPr>
            <a:r>
              <a:t>分层体系结构 (Layered)</a:t>
            </a:r>
          </a:p>
          <a:p>
            <a:pPr>
              <a:spcAft>
                <a:spcPts val="1200"/>
              </a:spcAft>
              <a:defRPr sz="1100" i="1">
                <a:solidFill>
                  <a:srgbClr val="A0A0A0"/>
                </a:solidFill>
              </a:defRPr>
            </a:pPr>
            <a:r>
              <a:t>系统内部模块的静态约束。</a:t>
            </a:r>
          </a:p>
          <a:p>
            <a:pPr>
              <a:defRPr sz="1150">
                <a:solidFill>
                  <a:srgbClr val="FFFFFF"/>
                </a:solidFill>
              </a:defRPr>
            </a:pPr>
            <a:r>
              <a:t>客户端分三层 (UI、控制层、连接层)；</a:t>
            </a:r>
            <a:br/>
            <a:br/>
            <a:r>
              <a:t>服务端分四层 (Epoll网络驱动层、ChatService业务分发层、Model实体层、连接池化层)。</a:t>
            </a:r>
          </a:p>
        </p:txBody>
      </p:sp>
      <p:sp>
        <p:nvSpPr>
          <p:cNvPr id="8" name="Rounded Rectangle 7"/>
          <p:cNvSpPr/>
          <p:nvPr/>
        </p:nvSpPr>
        <p:spPr>
          <a:xfrm>
            <a:off x="6217920" y="1645920"/>
            <a:ext cx="24688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783080"/>
            <a:ext cx="2286000" cy="3657600"/>
          </a:xfrm>
          <a:prstGeom prst="rect">
            <a:avLst/>
          </a:prstGeom>
          <a:noFill/>
        </p:spPr>
        <p:txBody>
          <a:bodyPr wrap="square">
            <a:spAutoFit/>
          </a:bodyPr>
          <a:lstStyle/>
          <a:p>
            <a:pPr>
              <a:spcAft>
                <a:spcPts val="600"/>
              </a:spcAft>
              <a:defRPr sz="1500" b="1">
                <a:solidFill>
                  <a:srgbClr val="00D2FF"/>
                </a:solidFill>
              </a:defRPr>
            </a:pPr>
            <a:r>
              <a:t>事件驱动风格 (Reactor)</a:t>
            </a:r>
          </a:p>
          <a:p>
            <a:pPr>
              <a:spcAft>
                <a:spcPts val="1200"/>
              </a:spcAft>
              <a:defRPr sz="1100" i="1">
                <a:solidFill>
                  <a:srgbClr val="A0A0A0"/>
                </a:solidFill>
              </a:defRPr>
            </a:pPr>
            <a:r>
              <a:t>高并发连接与跨服解耦机制。</a:t>
            </a:r>
          </a:p>
          <a:p>
            <a:pPr>
              <a:defRPr sz="1150">
                <a:solidFill>
                  <a:srgbClr val="FFFFFF"/>
                </a:solidFill>
              </a:defRPr>
            </a:pPr>
            <a:r>
              <a:t>单机内部基于 Linux Epoll Reactor 模式，事件就绪触发回调；</a:t>
            </a:r>
            <a:br/>
            <a:br/>
            <a:r>
              <a:t>多物理节点集群间，基于 Redis Pub/Sub 订阅实例通道，实现跨节点异步中转。</a:t>
            </a:r>
          </a:p>
        </p:txBody>
      </p:sp>
      <p:sp>
        <p:nvSpPr>
          <p:cNvPr id="10" name="Rounded Rectangle 9"/>
          <p:cNvSpPr/>
          <p:nvPr/>
        </p:nvSpPr>
        <p:spPr>
          <a:xfrm>
            <a:off x="8961120" y="1645920"/>
            <a:ext cx="24688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83080"/>
            <a:ext cx="2286000" cy="3657600"/>
          </a:xfrm>
          <a:prstGeom prst="rect">
            <a:avLst/>
          </a:prstGeom>
          <a:noFill/>
        </p:spPr>
        <p:txBody>
          <a:bodyPr wrap="square">
            <a:spAutoFit/>
          </a:bodyPr>
          <a:lstStyle/>
          <a:p>
            <a:pPr>
              <a:spcAft>
                <a:spcPts val="600"/>
              </a:spcAft>
              <a:defRPr sz="1500" b="1">
                <a:solidFill>
                  <a:srgbClr val="00D2FF"/>
                </a:solidFill>
              </a:defRPr>
            </a:pPr>
            <a:r>
              <a:t>中心仓库风格 (Repository)</a:t>
            </a:r>
          </a:p>
          <a:p>
            <a:pPr>
              <a:spcAft>
                <a:spcPts val="1200"/>
              </a:spcAft>
              <a:defRPr sz="1100" i="1">
                <a:solidFill>
                  <a:srgbClr val="A0A0A0"/>
                </a:solidFill>
              </a:defRPr>
            </a:pPr>
            <a:r>
              <a:t>分布式共享数据源的维护。</a:t>
            </a:r>
          </a:p>
          <a:p>
            <a:pPr>
              <a:defRPr sz="1150">
                <a:solidFill>
                  <a:srgbClr val="FFFFFF"/>
                </a:solidFill>
              </a:defRPr>
            </a:pPr>
            <a:r>
              <a:t>各节点共享 Redis 状态网关，存放在线状态与 ZSet 热点消息；</a:t>
            </a:r>
            <a:br/>
            <a:br/>
            <a:r>
              <a:t>批量异步刷入 MySQL 物理 Timeline 仓库以供历史拉取。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“4+1” 模型之 场景视图与逻辑视图 (面向对象分解)</a:t>
            </a:r>
          </a:p>
        </p:txBody>
      </p:sp>
      <p:sp>
        <p:nvSpPr>
          <p:cNvPr id="4" name="Rounded Rectangle 3"/>
          <p:cNvSpPr/>
          <p:nvPr/>
        </p:nvSpPr>
        <p:spPr>
          <a:xfrm>
            <a:off x="73152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663440" cy="3749039"/>
          </a:xfrm>
          <a:prstGeom prst="rect">
            <a:avLst/>
          </a:prstGeom>
          <a:noFill/>
        </p:spPr>
        <p:txBody>
          <a:bodyPr wrap="square">
            <a:spAutoFit/>
          </a:bodyPr>
          <a:lstStyle/>
          <a:p>
            <a:pPr>
              <a:spcAft>
                <a:spcPts val="1000"/>
              </a:spcAft>
              <a:defRPr sz="1800" b="1">
                <a:solidFill>
                  <a:srgbClr val="00D2FF"/>
                </a:solidFill>
              </a:defRPr>
            </a:pPr>
            <a:r>
              <a:t>1. 场景视图 (Use-Case View)</a:t>
            </a:r>
          </a:p>
          <a:p>
            <a:pPr>
              <a:spcAft>
                <a:spcPts val="1000"/>
              </a:spcAft>
              <a:defRPr sz="1400">
                <a:solidFill>
                  <a:srgbClr val="FFFFFF"/>
                </a:solidFill>
              </a:defRPr>
            </a:pPr>
            <a:r>
              <a:t>该视图是体系结构设计的核心驱动源与最终验证工具。系统提取了五个关键的用例场景进行体系结构演化说明：</a:t>
            </a:r>
            <a:br/>
            <a:r>
              <a:t>• 用户注册与登录校验 (Session 鉴权校验)</a:t>
            </a:r>
            <a:br/>
            <a:r>
              <a:t>• 好友关系建立 (好友申请与实时上线感知)</a:t>
            </a:r>
            <a:br/>
            <a:r>
              <a:t>• 单对单即时聊天 (应用层 ACK 防丢失)</a:t>
            </a:r>
            <a:br/>
            <a:r>
              <a:t>• 群聊服务 (分布式跨服多播)</a:t>
            </a:r>
            <a:br/>
            <a:r>
              <a:t>• 增量 Timeline 离线同步 (按需增量拉取)</a:t>
            </a:r>
          </a:p>
        </p:txBody>
      </p:sp>
      <p:sp>
        <p:nvSpPr>
          <p:cNvPr id="6" name="Rounded Rectangle 5"/>
          <p:cNvSpPr/>
          <p:nvPr/>
        </p:nvSpPr>
        <p:spPr>
          <a:xfrm>
            <a:off x="640080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3749039"/>
          </a:xfrm>
          <a:prstGeom prst="rect">
            <a:avLst/>
          </a:prstGeom>
          <a:noFill/>
        </p:spPr>
        <p:txBody>
          <a:bodyPr wrap="square">
            <a:spAutoFit/>
          </a:bodyPr>
          <a:lstStyle/>
          <a:p>
            <a:pPr>
              <a:spcAft>
                <a:spcPts val="1000"/>
              </a:spcAft>
              <a:defRPr sz="1800" b="1">
                <a:solidFill>
                  <a:srgbClr val="00D2FF"/>
                </a:solidFill>
              </a:defRPr>
            </a:pPr>
            <a:r>
              <a:t>2. 逻辑视图 (Logical View)</a:t>
            </a:r>
          </a:p>
          <a:p>
            <a:pPr>
              <a:defRPr sz="1300">
                <a:solidFill>
                  <a:srgbClr val="FFFFFF"/>
                </a:solidFill>
              </a:defRPr>
            </a:pPr>
            <a:r>
              <a:t>当采用面向对象的方法时，逻辑视图即是对象模型。系统明确划分为两大类簇：</a:t>
            </a:r>
            <a:br/>
            <a:br/>
            <a:r>
              <a:t>• 客户端类模型 (IMClient 为路由核心)：</a:t>
            </a:r>
            <a:br/>
            <a:r>
              <a:t>  在 imclient.cpp 中管理 QTcpSocket 长连接，维护 pendingSendAckMap_ 确认状态机和去重队列。</a:t>
            </a:r>
            <a:br/>
            <a:br/>
            <a:r>
              <a:t>• 服务端类模型 (ChatService 业务单例)：</a:t>
            </a:r>
            <a:br/>
            <a:r>
              <a:t>  在 chatservice.cpp 中定义核心映射映射表 _msgHandlerMap。当收到特定的 MsgType 时，通过回调机制分派给对应的业务处理器。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过程视图 (Process View) - 应用层双向可靠 ACK 机制</a:t>
            </a:r>
          </a:p>
        </p:txBody>
      </p:sp>
      <p:sp>
        <p:nvSpPr>
          <p:cNvPr id="4" name="Rounded Rectangle 3"/>
          <p:cNvSpPr/>
          <p:nvPr/>
        </p:nvSpPr>
        <p:spPr>
          <a:xfrm>
            <a:off x="731520" y="1645920"/>
            <a:ext cx="1069848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3749039"/>
          </a:xfrm>
          <a:prstGeom prst="rect">
            <a:avLst/>
          </a:prstGeom>
          <a:noFill/>
        </p:spPr>
        <p:txBody>
          <a:bodyPr wrap="square">
            <a:spAutoFit/>
          </a:bodyPr>
          <a:lstStyle/>
          <a:p>
            <a:pPr>
              <a:spcAft>
                <a:spcPts val="1400"/>
              </a:spcAft>
              <a:defRPr sz="1800" b="1">
                <a:solidFill>
                  <a:srgbClr val="00D2FF"/>
                </a:solidFill>
              </a:defRPr>
            </a:pPr>
            <a:r>
              <a:t>动态消息时序：解决移动网络抖动丢包问题 (At-Least-Once 保障)</a:t>
            </a:r>
          </a:p>
          <a:p>
            <a:pPr>
              <a:spcAft>
                <a:spcPts val="1200"/>
              </a:spcAft>
              <a:defRPr sz="1450">
                <a:solidFill>
                  <a:srgbClr val="FFFFFF"/>
                </a:solidFill>
              </a:defRPr>
            </a:pPr>
            <a:r>
              <a:t>步骤 1. 发送方客户端缓存待发包：在 imclient.cpp 发送消息时，为数据包分配自增 seq，加入 pendingSendAckMap_，启动 3 秒重传定时器。</a:t>
            </a:r>
          </a:p>
          <a:p>
            <a:pPr>
              <a:spcAft>
                <a:spcPts val="1200"/>
              </a:spcAft>
              <a:defRPr sz="1450">
                <a:solidFill>
                  <a:srgbClr val="FFFFFF"/>
                </a:solidFill>
              </a:defRPr>
            </a:pPr>
            <a:r>
              <a:t>步骤 2. 服务端滑动窗口幂等去重：服务端收到消息后检索滑动窗口（或 Redis 去重哈希表），判断是否为重复消息。若重复则丢弃业务处理，但必须回复 ACK。</a:t>
            </a:r>
          </a:p>
          <a:p>
            <a:pPr>
              <a:spcAft>
                <a:spcPts val="1200"/>
              </a:spcAft>
              <a:defRPr sz="1450">
                <a:solidFill>
                  <a:srgbClr val="FFFFFF"/>
                </a:solidFill>
              </a:defRPr>
            </a:pPr>
            <a:r>
              <a:t>步骤 3. 接收端收到消息后回复确认：接收端客户端收到消息并渲染在 UI 界面后，通过 QTcpSocket 向服务端发送确认的 MsgAck 包。</a:t>
            </a:r>
          </a:p>
          <a:p>
            <a:pPr>
              <a:spcAft>
                <a:spcPts val="1200"/>
              </a:spcAft>
              <a:defRPr sz="1450">
                <a:solidFill>
                  <a:srgbClr val="FFFFFF"/>
                </a:solidFill>
              </a:defRPr>
            </a:pPr>
            <a:r>
              <a:t>步骤 4. 发送端清空待确认队列：发送方收到服务端的 ACK 后，提取 seq，从映射表中移除该消息并关闭重传定时器。若超时未收到确认，定时器自动重发数据。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过程视图 (Process View) - 基于 Pub/Sub 的分布式路由</a:t>
            </a:r>
          </a:p>
        </p:txBody>
      </p:sp>
      <p:sp>
        <p:nvSpPr>
          <p:cNvPr id="4" name="Rounded Rectangle 3"/>
          <p:cNvSpPr/>
          <p:nvPr/>
        </p:nvSpPr>
        <p:spPr>
          <a:xfrm>
            <a:off x="731520" y="1645920"/>
            <a:ext cx="1069848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3749039"/>
          </a:xfrm>
          <a:prstGeom prst="rect">
            <a:avLst/>
          </a:prstGeom>
          <a:noFill/>
        </p:spPr>
        <p:txBody>
          <a:bodyPr wrap="square">
            <a:spAutoFit/>
          </a:bodyPr>
          <a:lstStyle/>
          <a:p>
            <a:pPr>
              <a:spcAft>
                <a:spcPts val="1400"/>
              </a:spcAft>
              <a:defRPr sz="1800" b="1">
                <a:solidFill>
                  <a:srgbClr val="00D2FF"/>
                </a:solidFill>
              </a:defRPr>
            </a:pPr>
            <a:r>
              <a:t>跨节点寻址时序：抹平物理节点差异，支持水平无限扩展</a:t>
            </a:r>
          </a:p>
          <a:p>
            <a:pPr>
              <a:spcAft>
                <a:spcPts val="1200"/>
              </a:spcAft>
              <a:defRPr sz="1450">
                <a:solidFill>
                  <a:srgbClr val="FFFFFF"/>
                </a:solidFill>
              </a:defRPr>
            </a:pPr>
            <a:r>
              <a:t>1. 本地连接检索：UserA (连接在 Server1) 发送消息给 UserB。Server1 检索本地连接映射表 _userConnMap，发现 UserB 并不在本地。</a:t>
            </a:r>
          </a:p>
          <a:p>
            <a:pPr>
              <a:spcAft>
                <a:spcPts val="1200"/>
              </a:spcAft>
              <a:defRPr sz="1450">
                <a:solidFill>
                  <a:srgbClr val="FFFFFF"/>
                </a:solidFill>
              </a:defRPr>
            </a:pPr>
            <a:r>
              <a:t>2. Redis 在线网关寻址：Server1 查询共享 Redis 在线状态网关。执行 HGET user:route "UserB"，检索到 UserB 的登录位置在 Server2。</a:t>
            </a:r>
          </a:p>
          <a:p>
            <a:pPr>
              <a:spcAft>
                <a:spcPts val="1200"/>
              </a:spcAft>
              <a:defRPr sz="1450">
                <a:solidFill>
                  <a:srgbClr val="FFFFFF"/>
                </a:solidFill>
              </a:defRPr>
            </a:pPr>
            <a:r>
              <a:t>3. 消息发布 (Publish)：Server1 执行 PUBLISH 命令，将消息推送到 Redis 通道 chat_server_channel_2。</a:t>
            </a:r>
          </a:p>
          <a:p>
            <a:pPr>
              <a:spcAft>
                <a:spcPts val="1200"/>
              </a:spcAft>
              <a:defRPr sz="1450">
                <a:solidFill>
                  <a:srgbClr val="FFFFFF"/>
                </a:solidFill>
              </a:defRPr>
            </a:pPr>
            <a:r>
              <a:t>4. 消息订阅与分发 (Subscribe)：Server2 实例启动时已在后台订阅该通道。收到发布的消息后，在其本地连接表找到 UserB 对应的物理套接字描述符，执行推送。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“4+1” 模型之 开发视图与物理部署视图</a:t>
            </a:r>
          </a:p>
        </p:txBody>
      </p:sp>
      <p:sp>
        <p:nvSpPr>
          <p:cNvPr id="4" name="Rounded Rectangle 3"/>
          <p:cNvSpPr/>
          <p:nvPr/>
        </p:nvSpPr>
        <p:spPr>
          <a:xfrm>
            <a:off x="73152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663440" cy="3749039"/>
          </a:xfrm>
          <a:prstGeom prst="rect">
            <a:avLst/>
          </a:prstGeom>
          <a:noFill/>
        </p:spPr>
        <p:txBody>
          <a:bodyPr wrap="square">
            <a:spAutoFit/>
          </a:bodyPr>
          <a:lstStyle/>
          <a:p>
            <a:pPr>
              <a:spcAft>
                <a:spcPts val="1000"/>
              </a:spcAft>
              <a:defRPr sz="1800" b="1">
                <a:solidFill>
                  <a:srgbClr val="00D2FF"/>
                </a:solidFill>
              </a:defRPr>
            </a:pPr>
            <a:r>
              <a:t>3. 开发视图 (Development View)</a:t>
            </a:r>
          </a:p>
          <a:p>
            <a:pPr>
              <a:defRPr sz="1250">
                <a:solidFill>
                  <a:srgbClr val="FFFFFF"/>
                </a:solidFill>
              </a:defRPr>
            </a:pPr>
            <a:r>
              <a:t>关注开发环境下软件模块的静态实际组织：</a:t>
            </a:r>
            <a:br/>
            <a:r>
              <a:t>• 开发环境约束：</a:t>
            </a:r>
            <a:br/>
            <a:r>
              <a:t>  服务端基于 Linux POSIX 系统调用，客户端基于跨平台 Qt 6.10 C++ 框架运行在 Windows。</a:t>
            </a:r>
            <a:br/>
            <a:r>
              <a:t>• 包与文件依赖结构：</a:t>
            </a:r>
            <a:br/>
            <a:r>
              <a:t>  - ChatServer：包含 src/server/ (Epoll驱动、消息分发) 与 src/db/ (MySQL连接池与Redis驱动)。</a:t>
            </a:r>
            <a:br/>
            <a:r>
              <a:t>  - IMchat：包含 net/imclient.cpp (网络传输封装与自研重传) 及核心 ui/ (组件呈现)。</a:t>
            </a:r>
            <a:br/>
            <a:r>
              <a:t>• 依赖管理：采用 vcpkg 管理本地 Protobuf 静态库依赖。</a:t>
            </a:r>
          </a:p>
        </p:txBody>
      </p:sp>
      <p:sp>
        <p:nvSpPr>
          <p:cNvPr id="6" name="Rounded Rectangle 5"/>
          <p:cNvSpPr/>
          <p:nvPr/>
        </p:nvSpPr>
        <p:spPr>
          <a:xfrm>
            <a:off x="640080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3749039"/>
          </a:xfrm>
          <a:prstGeom prst="rect">
            <a:avLst/>
          </a:prstGeom>
          <a:noFill/>
        </p:spPr>
        <p:txBody>
          <a:bodyPr wrap="square">
            <a:spAutoFit/>
          </a:bodyPr>
          <a:lstStyle/>
          <a:p>
            <a:pPr>
              <a:spcAft>
                <a:spcPts val="1000"/>
              </a:spcAft>
              <a:defRPr sz="1800" b="1">
                <a:solidFill>
                  <a:srgbClr val="00D2FF"/>
                </a:solidFill>
              </a:defRPr>
            </a:pPr>
            <a:r>
              <a:t>4. 物理部署视图 (Physical View)</a:t>
            </a:r>
          </a:p>
          <a:p>
            <a:pPr>
              <a:defRPr sz="1250">
                <a:solidFill>
                  <a:srgbClr val="FFFFFF"/>
                </a:solidFill>
              </a:defRPr>
            </a:pPr>
            <a:r>
              <a:t>描述软件如何映射到具体的物理硬件和网络节点上。我们设计了一键式 Docker 容器网络物理映射：</a:t>
            </a:r>
            <a:br/>
            <a:br/>
            <a:r>
              <a:t>• Nginx 网关节点 (Port: 8000)：</a:t>
            </a:r>
            <a:br/>
            <a:r>
              <a:t>  反向代理最前端，暴露公网提供 L4 TCP 轮询负载均衡。</a:t>
            </a:r>
            <a:br/>
            <a:br/>
            <a:r>
              <a:t>• ChatServer 双业务容器：</a:t>
            </a:r>
            <a:br/>
            <a:r>
              <a:t>  两台 ChatServer 部署在桥接内部网段，端口 8888 与 8889。</a:t>
            </a:r>
            <a:br/>
            <a:br/>
            <a:r>
              <a:t>• 中间件容器集群：</a:t>
            </a:r>
            <a:br/>
            <a:r>
              <a:t>  MySQL (映射 3307) 与 Redis (6379) 隔离在后方，提供持久化和状态共享服务。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软件体系结构质量评估 (Quality Attributes)</a:t>
            </a:r>
          </a:p>
        </p:txBody>
      </p:sp>
      <p:sp>
        <p:nvSpPr>
          <p:cNvPr id="4" name="Rounded Rectangle 3"/>
          <p:cNvSpPr/>
          <p:nvPr/>
        </p:nvSpPr>
        <p:spPr>
          <a:xfrm>
            <a:off x="73152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663440" cy="3749039"/>
          </a:xfrm>
          <a:prstGeom prst="rect">
            <a:avLst/>
          </a:prstGeom>
          <a:noFill/>
        </p:spPr>
        <p:txBody>
          <a:bodyPr wrap="square">
            <a:spAutoFit/>
          </a:bodyPr>
          <a:lstStyle/>
          <a:p>
            <a:pPr>
              <a:spcAft>
                <a:spcPts val="1000"/>
              </a:spcAft>
              <a:defRPr sz="1800" b="1">
                <a:solidFill>
                  <a:srgbClr val="00D2FF"/>
                </a:solidFill>
              </a:defRPr>
            </a:pPr>
            <a:r>
              <a:t>1. 开发态“内部质量”评估情景：</a:t>
            </a:r>
          </a:p>
          <a:p>
            <a:pPr>
              <a:defRPr sz="1300">
                <a:solidFill>
                  <a:srgbClr val="FFFFFF"/>
                </a:solidFill>
              </a:defRPr>
            </a:pPr>
            <a:r>
              <a:t>描述体系结构自身的静态可维护和移植质量：</a:t>
            </a:r>
            <a:br/>
            <a:r>
              <a:t>• 可重用性 (Reusability)：</a:t>
            </a:r>
            <a:br/>
            <a:r>
              <a:t>  通信协议引入 Protobuf，重用共享数据序列化层，新业务字段向前/向后兼容率达 100%。</a:t>
            </a:r>
            <a:br/>
            <a:r>
              <a:t>• 可移植性 (Portability)：</a:t>
            </a:r>
            <a:br/>
            <a:r>
              <a:t>  客户端采用平台独立的 Qt Network 封装，封装系统底层套接字差异，具备优秀的可移植性。</a:t>
            </a:r>
            <a:br/>
            <a:r>
              <a:t>• 可测试性 (Testability)：</a:t>
            </a:r>
            <a:br/>
            <a:r>
              <a:t>  数据库自研封装，实现数据访问接口隔离，支持 Mock 对象进行单元测试。</a:t>
            </a:r>
          </a:p>
        </p:txBody>
      </p:sp>
      <p:sp>
        <p:nvSpPr>
          <p:cNvPr id="6" name="Rounded Rectangle 5"/>
          <p:cNvSpPr/>
          <p:nvPr/>
        </p:nvSpPr>
        <p:spPr>
          <a:xfrm>
            <a:off x="640080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3749039"/>
          </a:xfrm>
          <a:prstGeom prst="rect">
            <a:avLst/>
          </a:prstGeom>
          <a:noFill/>
        </p:spPr>
        <p:txBody>
          <a:bodyPr wrap="square">
            <a:spAutoFit/>
          </a:bodyPr>
          <a:lstStyle/>
          <a:p>
            <a:pPr>
              <a:spcAft>
                <a:spcPts val="1000"/>
              </a:spcAft>
              <a:defRPr sz="1800" b="1">
                <a:solidFill>
                  <a:srgbClr val="00D2FF"/>
                </a:solidFill>
              </a:defRPr>
            </a:pPr>
            <a:r>
              <a:t>2. 运行态“外部质量”三要素评估：</a:t>
            </a:r>
          </a:p>
          <a:p>
            <a:pPr>
              <a:defRPr sz="1200">
                <a:solidFill>
                  <a:srgbClr val="FFFFFF"/>
                </a:solidFill>
              </a:defRPr>
            </a:pPr>
            <a:r>
              <a:t>基于【激励 - 环境 - 响应】模型：</a:t>
            </a:r>
            <a:br/>
            <a:br/>
            <a:r>
              <a:t>• 可用性可用性情景 (网络瞬断)：</a:t>
            </a:r>
            <a:br/>
            <a:r>
              <a:t>  - 激励：移动网络切网发生长连接瞬发丢包。</a:t>
            </a:r>
            <a:br/>
            <a:r>
              <a:t>  - 环境：用户聊天在线活跃状态下。</a:t>
            </a:r>
            <a:br/>
            <a:r>
              <a:t>  - 响应：心跳定时器 3 秒重传，去重窗口幂等渲染。</a:t>
            </a:r>
            <a:br/>
            <a:br/>
            <a:r>
              <a:t>• 性能情景 (海量聊天与落盘)：</a:t>
            </a:r>
            <a:br/>
            <a:r>
              <a:t>  - 激励：服务器遭遇高频发包且需落盘。</a:t>
            </a:r>
            <a:br/>
            <a:r>
              <a:t>  - Environment：网络与 CPU 高负载状态。</a:t>
            </a:r>
            <a:br/>
            <a:r>
              <a:t>  - 响应：主线程 Reactor 无阻塞，工作线程先写 Redis ZSet 缓存，异步线程批量刷盘 MySQL。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Simple_IMChat 架构三大核心亮点与设计折中</a:t>
            </a:r>
          </a:p>
        </p:txBody>
      </p:sp>
      <p:sp>
        <p:nvSpPr>
          <p:cNvPr id="4" name="Rounded Rectangle 3"/>
          <p:cNvSpPr/>
          <p:nvPr/>
        </p:nvSpPr>
        <p:spPr>
          <a:xfrm>
            <a:off x="731520" y="1645920"/>
            <a:ext cx="33832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3200400" cy="3657600"/>
          </a:xfrm>
          <a:prstGeom prst="rect">
            <a:avLst/>
          </a:prstGeom>
          <a:noFill/>
        </p:spPr>
        <p:txBody>
          <a:bodyPr wrap="square">
            <a:spAutoFit/>
          </a:bodyPr>
          <a:lstStyle/>
          <a:p>
            <a:pPr>
              <a:spcAft>
                <a:spcPts val="1400"/>
              </a:spcAft>
              <a:defRPr sz="1700" b="1">
                <a:solidFill>
                  <a:srgbClr val="00D2FF"/>
                </a:solidFill>
              </a:defRPr>
            </a:pPr>
            <a:r>
              <a:t>亮点一</a:t>
            </a:r>
            <a:br/>
            <a:r>
              <a:t>应用层双向 ACK 与去重</a:t>
            </a:r>
          </a:p>
          <a:p>
            <a:pPr>
              <a:defRPr sz="1200">
                <a:solidFill>
                  <a:srgbClr val="FFFFFF"/>
                </a:solidFill>
              </a:defRPr>
            </a:pPr>
            <a:r>
              <a:t>• 网络容错性：客户端待确认队列结合超时重传，解决物理套接字异常瞬断丢包。</a:t>
            </a:r>
            <a:br/>
            <a:br/>
            <a:r>
              <a:t>• 幂等校验：接收方滑动窗口去重，确保业务逻辑和 UI 不会重复渲染渲染。</a:t>
            </a:r>
            <a:br/>
            <a:br/>
            <a:r>
              <a:t>• 权衡 (Trade-off)：内存占用和心跳确认小包网络开销略有增加。</a:t>
            </a:r>
          </a:p>
        </p:txBody>
      </p:sp>
      <p:sp>
        <p:nvSpPr>
          <p:cNvPr id="6" name="Rounded Rectangle 5"/>
          <p:cNvSpPr/>
          <p:nvPr/>
        </p:nvSpPr>
        <p:spPr>
          <a:xfrm>
            <a:off x="4389120" y="1645920"/>
            <a:ext cx="33832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783080"/>
            <a:ext cx="3200400" cy="3657600"/>
          </a:xfrm>
          <a:prstGeom prst="rect">
            <a:avLst/>
          </a:prstGeom>
          <a:noFill/>
        </p:spPr>
        <p:txBody>
          <a:bodyPr wrap="square">
            <a:spAutoFit/>
          </a:bodyPr>
          <a:lstStyle/>
          <a:p>
            <a:pPr>
              <a:spcAft>
                <a:spcPts val="1400"/>
              </a:spcAft>
              <a:defRPr sz="1700" b="1">
                <a:solidFill>
                  <a:srgbClr val="00D2FF"/>
                </a:solidFill>
              </a:defRPr>
            </a:pPr>
            <a:r>
              <a:t>亮点二</a:t>
            </a:r>
            <a:br/>
            <a:r>
              <a:t>Lazy Reconnect 懒重连</a:t>
            </a:r>
          </a:p>
          <a:p>
            <a:pPr>
              <a:defRPr sz="1200">
                <a:solidFill>
                  <a:srgbClr val="FFFFFF"/>
                </a:solidFill>
              </a:defRPr>
            </a:pPr>
            <a:r>
              <a:t>• 部署高抗灾力：在业务线程获取连接时执行 ping 检测并动态重连，解决 Docker compose 冷启动时依赖项建表未就绪问题。</a:t>
            </a:r>
            <a:br/>
            <a:br/>
            <a:r>
              <a:t>• 懒加载自愈：无需人工干预或重启服务，毫秒级网络自愈能力。</a:t>
            </a:r>
            <a:br/>
            <a:br/>
            <a:r>
              <a:t>• 源码文件：位于 src/db/ 数据库池化实现模块。</a:t>
            </a:r>
          </a:p>
        </p:txBody>
      </p:sp>
      <p:sp>
        <p:nvSpPr>
          <p:cNvPr id="8" name="Rounded Rectangle 7"/>
          <p:cNvSpPr/>
          <p:nvPr/>
        </p:nvSpPr>
        <p:spPr>
          <a:xfrm>
            <a:off x="8046720" y="1645920"/>
            <a:ext cx="3383280" cy="393192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783080"/>
            <a:ext cx="3200400" cy="3657600"/>
          </a:xfrm>
          <a:prstGeom prst="rect">
            <a:avLst/>
          </a:prstGeom>
          <a:noFill/>
        </p:spPr>
        <p:txBody>
          <a:bodyPr wrap="square">
            <a:spAutoFit/>
          </a:bodyPr>
          <a:lstStyle/>
          <a:p>
            <a:pPr>
              <a:spcAft>
                <a:spcPts val="1400"/>
              </a:spcAft>
              <a:defRPr sz="1700" b="1">
                <a:solidFill>
                  <a:srgbClr val="00D2FF"/>
                </a:solidFill>
              </a:defRPr>
            </a:pPr>
            <a:r>
              <a:t>亮点三</a:t>
            </a:r>
            <a:br/>
            <a:r>
              <a:t>ZSet 缓存与异步落盘</a:t>
            </a:r>
          </a:p>
          <a:p>
            <a:pPr>
              <a:defRPr sz="1200">
                <a:solidFill>
                  <a:srgbClr val="FFFFFF"/>
                </a:solidFill>
              </a:defRPr>
            </a:pPr>
            <a:r>
              <a:t>• 非阻塞 Reactor：网络主线程只负责就绪事件触发，彻底隔离慢速磁盘 I/O。</a:t>
            </a:r>
            <a:br/>
            <a:br/>
            <a:r>
              <a:t>• 双层存储：写内存 Redis ZSet 快速返回，后台线程批量刷写 MySQL 物理 Timeline 仓库。</a:t>
            </a:r>
            <a:br/>
            <a:br/>
            <a:r>
              <a:t>• 权衡 (Trade-off)：在极短的微秒级崩溃下牺牲强一致性换取极高并发性能。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731520"/>
          </a:xfrm>
          <a:prstGeom prst="rect">
            <a:avLst/>
          </a:prstGeom>
          <a:noFill/>
        </p:spPr>
        <p:txBody>
          <a:bodyPr wrap="none">
            <a:spAutoFit/>
          </a:bodyPr>
          <a:lstStyle/>
          <a:p>
            <a:pPr>
              <a:defRPr sz="2800" b="1">
                <a:solidFill>
                  <a:srgbClr val="00D2FF"/>
                </a:solidFill>
                <a:latin typeface="Trebuchet MS"/>
              </a:defRPr>
            </a:pPr>
            <a:r>
              <a:t>体系结构总结、演进方向与答辩 Q&amp;A 准备</a:t>
            </a:r>
          </a:p>
        </p:txBody>
      </p:sp>
      <p:sp>
        <p:nvSpPr>
          <p:cNvPr id="4" name="Rounded Rectangle 3"/>
          <p:cNvSpPr/>
          <p:nvPr/>
        </p:nvSpPr>
        <p:spPr>
          <a:xfrm>
            <a:off x="73152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663440" cy="3749039"/>
          </a:xfrm>
          <a:prstGeom prst="rect">
            <a:avLst/>
          </a:prstGeom>
          <a:noFill/>
        </p:spPr>
        <p:txBody>
          <a:bodyPr wrap="square">
            <a:spAutoFit/>
          </a:bodyPr>
          <a:lstStyle/>
          <a:p>
            <a:pPr>
              <a:spcAft>
                <a:spcPts val="1000"/>
              </a:spcAft>
              <a:defRPr sz="1800" b="1">
                <a:solidFill>
                  <a:srgbClr val="00D2FF"/>
                </a:solidFill>
              </a:defRPr>
            </a:pPr>
            <a:r>
              <a:t>1. 体系结构的未来演进方向</a:t>
            </a:r>
          </a:p>
          <a:p>
            <a:pPr>
              <a:defRPr sz="1250">
                <a:solidFill>
                  <a:srgbClr val="FFFFFF"/>
                </a:solidFill>
              </a:defRPr>
            </a:pPr>
            <a:r>
              <a:t>本架构虽表现优秀，但从软件生命周期演进考虑：</a:t>
            </a:r>
            <a:br/>
            <a:br/>
            <a:r>
              <a:t>• 向微服务架构 (Microservices) 演进：</a:t>
            </a:r>
            <a:br/>
            <a:r>
              <a:t>  ChatServer 目前仍属于大单体服务。未来应通过 gRPC 将登录鉴权、好友管理、群组逻辑拆分为独立微服务，降低单节点复杂度。</a:t>
            </a:r>
            <a:br/>
            <a:br/>
            <a:r>
              <a:t>• 引入全局分布式消息队列 (MQ)：</a:t>
            </a:r>
            <a:br/>
            <a:r>
              <a:t>  目前异步落盘和 Pub/Sub 依赖 Redis。当并发达到百万级以上，Pub/Sub 的广播风暴会加剧。未来引入 Kafka/RocketMQ，利用消息积压能力增强系统自愈性。</a:t>
            </a:r>
          </a:p>
        </p:txBody>
      </p:sp>
      <p:sp>
        <p:nvSpPr>
          <p:cNvPr id="6" name="Rounded Rectangle 5"/>
          <p:cNvSpPr/>
          <p:nvPr/>
        </p:nvSpPr>
        <p:spPr>
          <a:xfrm>
            <a:off x="6400800" y="1645920"/>
            <a:ext cx="5029200" cy="4114800"/>
          </a:xfrm>
          <a:prstGeom prst="roundRect">
            <a:avLst/>
          </a:prstGeom>
          <a:solidFill>
            <a:srgbClr val="2D3238"/>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663440" cy="3749039"/>
          </a:xfrm>
          <a:prstGeom prst="rect">
            <a:avLst/>
          </a:prstGeom>
          <a:noFill/>
        </p:spPr>
        <p:txBody>
          <a:bodyPr wrap="square">
            <a:spAutoFit/>
          </a:bodyPr>
          <a:lstStyle/>
          <a:p>
            <a:pPr>
              <a:spcAft>
                <a:spcPts val="1000"/>
              </a:spcAft>
              <a:defRPr sz="1800" b="1">
                <a:solidFill>
                  <a:srgbClr val="00D2FF"/>
                </a:solidFill>
              </a:defRPr>
            </a:pPr>
            <a:r>
              <a:t>2. 答辩常见提问与应答技巧</a:t>
            </a:r>
          </a:p>
          <a:p>
            <a:pPr>
              <a:defRPr sz="1250">
                <a:solidFill>
                  <a:srgbClr val="FFFFFF"/>
                </a:solidFill>
              </a:defRPr>
            </a:pPr>
            <a:r>
              <a:t>预测答辩中老师可能提出的体系结构质疑：</a:t>
            </a:r>
            <a:br/>
            <a:br/>
            <a:r>
              <a:t>• 问：如果 Redis 故障，在线状态网关崩溃怎么办？</a:t>
            </a:r>
            <a:br/>
            <a:r>
              <a:t>  答：在物理视图中部署 Redis 哨兵或主从集群。同时，本系统的 Dalton 自愈模式允许在 Redis 失效时将本地路由降级，单机实例仍可用。</a:t>
            </a:r>
            <a:br/>
            <a:br/>
            <a:r>
              <a:t>• 问：应用层双向 ACK 会不会引起网络拥塞？</a:t>
            </a:r>
            <a:br/>
            <a:r>
              <a:t>  答：我们在客户端 imclient.cpp 采用滑动去重窗口，心跳采用退避算法，高频小包已被 Nginx 轮询代理分流，在大并发下表现稳定。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